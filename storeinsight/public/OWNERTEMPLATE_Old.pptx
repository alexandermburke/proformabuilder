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al Bold" panose="020B0704020202020204" pitchFamily="34" charset="0"/>
      <p:regular r:id="rId20"/>
      <p:bold r:id="rId21"/>
    </p:embeddedFont>
    <p:embeddedFont>
      <p:font typeface="Arial Italics" panose="020B0604020202020204" charset="0"/>
      <p:regular r:id="rId22"/>
    </p:embeddedFont>
    <p:embeddedFont>
      <p:font typeface="Arimo" panose="020B0604020202020204" charset="0"/>
      <p:regular r:id="rId23"/>
    </p:embeddedFont>
    <p:embeddedFont>
      <p:font typeface="Avenir" panose="020B0604020202020204" charset="0"/>
      <p:regular r:id="rId24"/>
    </p:embeddedFont>
    <p:embeddedFont>
      <p:font typeface="Avenir Bold" panose="020B0604020202020204" charset="0"/>
      <p:regular r:id="rId25"/>
    </p:embeddedFont>
    <p:embeddedFont>
      <p:font typeface="Avenir Bold Italics" panose="020B0604020202020204" charset="0"/>
      <p:regular r:id="rId26"/>
    </p:embeddedFont>
    <p:embeddedFont>
      <p:font typeface="Avenir Italics" panose="020B0604020202020204" charset="0"/>
      <p:regular r:id="rId27"/>
    </p:embeddedFont>
    <p:embeddedFont>
      <p:font typeface="Avenir Medium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2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" y="0"/>
            <a:ext cx="18314400" cy="9463800"/>
            <a:chOff x="0" y="0"/>
            <a:chExt cx="24419200" cy="1261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9179" cy="12618339"/>
            </a:xfrm>
            <a:custGeom>
              <a:avLst/>
              <a:gdLst/>
              <a:ahLst/>
              <a:cxnLst/>
              <a:rect l="l" t="t" r="r" b="b"/>
              <a:pathLst>
                <a:path w="24419179" h="12618339">
                  <a:moveTo>
                    <a:pt x="0" y="0"/>
                  </a:moveTo>
                  <a:lnTo>
                    <a:pt x="24419179" y="0"/>
                  </a:lnTo>
                  <a:lnTo>
                    <a:pt x="24419179" y="12618339"/>
                  </a:lnTo>
                  <a:lnTo>
                    <a:pt x="0" y="12618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339" b="-449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550" y="0"/>
            <a:ext cx="18314400" cy="10287000"/>
            <a:chOff x="0" y="0"/>
            <a:chExt cx="244192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9179" cy="13716000"/>
            </a:xfrm>
            <a:custGeom>
              <a:avLst/>
              <a:gdLst/>
              <a:ahLst/>
              <a:cxnLst/>
              <a:rect l="l" t="t" r="r" b="b"/>
              <a:pathLst>
                <a:path w="24419179" h="13716000">
                  <a:moveTo>
                    <a:pt x="0" y="0"/>
                  </a:moveTo>
                  <a:lnTo>
                    <a:pt x="24419179" y="0"/>
                  </a:lnTo>
                  <a:lnTo>
                    <a:pt x="2441917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3173076" y="4460988"/>
          <a:ext cx="6553200" cy="1524000"/>
        </p:xfrm>
        <a:graphic>
          <a:graphicData uri="http://schemas.openxmlformats.org/drawingml/2006/table">
            <a:tbl>
              <a:tblPr/>
              <a:tblGrid>
                <a:gridCol w="65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ADDRESS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{{ADDRESS}}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1001226" y="4454412"/>
          <a:ext cx="4089400" cy="1524000"/>
        </p:xfrm>
        <a:graphic>
          <a:graphicData uri="http://schemas.openxmlformats.org/drawingml/2006/table">
            <a:tbl>
              <a:tblPr/>
              <a:tblGrid>
                <a:gridCol w="408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OWNERS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{{OWNERGROUP}}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745342" y="6596238"/>
          <a:ext cx="2844800" cy="2224634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324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MANAGEMENT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ACQUIRED DATE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38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{{ACQUIREDDATE}}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360100" y="6520468"/>
          <a:ext cx="1701800" cy="2288731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473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{{TOTALUNITS}}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978358" y="6521326"/>
          <a:ext cx="2540000" cy="2288779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521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RENTABLE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SQUARE FEET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{{RENTABLESQFT}}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0" y="2366950"/>
            <a:ext cx="18288000" cy="1882800"/>
            <a:chOff x="0" y="0"/>
            <a:chExt cx="24384000" cy="251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2510409"/>
            </a:xfrm>
            <a:custGeom>
              <a:avLst/>
              <a:gdLst/>
              <a:ahLst/>
              <a:cxnLst/>
              <a:rect l="l" t="t" r="r" b="b"/>
              <a:pathLst>
                <a:path w="24384000" h="2510409">
                  <a:moveTo>
                    <a:pt x="0" y="0"/>
                  </a:moveTo>
                  <a:lnTo>
                    <a:pt x="24384000" y="0"/>
                  </a:lnTo>
                  <a:lnTo>
                    <a:pt x="24384000" y="2510409"/>
                  </a:lnTo>
                  <a:lnTo>
                    <a:pt x="0" y="25104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8763100"/>
            <a:ext cx="18288000" cy="1524000"/>
            <a:chOff x="0" y="0"/>
            <a:chExt cx="24384000" cy="203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032000"/>
            </a:xfrm>
            <a:custGeom>
              <a:avLst/>
              <a:gdLst/>
              <a:ahLst/>
              <a:cxnLst/>
              <a:rect l="l" t="t" r="r" b="b"/>
              <a:pathLst>
                <a:path w="24384000" h="2032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6876100" y="2641000"/>
            <a:ext cx="3983898" cy="1435000"/>
            <a:chOff x="0" y="0"/>
            <a:chExt cx="5311864" cy="19133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11902" cy="1913382"/>
            </a:xfrm>
            <a:custGeom>
              <a:avLst/>
              <a:gdLst/>
              <a:ahLst/>
              <a:cxnLst/>
              <a:rect l="l" t="t" r="r" b="b"/>
              <a:pathLst>
                <a:path w="5311902" h="1913382">
                  <a:moveTo>
                    <a:pt x="0" y="0"/>
                  </a:moveTo>
                  <a:lnTo>
                    <a:pt x="5311902" y="0"/>
                  </a:lnTo>
                  <a:lnTo>
                    <a:pt x="5311902" y="1913382"/>
                  </a:lnTo>
                  <a:lnTo>
                    <a:pt x="0" y="1913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276225"/>
            <a:ext cx="7195650" cy="1747650"/>
            <a:chOff x="0" y="0"/>
            <a:chExt cx="9594200" cy="23302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9568815" cy="2304796"/>
            </a:xfrm>
            <a:custGeom>
              <a:avLst/>
              <a:gdLst/>
              <a:ahLst/>
              <a:cxnLst/>
              <a:rect l="l" t="t" r="r" b="b"/>
              <a:pathLst>
                <a:path w="9568815" h="2304796">
                  <a:moveTo>
                    <a:pt x="0" y="0"/>
                  </a:moveTo>
                  <a:lnTo>
                    <a:pt x="9568815" y="0"/>
                  </a:lnTo>
                  <a:lnTo>
                    <a:pt x="9568815" y="2304796"/>
                  </a:lnTo>
                  <a:lnTo>
                    <a:pt x="0" y="2304796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9594215" cy="2330196"/>
            </a:xfrm>
            <a:custGeom>
              <a:avLst/>
              <a:gdLst/>
              <a:ahLst/>
              <a:cxnLst/>
              <a:rect l="l" t="t" r="r" b="b"/>
              <a:pathLst>
                <a:path w="9594215" h="2330196">
                  <a:moveTo>
                    <a:pt x="12700" y="0"/>
                  </a:moveTo>
                  <a:lnTo>
                    <a:pt x="9581515" y="0"/>
                  </a:lnTo>
                  <a:cubicBezTo>
                    <a:pt x="9588500" y="0"/>
                    <a:pt x="9594215" y="5715"/>
                    <a:pt x="9594215" y="12700"/>
                  </a:cubicBezTo>
                  <a:lnTo>
                    <a:pt x="9594215" y="2317496"/>
                  </a:lnTo>
                  <a:cubicBezTo>
                    <a:pt x="9594215" y="2324481"/>
                    <a:pt x="9588500" y="2330196"/>
                    <a:pt x="9581515" y="2330196"/>
                  </a:cubicBezTo>
                  <a:lnTo>
                    <a:pt x="12700" y="2330196"/>
                  </a:lnTo>
                  <a:cubicBezTo>
                    <a:pt x="5715" y="2330196"/>
                    <a:pt x="0" y="2324481"/>
                    <a:pt x="0" y="231749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7496"/>
                  </a:lnTo>
                  <a:lnTo>
                    <a:pt x="12700" y="2317496"/>
                  </a:lnTo>
                  <a:lnTo>
                    <a:pt x="12700" y="2304796"/>
                  </a:lnTo>
                  <a:lnTo>
                    <a:pt x="9581515" y="2304796"/>
                  </a:lnTo>
                  <a:lnTo>
                    <a:pt x="9581515" y="2317496"/>
                  </a:lnTo>
                  <a:lnTo>
                    <a:pt x="9568815" y="2317496"/>
                  </a:lnTo>
                  <a:lnTo>
                    <a:pt x="9568815" y="12700"/>
                  </a:lnTo>
                  <a:lnTo>
                    <a:pt x="9581515" y="12700"/>
                  </a:lnTo>
                  <a:lnTo>
                    <a:pt x="958151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60975" y="342200"/>
            <a:ext cx="6993750" cy="80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21" name="AutoShape 21"/>
          <p:cNvSpPr/>
          <p:nvPr/>
        </p:nvSpPr>
        <p:spPr>
          <a:xfrm rot="10772046">
            <a:off x="471994" y="1127275"/>
            <a:ext cx="6382711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-19550" y="1154227"/>
            <a:ext cx="6993750" cy="60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{{CURRENTDATE}}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5114100" y="9009900"/>
            <a:ext cx="2809752" cy="954002"/>
            <a:chOff x="0" y="0"/>
            <a:chExt cx="3746336" cy="12720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46373" cy="1272032"/>
            </a:xfrm>
            <a:custGeom>
              <a:avLst/>
              <a:gdLst/>
              <a:ahLst/>
              <a:cxnLst/>
              <a:rect l="l" t="t" r="r" b="b"/>
              <a:pathLst>
                <a:path w="3746373" h="1272032">
                  <a:moveTo>
                    <a:pt x="0" y="0"/>
                  </a:moveTo>
                  <a:lnTo>
                    <a:pt x="3746373" y="0"/>
                  </a:lnTo>
                  <a:lnTo>
                    <a:pt x="3746373" y="1272032"/>
                  </a:lnTo>
                  <a:lnTo>
                    <a:pt x="0" y="12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58140" y="2280200"/>
            <a:ext cx="2624400" cy="787200"/>
            <a:chOff x="0" y="0"/>
            <a:chExt cx="3499200" cy="104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FINANCIAL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47871" y="3436299"/>
            <a:ext cx="3334289" cy="1664850"/>
            <a:chOff x="0" y="0"/>
            <a:chExt cx="878167" cy="43847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47871" y="4488445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Rental Income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3793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{{TOTALRENTALINCOME}}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677425" y="3431512"/>
            <a:ext cx="3310650" cy="1664850"/>
            <a:chOff x="0" y="0"/>
            <a:chExt cx="871941" cy="4384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06163" y="3431488"/>
            <a:ext cx="3448050" cy="1664850"/>
            <a:chOff x="0" y="0"/>
            <a:chExt cx="908128" cy="43847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742147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{{TOTALINCOME}}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7425" y="4488445"/>
            <a:ext cx="3269567" cy="4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Income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50025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{{TOTALEXPENSES}}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83350" y="4488445"/>
            <a:ext cx="326956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Expenses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873288" y="3431488"/>
            <a:ext cx="3448050" cy="1664850"/>
            <a:chOff x="0" y="0"/>
            <a:chExt cx="908128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006638" y="3798525"/>
            <a:ext cx="3181207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{{NETINCOME}}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2530" y="4488445"/>
            <a:ext cx="326956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 Income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158140" y="5767899"/>
            <a:ext cx="2624400" cy="787200"/>
            <a:chOff x="0" y="0"/>
            <a:chExt cx="3499200" cy="1049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OCCUPANCY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47871" y="6912625"/>
            <a:ext cx="3334289" cy="1664850"/>
            <a:chOff x="0" y="0"/>
            <a:chExt cx="878167" cy="43847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124412" y="7240899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{{OCCUPIEDAREASQFT}}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47871" y="7974324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Occupied Area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677425" y="6915638"/>
            <a:ext cx="3310650" cy="1664850"/>
            <a:chOff x="0" y="0"/>
            <a:chExt cx="871941" cy="43847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742147" y="7240899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{{OCCUPANCYBYUNITS}}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65606" y="7972912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units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206163" y="6915638"/>
            <a:ext cx="3448050" cy="1664850"/>
            <a:chOff x="0" y="0"/>
            <a:chExt cx="908128" cy="43847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327530" y="7240899"/>
            <a:ext cx="3181207" cy="111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{{OCCUPIEDAREAPERCENT}}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63044" y="7972887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969922"/>
              </p:ext>
            </p:extLst>
          </p:nvPr>
        </p:nvGraphicFramePr>
        <p:xfrm>
          <a:off x="1290879" y="1615201"/>
          <a:ext cx="15706042" cy="5258012"/>
        </p:xfrm>
        <a:graphic>
          <a:graphicData uri="http://schemas.openxmlformats.org/drawingml/2006/table">
            <a:tbl>
              <a:tblPr/>
              <a:tblGrid>
                <a:gridCol w="2626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3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1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96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548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422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3629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{{CURRENTMONTH}}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PTD Budget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Variance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% Var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YTD Actual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YTD Budget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Variance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% Var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Rental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Discounts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RENTAL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Admin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Late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Insurance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Other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Retail Sales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PROPERTY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Advertising &amp; Marketing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Auction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CAM Charges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Credit Card Merchant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Dues &amp; Subscriptions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Fire Prevention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Insurance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Licenses &amp; Permits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Management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Management Fees - Staff Costs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592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Office Supplies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Data</a:t>
              </a:r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22424"/>
              </p:ext>
            </p:extLst>
          </p:nvPr>
        </p:nvGraphicFramePr>
        <p:xfrm>
          <a:off x="1290879" y="6873213"/>
          <a:ext cx="15706043" cy="3425313"/>
        </p:xfrm>
        <a:graphic>
          <a:graphicData uri="http://schemas.openxmlformats.org/drawingml/2006/table">
            <a:tbl>
              <a:tblPr/>
              <a:tblGrid>
                <a:gridCol w="2635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0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85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29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571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395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Professional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Repairs &amp; Maintenance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Retail Products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Security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Software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Supplies - Building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Telephone &amp; Internet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Utilities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PROPERTY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Other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380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OTHER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Interest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NET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50" y="-14287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53322" y="44110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4085298" y="4718850"/>
            <a:ext cx="2324100" cy="1318500"/>
            <a:chOff x="0" y="0"/>
            <a:chExt cx="3098800" cy="1758000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3-MONTH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85378" y="6391348"/>
            <a:ext cx="2324100" cy="1318500"/>
            <a:chOff x="0" y="0"/>
            <a:chExt cx="3098800" cy="1758000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6-MONTH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500" y="3748326"/>
            <a:ext cx="3700200" cy="653180"/>
            <a:chOff x="0" y="0"/>
            <a:chExt cx="4933600" cy="8709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33600" cy="870906"/>
            </a:xfrm>
            <a:custGeom>
              <a:avLst/>
              <a:gdLst/>
              <a:ahLst/>
              <a:cxnLst/>
              <a:rect l="l" t="t" r="r" b="b"/>
              <a:pathLst>
                <a:path w="4933600" h="870906">
                  <a:moveTo>
                    <a:pt x="0" y="0"/>
                  </a:moveTo>
                  <a:lnTo>
                    <a:pt x="4933600" y="0"/>
                  </a:lnTo>
                  <a:lnTo>
                    <a:pt x="4933600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933600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{{MOVIPER}} {{INCORDEC1}} vs. {{PREVMON}}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48700" y="1951450"/>
            <a:ext cx="3294600" cy="1645800"/>
            <a:chOff x="0" y="0"/>
            <a:chExt cx="4392800" cy="219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34700" y="3752600"/>
            <a:ext cx="3769122" cy="653180"/>
            <a:chOff x="0" y="0"/>
            <a:chExt cx="5025495" cy="8709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25496" cy="870906"/>
            </a:xfrm>
            <a:custGeom>
              <a:avLst/>
              <a:gdLst/>
              <a:ahLst/>
              <a:cxnLst/>
              <a:rect l="l" t="t" r="r" b="b"/>
              <a:pathLst>
                <a:path w="5025496" h="870906">
                  <a:moveTo>
                    <a:pt x="0" y="0"/>
                  </a:moveTo>
                  <a:lnTo>
                    <a:pt x="5025496" y="0"/>
                  </a:lnTo>
                  <a:lnTo>
                    <a:pt x="5025496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5025495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{{MOVOPER}} {{INCORDEC2}} vs. {{PREVMON}}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544325" y="3737213"/>
            <a:ext cx="3700200" cy="653180"/>
            <a:chOff x="0" y="0"/>
            <a:chExt cx="4933600" cy="8709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33600" cy="870906"/>
            </a:xfrm>
            <a:custGeom>
              <a:avLst/>
              <a:gdLst/>
              <a:ahLst/>
              <a:cxnLst/>
              <a:rect l="l" t="t" r="r" b="b"/>
              <a:pathLst>
                <a:path w="4933600" h="870906">
                  <a:moveTo>
                    <a:pt x="0" y="0"/>
                  </a:moveTo>
                  <a:lnTo>
                    <a:pt x="4933600" y="0"/>
                  </a:lnTo>
                  <a:lnTo>
                    <a:pt x="4933600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4933600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{{MOVN}} {{INCORDEC3}} vs. {{PREVMON}}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5301" y="8982351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Trailing number includes current month.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4085378" y="8067748"/>
            <a:ext cx="2324100" cy="1318500"/>
            <a:chOff x="0" y="0"/>
            <a:chExt cx="3098800" cy="1758000"/>
          </a:xfrm>
        </p:grpSpPr>
        <p:sp>
          <p:nvSpPr>
            <p:cNvPr id="38" name="Freeform 38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12-MONTH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41936" y="1951450"/>
            <a:ext cx="3310650" cy="1664850"/>
            <a:chOff x="0" y="0"/>
            <a:chExt cx="871941" cy="43847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606657" y="2125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{{MOVEINS}}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62477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188027" y="1963175"/>
            <a:ext cx="3310650" cy="1664850"/>
            <a:chOff x="0" y="0"/>
            <a:chExt cx="871941" cy="43847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252749" y="2094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{{MOVEOUTS}}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232445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2739100" y="1932400"/>
            <a:ext cx="3310650" cy="1664850"/>
            <a:chOff x="0" y="0"/>
            <a:chExt cx="871941" cy="43847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803822" y="207518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{{NETMOVE}}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761326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883049" y="4790611"/>
            <a:ext cx="2274101" cy="1331239"/>
            <a:chOff x="0" y="0"/>
            <a:chExt cx="598940" cy="35061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409478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69870" y="4895850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{{MOVEINSTRL3}}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9551077" y="4758822"/>
            <a:ext cx="2274101" cy="1331239"/>
            <a:chOff x="0" y="0"/>
            <a:chExt cx="598940" cy="35061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034700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{{MOVEOUTSTRL3}}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68893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215703" y="4758822"/>
            <a:ext cx="2274101" cy="1331239"/>
            <a:chOff x="0" y="0"/>
            <a:chExt cx="598940" cy="35061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736993" y="54600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781223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{{NETTRL3}}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6883049" y="6326636"/>
            <a:ext cx="2274101" cy="1331239"/>
            <a:chOff x="0" y="0"/>
            <a:chExt cx="598940" cy="35061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582100" y="6326636"/>
            <a:ext cx="2274101" cy="1331239"/>
            <a:chOff x="0" y="0"/>
            <a:chExt cx="598940" cy="35061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215703" y="6320514"/>
            <a:ext cx="2274101" cy="1331239"/>
            <a:chOff x="0" y="0"/>
            <a:chExt cx="598940" cy="35061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6444971" y="6496348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{{MOVEINSTRL6}}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325690" y="7020830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14390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{{MOVEOUTSTRL6}}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09972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71797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71797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{{NETTRL6}}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6883049" y="8061378"/>
            <a:ext cx="2274101" cy="1331239"/>
            <a:chOff x="0" y="0"/>
            <a:chExt cx="598940" cy="35061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582100" y="8076975"/>
            <a:ext cx="2274101" cy="1331239"/>
            <a:chOff x="0" y="0"/>
            <a:chExt cx="598940" cy="35061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215907" y="8041112"/>
            <a:ext cx="2274101" cy="1331239"/>
            <a:chOff x="0" y="0"/>
            <a:chExt cx="598940" cy="35061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6517856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{{MOVEINSTRL12}}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281510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128547" y="8153175"/>
            <a:ext cx="3181207" cy="95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{{MOVEOUTSTRL12}}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068893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762150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{{NETTRL12}}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718174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3150" y="27925"/>
            <a:ext cx="18288000" cy="1609200"/>
            <a:chOff x="0" y="0"/>
            <a:chExt cx="24384000" cy="21456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78834"/>
            <a:ext cx="18288000" cy="823200"/>
            <a:chOff x="0" y="0"/>
            <a:chExt cx="24384000" cy="1097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4788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5301" y="9080201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Definitions in rate management report.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431600" y="2673888"/>
          <a:ext cx="6640597" cy="5765800"/>
        </p:xfrm>
        <a:graphic>
          <a:graphicData uri="http://schemas.openxmlformats.org/drawingml/2006/table">
            <a:tbl>
              <a:tblPr/>
              <a:tblGrid>
                <a:gridCol w="4635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365"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{{CURRENTMONTH}} In-place Rent Escalations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(9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{{CURRENTMONTH}} In-place Rent Escalations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(9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603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Number of rent increase letters sent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{{NUMREN}}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3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square footage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{{TOTSFT}}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revenue; prior to rent increase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{{BASREVPR}}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1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rental rate; prior to rent increase ($/sq ft)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{{BASERENPR}}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75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$ increase with rent escalations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{{TOTINCESC}}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47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Revenue; after rent increases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{{REVWINC}}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3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New rental rate, after escalation ($/sq ft)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{{NEWRENRT}}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680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Average percent increase per unit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{{AVGPERINC}}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76076" y="1609188"/>
          <a:ext cx="1625600" cy="7620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SUMMARY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431576" y="1609212"/>
          <a:ext cx="2971800" cy="762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576100" y="2673900"/>
          <a:ext cx="7215330" cy="5765800"/>
        </p:xfrm>
        <a:graphic>
          <a:graphicData uri="http://schemas.openxmlformats.org/drawingml/2006/table">
            <a:tbl>
              <a:tblPr/>
              <a:tblGrid>
                <a:gridCol w="3249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365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KPI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Last Month Value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603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 Occupancy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75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47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Occ Units LOR &gt; 6 Months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Avg LOR of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6804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MoveIns with Promo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 Rate Management | Pricing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25" y="9078975"/>
            <a:ext cx="62995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Additional information can be found in the appendix.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381800" y="1727100"/>
          <a:ext cx="15214601" cy="3584409"/>
        </p:xfrm>
        <a:graphic>
          <a:graphicData uri="http://schemas.openxmlformats.org/drawingml/2006/table">
            <a:tbl>
              <a:tblPr/>
              <a:tblGrid>
                <a:gridCol w="2083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6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6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1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489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1561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in Place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Proposed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New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New Rate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($/sq ft)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% Change vs. 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{{5X5CURPR}}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{{5X5PROPPR}}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{{5X5STRPR}}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{{5X5STRPRX}}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{{5X5CHWEB}}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{{10X5CURPR}}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{{10X5PROPPR}}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{{10X5STRPR}}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{{10X5STRPRX}}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{{10X5CHWEB}}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{{10X10CURPR}}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{{10X10PROPPR}}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{{10X10STRPR}}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{{10X10STRPRX}}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{{10X10CHWEB}}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{{10X15CURPR}}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{{10X15PROPPR}}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{{10X15STRPR}}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{{10X15STRPRX}}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{{10X15CHWEB}}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5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{{10X20WEBPR}}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{{10X20CURPR}}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{{10X20PROPPR}}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{{10X20STRPR}}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{{10X20STRPRX}}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{{10X20CHWEB}}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{{15X5CURPR}}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{{15X5PROPPR}}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{{15X5STRPR}}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{{15X5STRPRX}}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{{15X5CHWEB}}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{{20X15CURPR}}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{{20X15PROPPR}}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{{20X15STRPR}}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{{20X15STRPRX}}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{{20X15CHWEB}}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381800" y="5672850"/>
          <a:ext cx="15240000" cy="3202618"/>
        </p:xfrm>
        <a:graphic>
          <a:graphicData uri="http://schemas.openxmlformats.org/drawingml/2006/table">
            <a:tbl>
              <a:tblPr/>
              <a:tblGrid>
                <a:gridCol w="1900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0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5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532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359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in Place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Proposed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New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New Rate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($/sq ft)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% Change vs. 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{{5X5CURPREV}}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{{5X5PROPPREV}}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{{5X5STRPREV}}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{{5X5STRPRXEV}}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{{5X5CHWEBEV}}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{{10X5CURPREV}}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{{10X5PROPPREV}}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{{10X5STRPREV}}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{{10X5STRPRXEV}}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{{10X5CHWEBEV}}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690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{{10X10WEBPREV}}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{{10X10CURPREV}}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{{10X10PROPPREV}}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{{10X10STRPREV}}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{{10X10STRPRXEV}}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{{10X10CHWEBEV}}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{{10X15CURPREV}}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{{10X15PROPPREV}}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{{10X15STRPREV}}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{{10X15STRPRXEV}}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{{10X15CHWEBEV}}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{{10X20CURPREV}}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{{10X20PROPPREV}}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{{10X20STRPREV}}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{{10X20STRPRXEV}}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{{10X20CHWEBEV}}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{{20X15CURPREV}}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{{20X15PROPPREV}}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{{20X15STRPREV}}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{{20X15STRPRXEV}}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7"/>
                        </a:lnSpc>
                        <a:defRPr/>
                      </a:pPr>
                      <a:r>
                        <a:rPr lang="en-US" sz="1599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{{15X5CHWEBEV}}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 rot="-5400000">
            <a:off x="-226538" y="3591213"/>
            <a:ext cx="2477550" cy="74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FLOOR 1 UNITS</a:t>
            </a:r>
          </a:p>
        </p:txBody>
      </p:sp>
      <p:sp>
        <p:nvSpPr>
          <p:cNvPr id="18" name="TextBox 18"/>
          <p:cNvSpPr txBox="1"/>
          <p:nvPr/>
        </p:nvSpPr>
        <p:spPr>
          <a:xfrm rot="-5400000">
            <a:off x="-226538" y="7275612"/>
            <a:ext cx="2477550" cy="74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ELEVATOR UNITS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 Rate Management | Existing Tenants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3" y="9105175"/>
            <a:ext cx="100093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Additional information can be found in the rate management report.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4127500" y="1716521"/>
          <a:ext cx="10033000" cy="7300384"/>
        </p:xfrm>
        <a:graphic>
          <a:graphicData uri="http://schemas.openxmlformats.org/drawingml/2006/table">
            <a:tbl>
              <a:tblPr/>
              <a:tblGrid>
                <a:gridCol w="7523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1432">
                <a:tc gridSpan="2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{{FUTMONTH1}} Increases</a:t>
                      </a:r>
                      <a:endParaRPr lang="en-US" sz="1100"/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(6 Months Since Last Rent Increase)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{{FUTMONTH1}} Increases</a:t>
                      </a:r>
                      <a:endParaRPr lang="en-US" sz="1100"/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(6 Months Since Last Rent Increase)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Number of rent increase letters sent to be sent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{{NUMREN}}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square footage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{{TOTSFT}}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revenue; prior to rent increase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{{BASREVPR}}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rental rate; prior to rent increase ($/sq ft)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{{BASERENPR}}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$ increase with rent escalations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{{TOTINCESC}}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Revenue; after rent increases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{{REVWINC}}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New rental rate, after escalation ($/sq ft)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{{NEWRENRT}}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736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Average percent increase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{{AVGPERINC}}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00" y="45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39672" y="51344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525076" y="2983476"/>
            <a:ext cx="3294600" cy="1645800"/>
            <a:chOff x="0" y="0"/>
            <a:chExt cx="4392800" cy="219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325" y="8929075"/>
            <a:ext cx="87805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is tenants with insurance against total MTD move-ins. Trailing number includes current month.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100" y="0"/>
            <a:ext cx="18288000" cy="1688076"/>
            <a:chOff x="0" y="0"/>
            <a:chExt cx="24384000" cy="22507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0" cy="2250704"/>
            </a:xfrm>
            <a:custGeom>
              <a:avLst/>
              <a:gdLst/>
              <a:ahLst/>
              <a:cxnLst/>
              <a:rect l="l" t="t" r="r" b="b"/>
              <a:pathLst>
                <a:path w="24384000" h="2250704">
                  <a:moveTo>
                    <a:pt x="0" y="0"/>
                  </a:moveTo>
                  <a:lnTo>
                    <a:pt x="24384000" y="0"/>
                  </a:lnTo>
                  <a:lnTo>
                    <a:pt x="24384000" y="2250704"/>
                  </a:lnTo>
                  <a:lnTo>
                    <a:pt x="0" y="2250704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4384000" cy="23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Tenant Protection Capture Rate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25114" y="5633600"/>
            <a:ext cx="5380200" cy="1645800"/>
            <a:chOff x="0" y="0"/>
            <a:chExt cx="7173600" cy="219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73595" cy="2194433"/>
            </a:xfrm>
            <a:custGeom>
              <a:avLst/>
              <a:gdLst/>
              <a:ahLst/>
              <a:cxnLst/>
              <a:rect l="l" t="t" r="r" b="b"/>
              <a:pathLst>
                <a:path w="7173595" h="2194433">
                  <a:moveTo>
                    <a:pt x="0" y="0"/>
                  </a:moveTo>
                  <a:lnTo>
                    <a:pt x="7173595" y="0"/>
                  </a:lnTo>
                  <a:lnTo>
                    <a:pt x="7173595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71736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OVERALL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16550" y="2964426"/>
            <a:ext cx="3310650" cy="1664850"/>
            <a:chOff x="0" y="0"/>
            <a:chExt cx="871941" cy="4384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281272" y="3127637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{{MOVEINS}}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7092" y="3870577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927250" y="2964426"/>
            <a:ext cx="3310650" cy="1664850"/>
            <a:chOff x="0" y="0"/>
            <a:chExt cx="871941" cy="43847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991972" y="3127637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{{INSURPER}}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40220" y="3870577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Insured</a:t>
            </a:r>
            <a:endParaRPr lang="en-US" sz="2999" dirty="0">
              <a:solidFill>
                <a:srgbClr val="3B52A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9144000" y="5614550"/>
            <a:ext cx="5029178" cy="1664850"/>
            <a:chOff x="0" y="0"/>
            <a:chExt cx="1324557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24557" cy="438479"/>
            </a:xfrm>
            <a:custGeom>
              <a:avLst/>
              <a:gdLst/>
              <a:ahLst/>
              <a:cxnLst/>
              <a:rect l="l" t="t" r="r" b="b"/>
              <a:pathLst>
                <a:path w="1324557" h="438479">
                  <a:moveTo>
                    <a:pt x="0" y="0"/>
                  </a:moveTo>
                  <a:lnTo>
                    <a:pt x="1324557" y="0"/>
                  </a:lnTo>
                  <a:lnTo>
                    <a:pt x="132455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32455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865163" y="6030719"/>
            <a:ext cx="3586853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{{OVERALLPER}}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8725" y="4843175"/>
            <a:ext cx="16518450" cy="4337250"/>
            <a:chOff x="0" y="0"/>
            <a:chExt cx="22024600" cy="57830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1999194" cy="5757545"/>
            </a:xfrm>
            <a:custGeom>
              <a:avLst/>
              <a:gdLst/>
              <a:ahLst/>
              <a:cxnLst/>
              <a:rect l="l" t="t" r="r" b="b"/>
              <a:pathLst>
                <a:path w="21999194" h="5757545">
                  <a:moveTo>
                    <a:pt x="0" y="0"/>
                  </a:moveTo>
                  <a:lnTo>
                    <a:pt x="21999194" y="0"/>
                  </a:lnTo>
                  <a:lnTo>
                    <a:pt x="21999194" y="5757545"/>
                  </a:lnTo>
                  <a:lnTo>
                    <a:pt x="0" y="575754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2024594" cy="5782945"/>
            </a:xfrm>
            <a:custGeom>
              <a:avLst/>
              <a:gdLst/>
              <a:ahLst/>
              <a:cxnLst/>
              <a:rect l="l" t="t" r="r" b="b"/>
              <a:pathLst>
                <a:path w="22024594" h="5782945">
                  <a:moveTo>
                    <a:pt x="12700" y="0"/>
                  </a:moveTo>
                  <a:lnTo>
                    <a:pt x="22011894" y="0"/>
                  </a:lnTo>
                  <a:cubicBezTo>
                    <a:pt x="22018879" y="0"/>
                    <a:pt x="22024594" y="5715"/>
                    <a:pt x="22024594" y="12700"/>
                  </a:cubicBezTo>
                  <a:lnTo>
                    <a:pt x="22024594" y="5770245"/>
                  </a:lnTo>
                  <a:cubicBezTo>
                    <a:pt x="22024594" y="5777230"/>
                    <a:pt x="22018879" y="5782945"/>
                    <a:pt x="22011894" y="5782945"/>
                  </a:cubicBezTo>
                  <a:lnTo>
                    <a:pt x="12700" y="5782945"/>
                  </a:lnTo>
                  <a:cubicBezTo>
                    <a:pt x="5715" y="5782945"/>
                    <a:pt x="0" y="5777230"/>
                    <a:pt x="0" y="57702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770245"/>
                  </a:lnTo>
                  <a:lnTo>
                    <a:pt x="12700" y="5770245"/>
                  </a:lnTo>
                  <a:lnTo>
                    <a:pt x="12700" y="5757545"/>
                  </a:lnTo>
                  <a:lnTo>
                    <a:pt x="22011894" y="5757545"/>
                  </a:lnTo>
                  <a:lnTo>
                    <a:pt x="22011894" y="5770245"/>
                  </a:lnTo>
                  <a:lnTo>
                    <a:pt x="21999194" y="5770245"/>
                  </a:lnTo>
                  <a:lnTo>
                    <a:pt x="21999194" y="12700"/>
                  </a:lnTo>
                  <a:lnTo>
                    <a:pt x="22011894" y="12700"/>
                  </a:lnTo>
                  <a:lnTo>
                    <a:pt x="220118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63200" cy="105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88250" y="1639850"/>
          <a:ext cx="9652000" cy="2143124"/>
        </p:xfrm>
        <a:graphic>
          <a:graphicData uri="http://schemas.openxmlformats.org/drawingml/2006/table">
            <a:tbl>
              <a:tblPr/>
              <a:tblGrid>
                <a:gridCol w="2822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Month-to-date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Year-to-date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Budget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{{REPCM}}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{{REPYTDBUD}}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Actual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{{REPPTD}}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Variance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{{REPVAR}}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{{REPYTDVAR}}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143100" y="5143500"/>
          <a:ext cx="5562600" cy="2621441"/>
        </p:xfrm>
        <a:graphic>
          <a:graphicData uri="http://schemas.openxmlformats.org/drawingml/2006/table">
            <a:tbl>
              <a:tblPr/>
              <a:tblGrid>
                <a:gridCol w="55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502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REPAIR LOG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939">
                <a:tc>
                  <a:txBody>
                    <a:bodyPr/>
                    <a:lstStyle/>
                    <a:p>
                      <a:pPr algn="l">
                        <a:lnSpc>
                          <a:spcPts val="2779"/>
                        </a:lnSpc>
                        <a:defRPr/>
                      </a:pPr>
                      <a:r>
                        <a:rPr lang="en-US" sz="2000" b="1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{{CURRENTDATE}}</a:t>
                      </a:r>
                      <a:endParaRPr lang="en-US" sz="1100"/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 b="1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DESCRIPTION OF EXPENSES: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N/A</a:t>
                      </a: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$N/A</a:t>
                      </a: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STATUS: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N/A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4825" y="27662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7"/>
              </a:lnSpc>
            </a:pPr>
            <a:r>
              <a:rPr lang="en-US" sz="503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Repair and Maintenance Budget Variance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913625" y="1630625"/>
            <a:ext cx="6483450" cy="2701050"/>
            <a:chOff x="0" y="0"/>
            <a:chExt cx="8644600" cy="36014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8619236" cy="3575939"/>
            </a:xfrm>
            <a:custGeom>
              <a:avLst/>
              <a:gdLst/>
              <a:ahLst/>
              <a:cxnLst/>
              <a:rect l="l" t="t" r="r" b="b"/>
              <a:pathLst>
                <a:path w="8619236" h="3575939">
                  <a:moveTo>
                    <a:pt x="0" y="0"/>
                  </a:moveTo>
                  <a:lnTo>
                    <a:pt x="8619236" y="0"/>
                  </a:lnTo>
                  <a:lnTo>
                    <a:pt x="8619236" y="3575939"/>
                  </a:lnTo>
                  <a:lnTo>
                    <a:pt x="0" y="357593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8644636" cy="3601339"/>
            </a:xfrm>
            <a:custGeom>
              <a:avLst/>
              <a:gdLst/>
              <a:ahLst/>
              <a:cxnLst/>
              <a:rect l="l" t="t" r="r" b="b"/>
              <a:pathLst>
                <a:path w="8644636" h="3601339">
                  <a:moveTo>
                    <a:pt x="12700" y="0"/>
                  </a:moveTo>
                  <a:lnTo>
                    <a:pt x="8631936" y="0"/>
                  </a:lnTo>
                  <a:cubicBezTo>
                    <a:pt x="8638921" y="0"/>
                    <a:pt x="8644636" y="5715"/>
                    <a:pt x="8644636" y="12700"/>
                  </a:cubicBezTo>
                  <a:lnTo>
                    <a:pt x="8644636" y="3588639"/>
                  </a:lnTo>
                  <a:cubicBezTo>
                    <a:pt x="8644636" y="3595624"/>
                    <a:pt x="8638921" y="3601339"/>
                    <a:pt x="8631936" y="3601339"/>
                  </a:cubicBezTo>
                  <a:lnTo>
                    <a:pt x="12700" y="3601339"/>
                  </a:lnTo>
                  <a:cubicBezTo>
                    <a:pt x="5715" y="3601339"/>
                    <a:pt x="0" y="3595624"/>
                    <a:pt x="0" y="35886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588639"/>
                  </a:lnTo>
                  <a:lnTo>
                    <a:pt x="12700" y="3588639"/>
                  </a:lnTo>
                  <a:lnTo>
                    <a:pt x="12700" y="3575939"/>
                  </a:lnTo>
                  <a:lnTo>
                    <a:pt x="8631936" y="3575939"/>
                  </a:lnTo>
                  <a:lnTo>
                    <a:pt x="8631936" y="3588639"/>
                  </a:lnTo>
                  <a:lnTo>
                    <a:pt x="8619236" y="3588639"/>
                  </a:lnTo>
                  <a:lnTo>
                    <a:pt x="8619236" y="12700"/>
                  </a:lnTo>
                  <a:lnTo>
                    <a:pt x="8631936" y="12700"/>
                  </a:lnTo>
                  <a:lnTo>
                    <a:pt x="863193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1098800" y="1708350"/>
          <a:ext cx="5816600" cy="1319668"/>
        </p:xfrm>
        <a:graphic>
          <a:graphicData uri="http://schemas.openxmlformats.org/drawingml/2006/table">
            <a:tbl>
              <a:tblPr/>
              <a:tblGrid>
                <a:gridCol w="581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2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MANAGEMENT NOTES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372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N/A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09" r="-9799" b="-322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288000" cy="10296000"/>
            <a:chOff x="0" y="0"/>
            <a:chExt cx="243840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7937"/>
            </a:xfrm>
            <a:custGeom>
              <a:avLst/>
              <a:gdLst/>
              <a:ahLst/>
              <a:cxnLst/>
              <a:rect l="l" t="t" r="r" b="b"/>
              <a:pathLst>
                <a:path w="24384000" h="13727937">
                  <a:moveTo>
                    <a:pt x="0" y="0"/>
                  </a:moveTo>
                  <a:lnTo>
                    <a:pt x="24384000" y="0"/>
                  </a:lnTo>
                  <a:lnTo>
                    <a:pt x="24384000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3000" y="1407150"/>
            <a:ext cx="15564000" cy="7377675"/>
            <a:chOff x="0" y="0"/>
            <a:chExt cx="20752000" cy="9836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2054" cy="9836912"/>
            </a:xfrm>
            <a:custGeom>
              <a:avLst/>
              <a:gdLst/>
              <a:ahLst/>
              <a:cxnLst/>
              <a:rect l="l" t="t" r="r" b="b"/>
              <a:pathLst>
                <a:path w="20752054" h="9836912">
                  <a:moveTo>
                    <a:pt x="0" y="0"/>
                  </a:moveTo>
                  <a:lnTo>
                    <a:pt x="20752054" y="0"/>
                  </a:lnTo>
                  <a:lnTo>
                    <a:pt x="20752054" y="9836912"/>
                  </a:lnTo>
                  <a:lnTo>
                    <a:pt x="0" y="983691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14825" y="29647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503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Delinquent Rent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May 2025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2184250" y="1676876"/>
          <a:ext cx="14655800" cy="3022601"/>
        </p:xfrm>
        <a:graphic>
          <a:graphicData uri="http://schemas.openxmlformats.org/drawingml/2006/table">
            <a:tbl>
              <a:tblPr/>
              <a:tblGrid>
                <a:gridCol w="331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828">
                <a:tc gridSpan="4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828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Days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Percent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Dollars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1-30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31-60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61+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25" y="9038375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is total delinquent rent against total rental income.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75675" y="7523550"/>
            <a:ext cx="6548550" cy="114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MANAGEMENT NOTES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Delinquencies remain low at this facility.</a:t>
            </a:r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2184250" y="5367626"/>
          <a:ext cx="14630400" cy="1854199"/>
        </p:xfrm>
        <a:graphic>
          <a:graphicData uri="http://schemas.openxmlformats.org/drawingml/2006/table">
            <a:tbl>
              <a:tblPr/>
              <a:tblGrid>
                <a:gridCol w="4527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153">
                <a:tc gridSpan="4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53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Days in Delinquency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 of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 of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93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Marketing &amp; Digital Performance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564811" y="3212999"/>
            <a:ext cx="3310650" cy="1645800"/>
            <a:chOff x="0" y="0"/>
            <a:chExt cx="871941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3347" y="3203474"/>
            <a:ext cx="3310650" cy="1655325"/>
            <a:chOff x="0" y="0"/>
            <a:chExt cx="871941" cy="4359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5970"/>
            </a:xfrm>
            <a:custGeom>
              <a:avLst/>
              <a:gdLst/>
              <a:ahLst/>
              <a:cxnLst/>
              <a:rect l="l" t="t" r="r" b="b"/>
              <a:pathLst>
                <a:path w="871941" h="435970">
                  <a:moveTo>
                    <a:pt x="0" y="0"/>
                  </a:moveTo>
                  <a:lnTo>
                    <a:pt x="871941" y="0"/>
                  </a:lnTo>
                  <a:lnTo>
                    <a:pt x="871941" y="435970"/>
                  </a:lnTo>
                  <a:lnTo>
                    <a:pt x="0" y="4359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3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081884" y="3212999"/>
            <a:ext cx="3310650" cy="1664850"/>
            <a:chOff x="0" y="0"/>
            <a:chExt cx="871941" cy="4384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690520" y="6458484"/>
            <a:ext cx="322793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XXX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895466" y="6399677"/>
            <a:ext cx="6979995" cy="2858623"/>
            <a:chOff x="0" y="0"/>
            <a:chExt cx="1838353" cy="7528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12539" y="6399677"/>
            <a:ext cx="6979995" cy="2858623"/>
            <a:chOff x="0" y="0"/>
            <a:chExt cx="1838353" cy="7528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585353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Clicks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36317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Conversions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02425" y="411915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Cost/Conversion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2074" y="6617234"/>
            <a:ext cx="5186779" cy="60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Google Rank Tracker (MoM)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09146" y="6590247"/>
            <a:ext cx="518677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Keyword Search Grid (MoM)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45717" y="8206814"/>
            <a:ext cx="241014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Google Position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91164" y="8206814"/>
            <a:ext cx="175574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33599" y="7374963"/>
            <a:ext cx="3005001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{{GOOPOS}}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81599" y="7374963"/>
            <a:ext cx="3444153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{{POSCHG}}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50931" y="8111564"/>
            <a:ext cx="210814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Map Rank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68669" y="8206814"/>
            <a:ext cx="173707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50122" y="7374963"/>
            <a:ext cx="2727678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{{KEYMAP}}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182600" y="7374963"/>
            <a:ext cx="2727678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{{KEYPOS}}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05003" y="8918014"/>
            <a:ext cx="2909590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i="1">
                <a:solidFill>
                  <a:srgbClr val="FFFFFF"/>
                </a:solidFill>
                <a:latin typeface="Avenir Bold Italics"/>
                <a:ea typeface="Avenir Bold Italics"/>
                <a:cs typeface="Avenir Bold Italics"/>
                <a:sym typeface="Avenir Bold Italics"/>
              </a:rPr>
              <a:t>*Results for “self storage near me”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895466" y="3212999"/>
            <a:ext cx="3310650" cy="1645800"/>
            <a:chOff x="0" y="0"/>
            <a:chExt cx="871941" cy="43346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916008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Impressions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057401" y="3382619"/>
            <a:ext cx="3059524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{{IMPRES}}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90520" y="3382619"/>
            <a:ext cx="3072480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{{CLICKS}}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12539" y="3372128"/>
            <a:ext cx="3146537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{{CONV}}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182600" y="3382619"/>
            <a:ext cx="3048000" cy="66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{{COSCON}}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405406"/>
            <a:ext cx="16230600" cy="2852894"/>
            <a:chOff x="0" y="0"/>
            <a:chExt cx="21640800" cy="38038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40771" cy="3803856"/>
            </a:xfrm>
            <a:custGeom>
              <a:avLst/>
              <a:gdLst/>
              <a:ahLst/>
              <a:cxnLst/>
              <a:rect l="l" t="t" r="r" b="b"/>
              <a:pathLst>
                <a:path w="21640771" h="3803856">
                  <a:moveTo>
                    <a:pt x="0" y="0"/>
                  </a:moveTo>
                  <a:lnTo>
                    <a:pt x="21640771" y="0"/>
                  </a:lnTo>
                  <a:lnTo>
                    <a:pt x="21640771" y="3803856"/>
                  </a:lnTo>
                  <a:lnTo>
                    <a:pt x="0" y="3803856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>
            <a:off x="8097885" y="856518"/>
            <a:ext cx="19050" cy="19050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346074" y="3180693"/>
            <a:ext cx="3341918" cy="1645800"/>
            <a:chOff x="0" y="0"/>
            <a:chExt cx="880176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0176" cy="433462"/>
            </a:xfrm>
            <a:custGeom>
              <a:avLst/>
              <a:gdLst/>
              <a:ahLst/>
              <a:cxnLst/>
              <a:rect l="l" t="t" r="r" b="b"/>
              <a:pathLst>
                <a:path w="880176" h="433462">
                  <a:moveTo>
                    <a:pt x="0" y="0"/>
                  </a:moveTo>
                  <a:lnTo>
                    <a:pt x="880176" y="0"/>
                  </a:lnTo>
                  <a:lnTo>
                    <a:pt x="880176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80176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8052" y="3180693"/>
            <a:ext cx="3310650" cy="1645800"/>
            <a:chOff x="0" y="0"/>
            <a:chExt cx="871941" cy="4334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83291" y="3180693"/>
            <a:ext cx="3336657" cy="1645800"/>
            <a:chOff x="0" y="0"/>
            <a:chExt cx="878790" cy="4334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8790" cy="433462"/>
            </a:xfrm>
            <a:custGeom>
              <a:avLst/>
              <a:gdLst/>
              <a:ahLst/>
              <a:cxnLst/>
              <a:rect l="l" t="t" r="r" b="b"/>
              <a:pathLst>
                <a:path w="878790" h="433462">
                  <a:moveTo>
                    <a:pt x="0" y="0"/>
                  </a:moveTo>
                  <a:lnTo>
                    <a:pt x="878790" y="0"/>
                  </a:lnTo>
                  <a:lnTo>
                    <a:pt x="878790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8790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74002" y="3180693"/>
            <a:ext cx="3310650" cy="1636994"/>
            <a:chOff x="0" y="0"/>
            <a:chExt cx="871941" cy="4311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1941" cy="431142"/>
            </a:xfrm>
            <a:custGeom>
              <a:avLst/>
              <a:gdLst/>
              <a:ahLst/>
              <a:cxnLst/>
              <a:rect l="l" t="t" r="r" b="b"/>
              <a:pathLst>
                <a:path w="871941" h="431142">
                  <a:moveTo>
                    <a:pt x="0" y="0"/>
                  </a:moveTo>
                  <a:lnTo>
                    <a:pt x="871941" y="0"/>
                  </a:lnTo>
                  <a:lnTo>
                    <a:pt x="871941" y="431142"/>
                  </a:lnTo>
                  <a:lnTo>
                    <a:pt x="0" y="43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71941" cy="478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46729" y="3460501"/>
            <a:ext cx="2409782" cy="463883"/>
          </a:xfrm>
          <a:custGeom>
            <a:avLst/>
            <a:gdLst/>
            <a:ahLst/>
            <a:cxnLst/>
            <a:rect l="l" t="t" r="r" b="b"/>
            <a:pathLst>
              <a:path w="2409782" h="463883">
                <a:moveTo>
                  <a:pt x="0" y="0"/>
                </a:moveTo>
                <a:lnTo>
                  <a:pt x="2409782" y="0"/>
                </a:lnTo>
                <a:lnTo>
                  <a:pt x="2409782" y="463883"/>
                </a:lnTo>
                <a:lnTo>
                  <a:pt x="0" y="463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617005" y="6603983"/>
            <a:ext cx="505399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 OCTOBER’S TOP REVIEWS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82249" y="4077193"/>
            <a:ext cx="3269567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MoM Change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45191" y="3973136"/>
            <a:ext cx="333665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5.0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46504" y="4077193"/>
            <a:ext cx="2565645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Reviews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8052" y="4077193"/>
            <a:ext cx="3310650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GBP Reviews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09601" y="7536257"/>
            <a:ext cx="4734223" cy="1044575"/>
            <a:chOff x="0" y="0"/>
            <a:chExt cx="6312297" cy="1392767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85725"/>
              <a:ext cx="6312297" cy="1478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Hannah Pedersen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Great service, easy, safe, great location”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4875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77248" y="7536257"/>
            <a:ext cx="4534275" cy="1044575"/>
            <a:chOff x="0" y="0"/>
            <a:chExt cx="6045700" cy="1392767"/>
          </a:xfrm>
        </p:grpSpPr>
        <p:sp>
          <p:nvSpPr>
            <p:cNvPr id="32" name="TextBox 32"/>
            <p:cNvSpPr txBox="1"/>
            <p:nvPr/>
          </p:nvSpPr>
          <p:spPr>
            <a:xfrm>
              <a:off x="9232" y="-85725"/>
              <a:ext cx="6036469" cy="1478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Livier Delgadillo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Great customer service from Andrew!”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5129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44949" y="7183832"/>
            <a:ext cx="4734223" cy="1749425"/>
            <a:chOff x="0" y="0"/>
            <a:chExt cx="6312297" cy="2332567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85725"/>
              <a:ext cx="6312297" cy="2418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Koko Tzavaras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l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Outstanding, helpful staff, beautiful facility, and excellent location! This is my second time being a client! Thank you!”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469900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4"/>
                  </a:lnTo>
                  <a:lnTo>
                    <a:pt x="0" y="316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972279" y="3238417"/>
            <a:ext cx="90219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133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78936" y="3198436"/>
            <a:ext cx="300782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97498" y="3207243"/>
            <a:ext cx="639068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+1</a:t>
            </a:r>
          </a:p>
        </p:txBody>
      </p:sp>
      <p:sp>
        <p:nvSpPr>
          <p:cNvPr id="40" name="AutoShape 40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00950" y="355048"/>
            <a:ext cx="1685835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Customer Experience | </a:t>
            </a:r>
          </a:p>
        </p:txBody>
      </p:sp>
      <p:grpSp>
        <p:nvGrpSpPr>
          <p:cNvPr id="45" name="Group 45"/>
          <p:cNvGrpSpPr>
            <a:grpSpLocks noChangeAspect="1"/>
          </p:cNvGrpSpPr>
          <p:nvPr/>
        </p:nvGrpSpPr>
        <p:grpSpPr>
          <a:xfrm>
            <a:off x="7075697" y="536822"/>
            <a:ext cx="608042" cy="608002"/>
            <a:chOff x="0" y="0"/>
            <a:chExt cx="810723" cy="81066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183291" y="4347786"/>
            <a:ext cx="333665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Google Rating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71800" y="0"/>
            <a:ext cx="6616200" cy="10287000"/>
            <a:chOff x="0" y="0"/>
            <a:chExt cx="88216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1547" cy="13716000"/>
            </a:xfrm>
            <a:custGeom>
              <a:avLst/>
              <a:gdLst/>
              <a:ahLst/>
              <a:cxnLst/>
              <a:rect l="l" t="t" r="r" b="b"/>
              <a:pathLst>
                <a:path w="8821547" h="13716000">
                  <a:moveTo>
                    <a:pt x="0" y="0"/>
                  </a:moveTo>
                  <a:lnTo>
                    <a:pt x="8821547" y="0"/>
                  </a:lnTo>
                  <a:lnTo>
                    <a:pt x="8821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650975" y="6892850"/>
            <a:ext cx="4957950" cy="151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2111 E. Highland Avenue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Suite 360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Phoenix, AZ 85016</a:t>
            </a: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www.mySTOREmanagement.com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9525" y="449750"/>
            <a:ext cx="5739750" cy="10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6" name="AutoShape 6"/>
          <p:cNvSpPr/>
          <p:nvPr/>
        </p:nvSpPr>
        <p:spPr>
          <a:xfrm rot="46920">
            <a:off x="12405383" y="1407825"/>
            <a:ext cx="5198434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357725" y="-9375"/>
            <a:ext cx="463050" cy="10306050"/>
            <a:chOff x="0" y="0"/>
            <a:chExt cx="617400" cy="13741400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91947" cy="13716000"/>
            </a:xfrm>
            <a:custGeom>
              <a:avLst/>
              <a:gdLst/>
              <a:ahLst/>
              <a:cxnLst/>
              <a:rect l="l" t="t" r="r" b="b"/>
              <a:pathLst>
                <a:path w="591947" h="13716000">
                  <a:moveTo>
                    <a:pt x="0" y="0"/>
                  </a:moveTo>
                  <a:lnTo>
                    <a:pt x="591947" y="0"/>
                  </a:lnTo>
                  <a:lnTo>
                    <a:pt x="5919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17347" cy="13741400"/>
            </a:xfrm>
            <a:custGeom>
              <a:avLst/>
              <a:gdLst/>
              <a:ahLst/>
              <a:cxnLst/>
              <a:rect l="l" t="t" r="r" b="b"/>
              <a:pathLst>
                <a:path w="617347" h="13741400">
                  <a:moveTo>
                    <a:pt x="12700" y="0"/>
                  </a:moveTo>
                  <a:lnTo>
                    <a:pt x="604647" y="0"/>
                  </a:lnTo>
                  <a:cubicBezTo>
                    <a:pt x="611632" y="0"/>
                    <a:pt x="617347" y="5715"/>
                    <a:pt x="617347" y="12700"/>
                  </a:cubicBezTo>
                  <a:lnTo>
                    <a:pt x="617347" y="13728700"/>
                  </a:lnTo>
                  <a:cubicBezTo>
                    <a:pt x="617347" y="13735686"/>
                    <a:pt x="611632" y="13741400"/>
                    <a:pt x="604647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604647" y="13716000"/>
                  </a:lnTo>
                  <a:lnTo>
                    <a:pt x="604647" y="13728700"/>
                  </a:lnTo>
                  <a:lnTo>
                    <a:pt x="591947" y="13728700"/>
                  </a:lnTo>
                  <a:lnTo>
                    <a:pt x="591947" y="12700"/>
                  </a:lnTo>
                  <a:lnTo>
                    <a:pt x="604647" y="12700"/>
                  </a:lnTo>
                  <a:lnTo>
                    <a:pt x="60464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059525" y="1516550"/>
            <a:ext cx="57397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{{CURRENTDATE}}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2968450" y="5168500"/>
            <a:ext cx="3888596" cy="1320250"/>
            <a:chOff x="0" y="0"/>
            <a:chExt cx="5184795" cy="1760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84775" cy="1760347"/>
            </a:xfrm>
            <a:custGeom>
              <a:avLst/>
              <a:gdLst/>
              <a:ahLst/>
              <a:cxnLst/>
              <a:rect l="l" t="t" r="r" b="b"/>
              <a:pathLst>
                <a:path w="5184775" h="1760347">
                  <a:moveTo>
                    <a:pt x="0" y="0"/>
                  </a:moveTo>
                  <a:lnTo>
                    <a:pt x="5184775" y="0"/>
                  </a:lnTo>
                  <a:lnTo>
                    <a:pt x="5184775" y="1760347"/>
                  </a:lnTo>
                  <a:lnTo>
                    <a:pt x="0" y="1760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0" y="150"/>
            <a:ext cx="11367250" cy="10287000"/>
            <a:chOff x="0" y="0"/>
            <a:chExt cx="15156333" cy="1371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56307" cy="13716000"/>
            </a:xfrm>
            <a:custGeom>
              <a:avLst/>
              <a:gdLst/>
              <a:ahLst/>
              <a:cxnLst/>
              <a:rect l="l" t="t" r="r" b="b"/>
              <a:pathLst>
                <a:path w="15156307" h="13716000">
                  <a:moveTo>
                    <a:pt x="0" y="0"/>
                  </a:moveTo>
                  <a:lnTo>
                    <a:pt x="15156307" y="0"/>
                  </a:lnTo>
                  <a:lnTo>
                    <a:pt x="1515630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31" r="-103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388800" cy="10296000"/>
            <a:chOff x="0" y="0"/>
            <a:chExt cx="245184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8365" cy="13727937"/>
            </a:xfrm>
            <a:custGeom>
              <a:avLst/>
              <a:gdLst/>
              <a:ahLst/>
              <a:cxnLst/>
              <a:rect l="l" t="t" r="r" b="b"/>
              <a:pathLst>
                <a:path w="24518365" h="13727937">
                  <a:moveTo>
                    <a:pt x="0" y="0"/>
                  </a:moveTo>
                  <a:lnTo>
                    <a:pt x="24518365" y="0"/>
                  </a:lnTo>
                  <a:lnTo>
                    <a:pt x="24518365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7853100"/>
            <a:ext cx="11924400" cy="629400"/>
            <a:chOff x="0" y="0"/>
            <a:chExt cx="15899200" cy="83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99257" cy="839216"/>
            </a:xfrm>
            <a:custGeom>
              <a:avLst/>
              <a:gdLst/>
              <a:ahLst/>
              <a:cxnLst/>
              <a:rect l="l" t="t" r="r" b="b"/>
              <a:pathLst>
                <a:path w="15899257" h="839216">
                  <a:moveTo>
                    <a:pt x="0" y="0"/>
                  </a:moveTo>
                  <a:lnTo>
                    <a:pt x="15899257" y="0"/>
                  </a:lnTo>
                  <a:lnTo>
                    <a:pt x="15899257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36075" y="7875150"/>
            <a:ext cx="6009150" cy="59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30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RATE MANAGEMENT REPORT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42900" y="826350"/>
            <a:ext cx="4294652" cy="1458250"/>
            <a:chOff x="0" y="0"/>
            <a:chExt cx="5726203" cy="1944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26176" cy="1944370"/>
            </a:xfrm>
            <a:custGeom>
              <a:avLst/>
              <a:gdLst/>
              <a:ahLst/>
              <a:cxnLst/>
              <a:rect l="l" t="t" r="r" b="b"/>
              <a:pathLst>
                <a:path w="5726176" h="1944370">
                  <a:moveTo>
                    <a:pt x="0" y="0"/>
                  </a:moveTo>
                  <a:lnTo>
                    <a:pt x="5726176" y="0"/>
                  </a:lnTo>
                  <a:lnTo>
                    <a:pt x="5726176" y="1944370"/>
                  </a:lnTo>
                  <a:lnTo>
                    <a:pt x="0" y="194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388800" cy="10296000"/>
            <a:chOff x="0" y="0"/>
            <a:chExt cx="245184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8365" cy="13727937"/>
            </a:xfrm>
            <a:custGeom>
              <a:avLst/>
              <a:gdLst/>
              <a:ahLst/>
              <a:cxnLst/>
              <a:rect l="l" t="t" r="r" b="b"/>
              <a:pathLst>
                <a:path w="24518365" h="13727937">
                  <a:moveTo>
                    <a:pt x="0" y="0"/>
                  </a:moveTo>
                  <a:lnTo>
                    <a:pt x="24518365" y="0"/>
                  </a:lnTo>
                  <a:lnTo>
                    <a:pt x="24518365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7853100"/>
            <a:ext cx="11924400" cy="629400"/>
            <a:chOff x="0" y="0"/>
            <a:chExt cx="15899200" cy="83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99257" cy="839216"/>
            </a:xfrm>
            <a:custGeom>
              <a:avLst/>
              <a:gdLst/>
              <a:ahLst/>
              <a:cxnLst/>
              <a:rect l="l" t="t" r="r" b="b"/>
              <a:pathLst>
                <a:path w="15899257" h="839216">
                  <a:moveTo>
                    <a:pt x="0" y="0"/>
                  </a:moveTo>
                  <a:lnTo>
                    <a:pt x="15899257" y="0"/>
                  </a:lnTo>
                  <a:lnTo>
                    <a:pt x="15899257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915025" y="7818000"/>
            <a:ext cx="6281550" cy="65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MARKETING ANALYTICS DATA REPORT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42900" y="826350"/>
            <a:ext cx="4294652" cy="1458250"/>
            <a:chOff x="0" y="0"/>
            <a:chExt cx="5726203" cy="1944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26176" cy="1944370"/>
            </a:xfrm>
            <a:custGeom>
              <a:avLst/>
              <a:gdLst/>
              <a:ahLst/>
              <a:cxnLst/>
              <a:rect l="l" t="t" r="r" b="b"/>
              <a:pathLst>
                <a:path w="5726176" h="1944370">
                  <a:moveTo>
                    <a:pt x="0" y="0"/>
                  </a:moveTo>
                  <a:lnTo>
                    <a:pt x="5726176" y="0"/>
                  </a:lnTo>
                  <a:lnTo>
                    <a:pt x="5726176" y="1944370"/>
                  </a:lnTo>
                  <a:lnTo>
                    <a:pt x="0" y="194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09" r="-9799" b="-322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288000" cy="10296000"/>
            <a:chOff x="0" y="0"/>
            <a:chExt cx="243840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7937"/>
            </a:xfrm>
            <a:custGeom>
              <a:avLst/>
              <a:gdLst/>
              <a:ahLst/>
              <a:cxnLst/>
              <a:rect l="l" t="t" r="r" b="b"/>
              <a:pathLst>
                <a:path w="24384000" h="13727937">
                  <a:moveTo>
                    <a:pt x="0" y="0"/>
                  </a:moveTo>
                  <a:lnTo>
                    <a:pt x="24384000" y="0"/>
                  </a:lnTo>
                  <a:lnTo>
                    <a:pt x="24384000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3000" y="1407150"/>
            <a:ext cx="15564000" cy="7377675"/>
            <a:chOff x="0" y="0"/>
            <a:chExt cx="20752000" cy="9836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2054" cy="9836912"/>
            </a:xfrm>
            <a:custGeom>
              <a:avLst/>
              <a:gdLst/>
              <a:ahLst/>
              <a:cxnLst/>
              <a:rect l="l" t="t" r="r" b="b"/>
              <a:pathLst>
                <a:path w="20752054" h="9836912">
                  <a:moveTo>
                    <a:pt x="0" y="0"/>
                  </a:moveTo>
                  <a:lnTo>
                    <a:pt x="20752054" y="0"/>
                  </a:lnTo>
                  <a:lnTo>
                    <a:pt x="20752054" y="9836912"/>
                  </a:lnTo>
                  <a:lnTo>
                    <a:pt x="0" y="983691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May 2025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25" y="9038375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is total delinquent rent against total rental income.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441024" y="2530745"/>
            <a:ext cx="9955356" cy="601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Full Marketing Funnel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This includes the deeper charts currently shown on pages 20–21: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Website traffic by source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Leads by source (broken down into organic, paid, walk-ins, referral, phone, social)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Rentals by source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Lead → Reservation → Rental funnel 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Detailed Paid Ads Report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Move campaign micro-data here: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Click-through rates (CTR)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Cost per click (CPC)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Impression share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Individual campaign performance (e.g., “50% off promo”, “Home remodeler”, “Wine storage”)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Budget allocation by campaign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Historical trends (3–6 months) 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200" cy="105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Marketing Analytics Data Report | July 2025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0" y="0"/>
            <a:ext cx="18288000" cy="690000"/>
            <a:chOff x="0" y="0"/>
            <a:chExt cx="24384000" cy="9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919988"/>
            </a:xfrm>
            <a:custGeom>
              <a:avLst/>
              <a:gdLst/>
              <a:ahLst/>
              <a:cxnLst/>
              <a:rect l="l" t="t" r="r" b="b"/>
              <a:pathLst>
                <a:path w="24384000" h="919988">
                  <a:moveTo>
                    <a:pt x="0" y="0"/>
                  </a:moveTo>
                  <a:lnTo>
                    <a:pt x="24384000" y="0"/>
                  </a:lnTo>
                  <a:lnTo>
                    <a:pt x="24384000" y="919988"/>
                  </a:lnTo>
                  <a:lnTo>
                    <a:pt x="0" y="9199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96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Marketing Analytics | Campaigns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67350" y="992600"/>
            <a:ext cx="10672200" cy="7592400"/>
            <a:chOff x="0" y="0"/>
            <a:chExt cx="14229600" cy="10123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229587" cy="10123170"/>
            </a:xfrm>
            <a:custGeom>
              <a:avLst/>
              <a:gdLst/>
              <a:ahLst/>
              <a:cxnLst/>
              <a:rect l="l" t="t" r="r" b="b"/>
              <a:pathLst>
                <a:path w="14229587" h="10123170">
                  <a:moveTo>
                    <a:pt x="0" y="0"/>
                  </a:moveTo>
                  <a:lnTo>
                    <a:pt x="14229587" y="0"/>
                  </a:lnTo>
                  <a:lnTo>
                    <a:pt x="14229587" y="10123170"/>
                  </a:lnTo>
                  <a:lnTo>
                    <a:pt x="0" y="10123170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4229600" cy="101803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PAID CAMPAIGNS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23196" y="4021698"/>
            <a:ext cx="2432400" cy="1225200"/>
            <a:chOff x="0" y="0"/>
            <a:chExt cx="3243200" cy="1633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Home remodeler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723196" y="2446548"/>
            <a:ext cx="2432400" cy="1225200"/>
            <a:chOff x="0" y="0"/>
            <a:chExt cx="3243200" cy="1633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50% off promo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54396" y="2446548"/>
            <a:ext cx="2432400" cy="1225200"/>
            <a:chOff x="0" y="0"/>
            <a:chExt cx="3243200" cy="1633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Self storage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745275" y="1705950"/>
            <a:ext cx="3623550" cy="23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LONG-TERM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494446" y="2446548"/>
            <a:ext cx="2432400" cy="1225200"/>
            <a:chOff x="0" y="0"/>
            <a:chExt cx="3243200" cy="1633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Student storage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54396" y="4021698"/>
            <a:ext cx="2432400" cy="1225200"/>
            <a:chOff x="0" y="0"/>
            <a:chExt cx="3243200" cy="1633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Wine storage</a:t>
              </a:r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792900" y="992576"/>
            <a:ext cx="6122948" cy="7692948"/>
            <a:chOff x="0" y="0"/>
            <a:chExt cx="8163931" cy="102572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63941" cy="10257282"/>
            </a:xfrm>
            <a:custGeom>
              <a:avLst/>
              <a:gdLst/>
              <a:ahLst/>
              <a:cxnLst/>
              <a:rect l="l" t="t" r="r" b="b"/>
              <a:pathLst>
                <a:path w="8163941" h="10257282">
                  <a:moveTo>
                    <a:pt x="0" y="0"/>
                  </a:moveTo>
                  <a:lnTo>
                    <a:pt x="8163941" y="0"/>
                  </a:lnTo>
                  <a:lnTo>
                    <a:pt x="8163941" y="10257282"/>
                  </a:lnTo>
                  <a:lnTo>
                    <a:pt x="0" y="10257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8352695" y="5905806"/>
          <a:ext cx="6357951" cy="2200275"/>
        </p:xfrm>
        <a:graphic>
          <a:graphicData uri="http://schemas.openxmlformats.org/drawingml/2006/table">
            <a:tbl>
              <a:tblPr/>
              <a:tblGrid>
                <a:gridCol w="2540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85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GOOGLE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852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 rating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{{GOOGLERATING}}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2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Reviews last month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{{GOOGLEREVLM}}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2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reviews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{{GOOGLETOTALREVIEWS}}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2349</Words>
  <Application>Microsoft Office PowerPoint</Application>
  <PresentationFormat>Custom</PresentationFormat>
  <Paragraphs>767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Avenir Bold</vt:lpstr>
      <vt:lpstr>Arimo</vt:lpstr>
      <vt:lpstr>Calibri</vt:lpstr>
      <vt:lpstr>Avenir Bold Italics</vt:lpstr>
      <vt:lpstr>Avenir Italics</vt:lpstr>
      <vt:lpstr>Avenir</vt:lpstr>
      <vt:lpstr>Arial Bold</vt:lpstr>
      <vt:lpstr>Arial</vt:lpstr>
      <vt:lpstr>Arial Italics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Owner's Report Template</dc:title>
  <cp:lastModifiedBy>Alex Burke</cp:lastModifiedBy>
  <cp:revision>4</cp:revision>
  <dcterms:created xsi:type="dcterms:W3CDTF">2006-08-16T00:00:00Z</dcterms:created>
  <dcterms:modified xsi:type="dcterms:W3CDTF">2025-12-10T19:04:43Z</dcterms:modified>
  <dc:identifier>DAG3YRaK70Q</dc:identifier>
</cp:coreProperties>
</file>