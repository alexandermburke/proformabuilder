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29"/>
    <p:sldId id="271" r:id="rId30"/>
    <p:sldId id="268" r:id="rId14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Arial Italics" panose="020B0604020202020204" charset="0"/>
      <p:regular r:id="rId18"/>
    </p:embeddedFont>
    <p:embeddedFont>
      <p:font typeface="Avenir" panose="020B0604020202020204" charset="0"/>
      <p:regular r:id="rId19"/>
    </p:embeddedFont>
    <p:embeddedFont>
      <p:font typeface="Avenir Bold" panose="020B0604020202020204" charset="0"/>
      <p:regular r:id="rId20"/>
      <p:bold r:id="rId21"/>
    </p:embeddedFont>
    <p:embeddedFont>
      <p:font typeface="Avenir Bold Italics" panose="020B0604020202020204" charset="0"/>
      <p:regular r:id="rId22"/>
    </p:embeddedFont>
    <p:embeddedFont>
      <p:font typeface="Avenir Italics" panose="020B0604020202020204" charset="0"/>
      <p:regular r:id="rId23"/>
    </p:embeddedFont>
    <p:embeddedFont>
      <p:font typeface="Avenir Medium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70" d="100"/>
          <a:sy n="70" d="100"/>
        </p:scale>
        <p:origin x="8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  <Relationship Id="rId29" Type="http://schemas.openxmlformats.org/officeDocument/2006/relationships/slide" Target="slides/slide14.xml"/>
  <Relationship Id="rId30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" y="0"/>
            <a:ext cx="18314400" cy="9463800"/>
            <a:chOff x="0" y="0"/>
            <a:chExt cx="24419200" cy="1261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9179" cy="12618339"/>
            </a:xfrm>
            <a:custGeom>
              <a:avLst/>
              <a:gdLst/>
              <a:ahLst/>
              <a:cxnLst/>
              <a:rect l="l" t="t" r="r" b="b"/>
              <a:pathLst>
                <a:path w="24419179" h="12618339">
                  <a:moveTo>
                    <a:pt x="0" y="0"/>
                  </a:moveTo>
                  <a:lnTo>
                    <a:pt x="24419179" y="0"/>
                  </a:lnTo>
                  <a:lnTo>
                    <a:pt x="24419179" y="12618339"/>
                  </a:lnTo>
                  <a:lnTo>
                    <a:pt x="0" y="1261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339" b="-449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2" name="Picture 31" descr="A long hallway with roller shutters&#10;&#10;AI-generated content may be incorrect.">
            <a:extLst>
              <a:ext uri="{FF2B5EF4-FFF2-40B4-BE49-F238E27FC236}">
                <a16:creationId xmlns:a16="http://schemas.microsoft.com/office/drawing/2014/main" id="{B36D684E-70C7-4C5C-C82E-40C1471F4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50" y="12700"/>
            <a:ext cx="18307550" cy="10287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19550" y="0"/>
            <a:ext cx="18314400" cy="10287000"/>
            <a:chOff x="0" y="0"/>
            <a:chExt cx="244192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9179" cy="13716000"/>
            </a:xfrm>
            <a:custGeom>
              <a:avLst/>
              <a:gdLst/>
              <a:ahLst/>
              <a:cxnLst/>
              <a:rect l="l" t="t" r="r" b="b"/>
              <a:pathLst>
                <a:path w="24419179" h="13716000">
                  <a:moveTo>
                    <a:pt x="0" y="0"/>
                  </a:moveTo>
                  <a:lnTo>
                    <a:pt x="24419179" y="0"/>
                  </a:lnTo>
                  <a:lnTo>
                    <a:pt x="2441917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786437"/>
              </p:ext>
            </p:extLst>
          </p:nvPr>
        </p:nvGraphicFramePr>
        <p:xfrm>
          <a:off x="3173076" y="4460988"/>
          <a:ext cx="6553200" cy="1524000"/>
        </p:xfrm>
        <a:graphic>
          <a:graphicData uri="http://schemas.openxmlformats.org/drawingml/2006/table">
            <a:tbl>
              <a:tblPr/>
              <a:tblGrid>
                <a:gridCol w="6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ADDRESS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{{ADDRESS}}</a:t>
                      </a:r>
                      <a:endParaRPr lang="en-US" sz="1100"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60739"/>
              </p:ext>
            </p:extLst>
          </p:nvPr>
        </p:nvGraphicFramePr>
        <p:xfrm>
          <a:off x="11001226" y="4454412"/>
          <a:ext cx="4089400" cy="1524000"/>
        </p:xfrm>
        <a:graphic>
          <a:graphicData uri="http://schemas.openxmlformats.org/drawingml/2006/table">
            <a:tbl>
              <a:tblPr/>
              <a:tblGrid>
                <a:gridCol w="408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OWNERS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{{OWNERGROUP}}</a:t>
                      </a:r>
                      <a:endParaRPr lang="en-US" sz="1100"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19676"/>
              </p:ext>
            </p:extLst>
          </p:nvPr>
        </p:nvGraphicFramePr>
        <p:xfrm>
          <a:off x="4745342" y="6596238"/>
          <a:ext cx="2844800" cy="2224634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324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MANAGEMENT </a:t>
                      </a:r>
                      <a:endParaRPr lang="en-US" sz="1100" dirty="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ACQUIRED DATE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38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{{ACQUIREDDATE}}</a:t>
                      </a:r>
                      <a:endParaRPr lang="en-US" sz="1100"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410947"/>
              </p:ext>
            </p:extLst>
          </p:nvPr>
        </p:nvGraphicFramePr>
        <p:xfrm>
          <a:off x="8360100" y="6520468"/>
          <a:ext cx="1701800" cy="2589742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473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</a:t>
                      </a:r>
                      <a:endParaRPr lang="en-US" sz="1100" dirty="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3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{{TOTALUNITS}}</a:t>
                      </a:r>
                      <a:endParaRPr lang="en-US" sz="1100" dirty="0"/>
                    </a:p>
                    <a:p>
                      <a:pPr algn="l">
                        <a:lnSpc>
                          <a:spcPts val="3311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531317"/>
              </p:ext>
            </p:extLst>
          </p:nvPr>
        </p:nvGraphicFramePr>
        <p:xfrm>
          <a:off x="10978358" y="6521326"/>
          <a:ext cx="2540000" cy="258979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521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RENTABLE </a:t>
                      </a:r>
                      <a:endParaRPr lang="en-US" sz="1100" dirty="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 dirty="0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SQUARE FEET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3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{{RENTABLESQFT}}</a:t>
                      </a:r>
                      <a:endParaRPr lang="en-US" sz="1100" dirty="0"/>
                    </a:p>
                    <a:p>
                      <a:pPr algn="l">
                        <a:lnSpc>
                          <a:spcPts val="3311"/>
                        </a:lnSpc>
                        <a:defRPr/>
                      </a:pPr>
                      <a:endParaRPr lang="en-US" sz="1100" dirty="0"/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0" y="2366950"/>
            <a:ext cx="18288000" cy="1882800"/>
            <a:chOff x="0" y="0"/>
            <a:chExt cx="24384000" cy="251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2510409"/>
            </a:xfrm>
            <a:custGeom>
              <a:avLst/>
              <a:gdLst/>
              <a:ahLst/>
              <a:cxnLst/>
              <a:rect l="l" t="t" r="r" b="b"/>
              <a:pathLst>
                <a:path w="24384000" h="2510409">
                  <a:moveTo>
                    <a:pt x="0" y="0"/>
                  </a:moveTo>
                  <a:lnTo>
                    <a:pt x="24384000" y="0"/>
                  </a:lnTo>
                  <a:lnTo>
                    <a:pt x="24384000" y="2510409"/>
                  </a:lnTo>
                  <a:lnTo>
                    <a:pt x="0" y="25104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8763100"/>
            <a:ext cx="18288000" cy="1524000"/>
            <a:chOff x="0" y="0"/>
            <a:chExt cx="24384000" cy="203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032000"/>
            </a:xfrm>
            <a:custGeom>
              <a:avLst/>
              <a:gdLst/>
              <a:ahLst/>
              <a:cxnLst/>
              <a:rect l="l" t="t" r="r" b="b"/>
              <a:pathLst>
                <a:path w="24384000" h="2032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276225"/>
            <a:ext cx="7195650" cy="1747650"/>
            <a:chOff x="0" y="0"/>
            <a:chExt cx="9594200" cy="23302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9568815" cy="2304796"/>
            </a:xfrm>
            <a:custGeom>
              <a:avLst/>
              <a:gdLst/>
              <a:ahLst/>
              <a:cxnLst/>
              <a:rect l="l" t="t" r="r" b="b"/>
              <a:pathLst>
                <a:path w="9568815" h="2304796">
                  <a:moveTo>
                    <a:pt x="0" y="0"/>
                  </a:moveTo>
                  <a:lnTo>
                    <a:pt x="9568815" y="0"/>
                  </a:lnTo>
                  <a:lnTo>
                    <a:pt x="9568815" y="2304796"/>
                  </a:lnTo>
                  <a:lnTo>
                    <a:pt x="0" y="2304796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9594215" cy="2330196"/>
            </a:xfrm>
            <a:custGeom>
              <a:avLst/>
              <a:gdLst/>
              <a:ahLst/>
              <a:cxnLst/>
              <a:rect l="l" t="t" r="r" b="b"/>
              <a:pathLst>
                <a:path w="9594215" h="2330196">
                  <a:moveTo>
                    <a:pt x="12700" y="0"/>
                  </a:moveTo>
                  <a:lnTo>
                    <a:pt x="9581515" y="0"/>
                  </a:lnTo>
                  <a:cubicBezTo>
                    <a:pt x="9588500" y="0"/>
                    <a:pt x="9594215" y="5715"/>
                    <a:pt x="9594215" y="12700"/>
                  </a:cubicBezTo>
                  <a:lnTo>
                    <a:pt x="9594215" y="2317496"/>
                  </a:lnTo>
                  <a:cubicBezTo>
                    <a:pt x="9594215" y="2324481"/>
                    <a:pt x="9588500" y="2330196"/>
                    <a:pt x="9581515" y="2330196"/>
                  </a:cubicBezTo>
                  <a:lnTo>
                    <a:pt x="12700" y="2330196"/>
                  </a:lnTo>
                  <a:cubicBezTo>
                    <a:pt x="5715" y="2330196"/>
                    <a:pt x="0" y="2324481"/>
                    <a:pt x="0" y="231749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7496"/>
                  </a:lnTo>
                  <a:lnTo>
                    <a:pt x="12700" y="2317496"/>
                  </a:lnTo>
                  <a:lnTo>
                    <a:pt x="12700" y="2304796"/>
                  </a:lnTo>
                  <a:lnTo>
                    <a:pt x="9581515" y="2304796"/>
                  </a:lnTo>
                  <a:lnTo>
                    <a:pt x="9581515" y="2317496"/>
                  </a:lnTo>
                  <a:lnTo>
                    <a:pt x="9568815" y="2317496"/>
                  </a:lnTo>
                  <a:lnTo>
                    <a:pt x="9568815" y="12700"/>
                  </a:lnTo>
                  <a:lnTo>
                    <a:pt x="9581515" y="12700"/>
                  </a:lnTo>
                  <a:lnTo>
                    <a:pt x="958151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60975" y="342200"/>
            <a:ext cx="6993750" cy="80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21" name="AutoShape 21"/>
          <p:cNvSpPr/>
          <p:nvPr/>
        </p:nvSpPr>
        <p:spPr>
          <a:xfrm rot="10772046">
            <a:off x="471994" y="1127275"/>
            <a:ext cx="6382711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-19550" y="1154227"/>
            <a:ext cx="6993750" cy="5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{{CURRENTMONTH}} 2026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5114100" y="9009900"/>
            <a:ext cx="2809752" cy="954002"/>
            <a:chOff x="0" y="0"/>
            <a:chExt cx="3746336" cy="12720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46373" cy="1272032"/>
            </a:xfrm>
            <a:custGeom>
              <a:avLst/>
              <a:gdLst/>
              <a:ahLst/>
              <a:cxnLst/>
              <a:rect l="l" t="t" r="r" b="b"/>
              <a:pathLst>
                <a:path w="3746373" h="1272032">
                  <a:moveTo>
                    <a:pt x="0" y="0"/>
                  </a:moveTo>
                  <a:lnTo>
                    <a:pt x="3746373" y="0"/>
                  </a:lnTo>
                  <a:lnTo>
                    <a:pt x="3746373" y="1272032"/>
                  </a:lnTo>
                  <a:lnTo>
                    <a:pt x="0" y="12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688692E-2B3D-FB28-75D4-7E6740EBBC9E}"/>
              </a:ext>
            </a:extLst>
          </p:cNvPr>
          <p:cNvCxnSpPr>
            <a:cxnSpLocks/>
          </p:cNvCxnSpPr>
          <p:nvPr/>
        </p:nvCxnSpPr>
        <p:spPr>
          <a:xfrm>
            <a:off x="3200400" y="5219700"/>
            <a:ext cx="5159700" cy="0"/>
          </a:xfrm>
          <a:prstGeom prst="line">
            <a:avLst/>
          </a:prstGeom>
          <a:ln>
            <a:solidFill>
              <a:srgbClr val="3B52A1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C50689-F3A6-167C-7255-7D04709EA7EA}"/>
              </a:ext>
            </a:extLst>
          </p:cNvPr>
          <p:cNvCxnSpPr>
            <a:cxnSpLocks/>
          </p:cNvCxnSpPr>
          <p:nvPr/>
        </p:nvCxnSpPr>
        <p:spPr>
          <a:xfrm>
            <a:off x="11001226" y="5219700"/>
            <a:ext cx="2181374" cy="0"/>
          </a:xfrm>
          <a:prstGeom prst="line">
            <a:avLst/>
          </a:prstGeom>
          <a:ln>
            <a:solidFill>
              <a:srgbClr val="3B52A1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D18338-BAFE-A2D4-F3AE-46C528FA69A4}"/>
              </a:ext>
            </a:extLst>
          </p:cNvPr>
          <p:cNvCxnSpPr>
            <a:cxnSpLocks/>
          </p:cNvCxnSpPr>
          <p:nvPr/>
        </p:nvCxnSpPr>
        <p:spPr>
          <a:xfrm>
            <a:off x="4800600" y="7734300"/>
            <a:ext cx="2722258" cy="0"/>
          </a:xfrm>
          <a:prstGeom prst="line">
            <a:avLst/>
          </a:prstGeom>
          <a:ln>
            <a:solidFill>
              <a:srgbClr val="3B52A1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57AFB1-04D6-CF84-E02C-00007B8CE47D}"/>
              </a:ext>
            </a:extLst>
          </p:cNvPr>
          <p:cNvCxnSpPr>
            <a:cxnSpLocks/>
          </p:cNvCxnSpPr>
          <p:nvPr/>
        </p:nvCxnSpPr>
        <p:spPr>
          <a:xfrm>
            <a:off x="8360100" y="7734300"/>
            <a:ext cx="1545900" cy="0"/>
          </a:xfrm>
          <a:prstGeom prst="line">
            <a:avLst/>
          </a:prstGeom>
          <a:ln>
            <a:solidFill>
              <a:srgbClr val="3B52A1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3B43C2-2D83-5EC3-23C2-01BF9D14E6E2}"/>
              </a:ext>
            </a:extLst>
          </p:cNvPr>
          <p:cNvCxnSpPr>
            <a:cxnSpLocks/>
          </p:cNvCxnSpPr>
          <p:nvPr/>
        </p:nvCxnSpPr>
        <p:spPr>
          <a:xfrm>
            <a:off x="11049000" y="7734300"/>
            <a:ext cx="2362200" cy="0"/>
          </a:xfrm>
          <a:prstGeom prst="line">
            <a:avLst/>
          </a:prstGeom>
          <a:ln>
            <a:solidFill>
              <a:srgbClr val="3B52A1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80FAB35C-0686-6D4A-38EC-232A1E1168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375" y="2441135"/>
            <a:ext cx="5497350" cy="1984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 descr="A long hallway with doors and lights&#10;&#10;AI-generated content may be incorrect.">
            <a:extLst>
              <a:ext uri="{FF2B5EF4-FFF2-40B4-BE49-F238E27FC236}">
                <a16:creationId xmlns:a16="http://schemas.microsoft.com/office/drawing/2014/main" id="{09238A00-FFB9-A5C1-F019-8B9173A04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7900" cy="1011363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58140" y="2280200"/>
            <a:ext cx="2624400" cy="787200"/>
            <a:chOff x="0" y="0"/>
            <a:chExt cx="3499200" cy="104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FINANCIAL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47871" y="3436299"/>
            <a:ext cx="3334289" cy="1664850"/>
            <a:chOff x="0" y="0"/>
            <a:chExt cx="878167" cy="43847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47871" y="4488445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Rental Income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3793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{{TOTALRENTALINCOME}}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677425" y="3431512"/>
            <a:ext cx="3310650" cy="1664850"/>
            <a:chOff x="0" y="0"/>
            <a:chExt cx="871941" cy="4384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06163" y="3431488"/>
            <a:ext cx="3448050" cy="1664850"/>
            <a:chOff x="0" y="0"/>
            <a:chExt cx="908128" cy="43847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742147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{{TOTALINCOME}}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7425" y="4488445"/>
            <a:ext cx="3269567" cy="41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 Revenue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50025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{{TOTALEXPENSES}}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3350" y="4488445"/>
            <a:ext cx="3269567" cy="41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Operating Expenses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873288" y="3431488"/>
            <a:ext cx="3448050" cy="1664850"/>
            <a:chOff x="0" y="0"/>
            <a:chExt cx="908128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006638" y="3798525"/>
            <a:ext cx="318120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{{NETINCOME}}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2530" y="4488445"/>
            <a:ext cx="3269567" cy="41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 Operating Income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158140" y="5767899"/>
            <a:ext cx="2624400" cy="787200"/>
            <a:chOff x="0" y="0"/>
            <a:chExt cx="3499200" cy="1049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OCCUPANCY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47871" y="6912625"/>
            <a:ext cx="3334289" cy="1664850"/>
            <a:chOff x="0" y="0"/>
            <a:chExt cx="878167" cy="43847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124412" y="7240899"/>
            <a:ext cx="3181207" cy="103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{{OCCUPIEDAREASQFT}} ft²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47871" y="7974324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Occupied Area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677425" y="6915638"/>
            <a:ext cx="3310650" cy="1664850"/>
            <a:chOff x="0" y="0"/>
            <a:chExt cx="871941" cy="43847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742147" y="7240899"/>
            <a:ext cx="3181207" cy="103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{{OCCUPANCYBYUNITS}}%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65606" y="7972912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units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206163" y="6915638"/>
            <a:ext cx="3448050" cy="1664850"/>
            <a:chOff x="0" y="0"/>
            <a:chExt cx="908128" cy="43847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327530" y="7240899"/>
            <a:ext cx="3181207" cy="111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{{OCCUPIEDAREAPERCENT}}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63044" y="7972887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Data</a:t>
              </a: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377273"/>
              </p:ext>
            </p:extLst>
          </p:nvPr>
        </p:nvGraphicFramePr>
        <p:xfrm>
          <a:off x="780998" y="7176516"/>
          <a:ext cx="16725998" cy="2852928"/>
        </p:xfrm>
        <a:graphic>
          <a:graphicData uri="http://schemas.openxmlformats.org/drawingml/2006/table">
            <a:tbl>
              <a:tblPr/>
              <a:tblGrid>
                <a:gridCol w="2393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1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87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0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48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589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Professional Fees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{{PROFYTDVARPER}}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Repairs &amp; Maintenance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{{REPYTDVARPER}}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Retail Products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{{RETPRODYTD}}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{{RETAYTDVARPER}}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Security</a:t>
                      </a:r>
                      <a:endParaRPr lang="en-US" sz="1200" b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{{SECYTDVARPER}}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Software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{{SOFTYTDVARPER}}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Telephone &amp; Internet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{{INTERYTDVARPER}}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Travel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TRAVELYTDVARPER}}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43143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Utilities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{{UTILYTDVARPER}}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Total Operating Expenses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{{TOTALPROPYTDVARPER}}</a:t>
                      </a:r>
                      <a:endParaRPr lang="en-US" sz="11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"/>
                          <a:cs typeface="Avenir"/>
                          <a:sym typeface="Avenir"/>
                        </a:rPr>
                        <a:t>Total Other Expenses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Medium"/>
                          <a:cs typeface="Avenir Medium"/>
                          <a:sym typeface="Avenir Medium"/>
                        </a:rPr>
                        <a:t>{{TOTOTHEXPYTDVARPER}}</a:t>
                      </a:r>
                      <a:endParaRPr lang="en-US" sz="11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Total Expenses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{{TOTEXPYTDVARPER}}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Net Income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{{NETINCYTDVARPER}}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EA1496D4-075B-62CD-E859-BB7489AE8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010796"/>
              </p:ext>
            </p:extLst>
          </p:nvPr>
        </p:nvGraphicFramePr>
        <p:xfrm>
          <a:off x="781000" y="1638300"/>
          <a:ext cx="16726000" cy="5230368"/>
        </p:xfrm>
        <a:graphic>
          <a:graphicData uri="http://schemas.openxmlformats.org/drawingml/2006/table">
            <a:tbl>
              <a:tblPr/>
              <a:tblGrid>
                <a:gridCol w="2385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2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86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1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585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{{CURRENTMONTH}}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PTD Budget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Variance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% Var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YTD Actual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YTD Budget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Variance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% Var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Rental Income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{{RENTINCYTDVARPER}}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Discounts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{{DISCYTDVARPER}}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Total Rental Income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{{TOTRENINCYTDVARPER}}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Admin Fees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{{ADMFEEYTDVARPER}}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Late Fees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{{LATFEEYTDVARPER}}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Tenant Protection Fee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{{INSURYTDVARPER}}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Retail Sales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{{RETSALYTDVARPER}}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79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Secure Payment Fee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9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{{SECPPYTDVARPER}}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Total Income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{{TOTALINCYTDVARPER}}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Bold" panose="020B0604020202020204" charset="0"/>
                          <a:sym typeface="Avenir Bold"/>
                        </a:rPr>
                        <a:t>Expenses</a:t>
                      </a:r>
                      <a:endParaRPr lang="en-US" sz="1200" b="0" dirty="0">
                        <a:latin typeface="Avenir Bold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Advertising &amp; Marketing</a:t>
                      </a:r>
                      <a:endParaRPr lang="en-US" sz="1200" b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{{ADVERYTDVAR}}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{{ADVERYTDVARPER}}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Auction Expenses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{{AUCTCM}}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{{AUCTPTD}}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{{AUCTVAR}}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{{AUCTYTD}}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{{AUCTYTDBUD}}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{{AUCTYTDVARPER}}</a:t>
                      </a:r>
                      <a:endParaRPr lang="en-US" sz="1200" b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" panose="020B0604020202020204" charset="0"/>
                        </a:rPr>
                        <a:t>Bank Charges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BANKCHGCM</a:t>
                      </a:r>
                      <a:r>
                        <a:rPr lang="en-US" sz="1200" b="0" dirty="0">
                          <a:latin typeface="Avenir Medium" panose="020B0604020202020204" charset="0"/>
                        </a:rPr>
                        <a:t>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venir Medium" panose="020B0604020202020204" charset="0"/>
                          <a:ea typeface="+mn-ea"/>
                          <a:cs typeface="+mn-cs"/>
                        </a:rPr>
                        <a:t>BANKCHGYTDVARPER}}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7716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Credit Card Merchant Fees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{{CCMYTDVARPER}}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Dues &amp; Subscriptions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{{DUESYTDVARPER}}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Fire Prevention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{{FIREYTDVARPER}}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Insurance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{{INSURXPCM}}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{{INSURXPPTD}}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{{INSURXPVAR}}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{{INSURXPVARPER}}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{{INSURXPYTD}}</a:t>
                      </a:r>
                      <a:endParaRPr lang="en-US" sz="1200" b="0" i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{{INSURXPYTDBUD}}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{{INSURXPYTDVAR}}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latin typeface="Avenir Medium" panose="020B0604020202020204" charset="0"/>
                        </a:rPr>
                        <a:t>{{INSURXPYTDVARPER}}</a:t>
                      </a: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Licenses &amp; Permits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{{PERMYTDVARPER}}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Management Fees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Payroll Costs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{{MGMTSTFYTDVARPER}}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Office &amp; Building Supplies</a:t>
                      </a:r>
                      <a:endParaRPr lang="en-US" sz="1200" b="0" dirty="0">
                        <a:latin typeface="Avenir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{{OFFSUPCM}}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{{OFFSUPPTD}}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{{OFFSUPYTD}}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{{OFFSUPYTDBUD}}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{{OFFSUPYTDVAR}}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venir Medium" panose="020B0604020202020204" charset="0"/>
                          <a:ea typeface="Avenir Bold"/>
                          <a:cs typeface="Avenir Bold"/>
                          <a:sym typeface="Avenir Bold"/>
                        </a:rPr>
                        <a:t>{{OFFSUPYTDVARPER}}</a:t>
                      </a:r>
                      <a:endParaRPr lang="en-US" sz="1200" b="0" dirty="0">
                        <a:latin typeface="Avenir Medium" panose="020B0604020202020204" charset="0"/>
                      </a:endParaRPr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150" y="-14287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53322" y="44110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4085298" y="4718850"/>
            <a:ext cx="2324100" cy="1318500"/>
            <a:chOff x="0" y="0"/>
            <a:chExt cx="3098800" cy="1758000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3-MONTH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85378" y="6391348"/>
            <a:ext cx="2324100" cy="1318500"/>
            <a:chOff x="0" y="0"/>
            <a:chExt cx="3098800" cy="1758000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6-MONTH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48700" y="1951450"/>
            <a:ext cx="3294600" cy="1645800"/>
            <a:chOff x="0" y="0"/>
            <a:chExt cx="4392800" cy="219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5301" y="898235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Trailing number includes current month.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4085378" y="8067748"/>
            <a:ext cx="2324100" cy="1318500"/>
            <a:chOff x="0" y="0"/>
            <a:chExt cx="3098800" cy="1758000"/>
          </a:xfrm>
        </p:grpSpPr>
        <p:sp>
          <p:nvSpPr>
            <p:cNvPr id="38" name="Freeform 38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12-MONTH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41936" y="1951450"/>
            <a:ext cx="3310650" cy="1664850"/>
            <a:chOff x="0" y="0"/>
            <a:chExt cx="871941" cy="43847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606657" y="2125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62477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188027" y="1963175"/>
            <a:ext cx="3310650" cy="1664850"/>
            <a:chOff x="0" y="0"/>
            <a:chExt cx="871941" cy="43847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252749" y="2094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232445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2739100" y="1932400"/>
            <a:ext cx="3310650" cy="1664850"/>
            <a:chOff x="0" y="0"/>
            <a:chExt cx="871941" cy="43847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803822" y="207518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{{NETMOVE}}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61326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883049" y="4790611"/>
            <a:ext cx="2274101" cy="1331239"/>
            <a:chOff x="0" y="0"/>
            <a:chExt cx="598940" cy="35061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409478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69870" y="4895850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{{MOVEINSTRL3}}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9551077" y="4758822"/>
            <a:ext cx="2274101" cy="1331239"/>
            <a:chOff x="0" y="0"/>
            <a:chExt cx="598940" cy="35061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034700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{{MOVEOUTSTRL3}}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68893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215703" y="4758822"/>
            <a:ext cx="2274101" cy="1331239"/>
            <a:chOff x="0" y="0"/>
            <a:chExt cx="598940" cy="35061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736993" y="54600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81223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{{NETTRL3}}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6883049" y="6326636"/>
            <a:ext cx="2274101" cy="1331239"/>
            <a:chOff x="0" y="0"/>
            <a:chExt cx="598940" cy="35061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582100" y="6326636"/>
            <a:ext cx="2274101" cy="1331239"/>
            <a:chOff x="0" y="0"/>
            <a:chExt cx="598940" cy="35061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215703" y="6320514"/>
            <a:ext cx="2274101" cy="1331239"/>
            <a:chOff x="0" y="0"/>
            <a:chExt cx="598940" cy="35061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6444971" y="6496348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{{MOVEINSTRL6}}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325690" y="7020830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14390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{{MOVEOUTSTRL6}}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09972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71797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71797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{{NETTRL6}}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6883049" y="8061378"/>
            <a:ext cx="2274101" cy="1331239"/>
            <a:chOff x="0" y="0"/>
            <a:chExt cx="598940" cy="35061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582100" y="8076975"/>
            <a:ext cx="2274101" cy="1331239"/>
            <a:chOff x="0" y="0"/>
            <a:chExt cx="598940" cy="35061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215907" y="8041112"/>
            <a:ext cx="2274101" cy="1331239"/>
            <a:chOff x="0" y="0"/>
            <a:chExt cx="598940" cy="35061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6517856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{{MOVEINSTRL12}}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281510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128547" y="8153175"/>
            <a:ext cx="3181207" cy="95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{{MOVEOUTSTRL12}}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068893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762150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{{NETTRL12}}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718174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104" name="Group 8">
            <a:extLst>
              <a:ext uri="{FF2B5EF4-FFF2-40B4-BE49-F238E27FC236}">
                <a16:creationId xmlns:a16="http://schemas.microsoft.com/office/drawing/2014/main" id="{EE292075-059A-6F08-DE48-4A8DDBBA0B11}"/>
              </a:ext>
            </a:extLst>
          </p:cNvPr>
          <p:cNvGrpSpPr/>
          <p:nvPr/>
        </p:nvGrpSpPr>
        <p:grpSpPr>
          <a:xfrm>
            <a:off x="0" y="-123300"/>
            <a:ext cx="18288000" cy="1609200"/>
            <a:chOff x="0" y="0"/>
            <a:chExt cx="24384000" cy="2145600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13FD3DC-1311-0C31-50E9-18F8169BD813}"/>
                </a:ext>
              </a:extLst>
            </p:cNvPr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">
              <a:extLst>
                <a:ext uri="{FF2B5EF4-FFF2-40B4-BE49-F238E27FC236}">
                  <a16:creationId xmlns:a16="http://schemas.microsoft.com/office/drawing/2014/main" id="{8269F3FC-56DA-1FF6-AB8F-11D27ECBE60E}"/>
                </a:ext>
              </a:extLst>
            </p:cNvPr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78834"/>
            <a:ext cx="18288000" cy="823200"/>
            <a:chOff x="0" y="0"/>
            <a:chExt cx="24384000" cy="1097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4788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301" y="9080201"/>
            <a:ext cx="58171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Definitions in rate management report.</a:t>
            </a:r>
          </a:p>
          <a:p>
            <a:pPr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Blank fields are due to missing historical data from seller.</a:t>
            </a:r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76076" y="1609188"/>
          <a:ext cx="1625600" cy="7620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SUMMARY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431576" y="1609212"/>
          <a:ext cx="2971800" cy="762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576100" y="2673900"/>
          <a:ext cx="7215330" cy="5765800"/>
        </p:xfrm>
        <a:graphic>
          <a:graphicData uri="http://schemas.openxmlformats.org/drawingml/2006/table">
            <a:tbl>
              <a:tblPr/>
              <a:tblGrid>
                <a:gridCol w="3249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365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KPI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Last Month Value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03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 Occupancy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Occ Units LOR &gt; 6 Months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Avg LOR of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804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MoveIns with Promo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6F4F047-9584-4865-C642-8B18511A0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82954"/>
              </p:ext>
            </p:extLst>
          </p:nvPr>
        </p:nvGraphicFramePr>
        <p:xfrm>
          <a:off x="8915400" y="2673900"/>
          <a:ext cx="4572000" cy="5179754"/>
        </p:xfrm>
        <a:graphic>
          <a:graphicData uri="http://schemas.openxmlformats.org/drawingml/2006/table">
            <a:tbl>
              <a:tblPr/>
              <a:tblGrid>
                <a:gridCol w="318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770"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{{NEXTMONTH}} ECRI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{{ECRIMONTH}}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(4-6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6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Number of rent increase letters sent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sym typeface="Avenir"/>
                        </a:rPr>
                        <a:t>{{NUMREN}}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56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square footage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sym typeface="Avenir"/>
                        </a:rPr>
                        <a:t>{{TOTSFT}}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64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rental rate; prior </a:t>
                      </a: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 ECRI 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($/sq ft)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sym typeface="Avenir"/>
                        </a:rPr>
                        <a:t>{{BASERENPR}}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82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$ increase with ECRI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{{TOTINCESC}}</a:t>
                      </a:r>
                      <a:endParaRPr lang="en-US" sz="1100" dirty="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19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New rental rate, </a:t>
                      </a: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after ECRI 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($/sq ft)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{{NEWRENRT}}</a:t>
                      </a:r>
                      <a:endParaRPr lang="en-US" sz="1100" dirty="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00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Average percent increase per unit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{{AVGPERINC}}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900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Move outs in 90 days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{{MOVEOUT90}}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EAFD146-7197-87A4-4A8D-CB7B5CDA6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5169"/>
              </p:ext>
            </p:extLst>
          </p:nvPr>
        </p:nvGraphicFramePr>
        <p:xfrm>
          <a:off x="13563600" y="2680147"/>
          <a:ext cx="4572000" cy="5179754"/>
        </p:xfrm>
        <a:graphic>
          <a:graphicData uri="http://schemas.openxmlformats.org/drawingml/2006/table">
            <a:tbl>
              <a:tblPr/>
              <a:tblGrid>
                <a:gridCol w="318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770"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{{NEXTMONTH2}} ECRI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{{ECRIMONTH2}}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(4-6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56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Number of rent increase letters sent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sym typeface="Avenir"/>
                        </a:rPr>
                        <a:t>{{NUMREN2}}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56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square footage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sym typeface="Avenir"/>
                        </a:rPr>
                        <a:t>{{TOTSFT2}}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64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rental rate; prior </a:t>
                      </a: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 ECRI 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($/sq ft)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sym typeface="Avenir"/>
                        </a:rPr>
                        <a:t>{{BASERENPR2}}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829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$ increase with ECRI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{{TOTINCESC2}}</a:t>
                      </a:r>
                      <a:endParaRPr lang="en-US" sz="1100" dirty="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19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New rental rate, after ECRI ($/sq ft)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{{NEWRENRT2}}</a:t>
                      </a:r>
                      <a:endParaRPr lang="en-US" sz="1100" dirty="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00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Average percent increase per unit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{{AVGPERINC2}}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900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Move outs in 90 days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{{MOVEOUT902}}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 Rate Management | Current Sell Rate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25" y="9078975"/>
            <a:ext cx="62995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Sell Rates are only available for vacant spaces.</a:t>
            </a:r>
          </a:p>
        </p:txBody>
      </p:sp>
      <p:sp>
        <p:nvSpPr>
          <p:cNvPr id="18" name="TextBox 18"/>
          <p:cNvSpPr txBox="1"/>
          <p:nvPr/>
        </p:nvSpPr>
        <p:spPr>
          <a:xfrm rot="-5400000">
            <a:off x="-246686" y="4436639"/>
            <a:ext cx="247755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ALL UNITS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812591FC-A107-0045-FB42-A84E5C161E53}"/>
              </a:ext>
            </a:extLst>
          </p:cNvPr>
          <p:cNvGraphicFramePr>
            <a:graphicFrameLocks noGrp="1"/>
          </p:cNvGraphicFramePr>
          <p:nvPr/>
        </p:nvGraphicFramePr>
        <p:xfrm>
          <a:off x="1536699" y="2628900"/>
          <a:ext cx="15240001" cy="3200402"/>
        </p:xfrm>
        <a:graphic>
          <a:graphicData uri="http://schemas.openxmlformats.org/drawingml/2006/table">
            <a:tbl>
              <a:tblPr/>
              <a:tblGrid>
                <a:gridCol w="460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0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Sell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Sell Rate</a:t>
                      </a:r>
                      <a:endParaRPr lang="en-US" sz="1100" dirty="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{{5X5WEBRT}}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{{10X5WEBRT}}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{{10X10WEBRT}}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{{10X15WEBRT}}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{{10X20WEBRT}}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{{20X15WEBRT}}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room with roller doors&#10;&#10;AI-generated content may be incorrect.">
            <a:extLst>
              <a:ext uri="{FF2B5EF4-FFF2-40B4-BE49-F238E27FC236}">
                <a16:creationId xmlns:a16="http://schemas.microsoft.com/office/drawing/2014/main" id="{85A2A8BD-AA7D-B9E6-B12D-072B401F5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044"/>
            <a:ext cx="18669000" cy="10350500"/>
          </a:xfrm>
          <a:prstGeom prst="rect">
            <a:avLst/>
          </a:prstGeom>
        </p:spPr>
      </p:pic>
      <p:grpSp>
        <p:nvGrpSpPr>
          <p:cNvPr id="103" name="Group 4">
            <a:extLst>
              <a:ext uri="{FF2B5EF4-FFF2-40B4-BE49-F238E27FC236}">
                <a16:creationId xmlns:a16="http://schemas.microsoft.com/office/drawing/2014/main" id="{9C0188C5-1867-CBB8-DE77-604BAC47A7A5}"/>
              </a:ext>
            </a:extLst>
          </p:cNvPr>
          <p:cNvGrpSpPr/>
          <p:nvPr/>
        </p:nvGrpSpPr>
        <p:grpSpPr>
          <a:xfrm>
            <a:off x="0" y="-38100"/>
            <a:ext cx="18288000" cy="10287000"/>
            <a:chOff x="0" y="0"/>
            <a:chExt cx="24384000" cy="13716000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7623B9DD-1846-F7E0-3EE7-1866D6B005C7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-3810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{{CURRENTMONTH}} Operational Snapshot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3" y="9105175"/>
            <a:ext cx="100093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Additional information can be found in the daily flash report.</a:t>
            </a:r>
          </a:p>
        </p:txBody>
      </p:sp>
      <p:grpSp>
        <p:nvGrpSpPr>
          <p:cNvPr id="16" name="Group 41">
            <a:extLst>
              <a:ext uri="{FF2B5EF4-FFF2-40B4-BE49-F238E27FC236}">
                <a16:creationId xmlns:a16="http://schemas.microsoft.com/office/drawing/2014/main" id="{7DFB2AB5-375E-C1C4-B80A-61E3C207CFBD}"/>
              </a:ext>
            </a:extLst>
          </p:cNvPr>
          <p:cNvGrpSpPr/>
          <p:nvPr/>
        </p:nvGrpSpPr>
        <p:grpSpPr>
          <a:xfrm>
            <a:off x="3852150" y="2095500"/>
            <a:ext cx="3310650" cy="1664850"/>
            <a:chOff x="0" y="0"/>
            <a:chExt cx="871941" cy="438479"/>
          </a:xfrm>
        </p:grpSpPr>
        <p:sp>
          <p:nvSpPr>
            <p:cNvPr id="17" name="Freeform 42">
              <a:extLst>
                <a:ext uri="{FF2B5EF4-FFF2-40B4-BE49-F238E27FC236}">
                  <a16:creationId xmlns:a16="http://schemas.microsoft.com/office/drawing/2014/main" id="{EA03B3A0-4F28-8517-12D7-929F93E1C6DE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3">
              <a:extLst>
                <a:ext uri="{FF2B5EF4-FFF2-40B4-BE49-F238E27FC236}">
                  <a16:creationId xmlns:a16="http://schemas.microsoft.com/office/drawing/2014/main" id="{BA50E27C-5D12-7098-659C-2F3974E9F765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44">
            <a:extLst>
              <a:ext uri="{FF2B5EF4-FFF2-40B4-BE49-F238E27FC236}">
                <a16:creationId xmlns:a16="http://schemas.microsoft.com/office/drawing/2014/main" id="{C287B4B5-E27A-95EE-15C7-28349203BFBD}"/>
              </a:ext>
            </a:extLst>
          </p:cNvPr>
          <p:cNvSpPr txBox="1"/>
          <p:nvPr/>
        </p:nvSpPr>
        <p:spPr>
          <a:xfrm>
            <a:off x="3928350" y="21678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{{MTDRENTALS}}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9711E967-15B6-CD0C-2AC2-9CB7DC7D67CE}"/>
              </a:ext>
            </a:extLst>
          </p:cNvPr>
          <p:cNvSpPr txBox="1"/>
          <p:nvPr/>
        </p:nvSpPr>
        <p:spPr>
          <a:xfrm>
            <a:off x="3852150" y="29813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Rentals</a:t>
            </a:r>
          </a:p>
        </p:txBody>
      </p:sp>
      <p:grpSp>
        <p:nvGrpSpPr>
          <p:cNvPr id="46" name="Group 41">
            <a:extLst>
              <a:ext uri="{FF2B5EF4-FFF2-40B4-BE49-F238E27FC236}">
                <a16:creationId xmlns:a16="http://schemas.microsoft.com/office/drawing/2014/main" id="{EFEFABE1-C600-38CC-194D-0378FCCF6476}"/>
              </a:ext>
            </a:extLst>
          </p:cNvPr>
          <p:cNvGrpSpPr/>
          <p:nvPr/>
        </p:nvGrpSpPr>
        <p:grpSpPr>
          <a:xfrm>
            <a:off x="7315200" y="2095500"/>
            <a:ext cx="3310650" cy="1664850"/>
            <a:chOff x="0" y="0"/>
            <a:chExt cx="871941" cy="438479"/>
          </a:xfrm>
        </p:grpSpPr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C7E010AD-67F0-DB79-4FAB-C3293D1D20CB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3">
              <a:extLst>
                <a:ext uri="{FF2B5EF4-FFF2-40B4-BE49-F238E27FC236}">
                  <a16:creationId xmlns:a16="http://schemas.microsoft.com/office/drawing/2014/main" id="{90FDDEBF-5E60-FECF-D5C5-CD896F71690C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4">
            <a:extLst>
              <a:ext uri="{FF2B5EF4-FFF2-40B4-BE49-F238E27FC236}">
                <a16:creationId xmlns:a16="http://schemas.microsoft.com/office/drawing/2014/main" id="{4BB2B5A3-D35C-6334-37AD-5EE2ED8BB57A}"/>
              </a:ext>
            </a:extLst>
          </p:cNvPr>
          <p:cNvSpPr txBox="1"/>
          <p:nvPr/>
        </p:nvSpPr>
        <p:spPr>
          <a:xfrm>
            <a:off x="7391400" y="21678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{{MTDVACATES}}</a:t>
            </a:r>
          </a:p>
        </p:txBody>
      </p:sp>
      <p:sp>
        <p:nvSpPr>
          <p:cNvPr id="50" name="TextBox 45">
            <a:extLst>
              <a:ext uri="{FF2B5EF4-FFF2-40B4-BE49-F238E27FC236}">
                <a16:creationId xmlns:a16="http://schemas.microsoft.com/office/drawing/2014/main" id="{E947CF11-6478-526B-BBD9-DEA14896B0A5}"/>
              </a:ext>
            </a:extLst>
          </p:cNvPr>
          <p:cNvSpPr txBox="1"/>
          <p:nvPr/>
        </p:nvSpPr>
        <p:spPr>
          <a:xfrm>
            <a:off x="7315200" y="2981325"/>
            <a:ext cx="3269567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Vacates</a:t>
            </a:r>
          </a:p>
        </p:txBody>
      </p:sp>
      <p:grpSp>
        <p:nvGrpSpPr>
          <p:cNvPr id="51" name="Group 41">
            <a:extLst>
              <a:ext uri="{FF2B5EF4-FFF2-40B4-BE49-F238E27FC236}">
                <a16:creationId xmlns:a16="http://schemas.microsoft.com/office/drawing/2014/main" id="{05B9E614-D59C-40C8-9F4C-E974E1D81485}"/>
              </a:ext>
            </a:extLst>
          </p:cNvPr>
          <p:cNvGrpSpPr/>
          <p:nvPr/>
        </p:nvGrpSpPr>
        <p:grpSpPr>
          <a:xfrm>
            <a:off x="10820400" y="2095500"/>
            <a:ext cx="3310650" cy="1664850"/>
            <a:chOff x="0" y="0"/>
            <a:chExt cx="871941" cy="438479"/>
          </a:xfrm>
        </p:grpSpPr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D382B21C-317D-C115-FCA6-5CBD756100BB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43">
              <a:extLst>
                <a:ext uri="{FF2B5EF4-FFF2-40B4-BE49-F238E27FC236}">
                  <a16:creationId xmlns:a16="http://schemas.microsoft.com/office/drawing/2014/main" id="{FD7006A7-4484-9849-2D02-E0FECA00F050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44">
            <a:extLst>
              <a:ext uri="{FF2B5EF4-FFF2-40B4-BE49-F238E27FC236}">
                <a16:creationId xmlns:a16="http://schemas.microsoft.com/office/drawing/2014/main" id="{B7B3BBE5-CAF3-C9F1-D2A9-53FEB02F50C5}"/>
              </a:ext>
            </a:extLst>
          </p:cNvPr>
          <p:cNvSpPr txBox="1"/>
          <p:nvPr/>
        </p:nvSpPr>
        <p:spPr>
          <a:xfrm>
            <a:off x="10896600" y="21678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{{MTDNETRENTALS}}</a:t>
            </a:r>
          </a:p>
        </p:txBody>
      </p:sp>
      <p:sp>
        <p:nvSpPr>
          <p:cNvPr id="55" name="TextBox 45">
            <a:extLst>
              <a:ext uri="{FF2B5EF4-FFF2-40B4-BE49-F238E27FC236}">
                <a16:creationId xmlns:a16="http://schemas.microsoft.com/office/drawing/2014/main" id="{9C28B3A7-9D35-D1C8-509C-FC32497E31E0}"/>
              </a:ext>
            </a:extLst>
          </p:cNvPr>
          <p:cNvSpPr txBox="1"/>
          <p:nvPr/>
        </p:nvSpPr>
        <p:spPr>
          <a:xfrm>
            <a:off x="10820400" y="29813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Net</a:t>
            </a:r>
          </a:p>
        </p:txBody>
      </p:sp>
      <p:grpSp>
        <p:nvGrpSpPr>
          <p:cNvPr id="76" name="Group 41">
            <a:extLst>
              <a:ext uri="{FF2B5EF4-FFF2-40B4-BE49-F238E27FC236}">
                <a16:creationId xmlns:a16="http://schemas.microsoft.com/office/drawing/2014/main" id="{B145205C-F1A3-7397-D900-432548B13003}"/>
              </a:ext>
            </a:extLst>
          </p:cNvPr>
          <p:cNvGrpSpPr/>
          <p:nvPr/>
        </p:nvGrpSpPr>
        <p:grpSpPr>
          <a:xfrm>
            <a:off x="5585557" y="3924300"/>
            <a:ext cx="3310650" cy="1664850"/>
            <a:chOff x="0" y="0"/>
            <a:chExt cx="871941" cy="438479"/>
          </a:xfrm>
        </p:grpSpPr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282D1D12-C5E6-316A-33BE-FD77D90C0A93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43">
              <a:extLst>
                <a:ext uri="{FF2B5EF4-FFF2-40B4-BE49-F238E27FC236}">
                  <a16:creationId xmlns:a16="http://schemas.microsoft.com/office/drawing/2014/main" id="{90EC3831-7541-8ABC-8715-78FB148716AA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79" name="TextBox 44">
            <a:extLst>
              <a:ext uri="{FF2B5EF4-FFF2-40B4-BE49-F238E27FC236}">
                <a16:creationId xmlns:a16="http://schemas.microsoft.com/office/drawing/2014/main" id="{96785DB2-C3F3-F75D-8DE6-C162AB3A9A28}"/>
              </a:ext>
            </a:extLst>
          </p:cNvPr>
          <p:cNvSpPr txBox="1"/>
          <p:nvPr/>
        </p:nvSpPr>
        <p:spPr>
          <a:xfrm>
            <a:off x="5661757" y="3996663"/>
            <a:ext cx="3181207" cy="59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{{PROJRENT}}</a:t>
            </a:r>
          </a:p>
        </p:txBody>
      </p:sp>
      <p:sp>
        <p:nvSpPr>
          <p:cNvPr id="80" name="TextBox 45">
            <a:extLst>
              <a:ext uri="{FF2B5EF4-FFF2-40B4-BE49-F238E27FC236}">
                <a16:creationId xmlns:a16="http://schemas.microsoft.com/office/drawing/2014/main" id="{9AD64C21-DD1B-0C03-CA2E-8BC0F6BAF7DC}"/>
              </a:ext>
            </a:extLst>
          </p:cNvPr>
          <p:cNvSpPr txBox="1"/>
          <p:nvPr/>
        </p:nvSpPr>
        <p:spPr>
          <a:xfrm>
            <a:off x="5585557" y="4810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Projected Rent</a:t>
            </a:r>
          </a:p>
        </p:txBody>
      </p:sp>
      <p:grpSp>
        <p:nvGrpSpPr>
          <p:cNvPr id="81" name="Group 41">
            <a:extLst>
              <a:ext uri="{FF2B5EF4-FFF2-40B4-BE49-F238E27FC236}">
                <a16:creationId xmlns:a16="http://schemas.microsoft.com/office/drawing/2014/main" id="{A8B17132-26AB-4386-9931-9F9E9EFA4E4B}"/>
              </a:ext>
            </a:extLst>
          </p:cNvPr>
          <p:cNvGrpSpPr/>
          <p:nvPr/>
        </p:nvGrpSpPr>
        <p:grpSpPr>
          <a:xfrm>
            <a:off x="9109950" y="3924300"/>
            <a:ext cx="3310650" cy="1664850"/>
            <a:chOff x="0" y="0"/>
            <a:chExt cx="871941" cy="438479"/>
          </a:xfrm>
        </p:grpSpPr>
        <p:sp>
          <p:nvSpPr>
            <p:cNvPr id="82" name="Freeform 42">
              <a:extLst>
                <a:ext uri="{FF2B5EF4-FFF2-40B4-BE49-F238E27FC236}">
                  <a16:creationId xmlns:a16="http://schemas.microsoft.com/office/drawing/2014/main" id="{7B080420-AA1B-E73F-1AAC-0DEF51E8B94E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43">
              <a:extLst>
                <a:ext uri="{FF2B5EF4-FFF2-40B4-BE49-F238E27FC236}">
                  <a16:creationId xmlns:a16="http://schemas.microsoft.com/office/drawing/2014/main" id="{A0E891B5-E360-0705-A1DA-EB73B0478221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4" name="TextBox 44">
            <a:extLst>
              <a:ext uri="{FF2B5EF4-FFF2-40B4-BE49-F238E27FC236}">
                <a16:creationId xmlns:a16="http://schemas.microsoft.com/office/drawing/2014/main" id="{0EC5E9F7-863C-DE5B-D71D-7E0632316569}"/>
              </a:ext>
            </a:extLst>
          </p:cNvPr>
          <p:cNvSpPr txBox="1"/>
          <p:nvPr/>
        </p:nvSpPr>
        <p:spPr>
          <a:xfrm>
            <a:off x="9186150" y="3996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{{PROJRENTPERSF}}</a:t>
            </a:r>
          </a:p>
        </p:txBody>
      </p:sp>
      <p:sp>
        <p:nvSpPr>
          <p:cNvPr id="85" name="TextBox 45">
            <a:extLst>
              <a:ext uri="{FF2B5EF4-FFF2-40B4-BE49-F238E27FC236}">
                <a16:creationId xmlns:a16="http://schemas.microsoft.com/office/drawing/2014/main" id="{D64049D5-8E8A-C7F3-44C8-5165D72D8E91}"/>
              </a:ext>
            </a:extLst>
          </p:cNvPr>
          <p:cNvSpPr txBox="1"/>
          <p:nvPr/>
        </p:nvSpPr>
        <p:spPr>
          <a:xfrm>
            <a:off x="9109950" y="4810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Projected Rent/SF</a:t>
            </a:r>
          </a:p>
        </p:txBody>
      </p:sp>
      <p:grpSp>
        <p:nvGrpSpPr>
          <p:cNvPr id="86" name="Group 41">
            <a:extLst>
              <a:ext uri="{FF2B5EF4-FFF2-40B4-BE49-F238E27FC236}">
                <a16:creationId xmlns:a16="http://schemas.microsoft.com/office/drawing/2014/main" id="{A194E09A-672B-2566-2FEF-76B25DA68195}"/>
              </a:ext>
            </a:extLst>
          </p:cNvPr>
          <p:cNvGrpSpPr/>
          <p:nvPr/>
        </p:nvGrpSpPr>
        <p:grpSpPr>
          <a:xfrm>
            <a:off x="5585557" y="5753100"/>
            <a:ext cx="3310650" cy="1664850"/>
            <a:chOff x="0" y="0"/>
            <a:chExt cx="871941" cy="438479"/>
          </a:xfrm>
        </p:grpSpPr>
        <p:sp>
          <p:nvSpPr>
            <p:cNvPr id="87" name="Freeform 42">
              <a:extLst>
                <a:ext uri="{FF2B5EF4-FFF2-40B4-BE49-F238E27FC236}">
                  <a16:creationId xmlns:a16="http://schemas.microsoft.com/office/drawing/2014/main" id="{83F4823C-CB9F-2299-905B-FFCE65A1C5B4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43">
              <a:extLst>
                <a:ext uri="{FF2B5EF4-FFF2-40B4-BE49-F238E27FC236}">
                  <a16:creationId xmlns:a16="http://schemas.microsoft.com/office/drawing/2014/main" id="{B685CAA6-A831-9BC5-749C-7B54048059BE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9" name="TextBox 44">
            <a:extLst>
              <a:ext uri="{FF2B5EF4-FFF2-40B4-BE49-F238E27FC236}">
                <a16:creationId xmlns:a16="http://schemas.microsoft.com/office/drawing/2014/main" id="{B63650AF-EADA-6832-7C25-802DF507A2B8}"/>
              </a:ext>
            </a:extLst>
          </p:cNvPr>
          <p:cNvSpPr txBox="1"/>
          <p:nvPr/>
        </p:nvSpPr>
        <p:spPr>
          <a:xfrm>
            <a:off x="5661757" y="58254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{{EFFPOTRENT}}</a:t>
            </a:r>
          </a:p>
        </p:txBody>
      </p:sp>
      <p:sp>
        <p:nvSpPr>
          <p:cNvPr id="90" name="TextBox 45">
            <a:extLst>
              <a:ext uri="{FF2B5EF4-FFF2-40B4-BE49-F238E27FC236}">
                <a16:creationId xmlns:a16="http://schemas.microsoft.com/office/drawing/2014/main" id="{5710F870-E13D-FA29-B9C8-001C04CF19C7}"/>
              </a:ext>
            </a:extLst>
          </p:cNvPr>
          <p:cNvSpPr txBox="1"/>
          <p:nvPr/>
        </p:nvSpPr>
        <p:spPr>
          <a:xfrm>
            <a:off x="5585557" y="6638925"/>
            <a:ext cx="3269567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700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Sell Rate + Pot. Rent</a:t>
            </a:r>
          </a:p>
        </p:txBody>
      </p:sp>
      <p:grpSp>
        <p:nvGrpSpPr>
          <p:cNvPr id="91" name="Group 41">
            <a:extLst>
              <a:ext uri="{FF2B5EF4-FFF2-40B4-BE49-F238E27FC236}">
                <a16:creationId xmlns:a16="http://schemas.microsoft.com/office/drawing/2014/main" id="{09450ECB-CD00-7D46-7A37-1F8918A66617}"/>
              </a:ext>
            </a:extLst>
          </p:cNvPr>
          <p:cNvGrpSpPr/>
          <p:nvPr/>
        </p:nvGrpSpPr>
        <p:grpSpPr>
          <a:xfrm>
            <a:off x="9090757" y="5753100"/>
            <a:ext cx="3310650" cy="1664850"/>
            <a:chOff x="0" y="0"/>
            <a:chExt cx="871941" cy="438479"/>
          </a:xfrm>
        </p:grpSpPr>
        <p:sp>
          <p:nvSpPr>
            <p:cNvPr id="92" name="Freeform 42">
              <a:extLst>
                <a:ext uri="{FF2B5EF4-FFF2-40B4-BE49-F238E27FC236}">
                  <a16:creationId xmlns:a16="http://schemas.microsoft.com/office/drawing/2014/main" id="{55882327-D0FD-4E3E-6D18-F9ABA78E25CA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43">
              <a:extLst>
                <a:ext uri="{FF2B5EF4-FFF2-40B4-BE49-F238E27FC236}">
                  <a16:creationId xmlns:a16="http://schemas.microsoft.com/office/drawing/2014/main" id="{13402C5B-CE31-9205-C539-4F2AB05D1106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4" name="TextBox 44">
            <a:extLst>
              <a:ext uri="{FF2B5EF4-FFF2-40B4-BE49-F238E27FC236}">
                <a16:creationId xmlns:a16="http://schemas.microsoft.com/office/drawing/2014/main" id="{5C0E170E-3640-1A76-EA6E-C86ACC4E07FA}"/>
              </a:ext>
            </a:extLst>
          </p:cNvPr>
          <p:cNvSpPr txBox="1"/>
          <p:nvPr/>
        </p:nvSpPr>
        <p:spPr>
          <a:xfrm>
            <a:off x="9166957" y="58254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{{AVGSFVACA}}</a:t>
            </a:r>
          </a:p>
        </p:txBody>
      </p:sp>
      <p:sp>
        <p:nvSpPr>
          <p:cNvPr id="95" name="TextBox 45">
            <a:extLst>
              <a:ext uri="{FF2B5EF4-FFF2-40B4-BE49-F238E27FC236}">
                <a16:creationId xmlns:a16="http://schemas.microsoft.com/office/drawing/2014/main" id="{C5886E1E-4AE8-98E7-0055-886791ABD92C}"/>
              </a:ext>
            </a:extLst>
          </p:cNvPr>
          <p:cNvSpPr txBox="1"/>
          <p:nvPr/>
        </p:nvSpPr>
        <p:spPr>
          <a:xfrm>
            <a:off x="9090757" y="6638925"/>
            <a:ext cx="3269567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Sell Rate/SF</a:t>
            </a:r>
          </a:p>
        </p:txBody>
      </p:sp>
      <p:grpSp>
        <p:nvGrpSpPr>
          <p:cNvPr id="96" name="Group 41">
            <a:extLst>
              <a:ext uri="{FF2B5EF4-FFF2-40B4-BE49-F238E27FC236}">
                <a16:creationId xmlns:a16="http://schemas.microsoft.com/office/drawing/2014/main" id="{F795C424-A623-3F60-28FE-BE1120DF67A8}"/>
              </a:ext>
            </a:extLst>
          </p:cNvPr>
          <p:cNvGrpSpPr/>
          <p:nvPr/>
        </p:nvGrpSpPr>
        <p:grpSpPr>
          <a:xfrm>
            <a:off x="5592590" y="7517250"/>
            <a:ext cx="3310650" cy="1664850"/>
            <a:chOff x="0" y="0"/>
            <a:chExt cx="871941" cy="438479"/>
          </a:xfrm>
        </p:grpSpPr>
        <p:sp>
          <p:nvSpPr>
            <p:cNvPr id="97" name="Freeform 42">
              <a:extLst>
                <a:ext uri="{FF2B5EF4-FFF2-40B4-BE49-F238E27FC236}">
                  <a16:creationId xmlns:a16="http://schemas.microsoft.com/office/drawing/2014/main" id="{ABDF11F4-BD05-7E49-438D-380E76D9172D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43">
              <a:extLst>
                <a:ext uri="{FF2B5EF4-FFF2-40B4-BE49-F238E27FC236}">
                  <a16:creationId xmlns:a16="http://schemas.microsoft.com/office/drawing/2014/main" id="{34C9B84F-F1AA-FC35-8913-6E63E29F7DFE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9" name="TextBox 44">
            <a:extLst>
              <a:ext uri="{FF2B5EF4-FFF2-40B4-BE49-F238E27FC236}">
                <a16:creationId xmlns:a16="http://schemas.microsoft.com/office/drawing/2014/main" id="{CF69C673-9587-85AA-26B9-51CF533DC558}"/>
              </a:ext>
            </a:extLst>
          </p:cNvPr>
          <p:cNvSpPr txBox="1"/>
          <p:nvPr/>
        </p:nvSpPr>
        <p:spPr>
          <a:xfrm>
            <a:off x="5668790" y="7589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{{GROSSPOTRENT}}</a:t>
            </a:r>
          </a:p>
        </p:txBody>
      </p:sp>
      <p:sp>
        <p:nvSpPr>
          <p:cNvPr id="100" name="TextBox 45">
            <a:extLst>
              <a:ext uri="{FF2B5EF4-FFF2-40B4-BE49-F238E27FC236}">
                <a16:creationId xmlns:a16="http://schemas.microsoft.com/office/drawing/2014/main" id="{5F2F2D86-BB5A-879B-7F18-4B1B2D65AF81}"/>
              </a:ext>
            </a:extLst>
          </p:cNvPr>
          <p:cNvSpPr txBox="1"/>
          <p:nvPr/>
        </p:nvSpPr>
        <p:spPr>
          <a:xfrm>
            <a:off x="5645833" y="83268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Gross Pot. Rent</a:t>
            </a:r>
          </a:p>
        </p:txBody>
      </p:sp>
      <p:grpSp>
        <p:nvGrpSpPr>
          <p:cNvPr id="31" name="Group 41">
            <a:extLst>
              <a:ext uri="{FF2B5EF4-FFF2-40B4-BE49-F238E27FC236}">
                <a16:creationId xmlns:a16="http://schemas.microsoft.com/office/drawing/2014/main" id="{060D5E75-B929-A033-7191-AEF1F8DC089A}"/>
              </a:ext>
            </a:extLst>
          </p:cNvPr>
          <p:cNvGrpSpPr/>
          <p:nvPr/>
        </p:nvGrpSpPr>
        <p:grpSpPr>
          <a:xfrm>
            <a:off x="9097790" y="7505700"/>
            <a:ext cx="3310650" cy="1664850"/>
            <a:chOff x="0" y="0"/>
            <a:chExt cx="871941" cy="438479"/>
          </a:xfrm>
        </p:grpSpPr>
        <p:sp>
          <p:nvSpPr>
            <p:cNvPr id="34" name="Freeform 42">
              <a:extLst>
                <a:ext uri="{FF2B5EF4-FFF2-40B4-BE49-F238E27FC236}">
                  <a16:creationId xmlns:a16="http://schemas.microsoft.com/office/drawing/2014/main" id="{AA5625FB-0E2B-54F1-60A2-F16D4CC0C7BF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43">
              <a:extLst>
                <a:ext uri="{FF2B5EF4-FFF2-40B4-BE49-F238E27FC236}">
                  <a16:creationId xmlns:a16="http://schemas.microsoft.com/office/drawing/2014/main" id="{1EF9CE0F-9B35-81FE-5A59-1A1202BBB31B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6" name="TextBox 44">
            <a:extLst>
              <a:ext uri="{FF2B5EF4-FFF2-40B4-BE49-F238E27FC236}">
                <a16:creationId xmlns:a16="http://schemas.microsoft.com/office/drawing/2014/main" id="{7935DE11-C001-9551-AB88-0327E75F7C19}"/>
              </a:ext>
            </a:extLst>
          </p:cNvPr>
          <p:cNvSpPr txBox="1"/>
          <p:nvPr/>
        </p:nvSpPr>
        <p:spPr>
          <a:xfrm>
            <a:off x="9173990" y="75780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{{GROSSPOTRENTRATE}}</a:t>
            </a:r>
          </a:p>
        </p:txBody>
      </p:sp>
      <p:sp>
        <p:nvSpPr>
          <p:cNvPr id="37" name="TextBox 45">
            <a:extLst>
              <a:ext uri="{FF2B5EF4-FFF2-40B4-BE49-F238E27FC236}">
                <a16:creationId xmlns:a16="http://schemas.microsoft.com/office/drawing/2014/main" id="{5FE6E428-1D09-9981-DF53-4997A6D3EEB6}"/>
              </a:ext>
            </a:extLst>
          </p:cNvPr>
          <p:cNvSpPr txBox="1"/>
          <p:nvPr/>
        </p:nvSpPr>
        <p:spPr>
          <a:xfrm>
            <a:off x="9151033" y="83153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GPR Rate/SF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room with roller doors">
            <a:extLst>
              <a:ext uri="{FF2B5EF4-FFF2-40B4-BE49-F238E27FC236}">
                <a16:creationId xmlns:a16="http://schemas.microsoft.com/office/drawing/2014/main" id="{C0F4559F-81F4-8658-13B8-9BE082BBC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0" y="12700"/>
            <a:ext cx="18288200" cy="1025628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-100" y="45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39672" y="51344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525075" y="2983476"/>
            <a:ext cx="5346799" cy="1645800"/>
            <a:chOff x="0" y="0"/>
            <a:chExt cx="4392800" cy="219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325" y="8929075"/>
            <a:ext cx="87805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TPP excludes parking spaces and wine storage.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00" y="0"/>
            <a:ext cx="18288000" cy="1688076"/>
            <a:chOff x="0" y="0"/>
            <a:chExt cx="24384000" cy="22507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2250704"/>
            </a:xfrm>
            <a:custGeom>
              <a:avLst/>
              <a:gdLst/>
              <a:ahLst/>
              <a:cxnLst/>
              <a:rect l="l" t="t" r="r" b="b"/>
              <a:pathLst>
                <a:path w="24384000" h="2250704">
                  <a:moveTo>
                    <a:pt x="0" y="0"/>
                  </a:moveTo>
                  <a:lnTo>
                    <a:pt x="24384000" y="0"/>
                  </a:lnTo>
                  <a:lnTo>
                    <a:pt x="24384000" y="2250704"/>
                  </a:lnTo>
                  <a:lnTo>
                    <a:pt x="0" y="2250704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4384000" cy="23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Tenant Protection Capture Rate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25114" y="5633600"/>
            <a:ext cx="5380200" cy="1645800"/>
            <a:chOff x="0" y="0"/>
            <a:chExt cx="7173600" cy="219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73595" cy="2194433"/>
            </a:xfrm>
            <a:custGeom>
              <a:avLst/>
              <a:gdLst/>
              <a:ahLst/>
              <a:cxnLst/>
              <a:rect l="l" t="t" r="r" b="b"/>
              <a:pathLst>
                <a:path w="7173595" h="2194433">
                  <a:moveTo>
                    <a:pt x="0" y="0"/>
                  </a:moveTo>
                  <a:lnTo>
                    <a:pt x="7173595" y="0"/>
                  </a:lnTo>
                  <a:lnTo>
                    <a:pt x="7173595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71736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OVERALL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2964426"/>
            <a:ext cx="5093900" cy="1664850"/>
            <a:chOff x="0" y="0"/>
            <a:chExt cx="871941" cy="43847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134600" y="3127637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{{INSURPER}}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41633" y="3870577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Protected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0" y="5614550"/>
            <a:ext cx="5029178" cy="1664850"/>
            <a:chOff x="0" y="0"/>
            <a:chExt cx="1324557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4557" cy="438479"/>
            </a:xfrm>
            <a:custGeom>
              <a:avLst/>
              <a:gdLst/>
              <a:ahLst/>
              <a:cxnLst/>
              <a:rect l="l" t="t" r="r" b="b"/>
              <a:pathLst>
                <a:path w="1324557" h="438479">
                  <a:moveTo>
                    <a:pt x="0" y="0"/>
                  </a:moveTo>
                  <a:lnTo>
                    <a:pt x="1324557" y="0"/>
                  </a:lnTo>
                  <a:lnTo>
                    <a:pt x="132455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32455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65163" y="6030719"/>
            <a:ext cx="3586853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{{OVERALLPER}}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92A0F015-363D-9D1A-81BE-2E4881924FBD}"/>
              </a:ext>
            </a:extLst>
          </p:cNvPr>
          <p:cNvSpPr txBox="1"/>
          <p:nvPr/>
        </p:nvSpPr>
        <p:spPr>
          <a:xfrm>
            <a:off x="9703247" y="6655104"/>
            <a:ext cx="3910684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Protected Percentage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8725" y="4843175"/>
            <a:ext cx="16518450" cy="4337250"/>
            <a:chOff x="0" y="0"/>
            <a:chExt cx="22024600" cy="57830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1999194" cy="5757545"/>
            </a:xfrm>
            <a:custGeom>
              <a:avLst/>
              <a:gdLst/>
              <a:ahLst/>
              <a:cxnLst/>
              <a:rect l="l" t="t" r="r" b="b"/>
              <a:pathLst>
                <a:path w="21999194" h="5757545">
                  <a:moveTo>
                    <a:pt x="0" y="0"/>
                  </a:moveTo>
                  <a:lnTo>
                    <a:pt x="21999194" y="0"/>
                  </a:lnTo>
                  <a:lnTo>
                    <a:pt x="21999194" y="5757545"/>
                  </a:lnTo>
                  <a:lnTo>
                    <a:pt x="0" y="575754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2024594" cy="5782945"/>
            </a:xfrm>
            <a:custGeom>
              <a:avLst/>
              <a:gdLst/>
              <a:ahLst/>
              <a:cxnLst/>
              <a:rect l="l" t="t" r="r" b="b"/>
              <a:pathLst>
                <a:path w="22024594" h="5782945">
                  <a:moveTo>
                    <a:pt x="12700" y="0"/>
                  </a:moveTo>
                  <a:lnTo>
                    <a:pt x="22011894" y="0"/>
                  </a:lnTo>
                  <a:cubicBezTo>
                    <a:pt x="22018879" y="0"/>
                    <a:pt x="22024594" y="5715"/>
                    <a:pt x="22024594" y="12700"/>
                  </a:cubicBezTo>
                  <a:lnTo>
                    <a:pt x="22024594" y="5770245"/>
                  </a:lnTo>
                  <a:cubicBezTo>
                    <a:pt x="22024594" y="5777230"/>
                    <a:pt x="22018879" y="5782945"/>
                    <a:pt x="22011894" y="5782945"/>
                  </a:cubicBezTo>
                  <a:lnTo>
                    <a:pt x="12700" y="5782945"/>
                  </a:lnTo>
                  <a:cubicBezTo>
                    <a:pt x="5715" y="5782945"/>
                    <a:pt x="0" y="5777230"/>
                    <a:pt x="0" y="57702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770245"/>
                  </a:lnTo>
                  <a:lnTo>
                    <a:pt x="12700" y="5770245"/>
                  </a:lnTo>
                  <a:lnTo>
                    <a:pt x="12700" y="5757545"/>
                  </a:lnTo>
                  <a:lnTo>
                    <a:pt x="22011894" y="5757545"/>
                  </a:lnTo>
                  <a:lnTo>
                    <a:pt x="22011894" y="5770245"/>
                  </a:lnTo>
                  <a:lnTo>
                    <a:pt x="21999194" y="5770245"/>
                  </a:lnTo>
                  <a:lnTo>
                    <a:pt x="21999194" y="12700"/>
                  </a:lnTo>
                  <a:lnTo>
                    <a:pt x="22011894" y="12700"/>
                  </a:lnTo>
                  <a:lnTo>
                    <a:pt x="220118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63200" cy="105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156102"/>
              </p:ext>
            </p:extLst>
          </p:nvPr>
        </p:nvGraphicFramePr>
        <p:xfrm>
          <a:off x="888250" y="1639850"/>
          <a:ext cx="9652000" cy="2143124"/>
        </p:xfrm>
        <a:graphic>
          <a:graphicData uri="http://schemas.openxmlformats.org/drawingml/2006/table">
            <a:tbl>
              <a:tblPr/>
              <a:tblGrid>
                <a:gridCol w="2822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Month-to-date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Year-to-date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Budget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{{REPPTD}}</a:t>
                      </a:r>
                      <a:endParaRPr lang="en-US" sz="1100" dirty="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{{REPYTDBUD}}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Actual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{{REPCM}}</a:t>
                      </a:r>
                      <a:endParaRPr lang="en-US" sz="1100" dirty="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Variance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{{REPYTDVAR}}</a:t>
                      </a:r>
                      <a:endParaRPr lang="en-US" sz="1100" dirty="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302595"/>
              </p:ext>
            </p:extLst>
          </p:nvPr>
        </p:nvGraphicFramePr>
        <p:xfrm>
          <a:off x="1143100" y="5143500"/>
          <a:ext cx="6553100" cy="3124200"/>
        </p:xfrm>
        <a:graphic>
          <a:graphicData uri="http://schemas.openxmlformats.org/drawingml/2006/table">
            <a:tbl>
              <a:tblPr/>
              <a:tblGrid>
                <a:gridCol w="65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3342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REPAIR LOG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858">
                <a:tc>
                  <a:txBody>
                    <a:bodyPr/>
                    <a:lstStyle/>
                    <a:p>
                      <a:pPr algn="l">
                        <a:lnSpc>
                          <a:spcPts val="277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DATE: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{{REPAIRDATE}}</a:t>
                      </a:r>
                      <a:endParaRPr lang="en-US" sz="1100" dirty="0"/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 b="1" dirty="0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DESCRIPTION OF EXPENSES: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venir"/>
                          <a:ea typeface="Avenir Bold"/>
                          <a:cs typeface="Avenir Bold"/>
                          <a:sym typeface="Avenir"/>
                        </a:rPr>
                        <a:t>{{REPAIRDESCRIP}}</a:t>
                      </a:r>
                      <a:endParaRPr lang="en-US" sz="2000" dirty="0">
                        <a:solidFill>
                          <a:srgbClr val="000000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 dirty="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COST: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{{REPAIRCOST}}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 dirty="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STATUS: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{{REPAIRSTATUS}}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4825" y="27662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7"/>
              </a:lnSpc>
            </a:pPr>
            <a:r>
              <a:rPr lang="en-US" sz="503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Repair and Maintenance Budget Variance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13625" y="1630625"/>
            <a:ext cx="6483450" cy="2701050"/>
            <a:chOff x="0" y="0"/>
            <a:chExt cx="8644600" cy="36014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8619236" cy="3575939"/>
            </a:xfrm>
            <a:custGeom>
              <a:avLst/>
              <a:gdLst/>
              <a:ahLst/>
              <a:cxnLst/>
              <a:rect l="l" t="t" r="r" b="b"/>
              <a:pathLst>
                <a:path w="8619236" h="3575939">
                  <a:moveTo>
                    <a:pt x="0" y="0"/>
                  </a:moveTo>
                  <a:lnTo>
                    <a:pt x="8619236" y="0"/>
                  </a:lnTo>
                  <a:lnTo>
                    <a:pt x="8619236" y="3575939"/>
                  </a:lnTo>
                  <a:lnTo>
                    <a:pt x="0" y="357593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8644636" cy="3601339"/>
            </a:xfrm>
            <a:custGeom>
              <a:avLst/>
              <a:gdLst/>
              <a:ahLst/>
              <a:cxnLst/>
              <a:rect l="l" t="t" r="r" b="b"/>
              <a:pathLst>
                <a:path w="8644636" h="3601339">
                  <a:moveTo>
                    <a:pt x="12700" y="0"/>
                  </a:moveTo>
                  <a:lnTo>
                    <a:pt x="8631936" y="0"/>
                  </a:lnTo>
                  <a:cubicBezTo>
                    <a:pt x="8638921" y="0"/>
                    <a:pt x="8644636" y="5715"/>
                    <a:pt x="8644636" y="12700"/>
                  </a:cubicBezTo>
                  <a:lnTo>
                    <a:pt x="8644636" y="3588639"/>
                  </a:lnTo>
                  <a:cubicBezTo>
                    <a:pt x="8644636" y="3595624"/>
                    <a:pt x="8638921" y="3601339"/>
                    <a:pt x="8631936" y="3601339"/>
                  </a:cubicBezTo>
                  <a:lnTo>
                    <a:pt x="12700" y="3601339"/>
                  </a:lnTo>
                  <a:cubicBezTo>
                    <a:pt x="5715" y="3601339"/>
                    <a:pt x="0" y="3595624"/>
                    <a:pt x="0" y="35886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588639"/>
                  </a:lnTo>
                  <a:lnTo>
                    <a:pt x="12700" y="3588639"/>
                  </a:lnTo>
                  <a:lnTo>
                    <a:pt x="12700" y="3575939"/>
                  </a:lnTo>
                  <a:lnTo>
                    <a:pt x="8631936" y="3575939"/>
                  </a:lnTo>
                  <a:lnTo>
                    <a:pt x="8631936" y="3588639"/>
                  </a:lnTo>
                  <a:lnTo>
                    <a:pt x="8619236" y="3588639"/>
                  </a:lnTo>
                  <a:lnTo>
                    <a:pt x="8619236" y="12700"/>
                  </a:lnTo>
                  <a:lnTo>
                    <a:pt x="8631936" y="12700"/>
                  </a:lnTo>
                  <a:lnTo>
                    <a:pt x="863193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674931"/>
              </p:ext>
            </p:extLst>
          </p:nvPr>
        </p:nvGraphicFramePr>
        <p:xfrm>
          <a:off x="11098800" y="1708350"/>
          <a:ext cx="5816600" cy="1319668"/>
        </p:xfrm>
        <a:graphic>
          <a:graphicData uri="http://schemas.openxmlformats.org/drawingml/2006/table">
            <a:tbl>
              <a:tblPr/>
              <a:tblGrid>
                <a:gridCol w="581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2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MANAGEMENT NOTES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372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venir"/>
                          <a:sym typeface="Avenir"/>
                        </a:rPr>
                        <a:t>{{MNGNOTES}}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09" r="-9799" b="-3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288000" cy="10296000"/>
            <a:chOff x="0" y="0"/>
            <a:chExt cx="243840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7937"/>
            </a:xfrm>
            <a:custGeom>
              <a:avLst/>
              <a:gdLst/>
              <a:ahLst/>
              <a:cxnLst/>
              <a:rect l="l" t="t" r="r" b="b"/>
              <a:pathLst>
                <a:path w="24384000" h="13727937">
                  <a:moveTo>
                    <a:pt x="0" y="0"/>
                  </a:moveTo>
                  <a:lnTo>
                    <a:pt x="24384000" y="0"/>
                  </a:lnTo>
                  <a:lnTo>
                    <a:pt x="24384000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2600" y="2400301"/>
            <a:ext cx="15554400" cy="4800600"/>
            <a:chOff x="0" y="0"/>
            <a:chExt cx="20752000" cy="9836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2054" cy="9836912"/>
            </a:xfrm>
            <a:custGeom>
              <a:avLst/>
              <a:gdLst/>
              <a:ahLst/>
              <a:cxnLst/>
              <a:rect l="l" t="t" r="r" b="b"/>
              <a:pathLst>
                <a:path w="20752054" h="9836912">
                  <a:moveTo>
                    <a:pt x="0" y="0"/>
                  </a:moveTo>
                  <a:lnTo>
                    <a:pt x="20752054" y="0"/>
                  </a:lnTo>
                  <a:lnTo>
                    <a:pt x="20752054" y="9836912"/>
                  </a:lnTo>
                  <a:lnTo>
                    <a:pt x="0" y="983691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14825" y="29647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503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Delinquent Rent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May 2025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4395"/>
              </p:ext>
            </p:extLst>
          </p:nvPr>
        </p:nvGraphicFramePr>
        <p:xfrm>
          <a:off x="2184250" y="3238500"/>
          <a:ext cx="14655800" cy="3022601"/>
        </p:xfrm>
        <a:graphic>
          <a:graphicData uri="http://schemas.openxmlformats.org/drawingml/2006/table">
            <a:tbl>
              <a:tblPr/>
              <a:tblGrid>
                <a:gridCol w="331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828">
                <a:tc gridSpan="4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 dirty="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828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Days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Percent</a:t>
                      </a:r>
                      <a:endParaRPr lang="en-US" sz="1100" dirty="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Dollars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1-30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31-60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61+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{{DELINDOL61}}</a:t>
                      </a:r>
                      <a:endParaRPr lang="en-US" sz="1100" dirty="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25" y="9038375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reflects delinquent units as a percentage of occupied units.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2DA4F70D-C7E8-9BE0-9418-5A901EF7010D}"/>
              </a:ext>
            </a:extLst>
          </p:cNvPr>
          <p:cNvSpPr/>
          <p:nvPr/>
        </p:nvSpPr>
        <p:spPr>
          <a:xfrm>
            <a:off x="838200" y="2781300"/>
            <a:ext cx="16764000" cy="69341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Marketing &amp; Digital Performance |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564811" y="3212999"/>
            <a:ext cx="3310650" cy="1645800"/>
            <a:chOff x="0" y="0"/>
            <a:chExt cx="871941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3347" y="3203474"/>
            <a:ext cx="3310650" cy="1655325"/>
            <a:chOff x="0" y="0"/>
            <a:chExt cx="871941" cy="4359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5970"/>
            </a:xfrm>
            <a:custGeom>
              <a:avLst/>
              <a:gdLst/>
              <a:ahLst/>
              <a:cxnLst/>
              <a:rect l="l" t="t" r="r" b="b"/>
              <a:pathLst>
                <a:path w="871941" h="435970">
                  <a:moveTo>
                    <a:pt x="0" y="0"/>
                  </a:moveTo>
                  <a:lnTo>
                    <a:pt x="871941" y="0"/>
                  </a:lnTo>
                  <a:lnTo>
                    <a:pt x="871941" y="435970"/>
                  </a:lnTo>
                  <a:lnTo>
                    <a:pt x="0" y="4359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3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81884" y="3212999"/>
            <a:ext cx="3310650" cy="1664850"/>
            <a:chOff x="0" y="0"/>
            <a:chExt cx="871941" cy="4384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90520" y="6458484"/>
            <a:ext cx="322793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XXX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95466" y="6399677"/>
            <a:ext cx="6979995" cy="2858623"/>
            <a:chOff x="0" y="0"/>
            <a:chExt cx="1838353" cy="7528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2539" y="6399677"/>
            <a:ext cx="6979995" cy="2858623"/>
            <a:chOff x="0" y="0"/>
            <a:chExt cx="1838353" cy="7528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85353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Clicks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36317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CTR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02425" y="4119150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Cost/Click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2074" y="6617234"/>
            <a:ext cx="5186779" cy="60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Google Rank Tracker (MoM)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09146" y="6590247"/>
            <a:ext cx="518677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Keyword Search Grid (MoM)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45717" y="8206814"/>
            <a:ext cx="241014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Google Position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91164" y="8206814"/>
            <a:ext cx="175574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35098" y="7374963"/>
            <a:ext cx="2831387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{{GOOPOS}}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90052" y="7374963"/>
            <a:ext cx="2709483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{{POSCHG}}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450931" y="8111564"/>
            <a:ext cx="210814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Map Rank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68669" y="8206814"/>
            <a:ext cx="173707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59665" y="7374963"/>
            <a:ext cx="2690677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{{KEYMAP}}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05437" y="7374963"/>
            <a:ext cx="2568232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{{KEYPOS}}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505003" y="8918014"/>
            <a:ext cx="290959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i="1">
                <a:solidFill>
                  <a:srgbClr val="FFFFFF"/>
                </a:solidFill>
                <a:latin typeface="Avenir Bold Italics"/>
                <a:ea typeface="Avenir Bold Italics"/>
                <a:cs typeface="Avenir Bold Italics"/>
                <a:sym typeface="Avenir Bold Italics"/>
              </a:rPr>
              <a:t>*Results for “{{GOOKEYWORD}}”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895466" y="3212999"/>
            <a:ext cx="3310650" cy="1645800"/>
            <a:chOff x="0" y="0"/>
            <a:chExt cx="871941" cy="4334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916008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Impressions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95466" y="3382619"/>
            <a:ext cx="3290108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{{GOOIMPRES}}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585353" y="3382619"/>
            <a:ext cx="3261745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{{GOOCLICKS}}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336317" y="3382619"/>
            <a:ext cx="3269567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{{GOOCTR}}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3091197" y="3382619"/>
            <a:ext cx="3280795" cy="13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{{GOOCPC}}</a:t>
            </a:r>
          </a:p>
        </p:txBody>
      </p: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10286915" y="536822"/>
            <a:ext cx="608042" cy="608002"/>
            <a:chOff x="0" y="0"/>
            <a:chExt cx="810723" cy="81066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DA4BB91-13AC-EBFD-2F72-F37601110142}"/>
              </a:ext>
            </a:extLst>
          </p:cNvPr>
          <p:cNvSpPr/>
          <p:nvPr/>
        </p:nvSpPr>
        <p:spPr>
          <a:xfrm>
            <a:off x="838200" y="2552700"/>
            <a:ext cx="16687800" cy="7010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405406"/>
            <a:ext cx="16230600" cy="2852894"/>
            <a:chOff x="0" y="0"/>
            <a:chExt cx="21640800" cy="38038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40771" cy="3803856"/>
            </a:xfrm>
            <a:custGeom>
              <a:avLst/>
              <a:gdLst/>
              <a:ahLst/>
              <a:cxnLst/>
              <a:rect l="l" t="t" r="r" b="b"/>
              <a:pathLst>
                <a:path w="21640771" h="3803856">
                  <a:moveTo>
                    <a:pt x="0" y="0"/>
                  </a:moveTo>
                  <a:lnTo>
                    <a:pt x="21640771" y="0"/>
                  </a:lnTo>
                  <a:lnTo>
                    <a:pt x="21640771" y="3803856"/>
                  </a:lnTo>
                  <a:lnTo>
                    <a:pt x="0" y="3803856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>
            <a:off x="8097885" y="856518"/>
            <a:ext cx="19050" cy="19050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346074" y="3180693"/>
            <a:ext cx="3341918" cy="1645800"/>
            <a:chOff x="0" y="0"/>
            <a:chExt cx="880176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0176" cy="433462"/>
            </a:xfrm>
            <a:custGeom>
              <a:avLst/>
              <a:gdLst/>
              <a:ahLst/>
              <a:cxnLst/>
              <a:rect l="l" t="t" r="r" b="b"/>
              <a:pathLst>
                <a:path w="880176" h="433462">
                  <a:moveTo>
                    <a:pt x="0" y="0"/>
                  </a:moveTo>
                  <a:lnTo>
                    <a:pt x="880176" y="0"/>
                  </a:lnTo>
                  <a:lnTo>
                    <a:pt x="880176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80176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8052" y="3180693"/>
            <a:ext cx="3310650" cy="1645800"/>
            <a:chOff x="0" y="0"/>
            <a:chExt cx="871941" cy="4334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83291" y="3180693"/>
            <a:ext cx="3336657" cy="1645800"/>
            <a:chOff x="0" y="0"/>
            <a:chExt cx="878790" cy="4334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790" cy="433462"/>
            </a:xfrm>
            <a:custGeom>
              <a:avLst/>
              <a:gdLst/>
              <a:ahLst/>
              <a:cxnLst/>
              <a:rect l="l" t="t" r="r" b="b"/>
              <a:pathLst>
                <a:path w="878790" h="433462">
                  <a:moveTo>
                    <a:pt x="0" y="0"/>
                  </a:moveTo>
                  <a:lnTo>
                    <a:pt x="878790" y="0"/>
                  </a:lnTo>
                  <a:lnTo>
                    <a:pt x="878790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8790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74002" y="3180693"/>
            <a:ext cx="3310650" cy="1636994"/>
            <a:chOff x="0" y="0"/>
            <a:chExt cx="871941" cy="4311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1941" cy="431142"/>
            </a:xfrm>
            <a:custGeom>
              <a:avLst/>
              <a:gdLst/>
              <a:ahLst/>
              <a:cxnLst/>
              <a:rect l="l" t="t" r="r" b="b"/>
              <a:pathLst>
                <a:path w="871941" h="431142">
                  <a:moveTo>
                    <a:pt x="0" y="0"/>
                  </a:moveTo>
                  <a:lnTo>
                    <a:pt x="871941" y="0"/>
                  </a:lnTo>
                  <a:lnTo>
                    <a:pt x="871941" y="431142"/>
                  </a:lnTo>
                  <a:lnTo>
                    <a:pt x="0" y="43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71941" cy="478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46729" y="3460501"/>
            <a:ext cx="2280270" cy="463883"/>
          </a:xfrm>
          <a:custGeom>
            <a:avLst/>
            <a:gdLst/>
            <a:ahLst/>
            <a:cxnLst/>
            <a:rect l="l" t="t" r="r" b="b"/>
            <a:pathLst>
              <a:path w="2280270" h="463883">
                <a:moveTo>
                  <a:pt x="0" y="0"/>
                </a:moveTo>
                <a:lnTo>
                  <a:pt x="2280270" y="0"/>
                </a:lnTo>
                <a:lnTo>
                  <a:pt x="2280270" y="463883"/>
                </a:lnTo>
                <a:lnTo>
                  <a:pt x="0" y="463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588539" y="6603983"/>
            <a:ext cx="5301422" cy="90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TOP REVIEWS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2249" y="4077193"/>
            <a:ext cx="3269567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MoM Change (Google)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45191" y="3973136"/>
            <a:ext cx="3336657" cy="41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{{GGLRAT}}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46504" y="4077193"/>
            <a:ext cx="2565645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MoM Change (All Platforms)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052" y="4077193"/>
            <a:ext cx="3310650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Reviews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09601" y="7536257"/>
            <a:ext cx="4734223" cy="1044575"/>
            <a:chOff x="0" y="0"/>
            <a:chExt cx="6312297" cy="1392767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85725"/>
              <a:ext cx="6312297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{{REVIEW1}}</a:t>
              </a:r>
            </a:p>
            <a:p>
              <a:pPr algn="l">
                <a:lnSpc>
                  <a:spcPts val="3079"/>
                </a:lnSpc>
              </a:pPr>
              <a:endParaRPr lang="en-US" sz="2000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 dirty="0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“{{REVIEW1BIO}}”</a:t>
              </a:r>
              <a:endParaRPr lang="en-US" sz="2000" i="1" dirty="0">
                <a:solidFill>
                  <a:srgbClr val="FFFFFF"/>
                </a:solidFill>
                <a:latin typeface="Avenir Italics"/>
                <a:ea typeface="Avenir Italics"/>
                <a:cs typeface="Avenir Italics"/>
                <a:sym typeface="Avenir Italics"/>
              </a:endParaR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4875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77248" y="7471963"/>
            <a:ext cx="4534276" cy="1088503"/>
            <a:chOff x="0" y="-85725"/>
            <a:chExt cx="6045701" cy="1451338"/>
          </a:xfrm>
        </p:grpSpPr>
        <p:sp>
          <p:nvSpPr>
            <p:cNvPr id="32" name="TextBox 32"/>
            <p:cNvSpPr txBox="1"/>
            <p:nvPr/>
          </p:nvSpPr>
          <p:spPr>
            <a:xfrm>
              <a:off x="9232" y="-85725"/>
              <a:ext cx="6036469" cy="1451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{{REVIEW2}}</a:t>
              </a:r>
            </a:p>
            <a:p>
              <a:pPr algn="l">
                <a:lnSpc>
                  <a:spcPts val="3079"/>
                </a:lnSpc>
              </a:pPr>
              <a:endParaRPr lang="en-US" sz="2000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 dirty="0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“{{REVIEW2BIO}}”</a:t>
              </a:r>
              <a:endParaRPr lang="en-US" sz="2000" i="1" dirty="0">
                <a:solidFill>
                  <a:srgbClr val="FFFFFF"/>
                </a:solidFill>
                <a:latin typeface="Avenir Italics"/>
                <a:ea typeface="Avenir Italics"/>
                <a:cs typeface="Avenir Italics"/>
                <a:sym typeface="Avenir Italics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5129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44949" y="7119538"/>
            <a:ext cx="4734223" cy="1088503"/>
            <a:chOff x="0" y="-85725"/>
            <a:chExt cx="6312297" cy="1451338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85725"/>
              <a:ext cx="6312297" cy="1451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{{REVIEW3}}</a:t>
              </a:r>
            </a:p>
            <a:p>
              <a:pPr algn="l">
                <a:lnSpc>
                  <a:spcPts val="3079"/>
                </a:lnSpc>
              </a:pPr>
              <a:endParaRPr lang="en-US" sz="2000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l">
                <a:lnSpc>
                  <a:spcPts val="2800"/>
                </a:lnSpc>
              </a:pPr>
              <a:r>
                <a:rPr lang="en-US" sz="2000" b="1" i="1" dirty="0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“{{REVIEW3BIO}}”</a:t>
              </a:r>
              <a:endParaRPr lang="en-US" sz="2000" i="1" dirty="0">
                <a:solidFill>
                  <a:srgbClr val="FFFFFF"/>
                </a:solidFill>
                <a:latin typeface="Avenir Italics"/>
                <a:ea typeface="Avenir Italics"/>
                <a:cs typeface="Avenir Italics"/>
                <a:sym typeface="Avenir Italics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469900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4"/>
                  </a:lnTo>
                  <a:lnTo>
                    <a:pt x="0" y="316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806152" y="3238417"/>
            <a:ext cx="3272550" cy="138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{{GBPREVIEWS}}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74001" y="3198436"/>
            <a:ext cx="3276773" cy="138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{{MOMCHANGEALL}}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79951" y="3207243"/>
            <a:ext cx="3308041" cy="138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{{MOMCHANGE}}</a:t>
            </a:r>
          </a:p>
        </p:txBody>
      </p:sp>
      <p:sp>
        <p:nvSpPr>
          <p:cNvPr id="40" name="AutoShape 40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00950" y="355048"/>
            <a:ext cx="168583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Customer Experience | </a:t>
            </a:r>
          </a:p>
        </p:txBody>
      </p:sp>
      <p:grpSp>
        <p:nvGrpSpPr>
          <p:cNvPr id="45" name="Group 45"/>
          <p:cNvGrpSpPr>
            <a:grpSpLocks noChangeAspect="1"/>
          </p:cNvGrpSpPr>
          <p:nvPr/>
        </p:nvGrpSpPr>
        <p:grpSpPr>
          <a:xfrm>
            <a:off x="7075697" y="536822"/>
            <a:ext cx="608042" cy="608002"/>
            <a:chOff x="0" y="0"/>
            <a:chExt cx="810723" cy="81066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183291" y="434778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Google Rating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1800" y="0"/>
            <a:ext cx="6616200" cy="10287000"/>
            <a:chOff x="0" y="0"/>
            <a:chExt cx="8821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1547" cy="13716000"/>
            </a:xfrm>
            <a:custGeom>
              <a:avLst/>
              <a:gdLst/>
              <a:ahLst/>
              <a:cxnLst/>
              <a:rect l="l" t="t" r="r" b="b"/>
              <a:pathLst>
                <a:path w="8821547" h="13716000">
                  <a:moveTo>
                    <a:pt x="0" y="0"/>
                  </a:moveTo>
                  <a:lnTo>
                    <a:pt x="8821547" y="0"/>
                  </a:lnTo>
                  <a:lnTo>
                    <a:pt x="8821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650975" y="6892850"/>
            <a:ext cx="4957950" cy="221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2111 E. Highland Avenue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Suite 360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Phoenix, AZ 85016</a:t>
            </a:r>
          </a:p>
          <a:p>
            <a:pPr algn="ctr">
              <a:lnSpc>
                <a:spcPts val="2879"/>
              </a:lnSpc>
            </a:pPr>
            <a:endParaRPr lang="en-US" sz="2400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endParaRPr lang="en-US" sz="2400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www.STOREstorage.com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9525" y="449750"/>
            <a:ext cx="5739750" cy="10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6" name="AutoShape 6"/>
          <p:cNvSpPr/>
          <p:nvPr/>
        </p:nvSpPr>
        <p:spPr>
          <a:xfrm rot="46920">
            <a:off x="12405383" y="1407825"/>
            <a:ext cx="5198434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357725" y="-9375"/>
            <a:ext cx="463050" cy="10306050"/>
            <a:chOff x="0" y="0"/>
            <a:chExt cx="617400" cy="13741400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91947" cy="13716000"/>
            </a:xfrm>
            <a:custGeom>
              <a:avLst/>
              <a:gdLst/>
              <a:ahLst/>
              <a:cxnLst/>
              <a:rect l="l" t="t" r="r" b="b"/>
              <a:pathLst>
                <a:path w="591947" h="13716000">
                  <a:moveTo>
                    <a:pt x="0" y="0"/>
                  </a:moveTo>
                  <a:lnTo>
                    <a:pt x="591947" y="0"/>
                  </a:lnTo>
                  <a:lnTo>
                    <a:pt x="5919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17347" cy="13741400"/>
            </a:xfrm>
            <a:custGeom>
              <a:avLst/>
              <a:gdLst/>
              <a:ahLst/>
              <a:cxnLst/>
              <a:rect l="l" t="t" r="r" b="b"/>
              <a:pathLst>
                <a:path w="617347" h="13741400">
                  <a:moveTo>
                    <a:pt x="12700" y="0"/>
                  </a:moveTo>
                  <a:lnTo>
                    <a:pt x="604647" y="0"/>
                  </a:lnTo>
                  <a:cubicBezTo>
                    <a:pt x="611632" y="0"/>
                    <a:pt x="617347" y="5715"/>
                    <a:pt x="617347" y="12700"/>
                  </a:cubicBezTo>
                  <a:lnTo>
                    <a:pt x="617347" y="13728700"/>
                  </a:lnTo>
                  <a:cubicBezTo>
                    <a:pt x="617347" y="13735686"/>
                    <a:pt x="611632" y="13741400"/>
                    <a:pt x="604647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604647" y="13716000"/>
                  </a:lnTo>
                  <a:lnTo>
                    <a:pt x="604647" y="13728700"/>
                  </a:lnTo>
                  <a:lnTo>
                    <a:pt x="591947" y="13728700"/>
                  </a:lnTo>
                  <a:lnTo>
                    <a:pt x="591947" y="12700"/>
                  </a:lnTo>
                  <a:lnTo>
                    <a:pt x="604647" y="12700"/>
                  </a:lnTo>
                  <a:lnTo>
                    <a:pt x="60464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059525" y="1516550"/>
            <a:ext cx="57397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2968450" y="5168500"/>
            <a:ext cx="3888596" cy="1320250"/>
            <a:chOff x="0" y="0"/>
            <a:chExt cx="5184795" cy="1760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84775" cy="1760347"/>
            </a:xfrm>
            <a:custGeom>
              <a:avLst/>
              <a:gdLst/>
              <a:ahLst/>
              <a:cxnLst/>
              <a:rect l="l" t="t" r="r" b="b"/>
              <a:pathLst>
                <a:path w="5184775" h="1760347">
                  <a:moveTo>
                    <a:pt x="0" y="0"/>
                  </a:moveTo>
                  <a:lnTo>
                    <a:pt x="5184775" y="0"/>
                  </a:lnTo>
                  <a:lnTo>
                    <a:pt x="5184775" y="1760347"/>
                  </a:lnTo>
                  <a:lnTo>
                    <a:pt x="0" y="1760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0" y="150"/>
            <a:ext cx="11367250" cy="10287000"/>
            <a:chOff x="0" y="0"/>
            <a:chExt cx="15156333" cy="1371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56307" cy="13716000"/>
            </a:xfrm>
            <a:custGeom>
              <a:avLst/>
              <a:gdLst/>
              <a:ahLst/>
              <a:cxnLst/>
              <a:rect l="l" t="t" r="r" b="b"/>
              <a:pathLst>
                <a:path w="15156307" h="13716000">
                  <a:moveTo>
                    <a:pt x="0" y="0"/>
                  </a:moveTo>
                  <a:lnTo>
                    <a:pt x="15156307" y="0"/>
                  </a:lnTo>
                  <a:lnTo>
                    <a:pt x="1515630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31" r="-103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A6E4D-CC20-68D3-91FE-9A42F042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810611-4A31-A154-D5E1-363F1E1480F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0A3173-C799-DEA7-9739-5D6F70F9C4FF}"/>
                </a:ext>
              </a:extLst>
            </p:cNvPr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EA081B5-0782-C40A-547A-F7E2213F643C}"/>
              </a:ext>
            </a:extLst>
          </p:cNvPr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BA20DC-D293-ABE6-B4A7-804FBA08B282}"/>
                </a:ext>
              </a:extLst>
            </p:cNvPr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6335D73-642F-99C3-7A05-67CCA5BD11AE}"/>
              </a:ext>
            </a:extLst>
          </p:cNvPr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3CF3674-15A7-DB08-7230-1832FB3AAC2F}"/>
                </a:ext>
              </a:extLst>
            </p:cNvPr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284C9E9-ACB4-DF5A-33BD-6A41E98B28A8}"/>
                </a:ext>
              </a:extLst>
            </p:cNvPr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6000"/>
                </a:lnSpc>
              </a:pPr>
              <a:r>
                <a:rPr lang="en-US" sz="5000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Customer Origin Heat Map</a:t>
              </a: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C2C44159-F2D0-7558-53EB-305899457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4697" y="2006353"/>
            <a:ext cx="15698605" cy="7743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1" name="Map Legend Card"/>
          <p:cNvSpPr/>
          <p:nvPr/>
        </p:nvSpPr>
        <p:spPr>
          <a:xfrm>
            <a:off x="11795760" y="7726679"/>
            <a:ext cx="5029200" cy="1783080"/>
          </a:xfrm>
          <a:prstGeom prst="roundRect">
            <a:avLst>
              <a:gd name="adj" fmla="val 65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C6CBD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Map Description"/>
          <p:cNvSpPr txBox="1"/>
          <p:nvPr/>
        </p:nvSpPr>
        <p:spPr>
          <a:xfrm>
            <a:off x="11996928" y="7891271"/>
            <a:ext cx="4626864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3A3A3A"/>
                </a:solidFill>
                <a:latin typeface="Avenir"/>
                <a:ea typeface="Avenir"/>
                <a:cs typeface="Avenir"/>
                <a:sym typeface="Avenir"/>
              </a:rPr>
              <a:t>Home addresses of every active customer, plotted as a density map. Darker red shading is more customers from that area.</a:t>
            </a:r>
          </a:p>
        </p:txBody>
      </p:sp>
      <p:sp>
        <p:nvSpPr>
          <p:cNvPr id="103" name="Legend Low"/>
          <p:cNvSpPr txBox="1"/>
          <p:nvPr/>
        </p:nvSpPr>
        <p:spPr>
          <a:xfrm>
            <a:off x="11996928" y="8988551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1400" dirty="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Low</a:t>
            </a:r>
          </a:p>
        </p:txBody>
      </p:sp>
      <p:sp>
        <p:nvSpPr>
          <p:cNvPr id="104" name="Legend Gradient"/>
          <p:cNvSpPr/>
          <p:nvPr/>
        </p:nvSpPr>
        <p:spPr>
          <a:xfrm>
            <a:off x="12545568" y="9015984"/>
            <a:ext cx="3017520" cy="2194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9EED6"/>
              </a:gs>
              <a:gs pos="38000">
                <a:srgbClr val="EBDCC2"/>
              </a:gs>
              <a:gs pos="70000">
                <a:srgbClr val="E88081"/>
              </a:gs>
              <a:gs pos="100000">
                <a:srgbClr val="8C2B34"/>
              </a:gs>
            </a:gsLst>
            <a:lin ang="0" scaled="1"/>
          </a:gradFill>
          <a:ln w="9525">
            <a:solidFill>
              <a:srgbClr val="B8BDC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Legend High"/>
          <p:cNvSpPr txBox="1"/>
          <p:nvPr/>
        </p:nvSpPr>
        <p:spPr>
          <a:xfrm>
            <a:off x="15654528" y="8988551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87757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6B6D-08DE-C891-6181-8C11E9FF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4AEC81-8CF2-FD0D-15FD-1EEE3CB949F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A3B05EC-4728-1FDE-0BC3-422764D88E7F}"/>
                </a:ext>
              </a:extLst>
            </p:cNvPr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7049EDE-A77C-0288-AF81-D84E56CD8358}"/>
              </a:ext>
            </a:extLst>
          </p:cNvPr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E43F249-16B6-97E3-1F3B-8928C14163F0}"/>
                </a:ext>
              </a:extLst>
            </p:cNvPr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99A7881-6AC6-A3CB-E389-5288F7A21987}"/>
              </a:ext>
            </a:extLst>
          </p:cNvPr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9BDB56-A1D6-0CA7-9DE9-AF645CE1181C}"/>
                </a:ext>
              </a:extLst>
            </p:cNvPr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691CAAE-8B5D-EE63-308E-CCBD03747C28}"/>
                </a:ext>
              </a:extLst>
            </p:cNvPr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6000"/>
                </a:lnSpc>
              </a:pPr>
              <a:r>
                <a:rPr lang="en-US" sz="5000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Local Service Ads (LSA) Heat Map |</a:t>
              </a:r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F00B99C1-0A83-1AA1-C4F0-D6FFD1BF0A19}"/>
              </a:ext>
            </a:extLst>
          </p:cNvPr>
          <p:cNvGrpSpPr>
            <a:grpSpLocks noChangeAspect="1"/>
          </p:cNvGrpSpPr>
          <p:nvPr/>
        </p:nvGrpSpPr>
        <p:grpSpPr>
          <a:xfrm>
            <a:off x="10364758" y="536822"/>
            <a:ext cx="608042" cy="608002"/>
            <a:chOff x="0" y="0"/>
            <a:chExt cx="810723" cy="810669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63172AB8-BA86-AE4E-0A54-7E8D4429F08C}"/>
                </a:ext>
              </a:extLst>
            </p:cNvPr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D699A03D-0103-CE2D-4D5B-9D798B00AF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3012" y="2006353"/>
            <a:ext cx="15801975" cy="7743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1" name="Map Legend Card"/>
          <p:cNvSpPr/>
          <p:nvPr/>
        </p:nvSpPr>
        <p:spPr>
          <a:xfrm>
            <a:off x="11795760" y="7726679"/>
            <a:ext cx="5029200" cy="1783080"/>
          </a:xfrm>
          <a:prstGeom prst="roundRect">
            <a:avLst>
              <a:gd name="adj" fmla="val 65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C6CBD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Map Description"/>
          <p:cNvSpPr txBox="1"/>
          <p:nvPr/>
        </p:nvSpPr>
        <p:spPr>
          <a:xfrm>
            <a:off x="11996928" y="7891271"/>
            <a:ext cx="4626864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3A3A3A"/>
                </a:solidFill>
                <a:latin typeface="Avenir"/>
                <a:ea typeface="Avenir"/>
                <a:cs typeface="Avenir"/>
                <a:sym typeface="Avenir"/>
              </a:rPr>
              <a:t>Where Google Local Service Ads for {{PROPERTYNAME}} are shown to nearby searchers. Darker red shading means heavier ad activity.</a:t>
            </a:r>
          </a:p>
        </p:txBody>
      </p:sp>
      <p:sp>
        <p:nvSpPr>
          <p:cNvPr id="103" name="Legend Low"/>
          <p:cNvSpPr txBox="1"/>
          <p:nvPr/>
        </p:nvSpPr>
        <p:spPr>
          <a:xfrm>
            <a:off x="11996928" y="8988551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r"/>
            <a:r>
              <a:rPr lang="en-US" sz="1400" dirty="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Low</a:t>
            </a:r>
          </a:p>
        </p:txBody>
      </p:sp>
      <p:sp>
        <p:nvSpPr>
          <p:cNvPr id="104" name="Legend Gradient"/>
          <p:cNvSpPr/>
          <p:nvPr/>
        </p:nvSpPr>
        <p:spPr>
          <a:xfrm>
            <a:off x="12545568" y="9015984"/>
            <a:ext cx="3017520" cy="21945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9EED6"/>
              </a:gs>
              <a:gs pos="38000">
                <a:srgbClr val="EBDCC2"/>
              </a:gs>
              <a:gs pos="70000">
                <a:srgbClr val="E88081"/>
              </a:gs>
              <a:gs pos="100000">
                <a:srgbClr val="8C2B34"/>
              </a:gs>
            </a:gsLst>
            <a:lin ang="0" scaled="1"/>
          </a:gradFill>
          <a:ln w="9525">
            <a:solidFill>
              <a:srgbClr val="B8BDC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Legend High"/>
          <p:cNvSpPr txBox="1"/>
          <p:nvPr/>
        </p:nvSpPr>
        <p:spPr>
          <a:xfrm>
            <a:off x="15654528" y="8988551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dirty="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29636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1856</Words>
  <Application>Microsoft Office PowerPoint</Application>
  <PresentationFormat>Custom</PresentationFormat>
  <Paragraphs>639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Avenir Bold</vt:lpstr>
      <vt:lpstr>Arial</vt:lpstr>
      <vt:lpstr>Avenir Medium</vt:lpstr>
      <vt:lpstr>Calibri</vt:lpstr>
      <vt:lpstr>Arial Bold</vt:lpstr>
      <vt:lpstr>Avenir Bold Italics</vt:lpstr>
      <vt:lpstr>Avenir</vt:lpstr>
      <vt:lpstr>Arial Italics</vt:lpstr>
      <vt:lpstr>Avenir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Owner's Report Template</dc:title>
  <dc:creator>Ashley Reyes</dc:creator>
  <cp:lastModifiedBy>Alex Burke</cp:lastModifiedBy>
  <cp:revision>132</cp:revision>
  <dcterms:created xsi:type="dcterms:W3CDTF">2006-08-16T00:00:00Z</dcterms:created>
  <dcterms:modified xsi:type="dcterms:W3CDTF">2026-06-18T18:30:52Z</dcterms:modified>
  <dc:identifier>DAG3YRaK70Q</dc:identifier>
</cp:coreProperties>
</file>