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78816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570" y="-150"/>
      </p:cViewPr>
      <p:guideLst>
        <p:guide orient="horz" pos="2160"/>
        <p:guide pos="5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9200" y="2130425"/>
            <a:ext cx="138176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38400" y="3886200"/>
            <a:ext cx="11379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12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25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384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512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640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768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689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024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4112" y="4406901"/>
            <a:ext cx="13817600" cy="1362075"/>
          </a:xfrm>
        </p:spPr>
        <p:txBody>
          <a:bodyPr anchor="t"/>
          <a:lstStyle>
            <a:lvl1pPr algn="l">
              <a:defRPr sz="7111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4112" y="2906714"/>
            <a:ext cx="13817600" cy="1500187"/>
          </a:xfrm>
        </p:spPr>
        <p:txBody>
          <a:bodyPr anchor="b"/>
          <a:lstStyle>
            <a:lvl1pPr marL="0" indent="0">
              <a:buNone/>
              <a:defRPr sz="3556">
                <a:solidFill>
                  <a:schemeClr val="tx1">
                    <a:tint val="75000"/>
                  </a:schemeClr>
                </a:solidFill>
              </a:defRPr>
            </a:lvl1pPr>
            <a:lvl2pPr marL="81281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2562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3pPr>
            <a:lvl4pPr marL="2438430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4pPr>
            <a:lvl5pPr marL="325124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5pPr>
            <a:lvl6pPr marL="406405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6pPr>
            <a:lvl7pPr marL="487686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7pPr>
            <a:lvl8pPr marL="568967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8pPr>
            <a:lvl9pPr marL="650248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600201"/>
            <a:ext cx="7179733" cy="4525963"/>
          </a:xfrm>
        </p:spPr>
        <p:txBody>
          <a:bodyPr/>
          <a:lstStyle>
            <a:lvl1pPr>
              <a:defRPr sz="4978"/>
            </a:lvl1pPr>
            <a:lvl2pPr>
              <a:defRPr sz="4267"/>
            </a:lvl2pPr>
            <a:lvl3pPr>
              <a:defRPr sz="3556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63467" y="1600201"/>
            <a:ext cx="7179733" cy="4525963"/>
          </a:xfrm>
        </p:spPr>
        <p:txBody>
          <a:bodyPr/>
          <a:lstStyle>
            <a:lvl1pPr>
              <a:defRPr sz="4978"/>
            </a:lvl1pPr>
            <a:lvl2pPr>
              <a:defRPr sz="4267"/>
            </a:lvl2pPr>
            <a:lvl3pPr>
              <a:defRPr sz="3556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1535113"/>
            <a:ext cx="7182556" cy="63976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2800" y="2174875"/>
            <a:ext cx="7182556" cy="3951288"/>
          </a:xfrm>
        </p:spPr>
        <p:txBody>
          <a:bodyPr/>
          <a:lstStyle>
            <a:lvl1pPr>
              <a:defRPr sz="4267"/>
            </a:lvl1pPr>
            <a:lvl2pPr>
              <a:defRPr sz="3556"/>
            </a:lvl2pPr>
            <a:lvl3pPr>
              <a:defRPr sz="3200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57823" y="1535113"/>
            <a:ext cx="7185378" cy="63976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57823" y="2174875"/>
            <a:ext cx="7185378" cy="3951288"/>
          </a:xfrm>
        </p:spPr>
        <p:txBody>
          <a:bodyPr/>
          <a:lstStyle>
            <a:lvl1pPr>
              <a:defRPr sz="4267"/>
            </a:lvl1pPr>
            <a:lvl2pPr>
              <a:defRPr sz="3556"/>
            </a:lvl2pPr>
            <a:lvl3pPr>
              <a:defRPr sz="3200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1" y="273050"/>
            <a:ext cx="5348112" cy="1162050"/>
          </a:xfrm>
        </p:spPr>
        <p:txBody>
          <a:bodyPr anchor="b"/>
          <a:lstStyle>
            <a:lvl1pPr algn="l">
              <a:defRPr sz="355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5644" y="273051"/>
            <a:ext cx="9087556" cy="5853113"/>
          </a:xfrm>
        </p:spPr>
        <p:txBody>
          <a:bodyPr/>
          <a:lstStyle>
            <a:lvl1pPr>
              <a:defRPr sz="5689"/>
            </a:lvl1pPr>
            <a:lvl2pPr>
              <a:defRPr sz="4978"/>
            </a:lvl2pPr>
            <a:lvl3pPr>
              <a:defRPr sz="4267"/>
            </a:lvl3pPr>
            <a:lvl4pPr>
              <a:defRPr sz="3556"/>
            </a:lvl4pPr>
            <a:lvl5pPr>
              <a:defRPr sz="3556"/>
            </a:lvl5pPr>
            <a:lvl6pPr>
              <a:defRPr sz="3556"/>
            </a:lvl6pPr>
            <a:lvl7pPr>
              <a:defRPr sz="3556"/>
            </a:lvl7pPr>
            <a:lvl8pPr>
              <a:defRPr sz="3556"/>
            </a:lvl8pPr>
            <a:lvl9pPr>
              <a:defRPr sz="355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801" y="1435101"/>
            <a:ext cx="5348112" cy="4691063"/>
          </a:xfrm>
        </p:spPr>
        <p:txBody>
          <a:bodyPr/>
          <a:lstStyle>
            <a:lvl1pPr marL="0" indent="0">
              <a:buNone/>
              <a:defRPr sz="2489"/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6290" y="4800600"/>
            <a:ext cx="9753600" cy="566738"/>
          </a:xfrm>
        </p:spPr>
        <p:txBody>
          <a:bodyPr anchor="b"/>
          <a:lstStyle>
            <a:lvl1pPr algn="l">
              <a:defRPr sz="355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186290" y="612775"/>
            <a:ext cx="9753600" cy="4114800"/>
          </a:xfrm>
        </p:spPr>
        <p:txBody>
          <a:bodyPr/>
          <a:lstStyle>
            <a:lvl1pPr marL="0" indent="0">
              <a:buNone/>
              <a:defRPr sz="5689"/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86290" y="5367338"/>
            <a:ext cx="9753600" cy="804862"/>
          </a:xfrm>
        </p:spPr>
        <p:txBody>
          <a:bodyPr/>
          <a:lstStyle>
            <a:lvl1pPr marL="0" indent="0">
              <a:buNone/>
              <a:defRPr sz="2489"/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85600" y="274639"/>
            <a:ext cx="36576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274639"/>
            <a:ext cx="10701867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274638"/>
            <a:ext cx="14630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1600201"/>
            <a:ext cx="14630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2800" y="6356351"/>
            <a:ext cx="37930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54134" y="6356351"/>
            <a:ext cx="5147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50133" y="6356351"/>
            <a:ext cx="37930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625620" rtl="0" eaLnBrk="1" latinLnBrk="0" hangingPunct="1">
        <a:spcBef>
          <a:spcPct val="0"/>
        </a:spcBef>
        <a:buNone/>
        <a:defRPr sz="782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9608" indent="-609608" algn="l" defTabSz="1625620" rtl="0" eaLnBrk="1" latinLnBrk="0" hangingPunct="1">
        <a:spcBef>
          <a:spcPct val="20000"/>
        </a:spcBef>
        <a:buFont typeface="Arial" pitchFamily="34" charset="0"/>
        <a:buChar char="•"/>
        <a:defRPr sz="5689" kern="1200">
          <a:solidFill>
            <a:schemeClr val="tx1"/>
          </a:solidFill>
          <a:latin typeface="+mn-lt"/>
          <a:ea typeface="+mn-ea"/>
          <a:cs typeface="+mn-cs"/>
        </a:defRPr>
      </a:lvl1pPr>
      <a:lvl2pPr marL="1320817" indent="-508006" algn="l" defTabSz="1625620" rtl="0" eaLnBrk="1" latinLnBrk="0" hangingPunct="1">
        <a:spcBef>
          <a:spcPct val="20000"/>
        </a:spcBef>
        <a:buFont typeface="Arial" pitchFamily="34" charset="0"/>
        <a:buChar char="–"/>
        <a:defRPr sz="4978" kern="1200">
          <a:solidFill>
            <a:schemeClr val="tx1"/>
          </a:solidFill>
          <a:latin typeface="+mn-lt"/>
          <a:ea typeface="+mn-ea"/>
          <a:cs typeface="+mn-cs"/>
        </a:defRPr>
      </a:lvl2pPr>
      <a:lvl3pPr marL="2032025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3pPr>
      <a:lvl4pPr marL="2844836" indent="-406405" algn="l" defTabSz="1625620" rtl="0" eaLnBrk="1" latinLnBrk="0" hangingPunct="1">
        <a:spcBef>
          <a:spcPct val="20000"/>
        </a:spcBef>
        <a:buFont typeface="Arial" pitchFamily="34" charset="0"/>
        <a:buChar char="–"/>
        <a:defRPr sz="3556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indent="-406405" algn="l" defTabSz="1625620" rtl="0" eaLnBrk="1" latinLnBrk="0" hangingPunct="1">
        <a:spcBef>
          <a:spcPct val="20000"/>
        </a:spcBef>
        <a:buFont typeface="Arial" pitchFamily="34" charset="0"/>
        <a:buChar char="»"/>
        <a:defRPr sz="3556" kern="1200">
          <a:solidFill>
            <a:schemeClr val="tx1"/>
          </a:solidFill>
          <a:latin typeface="+mn-lt"/>
          <a:ea typeface="+mn-ea"/>
          <a:cs typeface="+mn-cs"/>
        </a:defRPr>
      </a:lvl5pPr>
      <a:lvl6pPr marL="447045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6pPr>
      <a:lvl7pPr marL="528326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7pPr>
      <a:lvl8pPr marL="609607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8pPr>
      <a:lvl9pPr marL="690888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281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2562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3843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5124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6405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7686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68967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0248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1879600"/>
            <a:ext cx="17881600" cy="2053508"/>
            <a:chOff x="0" y="0"/>
            <a:chExt cx="3506196" cy="4026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06196" cy="402648"/>
            </a:xfrm>
            <a:custGeom>
              <a:avLst/>
              <a:gdLst/>
              <a:ahLst/>
              <a:cxnLst/>
              <a:rect l="l" t="t" r="r" b="b"/>
              <a:pathLst>
                <a:path w="3506196" h="402648">
                  <a:moveTo>
                    <a:pt x="0" y="0"/>
                  </a:moveTo>
                  <a:lnTo>
                    <a:pt x="3506196" y="0"/>
                  </a:lnTo>
                  <a:lnTo>
                    <a:pt x="3506196" y="402648"/>
                  </a:lnTo>
                  <a:lnTo>
                    <a:pt x="0" y="40264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 sz="3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3506196" cy="488373"/>
            </a:xfrm>
            <a:prstGeom prst="rect">
              <a:avLst/>
            </a:prstGeom>
          </p:spPr>
          <p:txBody>
            <a:bodyPr lIns="90311" tIns="90311" rIns="90311" bIns="90311" rtlCol="0" anchor="ctr"/>
            <a:lstStyle/>
            <a:p>
              <a:pPr algn="ctr">
                <a:lnSpc>
                  <a:spcPts val="4978"/>
                </a:lnSpc>
              </a:pPr>
              <a:endParaRPr sz="3200"/>
            </a:p>
          </p:txBody>
        </p:sp>
      </p:grpSp>
      <p:sp>
        <p:nvSpPr>
          <p:cNvPr id="5" name="Freeform 5"/>
          <p:cNvSpPr/>
          <p:nvPr/>
        </p:nvSpPr>
        <p:spPr>
          <a:xfrm>
            <a:off x="15163926" y="-1269923"/>
            <a:ext cx="2311740" cy="834153"/>
          </a:xfrm>
          <a:custGeom>
            <a:avLst/>
            <a:gdLst/>
            <a:ahLst/>
            <a:cxnLst/>
            <a:rect l="l" t="t" r="r" b="b"/>
            <a:pathLst>
              <a:path w="1300354" h="469211">
                <a:moveTo>
                  <a:pt x="0" y="0"/>
                </a:moveTo>
                <a:lnTo>
                  <a:pt x="1300354" y="0"/>
                </a:lnTo>
                <a:lnTo>
                  <a:pt x="1300354" y="469211"/>
                </a:lnTo>
                <a:lnTo>
                  <a:pt x="0" y="4692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3200"/>
          </a:p>
        </p:txBody>
      </p:sp>
      <p:sp>
        <p:nvSpPr>
          <p:cNvPr id="6" name="AutoShape 6"/>
          <p:cNvSpPr/>
          <p:nvPr/>
        </p:nvSpPr>
        <p:spPr>
          <a:xfrm>
            <a:off x="4697123" y="609600"/>
            <a:ext cx="5213573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sp>
        <p:nvSpPr>
          <p:cNvPr id="7" name="AutoShape 7"/>
          <p:cNvSpPr/>
          <p:nvPr/>
        </p:nvSpPr>
        <p:spPr>
          <a:xfrm>
            <a:off x="518835" y="11379815"/>
            <a:ext cx="11078587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547047"/>
              </p:ext>
            </p:extLst>
          </p:nvPr>
        </p:nvGraphicFramePr>
        <p:xfrm>
          <a:off x="416413" y="1447800"/>
          <a:ext cx="3329909" cy="4195211"/>
        </p:xfrm>
        <a:graphic>
          <a:graphicData uri="http://schemas.openxmlformats.org/drawingml/2006/table">
            <a:tbl>
              <a:tblPr/>
              <a:tblGrid>
                <a:gridCol w="17425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{{PROPONENAME}}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{{PROPONENAME}}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{{PP1XAVG}}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714981"/>
              </p:ext>
            </p:extLst>
          </p:nvPr>
        </p:nvGraphicFramePr>
        <p:xfrm>
          <a:off x="12529409" y="1676400"/>
          <a:ext cx="4946256" cy="2388193"/>
        </p:xfrm>
        <a:graphic>
          <a:graphicData uri="http://schemas.openxmlformats.org/drawingml/2006/table">
            <a:tbl>
              <a:tblPr/>
              <a:tblGrid>
                <a:gridCol w="2588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7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24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2000" dirty="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11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561">
                <a:tc>
                  <a:txBody>
                    <a:bodyPr/>
                    <a:lstStyle/>
                    <a:p>
                      <a:pPr algn="ctr">
                        <a:lnSpc>
                          <a:spcPts val="50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First Floor</a:t>
                      </a:r>
                      <a:endParaRPr lang="en-US" sz="20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Climate Controlled</a:t>
                      </a:r>
                      <a:endParaRPr lang="en-US" sz="20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561">
                <a:tc>
                  <a:txBody>
                    <a:bodyPr/>
                    <a:lstStyle/>
                    <a:p>
                      <a:pPr algn="ctr">
                        <a:lnSpc>
                          <a:spcPts val="112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2000"/>
                    </a:p>
                    <a:p>
                      <a:pPr algn="ctr">
                        <a:lnSpc>
                          <a:spcPts val="840"/>
                        </a:lnSpc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($/SqFt)</a:t>
                      </a:r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2000"/>
                    </a:p>
                    <a:p>
                      <a:pPr algn="ctr">
                        <a:lnSpc>
                          <a:spcPts val="840"/>
                        </a:lnSpc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($/SqFt)</a:t>
                      </a:r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4619">
                <a:tc>
                  <a:txBody>
                    <a:bodyPr/>
                    <a:lstStyle/>
                    <a:p>
                      <a:pPr algn="ctr">
                        <a:lnSpc>
                          <a:spcPts val="7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{{MRSFIRST}}</a:t>
                      </a:r>
                      <a:endParaRPr lang="en-US" sz="20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50"/>
                        </a:lnSpc>
                        <a:defRPr/>
                      </a:pPr>
                      <a:r>
                        <a:rPr lang="en-US" sz="27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{{MRSCC}}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12529408" y="4419600"/>
            <a:ext cx="4946258" cy="5105400"/>
            <a:chOff x="0" y="0"/>
            <a:chExt cx="3709693" cy="4163148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3709693" cy="4163148"/>
              <a:chOff x="0" y="0"/>
              <a:chExt cx="969854" cy="108840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69854" cy="1088405"/>
              </a:xfrm>
              <a:custGeom>
                <a:avLst/>
                <a:gdLst/>
                <a:ahLst/>
                <a:cxnLst/>
                <a:rect l="l" t="t" r="r" b="b"/>
                <a:pathLst>
                  <a:path w="969854" h="1088405">
                    <a:moveTo>
                      <a:pt x="0" y="0"/>
                    </a:moveTo>
                    <a:lnTo>
                      <a:pt x="969854" y="0"/>
                    </a:lnTo>
                    <a:lnTo>
                      <a:pt x="969854" y="1088405"/>
                    </a:lnTo>
                    <a:lnTo>
                      <a:pt x="0" y="1088405"/>
                    </a:lnTo>
                    <a:close/>
                  </a:path>
                </a:pathLst>
              </a:custGeom>
              <a:ln w="47625" cap="sq">
                <a:solidFill>
                  <a:srgbClr val="6F94CA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 sz="3200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66675"/>
                <a:ext cx="969854" cy="1155080"/>
              </a:xfrm>
              <a:prstGeom prst="rect">
                <a:avLst/>
              </a:prstGeom>
            </p:spPr>
            <p:txBody>
              <a:bodyPr lIns="90311" tIns="90311" rIns="90311" bIns="90311" rtlCol="0" anchor="ctr"/>
              <a:lstStyle/>
              <a:p>
                <a:pPr algn="ctr">
                  <a:lnSpc>
                    <a:spcPts val="3733"/>
                  </a:lnSpc>
                </a:pPr>
                <a:endParaRPr sz="3200"/>
              </a:p>
            </p:txBody>
          </p:sp>
        </p:grpSp>
      </p:grpSp>
      <p:graphicFrame>
        <p:nvGraphicFramePr>
          <p:cNvPr id="14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45918"/>
              </p:ext>
            </p:extLst>
          </p:nvPr>
        </p:nvGraphicFramePr>
        <p:xfrm>
          <a:off x="12600345" y="4495800"/>
          <a:ext cx="4805490" cy="420738"/>
        </p:xfrm>
        <a:graphic>
          <a:graphicData uri="http://schemas.openxmlformats.org/drawingml/2006/table">
            <a:tbl>
              <a:tblPr/>
              <a:tblGrid>
                <a:gridCol w="1256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6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9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59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738">
                <a:tc gridSpan="4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097578"/>
              </p:ext>
            </p:extLst>
          </p:nvPr>
        </p:nvGraphicFramePr>
        <p:xfrm>
          <a:off x="421517" y="5791200"/>
          <a:ext cx="3368770" cy="4195211"/>
        </p:xfrm>
        <a:graphic>
          <a:graphicData uri="http://schemas.openxmlformats.org/drawingml/2006/table">
            <a:tbl>
              <a:tblPr/>
              <a:tblGrid>
                <a:gridCol w="1774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{{PROPFOURNAME}}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{{PROPFOURNAME}}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{{PP4XAVG}}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1735350"/>
              </p:ext>
            </p:extLst>
          </p:nvPr>
        </p:nvGraphicFramePr>
        <p:xfrm>
          <a:off x="4448065" y="1447800"/>
          <a:ext cx="3398292" cy="4195211"/>
        </p:xfrm>
        <a:graphic>
          <a:graphicData uri="http://schemas.openxmlformats.org/drawingml/2006/table">
            <a:tbl>
              <a:tblPr/>
              <a:tblGrid>
                <a:gridCol w="180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{{PROPTWONAME}}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{{PROPTWONAME}}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{{PP2XAVG}}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2634"/>
              </p:ext>
            </p:extLst>
          </p:nvPr>
        </p:nvGraphicFramePr>
        <p:xfrm>
          <a:off x="4448064" y="5791200"/>
          <a:ext cx="3388608" cy="4195211"/>
        </p:xfrm>
        <a:graphic>
          <a:graphicData uri="http://schemas.openxmlformats.org/drawingml/2006/table">
            <a:tbl>
              <a:tblPr/>
              <a:tblGrid>
                <a:gridCol w="17939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{{PROPFIVENAME}}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{{PROPFIVENAME}}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{{PP5ADDRESS}}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{{PP5FIRSTFLOORORAC}}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{{PP5XAVG}}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665885"/>
              </p:ext>
            </p:extLst>
          </p:nvPr>
        </p:nvGraphicFramePr>
        <p:xfrm>
          <a:off x="8481510" y="1447800"/>
          <a:ext cx="3428287" cy="4195211"/>
        </p:xfrm>
        <a:graphic>
          <a:graphicData uri="http://schemas.openxmlformats.org/drawingml/2006/table">
            <a:tbl>
              <a:tblPr/>
              <a:tblGrid>
                <a:gridCol w="1833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{{PROPTHREENAME}}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{{PROPTHREENAME}}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{{PP3XAVG}}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9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350950"/>
              </p:ext>
            </p:extLst>
          </p:nvPr>
        </p:nvGraphicFramePr>
        <p:xfrm>
          <a:off x="8481510" y="5786989"/>
          <a:ext cx="3368770" cy="4195211"/>
        </p:xfrm>
        <a:graphic>
          <a:graphicData uri="http://schemas.openxmlformats.org/drawingml/2006/table">
            <a:tbl>
              <a:tblPr/>
              <a:tblGrid>
                <a:gridCol w="1774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{{PROPSIXNAME}}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{{PROPSIXNAME}}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{{PP6XAVG}}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20" name="Group 20"/>
          <p:cNvGrpSpPr/>
          <p:nvPr/>
        </p:nvGrpSpPr>
        <p:grpSpPr>
          <a:xfrm>
            <a:off x="416346" y="-1387964"/>
            <a:ext cx="5225182" cy="1128574"/>
            <a:chOff x="0" y="85725"/>
            <a:chExt cx="3918887" cy="846430"/>
          </a:xfrm>
        </p:grpSpPr>
        <p:sp>
          <p:nvSpPr>
            <p:cNvPr id="21" name="AutoShape 21"/>
            <p:cNvSpPr/>
            <p:nvPr/>
          </p:nvSpPr>
          <p:spPr>
            <a:xfrm flipV="1">
              <a:off x="0" y="523489"/>
              <a:ext cx="3918887" cy="0"/>
            </a:xfrm>
            <a:prstGeom prst="line">
              <a:avLst/>
            </a:prstGeom>
            <a:ln w="127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 sz="320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85725"/>
              <a:ext cx="3918887" cy="2018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89"/>
                </a:lnSpc>
              </a:pPr>
              <a:r>
                <a:rPr lang="en-US" sz="3378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RENTAL COMP REPORT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02690"/>
              <a:ext cx="3918887" cy="3294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33"/>
                </a:lnSpc>
              </a:pPr>
              <a:r>
                <a:rPr lang="en-US" sz="2667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{{MONTHYEAR}}</a:t>
              </a:r>
            </a:p>
          </p:txBody>
        </p:sp>
      </p:grpSp>
      <p:sp>
        <p:nvSpPr>
          <p:cNvPr id="24" name="AutoShape 24"/>
          <p:cNvSpPr/>
          <p:nvPr/>
        </p:nvSpPr>
        <p:spPr>
          <a:xfrm>
            <a:off x="416413" y="609600"/>
            <a:ext cx="1062647" cy="8466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sp>
        <p:nvSpPr>
          <p:cNvPr id="25" name="TextBox 25"/>
          <p:cNvSpPr txBox="1"/>
          <p:nvPr/>
        </p:nvSpPr>
        <p:spPr>
          <a:xfrm>
            <a:off x="1779732" y="228600"/>
            <a:ext cx="2612592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sz="3556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for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124762" y="228600"/>
            <a:ext cx="7345666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978"/>
              </a:lnSpc>
            </a:pPr>
            <a:r>
              <a:rPr lang="en-US" sz="3556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Subject Property – </a:t>
            </a:r>
            <a:r>
              <a:rPr lang="en-US" sz="3556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{{SUBPROP}}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16346" y="762000"/>
            <a:ext cx="6852549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sz="3556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{{PREPCOMP}}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268819" y="990600"/>
            <a:ext cx="7201609" cy="414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84"/>
              </a:lnSpc>
            </a:pPr>
            <a:r>
              <a:rPr lang="en-US" sz="2489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{{ADDRESS}}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184958" y="11049615"/>
            <a:ext cx="5285468" cy="439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3"/>
              </a:lnSpc>
            </a:pPr>
            <a:r>
              <a:rPr lang="en-US" sz="2667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by </a:t>
            </a:r>
            <a:r>
              <a:rPr lang="en-US" sz="2667" b="1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STORE Management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350</Words>
  <Application>Microsoft Office PowerPoint</Application>
  <PresentationFormat>Custom</PresentationFormat>
  <Paragraphs>125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Calibri</vt:lpstr>
      <vt:lpstr>Avenir 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Comp Set Template - Wenworth</dc:title>
  <cp:lastModifiedBy>Alex Burke</cp:lastModifiedBy>
  <cp:revision>3</cp:revision>
  <dcterms:created xsi:type="dcterms:W3CDTF">2006-08-16T00:00:00Z</dcterms:created>
  <dcterms:modified xsi:type="dcterms:W3CDTF">2026-02-16T18:56:14Z</dcterms:modified>
  <dc:identifier>DAHBgTZPmEE</dc:identifier>
</cp:coreProperties>
</file>