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57" r:id="rId5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C8D5EA"/>
    <a:srgbClr val="6F91C8"/>
    <a:srgbClr val="7E90D0"/>
    <a:srgbClr val="3A51A1"/>
    <a:srgbClr val="FAA7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82" autoAdjust="0"/>
  </p:normalViewPr>
  <p:slideViewPr>
    <p:cSldViewPr snapToGrid="0">
      <p:cViewPr>
        <p:scale>
          <a:sx n="200" d="100"/>
          <a:sy n="200" d="100"/>
        </p:scale>
        <p:origin x="-66" y="-5424"/>
      </p:cViewPr>
      <p:guideLst>
        <p:guide orient="horz" pos="3168"/>
        <p:guide pos="24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DF246-D98E-438A-85A2-2A5B5F1B9F1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B33750-7D66-43AA-ACA5-E66BEFE7D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11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33750-7D66-43AA-ACA5-E66BEFE7D5F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97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41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334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850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04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503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103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067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61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756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869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004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D3AEEE-E743-4AD0-86DF-0344F9A60A8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38225-0717-49E6-AD14-D6B5C444E2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52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11C06C36-893C-6238-6340-34FF27109AA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04" t="3406" r="4955"/>
          <a:stretch/>
        </p:blipFill>
        <p:spPr>
          <a:xfrm>
            <a:off x="-26449" y="1480318"/>
            <a:ext cx="7807009" cy="861384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B84E361-9FFF-F8E7-44DA-EB3932BE714D}"/>
              </a:ext>
            </a:extLst>
          </p:cNvPr>
          <p:cNvSpPr/>
          <p:nvPr/>
        </p:nvSpPr>
        <p:spPr>
          <a:xfrm>
            <a:off x="0" y="0"/>
            <a:ext cx="7772400" cy="646048"/>
          </a:xfrm>
          <a:prstGeom prst="rect">
            <a:avLst/>
          </a:prstGeom>
          <a:solidFill>
            <a:srgbClr val="3B52A2"/>
          </a:solidFill>
          <a:ln>
            <a:solidFill>
              <a:srgbClr val="3B52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431DCF-ACF2-E9F5-9D03-7F5FEE117E64}"/>
              </a:ext>
            </a:extLst>
          </p:cNvPr>
          <p:cNvSpPr txBox="1">
            <a:spLocks/>
          </p:cNvSpPr>
          <p:nvPr/>
        </p:nvSpPr>
        <p:spPr>
          <a:xfrm>
            <a:off x="228600" y="45970"/>
            <a:ext cx="36287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spc="-70" dirty="0">
                <a:solidFill>
                  <a:schemeClr val="bg1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RENTAL COMP REPORT</a:t>
            </a:r>
          </a:p>
          <a:p>
            <a:endParaRPr lang="en-US" sz="400" spc="-70" dirty="0">
              <a:solidFill>
                <a:schemeClr val="bg1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EB466D-E497-1616-04B2-173EAD1E555F}"/>
              </a:ext>
            </a:extLst>
          </p:cNvPr>
          <p:cNvSpPr txBox="1"/>
          <p:nvPr/>
        </p:nvSpPr>
        <p:spPr>
          <a:xfrm>
            <a:off x="228598" y="650803"/>
            <a:ext cx="35974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spc="-70" dirty="0">
                <a:ea typeface="Sans Serif Collection" panose="020B0502040504020204" pitchFamily="34" charset="0"/>
                <a:cs typeface="Sans Serif Collection" panose="020B0502040504020204" pitchFamily="34" charset="0"/>
              </a:rPr>
              <a:t>Prepared For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3817FC-4FB9-6AA4-50C4-82FB7256AADE}"/>
              </a:ext>
            </a:extLst>
          </p:cNvPr>
          <p:cNvSpPr txBox="1"/>
          <p:nvPr/>
        </p:nvSpPr>
        <p:spPr>
          <a:xfrm>
            <a:off x="3931470" y="697483"/>
            <a:ext cx="3612331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300" spc="-70" dirty="0">
                <a:ea typeface="Sans Serif Collection" panose="020B0502040504020204" pitchFamily="34" charset="0"/>
                <a:cs typeface="Sans Serif Collection" panose="020B0502040504020204" pitchFamily="34" charset="0"/>
              </a:rPr>
              <a:t>Subject Property – {{SUBJECTPROPERTY}}</a:t>
            </a:r>
            <a:endParaRPr lang="en-US" sz="1300" b="1" spc="-70" dirty="0"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621B44-1424-93D9-D5AE-7C90A2CD711B}"/>
              </a:ext>
            </a:extLst>
          </p:cNvPr>
          <p:cNvSpPr txBox="1"/>
          <p:nvPr/>
        </p:nvSpPr>
        <p:spPr>
          <a:xfrm>
            <a:off x="3915013" y="996708"/>
            <a:ext cx="36287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spc="-70" dirty="0">
                <a:ea typeface="Sans Serif Collection" panose="020B0502040504020204" pitchFamily="34" charset="0"/>
                <a:cs typeface="Sans Serif Collection" panose="020B0502040504020204" pitchFamily="34" charset="0"/>
              </a:rPr>
              <a:t>{{PROPERTYADDRESS}}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D18029-D6BB-F031-B9FB-5BE286C177C4}"/>
              </a:ext>
            </a:extLst>
          </p:cNvPr>
          <p:cNvSpPr txBox="1"/>
          <p:nvPr/>
        </p:nvSpPr>
        <p:spPr>
          <a:xfrm>
            <a:off x="3914497" y="1185643"/>
            <a:ext cx="3629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spc="-70" dirty="0">
                <a:ea typeface="Sans Serif Collection" panose="020B0502040504020204" pitchFamily="34" charset="0"/>
                <a:cs typeface="Sans Serif Collection" panose="020B0502040504020204" pitchFamily="34" charset="0"/>
              </a:rPr>
              <a:t> Units            NRSF    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D34E40FF-6764-52AE-54E1-CA4E25CF8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818254"/>
              </p:ext>
            </p:extLst>
          </p:nvPr>
        </p:nvGraphicFramePr>
        <p:xfrm>
          <a:off x="228600" y="1499616"/>
          <a:ext cx="3628786" cy="55051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558040857"/>
                    </a:ext>
                  </a:extLst>
                </a:gridCol>
                <a:gridCol w="301752">
                  <a:extLst>
                    <a:ext uri="{9D8B030D-6E8A-4147-A177-3AD203B41FA5}">
                      <a16:colId xmlns:a16="http://schemas.microsoft.com/office/drawing/2014/main" val="212372706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1687776370"/>
                    </a:ext>
                  </a:extLst>
                </a:gridCol>
                <a:gridCol w="534234">
                  <a:extLst>
                    <a:ext uri="{9D8B030D-6E8A-4147-A177-3AD203B41FA5}">
                      <a16:colId xmlns:a16="http://schemas.microsoft.com/office/drawing/2014/main" val="48918794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800800059"/>
                    </a:ext>
                  </a:extLst>
                </a:gridCol>
                <a:gridCol w="534234">
                  <a:extLst>
                    <a:ext uri="{9D8B030D-6E8A-4147-A177-3AD203B41FA5}">
                      <a16:colId xmlns:a16="http://schemas.microsoft.com/office/drawing/2014/main" val="3969247000"/>
                    </a:ext>
                  </a:extLst>
                </a:gridCol>
              </a:tblGrid>
              <a:tr h="153424"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Property Name –</a:t>
                      </a:r>
                    </a:p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Property Address</a:t>
                      </a:r>
                    </a:p>
                    <a:p>
                      <a:pPr algn="ctr" fontAlgn="b"/>
                      <a:r>
                        <a:rPr lang="en-US" sz="5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(Distance from Subject) 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0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First Floor</a:t>
                      </a:r>
                      <a:endParaRPr lang="en-US" sz="1000" b="0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0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Elevator Access</a:t>
                      </a:r>
                      <a:endParaRPr lang="en-US" sz="1000" b="0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extLst>
                  <a:ext uri="{0D108BD9-81ED-4DB2-BD59-A6C34878D82A}">
                    <a16:rowId xmlns:a16="http://schemas.microsoft.com/office/drawing/2014/main" val="3822310353"/>
                  </a:ext>
                </a:extLst>
              </a:tr>
              <a:tr h="19782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Unit   Size</a:t>
                      </a:r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u="none" strike="noStrike" dirty="0">
                          <a:effectLst/>
                        </a:rPr>
                        <a:t>Regular Rate </a:t>
                      </a:r>
                      <a:r>
                        <a:rPr lang="en-US" sz="600" u="none" strike="noStrike" dirty="0">
                          <a:effectLst/>
                        </a:rPr>
                        <a:t>($/SF)</a:t>
                      </a:r>
                      <a:endParaRPr lang="en-US" sz="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u="none" strike="noStrike" dirty="0">
                          <a:effectLst/>
                        </a:rPr>
                        <a:t>Online Rate </a:t>
                      </a:r>
                      <a:r>
                        <a:rPr lang="en-US" sz="600" u="none" strike="noStrike" dirty="0">
                          <a:effectLst/>
                        </a:rPr>
                        <a:t>($/SF)</a:t>
                      </a:r>
                      <a:endParaRPr lang="en-US" sz="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u="none" strike="noStrike" dirty="0">
                          <a:effectLst/>
                        </a:rPr>
                        <a:t>Regular Rate </a:t>
                      </a:r>
                      <a:r>
                        <a:rPr lang="en-US" sz="600" u="none" strike="noStrike" dirty="0">
                          <a:effectLst/>
                        </a:rPr>
                        <a:t>($/SF)</a:t>
                      </a:r>
                      <a:endParaRPr lang="en-US" sz="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u="none" strike="noStrike" dirty="0">
                          <a:effectLst/>
                        </a:rPr>
                        <a:t>Online Rate </a:t>
                      </a:r>
                      <a:r>
                        <a:rPr lang="en-US" sz="600" u="none" strike="noStrike" dirty="0">
                          <a:effectLst/>
                        </a:rPr>
                        <a:t>($/SF)</a:t>
                      </a:r>
                      <a:endParaRPr lang="en-US" sz="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336627"/>
                  </a:ext>
                </a:extLst>
              </a:tr>
              <a:tr h="136952">
                <a:tc rowSpan="6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u="none" strike="noStrike" dirty="0">
                        <a:effectLst/>
                      </a:endParaRPr>
                    </a:p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$1.60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4125268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0820262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$0.97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818412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$0.94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07040903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$0.84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4558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30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350644"/>
                  </a:ext>
                </a:extLst>
              </a:tr>
              <a:tr h="136952">
                <a:tc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700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$1.03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05959"/>
                  </a:ext>
                </a:extLst>
              </a:tr>
              <a:tr h="91301">
                <a:tc gridSpan="6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extLst>
                  <a:ext uri="{0D108BD9-81ED-4DB2-BD59-A6C34878D82A}">
                    <a16:rowId xmlns:a16="http://schemas.microsoft.com/office/drawing/2014/main" val="195107175"/>
                  </a:ext>
                </a:extLst>
              </a:tr>
              <a:tr h="136952">
                <a:tc rowSpan="5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$1.68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177989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$1.24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792311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$0.86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0359281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$0.87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879056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$0.73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485873"/>
                  </a:ext>
                </a:extLst>
              </a:tr>
              <a:tr h="136952">
                <a:tc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30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1004970"/>
                  </a:ext>
                </a:extLst>
              </a:tr>
              <a:tr h="136952">
                <a:tc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$1.02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279859"/>
                  </a:ext>
                </a:extLst>
              </a:tr>
              <a:tr h="91301">
                <a:tc gridSpan="6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3869240"/>
                  </a:ext>
                </a:extLst>
              </a:tr>
              <a:tr h="136952">
                <a:tc rowSpan="7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$2.28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$1.32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292926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$1.88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262096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$1.64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8474487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343404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$1.46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91590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>
                          <a:lumMod val="90000"/>
                          <a:lumOff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233078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>
                          <a:lumMod val="90000"/>
                          <a:lumOff val="1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$1.82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$1.16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572010"/>
                  </a:ext>
                </a:extLst>
              </a:tr>
              <a:tr h="91301">
                <a:tc gridSpan="6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extLst>
                  <a:ext uri="{0D108BD9-81ED-4DB2-BD59-A6C34878D82A}">
                    <a16:rowId xmlns:a16="http://schemas.microsoft.com/office/drawing/2014/main" val="1844548737"/>
                  </a:ext>
                </a:extLst>
              </a:tr>
              <a:tr h="136952">
                <a:tc rowSpan="7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536800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608288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$1.81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$1.57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043911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$1.18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$1.03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523214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$1.44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$1.25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062188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30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$1.13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$0.98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45681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$1.39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$1.21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368581"/>
                  </a:ext>
                </a:extLst>
              </a:tr>
              <a:tr h="91301">
                <a:tc gridSpan="6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415749"/>
                  </a:ext>
                </a:extLst>
              </a:tr>
              <a:tr h="131246">
                <a:tc rowSpan="7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u="none" strike="noStrike" dirty="0">
                        <a:effectLst/>
                      </a:endParaRPr>
                    </a:p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400" b="1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$1.96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$0.60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621232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$1.50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$0.88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628035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$1.57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$1.21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057206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3233547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$1.12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$0.75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289947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30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$1.02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1597954"/>
                  </a:ext>
                </a:extLst>
              </a:tr>
              <a:tr h="136952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$1.43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$0.94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$1.16</a:t>
                      </a:r>
                    </a:p>
                  </a:txBody>
                  <a:tcPr marL="7620" marR="7620" marT="7620" marB="0" anchor="b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$0.60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658982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2DC6383A-22C6-6D74-DD2B-4908002FC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52917"/>
              </p:ext>
            </p:extLst>
          </p:nvPr>
        </p:nvGraphicFramePr>
        <p:xfrm>
          <a:off x="3916522" y="1499616"/>
          <a:ext cx="3627278" cy="44476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974987443"/>
                    </a:ext>
                  </a:extLst>
                </a:gridCol>
                <a:gridCol w="301752">
                  <a:extLst>
                    <a:ext uri="{9D8B030D-6E8A-4147-A177-3AD203B41FA5}">
                      <a16:colId xmlns:a16="http://schemas.microsoft.com/office/drawing/2014/main" val="3503928896"/>
                    </a:ext>
                  </a:extLst>
                </a:gridCol>
                <a:gridCol w="606631">
                  <a:extLst>
                    <a:ext uri="{9D8B030D-6E8A-4147-A177-3AD203B41FA5}">
                      <a16:colId xmlns:a16="http://schemas.microsoft.com/office/drawing/2014/main" val="2910304189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2453179686"/>
                    </a:ext>
                  </a:extLst>
                </a:gridCol>
                <a:gridCol w="606631">
                  <a:extLst>
                    <a:ext uri="{9D8B030D-6E8A-4147-A177-3AD203B41FA5}">
                      <a16:colId xmlns:a16="http://schemas.microsoft.com/office/drawing/2014/main" val="536689078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1460843394"/>
                    </a:ext>
                  </a:extLst>
                </a:gridCol>
              </a:tblGrid>
              <a:tr h="152656">
                <a:tc rowSpan="2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0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First Floor</a:t>
                      </a:r>
                      <a:endParaRPr lang="en-US" sz="1000" b="0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0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Elevator Access</a:t>
                      </a:r>
                      <a:endParaRPr lang="en-US" sz="1000" b="0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extLst>
                  <a:ext uri="{0D108BD9-81ED-4DB2-BD59-A6C34878D82A}">
                    <a16:rowId xmlns:a16="http://schemas.microsoft.com/office/drawing/2014/main" val="1924467055"/>
                  </a:ext>
                </a:extLst>
              </a:tr>
              <a:tr h="19845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u="none" strike="noStrike" dirty="0">
                          <a:effectLst/>
                        </a:rPr>
                        <a:t>Unit    Size</a:t>
                      </a:r>
                      <a:endParaRPr lang="en-US" sz="600" b="0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0" u="none" strike="noStrike" dirty="0">
                          <a:effectLst/>
                        </a:rPr>
                        <a:t>Regular Rate </a:t>
                      </a:r>
                      <a:r>
                        <a:rPr lang="en-US" sz="600" b="0" u="none" strike="noStrike" dirty="0">
                          <a:effectLst/>
                        </a:rPr>
                        <a:t>($/SF)</a:t>
                      </a:r>
                      <a:endParaRPr lang="en-US" sz="800" b="0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0" u="none" strike="noStrike" dirty="0">
                          <a:effectLst/>
                        </a:rPr>
                        <a:t>Online Rate </a:t>
                      </a:r>
                      <a:r>
                        <a:rPr lang="en-US" sz="600" b="0" u="none" strike="noStrike" dirty="0">
                          <a:effectLst/>
                        </a:rPr>
                        <a:t>($/SF)</a:t>
                      </a:r>
                      <a:endParaRPr lang="en-US" sz="600" b="0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0" u="none" strike="noStrike" dirty="0">
                          <a:effectLst/>
                        </a:rPr>
                        <a:t>Regular Rate </a:t>
                      </a:r>
                      <a:r>
                        <a:rPr lang="en-US" sz="600" b="0" u="none" strike="noStrike" dirty="0">
                          <a:effectLst/>
                        </a:rPr>
                        <a:t>($/SF)</a:t>
                      </a:r>
                      <a:endParaRPr lang="en-US" sz="600" b="0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0" u="none" strike="noStrike" dirty="0">
                          <a:effectLst/>
                        </a:rPr>
                        <a:t>Online Rate </a:t>
                      </a:r>
                      <a:r>
                        <a:rPr lang="en-US" sz="600" b="0" u="none" strike="noStrike" dirty="0">
                          <a:effectLst/>
                        </a:rPr>
                        <a:t>($/SF)</a:t>
                      </a:r>
                      <a:endParaRPr lang="en-US" sz="600" b="0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480158"/>
                  </a:ext>
                </a:extLst>
              </a:tr>
              <a:tr h="136289">
                <a:tc rowSpan="7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$1.92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$1.15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744296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625653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$0.82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$0.62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5384053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$1.31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007472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52411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30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076581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$1.31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$0.82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435521"/>
                  </a:ext>
                </a:extLst>
              </a:tr>
              <a:tr h="90859">
                <a:tc gridSpan="6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extLst>
                  <a:ext uri="{0D108BD9-81ED-4DB2-BD59-A6C34878D82A}">
                    <a16:rowId xmlns:a16="http://schemas.microsoft.com/office/drawing/2014/main" val="1016657676"/>
                  </a:ext>
                </a:extLst>
              </a:tr>
              <a:tr h="136289">
                <a:tc rowSpan="7"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$2.24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$1.28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5952511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$1.96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$2.04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$1.20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89423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$1.71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7770300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$1.54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$0.99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854095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$1.41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027385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30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$1.58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$1.24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4085704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$1.74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$1.13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$2.04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$1.20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1826443"/>
                  </a:ext>
                </a:extLst>
              </a:tr>
              <a:tr h="90859">
                <a:tc gridSpan="6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extLst>
                  <a:ext uri="{0D108BD9-81ED-4DB2-BD59-A6C34878D82A}">
                    <a16:rowId xmlns:a16="http://schemas.microsoft.com/office/drawing/2014/main" val="3195693706"/>
                  </a:ext>
                </a:extLst>
              </a:tr>
              <a:tr h="136289">
                <a:tc rowSpan="7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400" b="1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$2.00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$1.20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033448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$1.74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86723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$1.52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$0.92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102197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$1.39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$0.83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5298698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20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$1.07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$0.69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640793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30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$0.98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$0.72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342419"/>
                  </a:ext>
                </a:extLst>
              </a:tr>
              <a:tr h="136289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$1.45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$0.90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106962"/>
                  </a:ext>
                </a:extLst>
              </a:tr>
              <a:tr h="90859">
                <a:tc gridSpan="6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extLst>
                  <a:ext uri="{0D108BD9-81ED-4DB2-BD59-A6C34878D82A}">
                    <a16:rowId xmlns:a16="http://schemas.microsoft.com/office/drawing/2014/main" val="4229842444"/>
                  </a:ext>
                </a:extLst>
              </a:tr>
              <a:tr h="137160">
                <a:tc rowSpan="7">
                  <a:txBody>
                    <a:bodyPr/>
                    <a:lstStyle/>
                    <a:p>
                      <a:pPr marL="0" marR="0" lvl="0" indent="0" algn="ctr" defTabSz="77724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u="none" strike="noStrike" dirty="0">
                        <a:effectLst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$2.76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$1.64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205134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5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$1.84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$1.08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443024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$1.92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$1.15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214543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15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$1.59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$1.09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3499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 x 20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$1.85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$1.36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799121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600" u="none" strike="noStrike" dirty="0">
                          <a:effectLst/>
                        </a:rPr>
                        <a:t>10 x 30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916138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pPr algn="ctr" fontAlgn="b"/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7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AVG</a:t>
                      </a:r>
                      <a:endParaRPr lang="en-US" sz="7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$1.99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$1.26</a:t>
                      </a: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8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3A51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494007"/>
                  </a:ext>
                </a:extLst>
              </a:tr>
            </a:tbl>
          </a:graphicData>
        </a:graphic>
      </p:graphicFrame>
      <p:sp>
        <p:nvSpPr>
          <p:cNvPr id="53" name="Rectangle 52">
            <a:extLst>
              <a:ext uri="{FF2B5EF4-FFF2-40B4-BE49-F238E27FC236}">
                <a16:creationId xmlns:a16="http://schemas.microsoft.com/office/drawing/2014/main" id="{C304E87D-CA03-592F-30F8-94CAD205D6D8}"/>
              </a:ext>
            </a:extLst>
          </p:cNvPr>
          <p:cNvSpPr/>
          <p:nvPr/>
        </p:nvSpPr>
        <p:spPr>
          <a:xfrm>
            <a:off x="415289" y="905677"/>
            <a:ext cx="3224061" cy="414260"/>
          </a:xfrm>
          <a:prstGeom prst="rect">
            <a:avLst/>
          </a:prstGeom>
          <a:solidFill>
            <a:srgbClr val="C8D5EA"/>
          </a:solidFill>
          <a:ln w="28575">
            <a:solidFill>
              <a:srgbClr val="3A51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>
                <a:solidFill>
                  <a:schemeClr val="tx1"/>
                </a:solidFill>
              </a:rPr>
              <a:t>{{PREPAREDFOR}}</a:t>
            </a:r>
          </a:p>
        </p:txBody>
      </p:sp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15DEA3A6-2DAD-1D30-FF86-4B80D63D05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873055"/>
              </p:ext>
            </p:extLst>
          </p:nvPr>
        </p:nvGraphicFramePr>
        <p:xfrm>
          <a:off x="3931470" y="5988357"/>
          <a:ext cx="3627218" cy="8353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6603">
                  <a:extLst>
                    <a:ext uri="{9D8B030D-6E8A-4147-A177-3AD203B41FA5}">
                      <a16:colId xmlns:a16="http://schemas.microsoft.com/office/drawing/2014/main" val="4291105037"/>
                    </a:ext>
                  </a:extLst>
                </a:gridCol>
                <a:gridCol w="226603">
                  <a:extLst>
                    <a:ext uri="{9D8B030D-6E8A-4147-A177-3AD203B41FA5}">
                      <a16:colId xmlns:a16="http://schemas.microsoft.com/office/drawing/2014/main" val="2092276122"/>
                    </a:ext>
                  </a:extLst>
                </a:gridCol>
                <a:gridCol w="226603">
                  <a:extLst>
                    <a:ext uri="{9D8B030D-6E8A-4147-A177-3AD203B41FA5}">
                      <a16:colId xmlns:a16="http://schemas.microsoft.com/office/drawing/2014/main" val="3337449701"/>
                    </a:ext>
                  </a:extLst>
                </a:gridCol>
                <a:gridCol w="226603">
                  <a:extLst>
                    <a:ext uri="{9D8B030D-6E8A-4147-A177-3AD203B41FA5}">
                      <a16:colId xmlns:a16="http://schemas.microsoft.com/office/drawing/2014/main" val="3708913790"/>
                    </a:ext>
                  </a:extLst>
                </a:gridCol>
                <a:gridCol w="56019">
                  <a:extLst>
                    <a:ext uri="{9D8B030D-6E8A-4147-A177-3AD203B41FA5}">
                      <a16:colId xmlns:a16="http://schemas.microsoft.com/office/drawing/2014/main" val="4157234524"/>
                    </a:ext>
                  </a:extLst>
                </a:gridCol>
                <a:gridCol w="170584">
                  <a:extLst>
                    <a:ext uri="{9D8B030D-6E8A-4147-A177-3AD203B41FA5}">
                      <a16:colId xmlns:a16="http://schemas.microsoft.com/office/drawing/2014/main" val="2773501147"/>
                    </a:ext>
                  </a:extLst>
                </a:gridCol>
                <a:gridCol w="226603">
                  <a:extLst>
                    <a:ext uri="{9D8B030D-6E8A-4147-A177-3AD203B41FA5}">
                      <a16:colId xmlns:a16="http://schemas.microsoft.com/office/drawing/2014/main" val="1242241707"/>
                    </a:ext>
                  </a:extLst>
                </a:gridCol>
                <a:gridCol w="226603">
                  <a:extLst>
                    <a:ext uri="{9D8B030D-6E8A-4147-A177-3AD203B41FA5}">
                      <a16:colId xmlns:a16="http://schemas.microsoft.com/office/drawing/2014/main" val="2899334083"/>
                    </a:ext>
                  </a:extLst>
                </a:gridCol>
                <a:gridCol w="226603">
                  <a:extLst>
                    <a:ext uri="{9D8B030D-6E8A-4147-A177-3AD203B41FA5}">
                      <a16:colId xmlns:a16="http://schemas.microsoft.com/office/drawing/2014/main" val="2114509185"/>
                    </a:ext>
                  </a:extLst>
                </a:gridCol>
                <a:gridCol w="226799">
                  <a:extLst>
                    <a:ext uri="{9D8B030D-6E8A-4147-A177-3AD203B41FA5}">
                      <a16:colId xmlns:a16="http://schemas.microsoft.com/office/drawing/2014/main" val="298769871"/>
                    </a:ext>
                  </a:extLst>
                </a:gridCol>
                <a:gridCol w="226799">
                  <a:extLst>
                    <a:ext uri="{9D8B030D-6E8A-4147-A177-3AD203B41FA5}">
                      <a16:colId xmlns:a16="http://schemas.microsoft.com/office/drawing/2014/main" val="1736730981"/>
                    </a:ext>
                  </a:extLst>
                </a:gridCol>
                <a:gridCol w="226799">
                  <a:extLst>
                    <a:ext uri="{9D8B030D-6E8A-4147-A177-3AD203B41FA5}">
                      <a16:colId xmlns:a16="http://schemas.microsoft.com/office/drawing/2014/main" val="4160509491"/>
                    </a:ext>
                  </a:extLst>
                </a:gridCol>
                <a:gridCol w="226800">
                  <a:extLst>
                    <a:ext uri="{9D8B030D-6E8A-4147-A177-3AD203B41FA5}">
                      <a16:colId xmlns:a16="http://schemas.microsoft.com/office/drawing/2014/main" val="4090821044"/>
                    </a:ext>
                  </a:extLst>
                </a:gridCol>
                <a:gridCol w="55234">
                  <a:extLst>
                    <a:ext uri="{9D8B030D-6E8A-4147-A177-3AD203B41FA5}">
                      <a16:colId xmlns:a16="http://schemas.microsoft.com/office/drawing/2014/main" val="1431396318"/>
                    </a:ext>
                  </a:extLst>
                </a:gridCol>
                <a:gridCol w="171566">
                  <a:extLst>
                    <a:ext uri="{9D8B030D-6E8A-4147-A177-3AD203B41FA5}">
                      <a16:colId xmlns:a16="http://schemas.microsoft.com/office/drawing/2014/main" val="2362699550"/>
                    </a:ext>
                  </a:extLst>
                </a:gridCol>
                <a:gridCol w="226799">
                  <a:extLst>
                    <a:ext uri="{9D8B030D-6E8A-4147-A177-3AD203B41FA5}">
                      <a16:colId xmlns:a16="http://schemas.microsoft.com/office/drawing/2014/main" val="1306115058"/>
                    </a:ext>
                  </a:extLst>
                </a:gridCol>
                <a:gridCol w="226799">
                  <a:extLst>
                    <a:ext uri="{9D8B030D-6E8A-4147-A177-3AD203B41FA5}">
                      <a16:colId xmlns:a16="http://schemas.microsoft.com/office/drawing/2014/main" val="3168397251"/>
                    </a:ext>
                  </a:extLst>
                </a:gridCol>
                <a:gridCol w="226799">
                  <a:extLst>
                    <a:ext uri="{9D8B030D-6E8A-4147-A177-3AD203B41FA5}">
                      <a16:colId xmlns:a16="http://schemas.microsoft.com/office/drawing/2014/main" val="2328726568"/>
                    </a:ext>
                  </a:extLst>
                </a:gridCol>
              </a:tblGrid>
              <a:tr h="220056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5581143"/>
                  </a:ext>
                </a:extLst>
              </a:tr>
              <a:tr h="188017">
                <a:tc gridSpan="9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First Floor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Elevator Access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A51A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75" marR="4675" marT="467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978511"/>
                  </a:ext>
                </a:extLst>
              </a:tr>
              <a:tr h="153833">
                <a:tc gridSpan="5">
                  <a:txBody>
                    <a:bodyPr/>
                    <a:lstStyle/>
                    <a:p>
                      <a:pPr algn="ctr" fontAlgn="b"/>
                      <a:r>
                        <a:rPr lang="en-US" sz="900" u="none" strike="noStrike" dirty="0">
                          <a:effectLst/>
                          <a:latin typeface="+mn-lt"/>
                        </a:rPr>
                        <a:t>Regular Rate </a:t>
                      </a:r>
                      <a:r>
                        <a:rPr lang="en-US" sz="900" u="none" strike="noStrike" baseline="16000" dirty="0">
                          <a:effectLst/>
                          <a:latin typeface="+mn-lt"/>
                        </a:rPr>
                        <a:t>($/SF)</a:t>
                      </a:r>
                      <a:endParaRPr lang="en-US" sz="1000" b="1" i="0" u="none" strike="noStrike" baseline="16000" dirty="0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lang="en-US" sz="900" u="none" strike="noStrike" dirty="0">
                          <a:effectLst/>
                        </a:rPr>
                        <a:t>Online Rate </a:t>
                      </a:r>
                      <a:r>
                        <a:rPr lang="en-US" sz="900" u="none" strike="noStrike" baseline="16000" dirty="0">
                          <a:effectLst/>
                        </a:rPr>
                        <a:t>($/SF)</a:t>
                      </a:r>
                      <a:endParaRPr lang="en-US" sz="900" b="1" i="0" u="none" strike="noStrike" baseline="16000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b"/>
                      <a:r>
                        <a:rPr lang="en-US" sz="900" u="none" strike="noStrike" dirty="0">
                          <a:effectLst/>
                          <a:latin typeface="+mn-lt"/>
                        </a:rPr>
                        <a:t>Regular Rate </a:t>
                      </a:r>
                      <a:r>
                        <a:rPr lang="en-US" sz="900" u="none" strike="noStrike" baseline="16000" dirty="0">
                          <a:effectLst/>
                          <a:latin typeface="+mn-lt"/>
                        </a:rPr>
                        <a:t>($/SF)</a:t>
                      </a:r>
                      <a:endParaRPr lang="en-US" sz="1000" b="1" i="0" u="none" strike="noStrike" baseline="16000" dirty="0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lang="en-US" sz="900" u="none" strike="noStrike" dirty="0">
                          <a:effectLst/>
                        </a:rPr>
                        <a:t>Online Rate </a:t>
                      </a:r>
                      <a:r>
                        <a:rPr lang="en-US" sz="900" u="none" strike="noStrike" baseline="16000" dirty="0">
                          <a:effectLst/>
                        </a:rPr>
                        <a:t>($/SF)</a:t>
                      </a:r>
                      <a:endParaRPr lang="en-US" sz="900" b="1" i="0" u="none" strike="noStrike" baseline="16000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5703460"/>
                  </a:ext>
                </a:extLst>
              </a:tr>
              <a:tr h="273481"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{{CSFRR}}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{{CSOR}}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{{CSERR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{{CSER}}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rgbClr val="6F9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8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3141182"/>
                  </a:ext>
                </a:extLst>
              </a:tr>
            </a:tbl>
          </a:graphicData>
        </a:graphic>
      </p:graphicFrame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35C1059-5924-D945-8ECD-2D25A6717BDC}"/>
              </a:ext>
            </a:extLst>
          </p:cNvPr>
          <p:cNvCxnSpPr>
            <a:cxnSpLocks/>
          </p:cNvCxnSpPr>
          <p:nvPr/>
        </p:nvCxnSpPr>
        <p:spPr>
          <a:xfrm>
            <a:off x="0" y="1404724"/>
            <a:ext cx="7772400" cy="0"/>
          </a:xfrm>
          <a:prstGeom prst="line">
            <a:avLst/>
          </a:prstGeom>
          <a:ln w="28575">
            <a:solidFill>
              <a:srgbClr val="3A5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lowchart: Connector 26">
            <a:extLst>
              <a:ext uri="{FF2B5EF4-FFF2-40B4-BE49-F238E27FC236}">
                <a16:creationId xmlns:a16="http://schemas.microsoft.com/office/drawing/2014/main" id="{9D474746-970E-065D-300E-53102ED9C47C}"/>
              </a:ext>
            </a:extLst>
          </p:cNvPr>
          <p:cNvSpPr>
            <a:spLocks noChangeAspect="1"/>
          </p:cNvSpPr>
          <p:nvPr/>
        </p:nvSpPr>
        <p:spPr>
          <a:xfrm>
            <a:off x="630936" y="3998152"/>
            <a:ext cx="246888" cy="246888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9" name="Flowchart: Connector 28">
            <a:extLst>
              <a:ext uri="{FF2B5EF4-FFF2-40B4-BE49-F238E27FC236}">
                <a16:creationId xmlns:a16="http://schemas.microsoft.com/office/drawing/2014/main" id="{B6AEDDB1-FC46-5182-A0C6-F3CA163F56DD}"/>
              </a:ext>
            </a:extLst>
          </p:cNvPr>
          <p:cNvSpPr>
            <a:spLocks noChangeAspect="1"/>
          </p:cNvSpPr>
          <p:nvPr/>
        </p:nvSpPr>
        <p:spPr>
          <a:xfrm>
            <a:off x="630936" y="5077157"/>
            <a:ext cx="246888" cy="246888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A7ABC0CF-5134-14DB-3A05-7064BE309B51}"/>
              </a:ext>
            </a:extLst>
          </p:cNvPr>
          <p:cNvSpPr>
            <a:spLocks noChangeAspect="1"/>
          </p:cNvSpPr>
          <p:nvPr/>
        </p:nvSpPr>
        <p:spPr>
          <a:xfrm>
            <a:off x="4288536" y="1901952"/>
            <a:ext cx="246888" cy="246888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C214D086-7BED-14CB-9516-6E098309B2EE}"/>
              </a:ext>
            </a:extLst>
          </p:cNvPr>
          <p:cNvSpPr>
            <a:spLocks noChangeAspect="1"/>
          </p:cNvSpPr>
          <p:nvPr/>
        </p:nvSpPr>
        <p:spPr>
          <a:xfrm>
            <a:off x="4288536" y="2953512"/>
            <a:ext cx="246888" cy="246888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BF45E0BA-9A15-757E-787C-46552781F07B}"/>
              </a:ext>
            </a:extLst>
          </p:cNvPr>
          <p:cNvSpPr>
            <a:spLocks noChangeAspect="1"/>
          </p:cNvSpPr>
          <p:nvPr/>
        </p:nvSpPr>
        <p:spPr>
          <a:xfrm>
            <a:off x="4288536" y="3995928"/>
            <a:ext cx="246888" cy="246888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368D1E-1960-8DD1-F0CF-B726E06B3428}"/>
              </a:ext>
            </a:extLst>
          </p:cNvPr>
          <p:cNvSpPr txBox="1"/>
          <p:nvPr/>
        </p:nvSpPr>
        <p:spPr>
          <a:xfrm>
            <a:off x="228599" y="357339"/>
            <a:ext cx="36287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spc="-70" dirty="0">
                <a:solidFill>
                  <a:schemeClr val="bg1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January 2026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1B88B3F-4A73-3D08-5101-A354FA0B4534}"/>
              </a:ext>
            </a:extLst>
          </p:cNvPr>
          <p:cNvCxnSpPr>
            <a:cxnSpLocks/>
          </p:cNvCxnSpPr>
          <p:nvPr/>
        </p:nvCxnSpPr>
        <p:spPr>
          <a:xfrm flipV="1">
            <a:off x="5682949" y="1250942"/>
            <a:ext cx="0" cy="137160"/>
          </a:xfrm>
          <a:prstGeom prst="line">
            <a:avLst/>
          </a:prstGeom>
          <a:ln w="28575">
            <a:solidFill>
              <a:srgbClr val="6F91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21171B-BF33-9427-58BF-7AE33EA50705}"/>
              </a:ext>
            </a:extLst>
          </p:cNvPr>
          <p:cNvCxnSpPr>
            <a:cxnSpLocks/>
          </p:cNvCxnSpPr>
          <p:nvPr/>
        </p:nvCxnSpPr>
        <p:spPr>
          <a:xfrm flipV="1">
            <a:off x="3994064" y="1017199"/>
            <a:ext cx="3474720" cy="0"/>
          </a:xfrm>
          <a:prstGeom prst="line">
            <a:avLst/>
          </a:prstGeom>
          <a:ln w="28575">
            <a:solidFill>
              <a:srgbClr val="6F91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CC57CBD-1E9D-04AC-8188-3DBA3A3F3F87}"/>
              </a:ext>
            </a:extLst>
          </p:cNvPr>
          <p:cNvCxnSpPr>
            <a:cxnSpLocks/>
          </p:cNvCxnSpPr>
          <p:nvPr/>
        </p:nvCxnSpPr>
        <p:spPr>
          <a:xfrm flipV="1">
            <a:off x="749808" y="384048"/>
            <a:ext cx="2560320" cy="0"/>
          </a:xfrm>
          <a:prstGeom prst="line">
            <a:avLst/>
          </a:prstGeom>
          <a:ln w="28575">
            <a:solidFill>
              <a:srgbClr val="6F91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DF177EB-D1C3-EA22-C025-24B2A20F6741}"/>
              </a:ext>
            </a:extLst>
          </p:cNvPr>
          <p:cNvSpPr txBox="1"/>
          <p:nvPr/>
        </p:nvSpPr>
        <p:spPr>
          <a:xfrm>
            <a:off x="187308" y="2130631"/>
            <a:ext cx="11455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{{SUBJNAME}} {{SUBJROAD}}</a:t>
            </a:r>
            <a:endParaRPr lang="en-US" sz="800" b="1" dirty="0"/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{{SUBJADDRESS}}</a:t>
            </a:r>
            <a:r>
              <a:rPr lang="en-US" sz="800" dirty="0"/>
              <a:t> </a:t>
            </a:r>
          </a:p>
          <a:p>
            <a:pPr algn="ctr"/>
            <a:r>
              <a:rPr lang="en-US" sz="600" dirty="0">
                <a:solidFill>
                  <a:srgbClr val="000000"/>
                </a:solidFill>
              </a:rPr>
              <a:t>(Subject Property)</a:t>
            </a:r>
            <a:endParaRPr lang="en-US" sz="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4A72D6-1740-74C3-8F7C-1669EFAE9E22}"/>
              </a:ext>
            </a:extLst>
          </p:cNvPr>
          <p:cNvSpPr txBox="1"/>
          <p:nvPr/>
        </p:nvSpPr>
        <p:spPr>
          <a:xfrm>
            <a:off x="3895344" y="4233672"/>
            <a:ext cx="106474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{{SEVENTHNAME}} {{SEVENTHROAD}}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{{SEVENTHADDRESS}}</a:t>
            </a:r>
            <a:endParaRPr lang="en-US" sz="700" dirty="0"/>
          </a:p>
          <a:p>
            <a:pPr algn="ctr"/>
            <a:r>
              <a:rPr lang="en-US" sz="600" dirty="0"/>
              <a:t>{{SEVENTHDISTANCE}}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CDC8F8-4BF8-1A3D-2D82-933E979F28B7}"/>
              </a:ext>
            </a:extLst>
          </p:cNvPr>
          <p:cNvSpPr txBox="1"/>
          <p:nvPr/>
        </p:nvSpPr>
        <p:spPr>
          <a:xfrm>
            <a:off x="237744" y="4233672"/>
            <a:ext cx="104176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{{SECONDNAME}}{{SECONDROAD}}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{{SECONDADDRESS}}</a:t>
            </a:r>
            <a:endParaRPr lang="en-US" sz="700" dirty="0"/>
          </a:p>
          <a:p>
            <a:pPr algn="ctr"/>
            <a:r>
              <a:rPr lang="en-US" sz="600" dirty="0"/>
              <a:t>{{SECONDDISTANCE}}</a:t>
            </a:r>
          </a:p>
          <a:p>
            <a:pPr algn="ctr"/>
            <a:endParaRPr lang="en-US" sz="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EA7D69-DFB9-3C3B-A95E-6B1C7A2487E7}"/>
              </a:ext>
            </a:extLst>
          </p:cNvPr>
          <p:cNvSpPr txBox="1"/>
          <p:nvPr/>
        </p:nvSpPr>
        <p:spPr>
          <a:xfrm>
            <a:off x="3849624" y="2129545"/>
            <a:ext cx="1070056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{{FIFTHNAME}} {{FIFTHROAD}}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{{FIFTHADDRESS}}</a:t>
            </a:r>
            <a:endParaRPr lang="en-US" sz="700" dirty="0"/>
          </a:p>
          <a:p>
            <a:pPr algn="ctr"/>
            <a:r>
              <a:rPr lang="en-US" sz="600" dirty="0"/>
              <a:t>{{FIFTHDISTANCE}}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54B0B0-6A3A-2CAA-FB43-B1BEEB4A4A5D}"/>
              </a:ext>
            </a:extLst>
          </p:cNvPr>
          <p:cNvSpPr txBox="1"/>
          <p:nvPr/>
        </p:nvSpPr>
        <p:spPr>
          <a:xfrm>
            <a:off x="4319073" y="6100560"/>
            <a:ext cx="274714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chemeClr val="bg1"/>
                </a:solidFill>
              </a:rPr>
              <a:t>(Excludes Subject Property Data)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BA5DF9-AEBB-5666-9D1F-9A54D0035FB8}"/>
              </a:ext>
            </a:extLst>
          </p:cNvPr>
          <p:cNvSpPr txBox="1"/>
          <p:nvPr/>
        </p:nvSpPr>
        <p:spPr>
          <a:xfrm>
            <a:off x="4467796" y="5917940"/>
            <a:ext cx="2743200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COMP SET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D3C216-7075-F20A-A6D4-CA3AC16812DC}"/>
              </a:ext>
            </a:extLst>
          </p:cNvPr>
          <p:cNvSpPr txBox="1"/>
          <p:nvPr/>
        </p:nvSpPr>
        <p:spPr>
          <a:xfrm>
            <a:off x="218081" y="3172968"/>
            <a:ext cx="105368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{{FIRSTNAME}}</a:t>
            </a:r>
          </a:p>
          <a:p>
            <a:pPr algn="ctr"/>
            <a:r>
              <a:rPr lang="en-US" sz="800" b="1" dirty="0">
                <a:solidFill>
                  <a:srgbClr val="000000"/>
                </a:solidFill>
              </a:rPr>
              <a:t>{{FIRSTROAD}}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{{FIRSTADDRESS}}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{{FIRSTDISTANCE}}</a:t>
            </a:r>
            <a:endParaRPr lang="en-US" sz="600" dirty="0"/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F28C0528-ED93-C7B0-C953-62CAE5639220}"/>
              </a:ext>
            </a:extLst>
          </p:cNvPr>
          <p:cNvSpPr>
            <a:spLocks noChangeAspect="1"/>
          </p:cNvSpPr>
          <p:nvPr/>
        </p:nvSpPr>
        <p:spPr>
          <a:xfrm>
            <a:off x="633314" y="6112441"/>
            <a:ext cx="229265" cy="229265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70B807-2007-EB02-98A2-2226A1B8F713}"/>
              </a:ext>
            </a:extLst>
          </p:cNvPr>
          <p:cNvSpPr txBox="1"/>
          <p:nvPr/>
        </p:nvSpPr>
        <p:spPr>
          <a:xfrm>
            <a:off x="224601" y="6341099"/>
            <a:ext cx="106474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{{FOURTHNAME}} {{FOURTHROAD}}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{{FOURTHADDRESS}}</a:t>
            </a:r>
            <a:endParaRPr lang="en-US" sz="700" dirty="0"/>
          </a:p>
          <a:p>
            <a:pPr algn="ctr"/>
            <a:r>
              <a:rPr lang="en-US" sz="600" dirty="0"/>
              <a:t>{{FOURTHDISTANCE}}</a:t>
            </a:r>
          </a:p>
          <a:p>
            <a:pPr marL="0" marR="0" lvl="0" indent="0" algn="ctr" defTabSz="77724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Flowchart: Connector 31">
            <a:extLst>
              <a:ext uri="{FF2B5EF4-FFF2-40B4-BE49-F238E27FC236}">
                <a16:creationId xmlns:a16="http://schemas.microsoft.com/office/drawing/2014/main" id="{3B1B0FE9-5561-B28B-A861-DC3097ED1BFB}"/>
              </a:ext>
            </a:extLst>
          </p:cNvPr>
          <p:cNvSpPr>
            <a:spLocks noChangeAspect="1"/>
          </p:cNvSpPr>
          <p:nvPr/>
        </p:nvSpPr>
        <p:spPr>
          <a:xfrm>
            <a:off x="4288536" y="5074920"/>
            <a:ext cx="246888" cy="246888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D5766B-9161-34DD-A5F9-B4362A7CD8D0}"/>
              </a:ext>
            </a:extLst>
          </p:cNvPr>
          <p:cNvSpPr txBox="1"/>
          <p:nvPr/>
        </p:nvSpPr>
        <p:spPr>
          <a:xfrm>
            <a:off x="224601" y="5283885"/>
            <a:ext cx="104770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{{THIRDNAME}} {{THIRDROAD}}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{{THIRDADDRESS}}</a:t>
            </a:r>
            <a:endParaRPr lang="en-US" sz="700" dirty="0"/>
          </a:p>
          <a:p>
            <a:pPr algn="ctr"/>
            <a:r>
              <a:rPr lang="en-US" sz="600" dirty="0"/>
              <a:t>{{THIRDDISTANCE}}</a:t>
            </a:r>
          </a:p>
          <a:p>
            <a:pPr marL="0" marR="0" lvl="0" indent="0" algn="ctr" defTabSz="77724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93CC9-8816-4B9E-B0B4-9F6AE4080E99}"/>
              </a:ext>
            </a:extLst>
          </p:cNvPr>
          <p:cNvSpPr txBox="1"/>
          <p:nvPr/>
        </p:nvSpPr>
        <p:spPr>
          <a:xfrm>
            <a:off x="3877056" y="3172968"/>
            <a:ext cx="107005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{{SIXTHNAME}} {{SIXTHROAD}}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{{SIXTHADDRESS}}</a:t>
            </a:r>
            <a:endParaRPr lang="en-US" sz="700" dirty="0"/>
          </a:p>
          <a:p>
            <a:pPr algn="ctr"/>
            <a:r>
              <a:rPr lang="en-US" sz="600" dirty="0"/>
              <a:t>{{SIXTHDISTANCE}}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D9B634-54D0-6A24-69A1-07858E282719}"/>
              </a:ext>
            </a:extLst>
          </p:cNvPr>
          <p:cNvSpPr txBox="1"/>
          <p:nvPr/>
        </p:nvSpPr>
        <p:spPr>
          <a:xfrm>
            <a:off x="3886200" y="5285232"/>
            <a:ext cx="1064742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</a:rPr>
              <a:t>{{EIGHTHNAME}} {{EIGHTHROAD}}</a:t>
            </a:r>
            <a:r>
              <a:rPr lang="en-US" sz="800" b="1" dirty="0"/>
              <a:t> </a:t>
            </a:r>
          </a:p>
          <a:p>
            <a:pPr algn="ctr"/>
            <a:r>
              <a:rPr lang="en-US" sz="700" dirty="0">
                <a:solidFill>
                  <a:srgbClr val="000000"/>
                </a:solidFill>
              </a:rPr>
              <a:t>{{EIGHTHADDRESS}}</a:t>
            </a:r>
            <a:endParaRPr lang="en-US" sz="700" dirty="0"/>
          </a:p>
          <a:p>
            <a:pPr algn="ctr"/>
            <a:r>
              <a:rPr lang="en-US" sz="600" dirty="0"/>
              <a:t>{{EIGHTHDISTANCE}}</a:t>
            </a:r>
          </a:p>
          <a:p>
            <a:pPr marL="0" marR="0" lvl="0" indent="0" algn="ctr" defTabSz="77724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E6A7A63-A4D1-1B0C-528B-E5C49DD971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5" t="6465" r="8379" b="4645"/>
          <a:stretch/>
        </p:blipFill>
        <p:spPr>
          <a:xfrm>
            <a:off x="3931470" y="7375996"/>
            <a:ext cx="3612330" cy="2349847"/>
          </a:xfrm>
          <a:prstGeom prst="rect">
            <a:avLst/>
          </a:prstGeom>
          <a:blipFill dpi="0" rotWithShape="1">
            <a:blip r:embed="rId5"/>
            <a:srcRect/>
            <a:tile tx="0" ty="0" sx="100000" sy="100000" flip="none" algn="tl"/>
          </a:blipFill>
          <a:ln w="25400">
            <a:solidFill>
              <a:srgbClr val="6F91C8"/>
            </a:solidFill>
          </a:ln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25370EC3-5814-2385-278B-208AB3581AC6}"/>
              </a:ext>
            </a:extLst>
          </p:cNvPr>
          <p:cNvSpPr/>
          <p:nvPr/>
        </p:nvSpPr>
        <p:spPr>
          <a:xfrm>
            <a:off x="4190198" y="7045002"/>
            <a:ext cx="3094873" cy="292608"/>
          </a:xfrm>
          <a:prstGeom prst="rect">
            <a:avLst/>
          </a:prstGeom>
          <a:solidFill>
            <a:srgbClr val="6F94C9"/>
          </a:solidFill>
          <a:ln w="19050">
            <a:solidFill>
              <a:srgbClr val="3A51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Rent Comp Map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00ED31-1A8D-80AB-15A0-ECB8BCA1017B}"/>
              </a:ext>
            </a:extLst>
          </p:cNvPr>
          <p:cNvGrpSpPr>
            <a:grpSpLocks noChangeAspect="1"/>
          </p:cNvGrpSpPr>
          <p:nvPr/>
        </p:nvGrpSpPr>
        <p:grpSpPr>
          <a:xfrm>
            <a:off x="6172200" y="63608"/>
            <a:ext cx="1371600" cy="516753"/>
            <a:chOff x="5737635" y="-155102"/>
            <a:chExt cx="3036701" cy="114407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BAA0FC4-66E5-185B-C316-A5672500E244}"/>
                </a:ext>
              </a:extLst>
            </p:cNvPr>
            <p:cNvSpPr/>
            <p:nvPr/>
          </p:nvSpPr>
          <p:spPr>
            <a:xfrm>
              <a:off x="5737635" y="-155102"/>
              <a:ext cx="3036701" cy="114407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C8D5E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B250FD9-276C-382E-C175-6F76D6FD11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03682" y="-139508"/>
              <a:ext cx="2904606" cy="1096967"/>
            </a:xfrm>
            <a:prstGeom prst="rect">
              <a:avLst/>
            </a:prstGeom>
          </p:spPr>
        </p:pic>
      </p:grpSp>
      <p:sp>
        <p:nvSpPr>
          <p:cNvPr id="63" name="Oval 62">
            <a:extLst>
              <a:ext uri="{FF2B5EF4-FFF2-40B4-BE49-F238E27FC236}">
                <a16:creationId xmlns:a16="http://schemas.microsoft.com/office/drawing/2014/main" id="{54A144C4-6819-8E58-0A53-CAC905639BF5}"/>
              </a:ext>
            </a:extLst>
          </p:cNvPr>
          <p:cNvSpPr>
            <a:spLocks noChangeAspect="1"/>
          </p:cNvSpPr>
          <p:nvPr/>
        </p:nvSpPr>
        <p:spPr>
          <a:xfrm>
            <a:off x="631268" y="1897445"/>
            <a:ext cx="246888" cy="246888"/>
          </a:xfrm>
          <a:prstGeom prst="ellipse">
            <a:avLst/>
          </a:prstGeom>
          <a:solidFill>
            <a:srgbClr val="FAA725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Star: 5 Points 63">
            <a:extLst>
              <a:ext uri="{FF2B5EF4-FFF2-40B4-BE49-F238E27FC236}">
                <a16:creationId xmlns:a16="http://schemas.microsoft.com/office/drawing/2014/main" id="{F4380E0A-3B33-EAB4-E2A8-B61FE10A1D0D}"/>
              </a:ext>
            </a:extLst>
          </p:cNvPr>
          <p:cNvSpPr>
            <a:spLocks noChangeAspect="1"/>
          </p:cNvSpPr>
          <p:nvPr/>
        </p:nvSpPr>
        <p:spPr>
          <a:xfrm>
            <a:off x="688045" y="1956602"/>
            <a:ext cx="132669" cy="132669"/>
          </a:xfrm>
          <a:prstGeom prst="star5">
            <a:avLst>
              <a:gd name="adj" fmla="val 24398"/>
              <a:gd name="hf" fmla="val 105146"/>
              <a:gd name="vf" fmla="val 1105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lowchart: Connector 22">
            <a:extLst>
              <a:ext uri="{FF2B5EF4-FFF2-40B4-BE49-F238E27FC236}">
                <a16:creationId xmlns:a16="http://schemas.microsoft.com/office/drawing/2014/main" id="{F95D5FE1-5A67-4B70-2267-B6B840802F19}"/>
              </a:ext>
            </a:extLst>
          </p:cNvPr>
          <p:cNvSpPr>
            <a:spLocks noChangeAspect="1"/>
          </p:cNvSpPr>
          <p:nvPr/>
        </p:nvSpPr>
        <p:spPr>
          <a:xfrm>
            <a:off x="630926" y="2940857"/>
            <a:ext cx="246888" cy="246888"/>
          </a:xfrm>
          <a:prstGeom prst="flowChartConnector">
            <a:avLst/>
          </a:prstGeom>
          <a:solidFill>
            <a:srgbClr val="3B52A2"/>
          </a:solidFill>
          <a:ln>
            <a:solidFill>
              <a:srgbClr val="6F91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10679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0e80442-bb6c-4ca6-b884-6b6a27147056" xsi:nil="true"/>
    <lcf76f155ced4ddcb4097134ff3c332f xmlns="fc53b424-d44d-4363-b9d8-ce68fda510d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B80D19D55C2747B5DEB7B9BB783644" ma:contentTypeVersion="15" ma:contentTypeDescription="Create a new document." ma:contentTypeScope="" ma:versionID="e1bfb79350732f42d0a95cfc1ffda8cc">
  <xsd:schema xmlns:xsd="http://www.w3.org/2001/XMLSchema" xmlns:xs="http://www.w3.org/2001/XMLSchema" xmlns:p="http://schemas.microsoft.com/office/2006/metadata/properties" xmlns:ns2="30e80442-bb6c-4ca6-b884-6b6a27147056" xmlns:ns3="fc53b424-d44d-4363-b9d8-ce68fda510d3" targetNamespace="http://schemas.microsoft.com/office/2006/metadata/properties" ma:root="true" ma:fieldsID="d85a674eb7e202a62591a11901aee48f" ns2:_="" ns3:_="">
    <xsd:import namespace="30e80442-bb6c-4ca6-b884-6b6a27147056"/>
    <xsd:import namespace="fc53b424-d44d-4363-b9d8-ce68fda510d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Locatio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e80442-bb6c-4ca6-b884-6b6a2714705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7eaaaafd-3952-42d6-b6be-75952dac691c}" ma:internalName="TaxCatchAll" ma:showField="CatchAllData" ma:web="30e80442-bb6c-4ca6-b884-6b6a2714705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53b424-d44d-4363-b9d8-ce68fda510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a8cacf59-fbec-445e-9abb-175c1232f9e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C938CE8-73A3-4297-89BB-2F55D20DB84C}">
  <ds:schemaRefs>
    <ds:schemaRef ds:uri="http://schemas.microsoft.com/office/2006/metadata/properties"/>
    <ds:schemaRef ds:uri="http://schemas.microsoft.com/office/infopath/2007/PartnerControls"/>
    <ds:schemaRef ds:uri="30e80442-bb6c-4ca6-b884-6b6a27147056"/>
    <ds:schemaRef ds:uri="fc53b424-d44d-4363-b9d8-ce68fda510d3"/>
  </ds:schemaRefs>
</ds:datastoreItem>
</file>

<file path=customXml/itemProps2.xml><?xml version="1.0" encoding="utf-8"?>
<ds:datastoreItem xmlns:ds="http://schemas.openxmlformats.org/officeDocument/2006/customXml" ds:itemID="{BA05B3F4-7BC1-413D-A27E-E209FF4584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0e80442-bb6c-4ca6-b884-6b6a27147056"/>
    <ds:schemaRef ds:uri="fc53b424-d44d-4363-b9d8-ce68fda51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1DEDFC-8F98-46F1-8A8B-276BD62F288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WentWorth Tempe 1791 W Greentree Dr</Template>
  <TotalTime>4231</TotalTime>
  <Words>629</Words>
  <Application>Microsoft Office PowerPoint</Application>
  <PresentationFormat>Custom</PresentationFormat>
  <Paragraphs>241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Aptos Narrow</vt:lpstr>
      <vt:lpstr>Arial</vt:lpstr>
      <vt:lpstr>Calibri</vt:lpstr>
      <vt:lpstr>Sans Serif Collection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Peyton Franke</dc:creator>
  <cp:lastModifiedBy>Alex Burke</cp:lastModifiedBy>
  <cp:revision>69</cp:revision>
  <dcterms:created xsi:type="dcterms:W3CDTF">2025-06-20T21:03:04Z</dcterms:created>
  <dcterms:modified xsi:type="dcterms:W3CDTF">2026-01-15T21:00:07Z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0x010100AFB80D19D55C2747B5DEB7B9BB783644</vt:lpwstr>
  </property>
</Properties>
</file>