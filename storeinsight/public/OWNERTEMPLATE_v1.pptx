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8288000" cy="10287000"/>
  <p:notesSz cx="6858000" cy="9144000"/>
  <p:embeddedFontLst>
    <p:embeddedFont>
      <p:font typeface="Arial Bold" panose="020B0704020202020204" pitchFamily="34" charset="0"/>
      <p:regular r:id="rId18"/>
      <p:bold r:id="rId19"/>
    </p:embeddedFont>
    <p:embeddedFont>
      <p:font typeface="Arial Italics" panose="020B0604020202020204" charset="0"/>
      <p:regular r:id="rId20"/>
    </p:embeddedFont>
    <p:embeddedFont>
      <p:font typeface="Avenir" panose="020B0604020202020204" charset="0"/>
      <p:regular r:id="rId21"/>
    </p:embeddedFont>
    <p:embeddedFont>
      <p:font typeface="Avenir Bold" panose="020B0604020202020204" charset="0"/>
      <p:regular r:id="rId22"/>
    </p:embeddedFont>
    <p:embeddedFont>
      <p:font typeface="Avenir Bold Italics" panose="020B0604020202020204" charset="0"/>
      <p:regular r:id="rId23"/>
    </p:embeddedFont>
    <p:embeddedFont>
      <p:font typeface="Avenir Italics" panose="020B0604020202020204" charset="0"/>
      <p:regular r:id="rId24"/>
    </p:embeddedFont>
    <p:embeddedFont>
      <p:font typeface="Avenir Medium" panose="020B0604020202020204" charset="0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99" autoAdjust="0"/>
    <p:restoredTop sz="94622" autoAdjust="0"/>
  </p:normalViewPr>
  <p:slideViewPr>
    <p:cSldViewPr>
      <p:cViewPr varScale="1">
        <p:scale>
          <a:sx n="79" d="100"/>
          <a:sy n="79" d="100"/>
        </p:scale>
        <p:origin x="324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18.12.2025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-6350" y="0"/>
            <a:ext cx="18314400" cy="9463800"/>
            <a:chOff x="0" y="0"/>
            <a:chExt cx="24419200" cy="126184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19179" cy="12618339"/>
            </a:xfrm>
            <a:custGeom>
              <a:avLst/>
              <a:gdLst/>
              <a:ahLst/>
              <a:cxnLst/>
              <a:rect l="l" t="t" r="r" b="b"/>
              <a:pathLst>
                <a:path w="24419179" h="12618339">
                  <a:moveTo>
                    <a:pt x="0" y="0"/>
                  </a:moveTo>
                  <a:lnTo>
                    <a:pt x="24419179" y="0"/>
                  </a:lnTo>
                  <a:lnTo>
                    <a:pt x="24419179" y="12618339"/>
                  </a:lnTo>
                  <a:lnTo>
                    <a:pt x="0" y="126183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-12339" b="-44933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-19550" y="0"/>
            <a:ext cx="18314400" cy="10287000"/>
            <a:chOff x="0" y="0"/>
            <a:chExt cx="244192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419179" cy="13716000"/>
            </a:xfrm>
            <a:custGeom>
              <a:avLst/>
              <a:gdLst/>
              <a:ahLst/>
              <a:cxnLst/>
              <a:rect l="l" t="t" r="r" b="b"/>
              <a:pathLst>
                <a:path w="24419179" h="13716000">
                  <a:moveTo>
                    <a:pt x="0" y="0"/>
                  </a:moveTo>
                  <a:lnTo>
                    <a:pt x="24419179" y="0"/>
                  </a:lnTo>
                  <a:lnTo>
                    <a:pt x="24419179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68627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graphicFrame>
        <p:nvGraphicFramePr>
          <p:cNvPr id="6" name="Table 6"/>
          <p:cNvGraphicFramePr>
            <a:graphicFrameLocks noGrp="1"/>
          </p:cNvGraphicFramePr>
          <p:nvPr/>
        </p:nvGraphicFramePr>
        <p:xfrm>
          <a:off x="3173076" y="4460988"/>
          <a:ext cx="6553200" cy="1524000"/>
        </p:xfrm>
        <a:graphic>
          <a:graphicData uri="http://schemas.openxmlformats.org/drawingml/2006/table">
            <a:tbl>
              <a:tblPr/>
              <a:tblGrid>
                <a:gridCol w="655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762000">
                <a:tc>
                  <a:txBody>
                    <a:bodyPr/>
                    <a:lstStyle/>
                    <a:p>
                      <a:pPr algn="l">
                        <a:lnSpc>
                          <a:spcPts val="3311"/>
                        </a:lnSpc>
                        <a:defRPr/>
                      </a:pPr>
                      <a:r>
                        <a:rPr lang="en-US" sz="2400" b="1">
                          <a:solidFill>
                            <a:srgbClr val="3B52A1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ADDRESS</a:t>
                      </a:r>
                      <a:endParaRPr lang="en-US" sz="1100"/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algn="l">
                        <a:lnSpc>
                          <a:spcPts val="3311"/>
                        </a:lnSpc>
                        <a:defRPr/>
                      </a:pPr>
                      <a:r>
                        <a:rPr lang="en-US" sz="240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{{ADDRESS}}</a:t>
                      </a:r>
                      <a:endParaRPr lang="en-US" sz="1100"/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" name="Table 7"/>
          <p:cNvGraphicFramePr>
            <a:graphicFrameLocks noGrp="1"/>
          </p:cNvGraphicFramePr>
          <p:nvPr/>
        </p:nvGraphicFramePr>
        <p:xfrm>
          <a:off x="11001226" y="4454412"/>
          <a:ext cx="4089400" cy="1524000"/>
        </p:xfrm>
        <a:graphic>
          <a:graphicData uri="http://schemas.openxmlformats.org/drawingml/2006/table">
            <a:tbl>
              <a:tblPr/>
              <a:tblGrid>
                <a:gridCol w="4089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762000">
                <a:tc>
                  <a:txBody>
                    <a:bodyPr/>
                    <a:lstStyle/>
                    <a:p>
                      <a:pPr algn="l">
                        <a:lnSpc>
                          <a:spcPts val="3311"/>
                        </a:lnSpc>
                        <a:defRPr/>
                      </a:pPr>
                      <a:r>
                        <a:rPr lang="en-US" sz="2400" b="1">
                          <a:solidFill>
                            <a:srgbClr val="3B52A1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OWNERS</a:t>
                      </a:r>
                      <a:endParaRPr lang="en-US" sz="1100"/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algn="l">
                        <a:lnSpc>
                          <a:spcPts val="3311"/>
                        </a:lnSpc>
                        <a:defRPr/>
                      </a:pPr>
                      <a:r>
                        <a:rPr lang="en-US" sz="240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{{OWNERGROUP}}</a:t>
                      </a:r>
                      <a:endParaRPr lang="en-US" sz="1100"/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8" name="Table 8"/>
          <p:cNvGraphicFramePr>
            <a:graphicFrameLocks noGrp="1"/>
          </p:cNvGraphicFramePr>
          <p:nvPr/>
        </p:nvGraphicFramePr>
        <p:xfrm>
          <a:off x="4745342" y="6596238"/>
          <a:ext cx="2844800" cy="2224634"/>
        </p:xfrm>
        <a:graphic>
          <a:graphicData uri="http://schemas.openxmlformats.org/drawingml/2006/table">
            <a:tbl>
              <a:tblPr/>
              <a:tblGrid>
                <a:gridCol w="28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153247">
                <a:tc>
                  <a:txBody>
                    <a:bodyPr/>
                    <a:lstStyle/>
                    <a:p>
                      <a:pPr algn="l">
                        <a:lnSpc>
                          <a:spcPts val="3311"/>
                        </a:lnSpc>
                        <a:defRPr/>
                      </a:pPr>
                      <a:r>
                        <a:rPr lang="en-US" sz="2400" b="1">
                          <a:solidFill>
                            <a:srgbClr val="3B52A1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MANAGEMENT </a:t>
                      </a:r>
                      <a:endParaRPr lang="en-US" sz="1100"/>
                    </a:p>
                    <a:p>
                      <a:pPr algn="l">
                        <a:lnSpc>
                          <a:spcPts val="3311"/>
                        </a:lnSpc>
                      </a:pPr>
                      <a:r>
                        <a:rPr lang="en-US" sz="2400" b="1">
                          <a:solidFill>
                            <a:srgbClr val="3B52A1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ACQUIRED DATE</a:t>
                      </a: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71387">
                <a:tc>
                  <a:txBody>
                    <a:bodyPr/>
                    <a:lstStyle/>
                    <a:p>
                      <a:pPr algn="l">
                        <a:lnSpc>
                          <a:spcPts val="3311"/>
                        </a:lnSpc>
                        <a:defRPr/>
                      </a:pPr>
                      <a:r>
                        <a:rPr lang="en-US" sz="240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{{ACQUIREDDATE}}</a:t>
                      </a:r>
                      <a:endParaRPr lang="en-US" sz="1100"/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9" name="Table 9"/>
          <p:cNvGraphicFramePr>
            <a:graphicFrameLocks noGrp="1"/>
          </p:cNvGraphicFramePr>
          <p:nvPr/>
        </p:nvGraphicFramePr>
        <p:xfrm>
          <a:off x="8360100" y="6520468"/>
          <a:ext cx="1701800" cy="2288731"/>
        </p:xfrm>
        <a:graphic>
          <a:graphicData uri="http://schemas.openxmlformats.org/drawingml/2006/table">
            <a:tbl>
              <a:tblPr/>
              <a:tblGrid>
                <a:gridCol w="1701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217473">
                <a:tc>
                  <a:txBody>
                    <a:bodyPr/>
                    <a:lstStyle/>
                    <a:p>
                      <a:pPr algn="l">
                        <a:lnSpc>
                          <a:spcPts val="3311"/>
                        </a:lnSpc>
                        <a:defRPr/>
                      </a:pPr>
                      <a:r>
                        <a:rPr lang="en-US" sz="2400" b="1">
                          <a:solidFill>
                            <a:srgbClr val="3B52A1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TOTAL </a:t>
                      </a:r>
                      <a:endParaRPr lang="en-US" sz="1100"/>
                    </a:p>
                    <a:p>
                      <a:pPr algn="l">
                        <a:lnSpc>
                          <a:spcPts val="3311"/>
                        </a:lnSpc>
                      </a:pPr>
                      <a:r>
                        <a:rPr lang="en-US" sz="2400" b="1">
                          <a:solidFill>
                            <a:srgbClr val="3B52A1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UNITS</a:t>
                      </a: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71258">
                <a:tc>
                  <a:txBody>
                    <a:bodyPr/>
                    <a:lstStyle/>
                    <a:p>
                      <a:pPr algn="l">
                        <a:lnSpc>
                          <a:spcPts val="3311"/>
                        </a:lnSpc>
                        <a:defRPr/>
                      </a:pPr>
                      <a:r>
                        <a:rPr lang="en-US" sz="240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{{TOTALUNITS}}</a:t>
                      </a:r>
                      <a:endParaRPr lang="en-US" sz="1100"/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0" name="Table 10"/>
          <p:cNvGraphicFramePr>
            <a:graphicFrameLocks noGrp="1"/>
          </p:cNvGraphicFramePr>
          <p:nvPr/>
        </p:nvGraphicFramePr>
        <p:xfrm>
          <a:off x="10978358" y="6521326"/>
          <a:ext cx="2540000" cy="2288779"/>
        </p:xfrm>
        <a:graphic>
          <a:graphicData uri="http://schemas.openxmlformats.org/drawingml/2006/table">
            <a:tbl>
              <a:tblPr/>
              <a:tblGrid>
                <a:gridCol w="254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217521">
                <a:tc>
                  <a:txBody>
                    <a:bodyPr/>
                    <a:lstStyle/>
                    <a:p>
                      <a:pPr algn="l">
                        <a:lnSpc>
                          <a:spcPts val="3311"/>
                        </a:lnSpc>
                        <a:defRPr/>
                      </a:pPr>
                      <a:r>
                        <a:rPr lang="en-US" sz="2400" b="1">
                          <a:solidFill>
                            <a:srgbClr val="3B52A1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RENTABLE </a:t>
                      </a:r>
                      <a:endParaRPr lang="en-US" sz="1100"/>
                    </a:p>
                    <a:p>
                      <a:pPr algn="l">
                        <a:lnSpc>
                          <a:spcPts val="3311"/>
                        </a:lnSpc>
                      </a:pPr>
                      <a:r>
                        <a:rPr lang="en-US" sz="2400" b="1">
                          <a:solidFill>
                            <a:srgbClr val="3B52A1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SQUARE FEET</a:t>
                      </a: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71258">
                <a:tc>
                  <a:txBody>
                    <a:bodyPr/>
                    <a:lstStyle/>
                    <a:p>
                      <a:pPr algn="l">
                        <a:lnSpc>
                          <a:spcPts val="3311"/>
                        </a:lnSpc>
                        <a:defRPr/>
                      </a:pPr>
                      <a:r>
                        <a:rPr lang="en-US" sz="240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{{RENTABLESQFT}}</a:t>
                      </a:r>
                      <a:endParaRPr lang="en-US" sz="1100"/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11" name="Group 11"/>
          <p:cNvGrpSpPr/>
          <p:nvPr/>
        </p:nvGrpSpPr>
        <p:grpSpPr>
          <a:xfrm>
            <a:off x="0" y="2366950"/>
            <a:ext cx="18288000" cy="1882800"/>
            <a:chOff x="0" y="0"/>
            <a:chExt cx="24384000" cy="25104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4384000" cy="2510409"/>
            </a:xfrm>
            <a:custGeom>
              <a:avLst/>
              <a:gdLst/>
              <a:ahLst/>
              <a:cxnLst/>
              <a:rect l="l" t="t" r="r" b="b"/>
              <a:pathLst>
                <a:path w="24384000" h="2510409">
                  <a:moveTo>
                    <a:pt x="0" y="0"/>
                  </a:moveTo>
                  <a:lnTo>
                    <a:pt x="24384000" y="0"/>
                  </a:lnTo>
                  <a:lnTo>
                    <a:pt x="24384000" y="2510409"/>
                  </a:lnTo>
                  <a:lnTo>
                    <a:pt x="0" y="2510409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0" y="8763100"/>
            <a:ext cx="18288000" cy="1524000"/>
            <a:chOff x="0" y="0"/>
            <a:chExt cx="24384000" cy="20320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4384000" cy="2032000"/>
            </a:xfrm>
            <a:custGeom>
              <a:avLst/>
              <a:gdLst/>
              <a:ahLst/>
              <a:cxnLst/>
              <a:rect l="l" t="t" r="r" b="b"/>
              <a:pathLst>
                <a:path w="24384000" h="2032000">
                  <a:moveTo>
                    <a:pt x="0" y="0"/>
                  </a:moveTo>
                  <a:lnTo>
                    <a:pt x="24384000" y="0"/>
                  </a:lnTo>
                  <a:lnTo>
                    <a:pt x="24384000" y="2032000"/>
                  </a:lnTo>
                  <a:lnTo>
                    <a:pt x="0" y="2032000"/>
                  </a:lnTo>
                  <a:close/>
                </a:path>
              </a:pathLst>
            </a:custGeom>
            <a:solidFill>
              <a:srgbClr val="6F94CA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5" name="Group 15"/>
          <p:cNvGrpSpPr>
            <a:grpSpLocks noChangeAspect="1"/>
          </p:cNvGrpSpPr>
          <p:nvPr/>
        </p:nvGrpSpPr>
        <p:grpSpPr>
          <a:xfrm>
            <a:off x="6876100" y="2641000"/>
            <a:ext cx="3983898" cy="1435000"/>
            <a:chOff x="0" y="0"/>
            <a:chExt cx="5311864" cy="1913333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5311902" cy="1913382"/>
            </a:xfrm>
            <a:custGeom>
              <a:avLst/>
              <a:gdLst/>
              <a:ahLst/>
              <a:cxnLst/>
              <a:rect l="l" t="t" r="r" b="b"/>
              <a:pathLst>
                <a:path w="5311902" h="1913382">
                  <a:moveTo>
                    <a:pt x="0" y="0"/>
                  </a:moveTo>
                  <a:lnTo>
                    <a:pt x="5311902" y="0"/>
                  </a:lnTo>
                  <a:lnTo>
                    <a:pt x="5311902" y="1913382"/>
                  </a:lnTo>
                  <a:lnTo>
                    <a:pt x="0" y="19133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" r="-1" b="2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-9525" y="276225"/>
            <a:ext cx="7195650" cy="1747650"/>
            <a:chOff x="0" y="0"/>
            <a:chExt cx="9594200" cy="2330200"/>
          </a:xfrm>
        </p:grpSpPr>
        <p:sp>
          <p:nvSpPr>
            <p:cNvPr id="18" name="Freeform 18"/>
            <p:cNvSpPr/>
            <p:nvPr/>
          </p:nvSpPr>
          <p:spPr>
            <a:xfrm>
              <a:off x="12700" y="12700"/>
              <a:ext cx="9568815" cy="2304796"/>
            </a:xfrm>
            <a:custGeom>
              <a:avLst/>
              <a:gdLst/>
              <a:ahLst/>
              <a:cxnLst/>
              <a:rect l="l" t="t" r="r" b="b"/>
              <a:pathLst>
                <a:path w="9568815" h="2304796">
                  <a:moveTo>
                    <a:pt x="0" y="0"/>
                  </a:moveTo>
                  <a:lnTo>
                    <a:pt x="9568815" y="0"/>
                  </a:lnTo>
                  <a:lnTo>
                    <a:pt x="9568815" y="2304796"/>
                  </a:lnTo>
                  <a:lnTo>
                    <a:pt x="0" y="2304796"/>
                  </a:lnTo>
                  <a:close/>
                </a:path>
              </a:pathLst>
            </a:custGeom>
            <a:solidFill>
              <a:srgbClr val="3B52A1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9"/>
            <p:cNvSpPr/>
            <p:nvPr/>
          </p:nvSpPr>
          <p:spPr>
            <a:xfrm>
              <a:off x="0" y="0"/>
              <a:ext cx="9594215" cy="2330196"/>
            </a:xfrm>
            <a:custGeom>
              <a:avLst/>
              <a:gdLst/>
              <a:ahLst/>
              <a:cxnLst/>
              <a:rect l="l" t="t" r="r" b="b"/>
              <a:pathLst>
                <a:path w="9594215" h="2330196">
                  <a:moveTo>
                    <a:pt x="12700" y="0"/>
                  </a:moveTo>
                  <a:lnTo>
                    <a:pt x="9581515" y="0"/>
                  </a:lnTo>
                  <a:cubicBezTo>
                    <a:pt x="9588500" y="0"/>
                    <a:pt x="9594215" y="5715"/>
                    <a:pt x="9594215" y="12700"/>
                  </a:cubicBezTo>
                  <a:lnTo>
                    <a:pt x="9594215" y="2317496"/>
                  </a:lnTo>
                  <a:cubicBezTo>
                    <a:pt x="9594215" y="2324481"/>
                    <a:pt x="9588500" y="2330196"/>
                    <a:pt x="9581515" y="2330196"/>
                  </a:cubicBezTo>
                  <a:lnTo>
                    <a:pt x="12700" y="2330196"/>
                  </a:lnTo>
                  <a:cubicBezTo>
                    <a:pt x="5715" y="2330196"/>
                    <a:pt x="0" y="2324481"/>
                    <a:pt x="0" y="2317496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2317496"/>
                  </a:lnTo>
                  <a:lnTo>
                    <a:pt x="12700" y="2317496"/>
                  </a:lnTo>
                  <a:lnTo>
                    <a:pt x="12700" y="2304796"/>
                  </a:lnTo>
                  <a:lnTo>
                    <a:pt x="9581515" y="2304796"/>
                  </a:lnTo>
                  <a:lnTo>
                    <a:pt x="9581515" y="2317496"/>
                  </a:lnTo>
                  <a:lnTo>
                    <a:pt x="9568815" y="2317496"/>
                  </a:lnTo>
                  <a:lnTo>
                    <a:pt x="9568815" y="12700"/>
                  </a:lnTo>
                  <a:lnTo>
                    <a:pt x="9581515" y="12700"/>
                  </a:lnTo>
                  <a:lnTo>
                    <a:pt x="9581515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-60975" y="342200"/>
            <a:ext cx="6993750" cy="803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16"/>
              </a:lnSpc>
            </a:pPr>
            <a:r>
              <a:rPr lang="en-US" sz="3200" b="1">
                <a:solidFill>
                  <a:srgbClr val="FFFFFF"/>
                </a:solidFill>
                <a:latin typeface="Avenir Bold"/>
                <a:ea typeface="Avenir Bold"/>
                <a:cs typeface="Avenir Bold"/>
                <a:sym typeface="Avenir Bold"/>
              </a:rPr>
              <a:t>OWNER SUMMARY REPORT</a:t>
            </a:r>
          </a:p>
        </p:txBody>
      </p:sp>
      <p:sp>
        <p:nvSpPr>
          <p:cNvPr id="21" name="AutoShape 21"/>
          <p:cNvSpPr/>
          <p:nvPr/>
        </p:nvSpPr>
        <p:spPr>
          <a:xfrm rot="10772046">
            <a:off x="471994" y="1127275"/>
            <a:ext cx="6382711" cy="0"/>
          </a:xfrm>
          <a:prstGeom prst="line">
            <a:avLst/>
          </a:prstGeom>
          <a:ln w="19050" cap="rnd">
            <a:solidFill>
              <a:srgbClr val="6F94C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Box 22"/>
          <p:cNvSpPr txBox="1"/>
          <p:nvPr/>
        </p:nvSpPr>
        <p:spPr>
          <a:xfrm>
            <a:off x="-19550" y="1154227"/>
            <a:ext cx="6993750" cy="6031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16"/>
              </a:lnSpc>
            </a:pPr>
            <a:r>
              <a:rPr lang="en-US" sz="3200" b="1">
                <a:solidFill>
                  <a:srgbClr val="FFFFFF"/>
                </a:solidFill>
                <a:latin typeface="Avenir Bold"/>
                <a:ea typeface="Avenir Bold"/>
                <a:cs typeface="Avenir Bold"/>
                <a:sym typeface="Avenir Bold"/>
              </a:rPr>
              <a:t>{{CURRENTDATE}}</a:t>
            </a:r>
          </a:p>
        </p:txBody>
      </p:sp>
      <p:grpSp>
        <p:nvGrpSpPr>
          <p:cNvPr id="23" name="Group 23"/>
          <p:cNvGrpSpPr>
            <a:grpSpLocks noChangeAspect="1"/>
          </p:cNvGrpSpPr>
          <p:nvPr/>
        </p:nvGrpSpPr>
        <p:grpSpPr>
          <a:xfrm>
            <a:off x="15114100" y="9009900"/>
            <a:ext cx="2809752" cy="954002"/>
            <a:chOff x="0" y="0"/>
            <a:chExt cx="3746336" cy="1272003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3746373" cy="1272032"/>
            </a:xfrm>
            <a:custGeom>
              <a:avLst/>
              <a:gdLst/>
              <a:ahLst/>
              <a:cxnLst/>
              <a:rect l="l" t="t" r="r" b="b"/>
              <a:pathLst>
                <a:path w="3746373" h="1272032">
                  <a:moveTo>
                    <a:pt x="0" y="0"/>
                  </a:moveTo>
                  <a:lnTo>
                    <a:pt x="3746373" y="0"/>
                  </a:lnTo>
                  <a:lnTo>
                    <a:pt x="3746373" y="1272032"/>
                  </a:lnTo>
                  <a:lnTo>
                    <a:pt x="0" y="12720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b="1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-10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-1" b="-18519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68627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6944916" y="9326434"/>
            <a:ext cx="1097400" cy="787200"/>
            <a:chOff x="0" y="0"/>
            <a:chExt cx="1463200" cy="10496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463200" cy="1049600"/>
            </a:xfrm>
            <a:custGeom>
              <a:avLst/>
              <a:gdLst/>
              <a:ahLst/>
              <a:cxnLst/>
              <a:rect l="l" t="t" r="r" b="b"/>
              <a:pathLst>
                <a:path w="1463200" h="1049600">
                  <a:moveTo>
                    <a:pt x="0" y="0"/>
                  </a:moveTo>
                  <a:lnTo>
                    <a:pt x="1463200" y="0"/>
                  </a:lnTo>
                  <a:lnTo>
                    <a:pt x="1463200" y="1049600"/>
                  </a:lnTo>
                  <a:lnTo>
                    <a:pt x="0" y="10496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1463200" cy="10972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400"/>
                </a:lnSpc>
              </a:pPr>
              <a:r>
                <a:rPr lang="en-US" sz="2000">
                  <a:solidFill>
                    <a:srgbClr val="595959"/>
                  </a:solidFill>
                  <a:latin typeface="Avenir"/>
                  <a:ea typeface="Avenir"/>
                  <a:cs typeface="Avenir"/>
                  <a:sym typeface="Avenir"/>
                </a:rPr>
                <a:t>2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2158140" y="2280200"/>
            <a:ext cx="2624400" cy="787200"/>
            <a:chOff x="0" y="0"/>
            <a:chExt cx="3499200" cy="10496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3499231" cy="1049655"/>
            </a:xfrm>
            <a:custGeom>
              <a:avLst/>
              <a:gdLst/>
              <a:ahLst/>
              <a:cxnLst/>
              <a:rect l="l" t="t" r="r" b="b"/>
              <a:pathLst>
                <a:path w="3499231" h="1049655">
                  <a:moveTo>
                    <a:pt x="0" y="0"/>
                  </a:moveTo>
                  <a:lnTo>
                    <a:pt x="3499231" y="0"/>
                  </a:lnTo>
                  <a:lnTo>
                    <a:pt x="3499231" y="1049655"/>
                  </a:lnTo>
                  <a:lnTo>
                    <a:pt x="0" y="1049655"/>
                  </a:lnTo>
                  <a:close/>
                </a:path>
              </a:pathLst>
            </a:custGeom>
            <a:solidFill>
              <a:srgbClr val="3B52A1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57150"/>
              <a:ext cx="3499200" cy="11067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r>
                <a:rPr lang="en-US" sz="2799" b="1">
                  <a:solidFill>
                    <a:srgbClr val="FFFFFF"/>
                  </a:solidFill>
                  <a:latin typeface="Avenir Bold"/>
                  <a:ea typeface="Avenir Bold"/>
                  <a:cs typeface="Avenir Bold"/>
                  <a:sym typeface="Avenir Bold"/>
                </a:rPr>
                <a:t>FINANCIAL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0" y="9463800"/>
            <a:ext cx="18288000" cy="823200"/>
            <a:chOff x="0" y="0"/>
            <a:chExt cx="24384000" cy="10976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4384000" cy="1097661"/>
            </a:xfrm>
            <a:custGeom>
              <a:avLst/>
              <a:gdLst/>
              <a:ahLst/>
              <a:cxnLst/>
              <a:rect l="l" t="t" r="r" b="b"/>
              <a:pathLst>
                <a:path w="24384000" h="1097661">
                  <a:moveTo>
                    <a:pt x="0" y="0"/>
                  </a:moveTo>
                  <a:lnTo>
                    <a:pt x="24384000" y="0"/>
                  </a:lnTo>
                  <a:lnTo>
                    <a:pt x="24384000" y="1097661"/>
                  </a:lnTo>
                  <a:lnTo>
                    <a:pt x="0" y="1097661"/>
                  </a:lnTo>
                  <a:close/>
                </a:path>
              </a:pathLst>
            </a:custGeom>
            <a:solidFill>
              <a:srgbClr val="6F94CA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47625"/>
              <a:ext cx="24384000" cy="11452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FFFFFF"/>
                  </a:solidFill>
                  <a:latin typeface="Avenir"/>
                  <a:ea typeface="Avenir"/>
                  <a:cs typeface="Avenir"/>
                  <a:sym typeface="Avenir"/>
                </a:rPr>
                <a:t>Owner Summary Report | {{CURRENTDATE}}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6920116" y="9481784"/>
            <a:ext cx="1097400" cy="787200"/>
            <a:chOff x="0" y="0"/>
            <a:chExt cx="1463200" cy="10496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463200" cy="1049600"/>
            </a:xfrm>
            <a:custGeom>
              <a:avLst/>
              <a:gdLst/>
              <a:ahLst/>
              <a:cxnLst/>
              <a:rect l="l" t="t" r="r" b="b"/>
              <a:pathLst>
                <a:path w="1463200" h="1049600">
                  <a:moveTo>
                    <a:pt x="0" y="0"/>
                  </a:moveTo>
                  <a:lnTo>
                    <a:pt x="1463200" y="0"/>
                  </a:lnTo>
                  <a:lnTo>
                    <a:pt x="1463200" y="1049600"/>
                  </a:lnTo>
                  <a:lnTo>
                    <a:pt x="0" y="10496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47625"/>
              <a:ext cx="1463200" cy="10972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400"/>
                </a:lnSpc>
              </a:pPr>
              <a:r>
                <a:rPr lang="en-US" sz="2000">
                  <a:solidFill>
                    <a:srgbClr val="FFFFFF"/>
                  </a:solidFill>
                  <a:latin typeface="Avenir"/>
                  <a:ea typeface="Avenir"/>
                  <a:cs typeface="Avenir"/>
                  <a:sym typeface="Avenir"/>
                </a:rPr>
                <a:t>2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-100" y="0"/>
            <a:ext cx="18288000" cy="1615200"/>
            <a:chOff x="0" y="0"/>
            <a:chExt cx="24384000" cy="21536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24384000" cy="2153539"/>
            </a:xfrm>
            <a:custGeom>
              <a:avLst/>
              <a:gdLst/>
              <a:ahLst/>
              <a:cxnLst/>
              <a:rect l="l" t="t" r="r" b="b"/>
              <a:pathLst>
                <a:path w="24384000" h="2153539">
                  <a:moveTo>
                    <a:pt x="0" y="0"/>
                  </a:moveTo>
                  <a:lnTo>
                    <a:pt x="24384000" y="0"/>
                  </a:lnTo>
                  <a:lnTo>
                    <a:pt x="24384000" y="2153539"/>
                  </a:lnTo>
                  <a:lnTo>
                    <a:pt x="0" y="2153539"/>
                  </a:lnTo>
                  <a:close/>
                </a:path>
              </a:pathLst>
            </a:custGeom>
            <a:solidFill>
              <a:srgbClr val="3B52A1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95250"/>
              <a:ext cx="24384000" cy="22488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5999"/>
                </a:lnSpc>
              </a:pPr>
              <a:r>
                <a:rPr lang="en-US" sz="4999" dirty="0">
                  <a:solidFill>
                    <a:srgbClr val="FFFFFF"/>
                  </a:solidFill>
                  <a:latin typeface="Avenir"/>
                  <a:ea typeface="Avenir"/>
                  <a:cs typeface="Avenir"/>
                  <a:sym typeface="Avenir"/>
                </a:rPr>
                <a:t> {{CURRENTMONTH}} Performance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2047871" y="3436299"/>
            <a:ext cx="3334289" cy="1664850"/>
            <a:chOff x="0" y="0"/>
            <a:chExt cx="878167" cy="438479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78167" cy="438479"/>
            </a:xfrm>
            <a:custGeom>
              <a:avLst/>
              <a:gdLst/>
              <a:ahLst/>
              <a:cxnLst/>
              <a:rect l="l" t="t" r="r" b="b"/>
              <a:pathLst>
                <a:path w="878167" h="438479">
                  <a:moveTo>
                    <a:pt x="0" y="0"/>
                  </a:moveTo>
                  <a:lnTo>
                    <a:pt x="878167" y="0"/>
                  </a:lnTo>
                  <a:lnTo>
                    <a:pt x="878167" y="438479"/>
                  </a:lnTo>
                  <a:lnTo>
                    <a:pt x="0" y="43847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3B52A1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47625"/>
              <a:ext cx="878167" cy="48610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00"/>
                </a:lnSpc>
              </a:pPr>
              <a:endParaRPr/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2047871" y="4488445"/>
            <a:ext cx="3334289" cy="469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3B52A1"/>
                </a:solidFill>
                <a:latin typeface="Avenir"/>
                <a:ea typeface="Avenir"/>
                <a:cs typeface="Avenir"/>
                <a:sym typeface="Avenir"/>
              </a:rPr>
              <a:t>Total Rental Income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2143793" y="3798525"/>
            <a:ext cx="3181207" cy="1114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200"/>
              </a:lnSpc>
              <a:spcBef>
                <a:spcPct val="0"/>
              </a:spcBef>
            </a:pPr>
            <a:r>
              <a:rPr lang="en-US" sz="3000" dirty="0">
                <a:solidFill>
                  <a:srgbClr val="3B52A1"/>
                </a:solidFill>
                <a:latin typeface="Avenir"/>
                <a:ea typeface="Avenir"/>
                <a:cs typeface="Avenir"/>
                <a:sym typeface="Avenir"/>
              </a:rPr>
              <a:t>{{TOTALRENTALINCOME}}</a:t>
            </a:r>
          </a:p>
        </p:txBody>
      </p:sp>
      <p:grpSp>
        <p:nvGrpSpPr>
          <p:cNvPr id="26" name="Group 26"/>
          <p:cNvGrpSpPr/>
          <p:nvPr/>
        </p:nvGrpSpPr>
        <p:grpSpPr>
          <a:xfrm>
            <a:off x="5677425" y="3431512"/>
            <a:ext cx="3310650" cy="1664850"/>
            <a:chOff x="0" y="0"/>
            <a:chExt cx="871941" cy="43847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71941" cy="438479"/>
            </a:xfrm>
            <a:custGeom>
              <a:avLst/>
              <a:gdLst/>
              <a:ahLst/>
              <a:cxnLst/>
              <a:rect l="l" t="t" r="r" b="b"/>
              <a:pathLst>
                <a:path w="871941" h="438479">
                  <a:moveTo>
                    <a:pt x="0" y="0"/>
                  </a:moveTo>
                  <a:lnTo>
                    <a:pt x="871941" y="0"/>
                  </a:lnTo>
                  <a:lnTo>
                    <a:pt x="871941" y="438479"/>
                  </a:lnTo>
                  <a:lnTo>
                    <a:pt x="0" y="43847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3B52A1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0" y="-47625"/>
              <a:ext cx="871941" cy="48610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00"/>
                </a:lnSpc>
              </a:pPr>
              <a:endParaRPr/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206163" y="3431488"/>
            <a:ext cx="3448050" cy="1664850"/>
            <a:chOff x="0" y="0"/>
            <a:chExt cx="908128" cy="43847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908128" cy="438479"/>
            </a:xfrm>
            <a:custGeom>
              <a:avLst/>
              <a:gdLst/>
              <a:ahLst/>
              <a:cxnLst/>
              <a:rect l="l" t="t" r="r" b="b"/>
              <a:pathLst>
                <a:path w="908128" h="438479">
                  <a:moveTo>
                    <a:pt x="0" y="0"/>
                  </a:moveTo>
                  <a:lnTo>
                    <a:pt x="908128" y="0"/>
                  </a:lnTo>
                  <a:lnTo>
                    <a:pt x="908128" y="438479"/>
                  </a:lnTo>
                  <a:lnTo>
                    <a:pt x="0" y="43847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3B52A1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0" y="-47625"/>
              <a:ext cx="908128" cy="48610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00"/>
                </a:lnSpc>
              </a:pPr>
              <a:endParaRPr/>
            </a:p>
          </p:txBody>
        </p:sp>
      </p:grpSp>
      <p:sp>
        <p:nvSpPr>
          <p:cNvPr id="32" name="TextBox 32"/>
          <p:cNvSpPr txBox="1"/>
          <p:nvPr/>
        </p:nvSpPr>
        <p:spPr>
          <a:xfrm>
            <a:off x="5742147" y="3798525"/>
            <a:ext cx="3181207" cy="1114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3B52A1"/>
                </a:solidFill>
                <a:latin typeface="Avenir"/>
                <a:ea typeface="Avenir"/>
                <a:cs typeface="Avenir"/>
                <a:sym typeface="Avenir"/>
              </a:rPr>
              <a:t>{{TOTALINCOME}}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5677425" y="4488445"/>
            <a:ext cx="3269567" cy="4698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3B52A1"/>
                </a:solidFill>
                <a:latin typeface="Avenir"/>
                <a:ea typeface="Avenir"/>
                <a:cs typeface="Avenir"/>
                <a:sym typeface="Avenir"/>
              </a:rPr>
              <a:t>Total Income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9350025" y="3798525"/>
            <a:ext cx="3181207" cy="1114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3B52A1"/>
                </a:solidFill>
                <a:latin typeface="Avenir"/>
                <a:ea typeface="Avenir"/>
                <a:cs typeface="Avenir"/>
                <a:sym typeface="Avenir"/>
              </a:rPr>
              <a:t>{{TOTALEXPENSES}}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9283350" y="4488445"/>
            <a:ext cx="3269567" cy="469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3B52A1"/>
                </a:solidFill>
                <a:latin typeface="Avenir"/>
                <a:ea typeface="Avenir"/>
                <a:cs typeface="Avenir"/>
                <a:sym typeface="Avenir"/>
              </a:rPr>
              <a:t>Total Expenses</a:t>
            </a:r>
          </a:p>
        </p:txBody>
      </p:sp>
      <p:grpSp>
        <p:nvGrpSpPr>
          <p:cNvPr id="36" name="Group 36"/>
          <p:cNvGrpSpPr/>
          <p:nvPr/>
        </p:nvGrpSpPr>
        <p:grpSpPr>
          <a:xfrm>
            <a:off x="12873288" y="3431488"/>
            <a:ext cx="3448050" cy="1664850"/>
            <a:chOff x="0" y="0"/>
            <a:chExt cx="908128" cy="438479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908128" cy="438479"/>
            </a:xfrm>
            <a:custGeom>
              <a:avLst/>
              <a:gdLst/>
              <a:ahLst/>
              <a:cxnLst/>
              <a:rect l="l" t="t" r="r" b="b"/>
              <a:pathLst>
                <a:path w="908128" h="438479">
                  <a:moveTo>
                    <a:pt x="0" y="0"/>
                  </a:moveTo>
                  <a:lnTo>
                    <a:pt x="908128" y="0"/>
                  </a:lnTo>
                  <a:lnTo>
                    <a:pt x="908128" y="438479"/>
                  </a:lnTo>
                  <a:lnTo>
                    <a:pt x="0" y="43847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3B52A1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0" y="-47625"/>
              <a:ext cx="908128" cy="48610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00"/>
                </a:lnSpc>
              </a:pPr>
              <a:endParaRPr/>
            </a:p>
          </p:txBody>
        </p:sp>
      </p:grpSp>
      <p:sp>
        <p:nvSpPr>
          <p:cNvPr id="39" name="TextBox 39"/>
          <p:cNvSpPr txBox="1"/>
          <p:nvPr/>
        </p:nvSpPr>
        <p:spPr>
          <a:xfrm>
            <a:off x="13006638" y="3798525"/>
            <a:ext cx="3181207" cy="581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3B52A1"/>
                </a:solidFill>
                <a:latin typeface="Avenir"/>
                <a:ea typeface="Avenir"/>
                <a:cs typeface="Avenir"/>
                <a:sym typeface="Avenir"/>
              </a:rPr>
              <a:t>{{NETINCOME}}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2962530" y="4488445"/>
            <a:ext cx="3269567" cy="469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3B52A1"/>
                </a:solidFill>
                <a:latin typeface="Avenir"/>
                <a:ea typeface="Avenir"/>
                <a:cs typeface="Avenir"/>
                <a:sym typeface="Avenir"/>
              </a:rPr>
              <a:t>Net Income</a:t>
            </a:r>
          </a:p>
        </p:txBody>
      </p:sp>
      <p:grpSp>
        <p:nvGrpSpPr>
          <p:cNvPr id="41" name="Group 41"/>
          <p:cNvGrpSpPr/>
          <p:nvPr/>
        </p:nvGrpSpPr>
        <p:grpSpPr>
          <a:xfrm>
            <a:off x="2158140" y="5767899"/>
            <a:ext cx="2624400" cy="787200"/>
            <a:chOff x="0" y="0"/>
            <a:chExt cx="3499200" cy="1049600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3499231" cy="1049655"/>
            </a:xfrm>
            <a:custGeom>
              <a:avLst/>
              <a:gdLst/>
              <a:ahLst/>
              <a:cxnLst/>
              <a:rect l="l" t="t" r="r" b="b"/>
              <a:pathLst>
                <a:path w="3499231" h="1049655">
                  <a:moveTo>
                    <a:pt x="0" y="0"/>
                  </a:moveTo>
                  <a:lnTo>
                    <a:pt x="3499231" y="0"/>
                  </a:lnTo>
                  <a:lnTo>
                    <a:pt x="3499231" y="1049655"/>
                  </a:lnTo>
                  <a:lnTo>
                    <a:pt x="0" y="1049655"/>
                  </a:lnTo>
                  <a:close/>
                </a:path>
              </a:pathLst>
            </a:custGeom>
            <a:solidFill>
              <a:srgbClr val="3B52A1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0" y="-57150"/>
              <a:ext cx="3499200" cy="11067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r>
                <a:rPr lang="en-US" sz="2799" b="1">
                  <a:solidFill>
                    <a:srgbClr val="FFFFFF"/>
                  </a:solidFill>
                  <a:latin typeface="Avenir Bold"/>
                  <a:ea typeface="Avenir Bold"/>
                  <a:cs typeface="Avenir Bold"/>
                  <a:sym typeface="Avenir Bold"/>
                </a:rPr>
                <a:t>OCCUPANCY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2047871" y="6912625"/>
            <a:ext cx="3334289" cy="1664850"/>
            <a:chOff x="0" y="0"/>
            <a:chExt cx="878167" cy="438479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78167" cy="438479"/>
            </a:xfrm>
            <a:custGeom>
              <a:avLst/>
              <a:gdLst/>
              <a:ahLst/>
              <a:cxnLst/>
              <a:rect l="l" t="t" r="r" b="b"/>
              <a:pathLst>
                <a:path w="878167" h="438479">
                  <a:moveTo>
                    <a:pt x="0" y="0"/>
                  </a:moveTo>
                  <a:lnTo>
                    <a:pt x="878167" y="0"/>
                  </a:lnTo>
                  <a:lnTo>
                    <a:pt x="878167" y="438479"/>
                  </a:lnTo>
                  <a:lnTo>
                    <a:pt x="0" y="43847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3B52A1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0" y="-47625"/>
              <a:ext cx="878167" cy="48610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00"/>
                </a:lnSpc>
              </a:pPr>
              <a:endParaRPr/>
            </a:p>
          </p:txBody>
        </p:sp>
      </p:grpSp>
      <p:sp>
        <p:nvSpPr>
          <p:cNvPr id="47" name="TextBox 47"/>
          <p:cNvSpPr txBox="1"/>
          <p:nvPr/>
        </p:nvSpPr>
        <p:spPr>
          <a:xfrm>
            <a:off x="2124412" y="7240899"/>
            <a:ext cx="3181207" cy="1114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3B52A1"/>
                </a:solidFill>
                <a:latin typeface="Avenir"/>
                <a:ea typeface="Avenir"/>
                <a:cs typeface="Avenir"/>
                <a:sym typeface="Avenir"/>
              </a:rPr>
              <a:t>{{OCCUPIEDAREASQFT}}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2047871" y="7974324"/>
            <a:ext cx="3334289" cy="469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3B52A1"/>
                </a:solidFill>
                <a:latin typeface="Avenir"/>
                <a:ea typeface="Avenir"/>
                <a:cs typeface="Avenir"/>
                <a:sym typeface="Avenir"/>
              </a:rPr>
              <a:t>Occupied Area</a:t>
            </a:r>
          </a:p>
        </p:txBody>
      </p:sp>
      <p:grpSp>
        <p:nvGrpSpPr>
          <p:cNvPr id="49" name="Group 49"/>
          <p:cNvGrpSpPr/>
          <p:nvPr/>
        </p:nvGrpSpPr>
        <p:grpSpPr>
          <a:xfrm>
            <a:off x="5677425" y="6915638"/>
            <a:ext cx="3310650" cy="1664850"/>
            <a:chOff x="0" y="0"/>
            <a:chExt cx="871941" cy="438479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871941" cy="438479"/>
            </a:xfrm>
            <a:custGeom>
              <a:avLst/>
              <a:gdLst/>
              <a:ahLst/>
              <a:cxnLst/>
              <a:rect l="l" t="t" r="r" b="b"/>
              <a:pathLst>
                <a:path w="871941" h="438479">
                  <a:moveTo>
                    <a:pt x="0" y="0"/>
                  </a:moveTo>
                  <a:lnTo>
                    <a:pt x="871941" y="0"/>
                  </a:lnTo>
                  <a:lnTo>
                    <a:pt x="871941" y="438479"/>
                  </a:lnTo>
                  <a:lnTo>
                    <a:pt x="0" y="43847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3B52A1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0" y="-47625"/>
              <a:ext cx="871941" cy="48610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00"/>
                </a:lnSpc>
              </a:pPr>
              <a:endParaRPr/>
            </a:p>
          </p:txBody>
        </p:sp>
      </p:grpSp>
      <p:sp>
        <p:nvSpPr>
          <p:cNvPr id="52" name="TextBox 52"/>
          <p:cNvSpPr txBox="1"/>
          <p:nvPr/>
        </p:nvSpPr>
        <p:spPr>
          <a:xfrm>
            <a:off x="5742147" y="7240899"/>
            <a:ext cx="3181207" cy="1114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3B52A1"/>
                </a:solidFill>
                <a:latin typeface="Avenir"/>
                <a:ea typeface="Avenir"/>
                <a:cs typeface="Avenir"/>
                <a:sym typeface="Avenir"/>
              </a:rPr>
              <a:t>{{OCCUPANCYBYUNITS}}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5665606" y="7972912"/>
            <a:ext cx="3334289" cy="469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3B52A1"/>
                </a:solidFill>
                <a:latin typeface="Avenir"/>
                <a:ea typeface="Avenir"/>
                <a:cs typeface="Avenir"/>
                <a:sym typeface="Avenir"/>
              </a:rPr>
              <a:t>Occupancy by units</a:t>
            </a:r>
          </a:p>
        </p:txBody>
      </p:sp>
      <p:grpSp>
        <p:nvGrpSpPr>
          <p:cNvPr id="54" name="Group 54"/>
          <p:cNvGrpSpPr/>
          <p:nvPr/>
        </p:nvGrpSpPr>
        <p:grpSpPr>
          <a:xfrm>
            <a:off x="9206163" y="6915638"/>
            <a:ext cx="3448050" cy="1664850"/>
            <a:chOff x="0" y="0"/>
            <a:chExt cx="908128" cy="438479"/>
          </a:xfrm>
        </p:grpSpPr>
        <p:sp>
          <p:nvSpPr>
            <p:cNvPr id="55" name="Freeform 55"/>
            <p:cNvSpPr/>
            <p:nvPr/>
          </p:nvSpPr>
          <p:spPr>
            <a:xfrm>
              <a:off x="0" y="0"/>
              <a:ext cx="908128" cy="438479"/>
            </a:xfrm>
            <a:custGeom>
              <a:avLst/>
              <a:gdLst/>
              <a:ahLst/>
              <a:cxnLst/>
              <a:rect l="l" t="t" r="r" b="b"/>
              <a:pathLst>
                <a:path w="908128" h="438479">
                  <a:moveTo>
                    <a:pt x="0" y="0"/>
                  </a:moveTo>
                  <a:lnTo>
                    <a:pt x="908128" y="0"/>
                  </a:lnTo>
                  <a:lnTo>
                    <a:pt x="908128" y="438479"/>
                  </a:lnTo>
                  <a:lnTo>
                    <a:pt x="0" y="43847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3B52A1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0" y="-47625"/>
              <a:ext cx="908128" cy="48610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00"/>
                </a:lnSpc>
              </a:pPr>
              <a:endParaRPr/>
            </a:p>
          </p:txBody>
        </p:sp>
      </p:grpSp>
      <p:sp>
        <p:nvSpPr>
          <p:cNvPr id="57" name="TextBox 57"/>
          <p:cNvSpPr txBox="1"/>
          <p:nvPr/>
        </p:nvSpPr>
        <p:spPr>
          <a:xfrm>
            <a:off x="9327530" y="7240899"/>
            <a:ext cx="3181207" cy="11143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3B52A1"/>
                </a:solidFill>
                <a:latin typeface="Avenir"/>
                <a:ea typeface="Avenir"/>
                <a:cs typeface="Avenir"/>
                <a:sym typeface="Avenir"/>
              </a:rPr>
              <a:t>{{OCCUPIEDAREAPERCENT}}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9263044" y="7972887"/>
            <a:ext cx="3334289" cy="469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3B52A1"/>
                </a:solidFill>
                <a:latin typeface="Avenir"/>
                <a:ea typeface="Avenir"/>
                <a:cs typeface="Avenir"/>
                <a:sym typeface="Avenir"/>
              </a:rPr>
              <a:t>Occupancy by area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-100" y="0"/>
            <a:ext cx="18288000" cy="1615200"/>
            <a:chOff x="0" y="0"/>
            <a:chExt cx="24384000" cy="21536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384000" cy="2153539"/>
            </a:xfrm>
            <a:custGeom>
              <a:avLst/>
              <a:gdLst/>
              <a:ahLst/>
              <a:cxnLst/>
              <a:rect l="l" t="t" r="r" b="b"/>
              <a:pathLst>
                <a:path w="24384000" h="2153539">
                  <a:moveTo>
                    <a:pt x="0" y="0"/>
                  </a:moveTo>
                  <a:lnTo>
                    <a:pt x="24384000" y="0"/>
                  </a:lnTo>
                  <a:lnTo>
                    <a:pt x="24384000" y="2153539"/>
                  </a:lnTo>
                  <a:lnTo>
                    <a:pt x="0" y="2153539"/>
                  </a:lnTo>
                  <a:close/>
                </a:path>
              </a:pathLst>
            </a:custGeom>
            <a:solidFill>
              <a:srgbClr val="3B52A1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95250"/>
              <a:ext cx="24384000" cy="22488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5999"/>
                </a:lnSpc>
              </a:pPr>
              <a:r>
                <a:rPr lang="en-US" sz="4999">
                  <a:solidFill>
                    <a:srgbClr val="FFFFFF"/>
                  </a:solidFill>
                  <a:latin typeface="Avenir"/>
                  <a:ea typeface="Avenir"/>
                  <a:cs typeface="Avenir"/>
                  <a:sym typeface="Avenir"/>
                </a:rPr>
                <a:t> {{CURRENTMONTH}} Data</a:t>
              </a:r>
            </a:p>
          </p:txBody>
        </p:sp>
      </p:grpSp>
      <p:graphicFrame>
        <p:nvGraphicFramePr>
          <p:cNvPr id="6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1533820"/>
              </p:ext>
            </p:extLst>
          </p:nvPr>
        </p:nvGraphicFramePr>
        <p:xfrm>
          <a:off x="1469409" y="6975320"/>
          <a:ext cx="14939621" cy="3070846"/>
        </p:xfrm>
        <a:graphic>
          <a:graphicData uri="http://schemas.openxmlformats.org/drawingml/2006/table">
            <a:tbl>
              <a:tblPr/>
              <a:tblGrid>
                <a:gridCol w="21380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21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53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3222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6025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3301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2078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58180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576321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749747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09642">
                <a:tc>
                  <a:txBody>
                    <a:bodyPr/>
                    <a:lstStyle/>
                    <a:p>
                      <a:pPr algn="l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Professional Fees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{{PROFCM}}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{{PROFPTD}}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{{PROFVAR}}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{{PROFVARPER}}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400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{{PROFYTD}}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{{PROFYTDBUD}}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{{PROFYTDVAR}}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{{PROFYTDVARPER}}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9642">
                <a:tc>
                  <a:txBody>
                    <a:bodyPr/>
                    <a:lstStyle/>
                    <a:p>
                      <a:pPr algn="l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Repairs &amp; Maintenance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{{REPCM}}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{{REPPTD}}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{{REPVAR}}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{{REPVARPER}}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400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{{REPYTD}}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{{REPYTDBUD}}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{{REPYTDVAR}}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{{REPYTDVARPER}}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9642">
                <a:tc>
                  <a:txBody>
                    <a:bodyPr/>
                    <a:lstStyle/>
                    <a:p>
                      <a:pPr algn="l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Retail Products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{{RETACM}}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{{RETAPTD}}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{{RETAVAR}}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{{RETAVARPER}}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400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{{RETAYTD}}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{{RETAYTDBUD}}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{{RETAYTDVAR}}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{{RETAYTDVARPER}}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9642">
                <a:tc>
                  <a:txBody>
                    <a:bodyPr/>
                    <a:lstStyle/>
                    <a:p>
                      <a:pPr algn="l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Security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{{SECCM}}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{{SECPTD}}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{{SECVAR}}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{{SECVARPER}}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400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{{SECYTD}}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{{SECYTDBUD}}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{{SECYTDVAR}}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{{SECYTDVARPER}}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9642">
                <a:tc>
                  <a:txBody>
                    <a:bodyPr/>
                    <a:lstStyle/>
                    <a:p>
                      <a:pPr algn="l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Software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{{SOFTCM}}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{{SOFTPTD}}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{{SOFTVAR}}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{{SOFTVARPER}}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400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{{SOFTYTD}}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{{SOFTYTDBUD}}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{{SOFTYTDVAR}}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{{SOFTYTDVARPER}}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9642">
                <a:tc>
                  <a:txBody>
                    <a:bodyPr/>
                    <a:lstStyle/>
                    <a:p>
                      <a:pPr algn="l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Supplies - Building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{{SUPCM}}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{{SUPPTD}}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{{SUPVAR}}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{{SUPVARPER}}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400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{{SUPYTD}}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{{SUPYTDBUD}}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{{SUPYTDVAR}}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{{SUPYTDVARPER}}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9642">
                <a:tc>
                  <a:txBody>
                    <a:bodyPr/>
                    <a:lstStyle/>
                    <a:p>
                      <a:pPr algn="l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Telephone &amp; Internet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{{INTERCM}}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{{INTERPTD}}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{{INTERVAR}}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{{INTERVARPER}}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400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{{INTERYTD}}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{{INTERYTDBUD}}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{{INTERYTDVAR}}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{{INTERYTDVARPER}}</a:t>
                      </a:r>
                      <a:endParaRPr lang="en-US" sz="1100" dirty="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9642">
                <a:tc>
                  <a:txBody>
                    <a:bodyPr/>
                    <a:lstStyle/>
                    <a:p>
                      <a:pPr algn="l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Utilities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{{UTILCM}}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{{UTILPTD}}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{{UTILVAR}}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{{UTILVARPER}}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400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{{UTILYTD}}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{{UTILYTDBUD}}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{{UTILYTDVAR}}</a:t>
                      </a:r>
                      <a:endParaRPr lang="en-US" sz="1100" dirty="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{{UTILYTDVARPER}}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09642">
                <a:tc>
                  <a:txBody>
                    <a:bodyPr/>
                    <a:lstStyle/>
                    <a:p>
                      <a:pPr algn="l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TOTAL PROPERTY EXPENSES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{{TOTALPROPCM}}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{{TOTALPROPPTD}}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{{TOTALPROPVAR}}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{{TOTALPROPVARPER}}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400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{{TOTALPROPYTD}}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{{TOTALPROPYTDBUD}}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{{TOTALPROPYTDVAR}}</a:t>
                      </a:r>
                      <a:endParaRPr lang="en-US" sz="1100" dirty="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{{TOTALPROPYTDPER}}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09642">
                <a:tc>
                  <a:txBody>
                    <a:bodyPr/>
                    <a:lstStyle/>
                    <a:p>
                      <a:pPr algn="l">
                        <a:lnSpc>
                          <a:spcPts val="1380"/>
                        </a:lnSpc>
                        <a:defRPr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Other Expenses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{{OTHEXPCM}}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{{OTHEXPPTD}}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{{OTHEXPVAR}}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{{OTHEXPVARPER}}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400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{{OTHEXPYTD}}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{{OTHEXPYTDBUD}}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{{OTHEXPYTDVAR}}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{{OTHEXPYTDVARPER}}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45500">
                <a:tc>
                  <a:txBody>
                    <a:bodyPr/>
                    <a:lstStyle/>
                    <a:p>
                      <a:pPr algn="l">
                        <a:lnSpc>
                          <a:spcPts val="1380"/>
                        </a:lnSpc>
                        <a:defRPr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TOTAL OTHER EXPENSES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{{TOTOTHEXPCM}}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{{TOTOTHEXPPTD}}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{{TOTOTHEXPVAR}}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{{TOTOTHEXPVARPER}}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400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{{TOTOTHEXPYTD}}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{{TOTOTHEXPYTDBUD}}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{{TOTOTHEXPYTDVAR}}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{{TOTOTHEXPYTDVARPER}}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09642">
                <a:tc>
                  <a:txBody>
                    <a:bodyPr/>
                    <a:lstStyle/>
                    <a:p>
                      <a:pPr algn="l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TOTAL EXPENSES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{{TOTEXPCM}}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{{TOTEXPPTD}}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{{TOTEXPVAR}}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{{TOTEXPVARPER}}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400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{{TOTEXPYTD}}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{{TOTEXPYTDBUD}}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{{TOTEXPYTDVAR}}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{{TOTEXPYTDVARPER}}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09642">
                <a:tc>
                  <a:txBody>
                    <a:bodyPr/>
                    <a:lstStyle/>
                    <a:p>
                      <a:pPr algn="l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Interest Income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{{INTINCCM}}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{{INTINCPTD}}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{{INTINCVAR}}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{{INTINCVARPER}}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400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{{INTINCYTD}}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{{INTINCYTDBUD}}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{{INTINCYTDVAR}}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{{INTINCYTDVARPER}}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09642">
                <a:tc>
                  <a:txBody>
                    <a:bodyPr/>
                    <a:lstStyle/>
                    <a:p>
                      <a:pPr algn="l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NET INCOME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{{NETINCCM}}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{{NETINCPTD}}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{{NETINCVAR}}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{{NETINCVARPER}}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400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{{NETINCYTD}}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{{NETINCYTDBUD}}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{{NETINCYTDVAR}}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{{NETINCYTDVARPER}}</a:t>
                      </a:r>
                      <a:endParaRPr lang="en-US" sz="1100" dirty="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graphicFrame>
        <p:nvGraphicFramePr>
          <p:cNvPr id="7" name="Table 2">
            <a:extLst>
              <a:ext uri="{FF2B5EF4-FFF2-40B4-BE49-F238E27FC236}">
                <a16:creationId xmlns:a16="http://schemas.microsoft.com/office/drawing/2014/main" id="{EA1496D4-075B-62CD-E859-BB7489AE8E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2153042"/>
              </p:ext>
            </p:extLst>
          </p:nvPr>
        </p:nvGraphicFramePr>
        <p:xfrm>
          <a:off x="1447800" y="1943101"/>
          <a:ext cx="14884399" cy="4724391"/>
        </p:xfrm>
        <a:graphic>
          <a:graphicData uri="http://schemas.openxmlformats.org/drawingml/2006/table">
            <a:tbl>
              <a:tblPr/>
              <a:tblGrid>
                <a:gridCol w="21228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106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188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319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5445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4246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1888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57388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56740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742913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12675">
                <a:tc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 dirty="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52A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399" b="1">
                          <a:solidFill>
                            <a:srgbClr val="FFFFFF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{{CURRENTMONTH}}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52A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399" b="1">
                          <a:solidFill>
                            <a:srgbClr val="FFFFFF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PTD Budget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52A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399" b="1">
                          <a:solidFill>
                            <a:srgbClr val="FFFFFF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Variance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52A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399" b="1">
                          <a:solidFill>
                            <a:srgbClr val="FFFFFF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% Var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52A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399" b="1">
                          <a:solidFill>
                            <a:srgbClr val="FFFFFF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YTD Actual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52A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399" b="1">
                          <a:solidFill>
                            <a:srgbClr val="FFFFFF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YTD Budget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52A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399" b="1">
                          <a:solidFill>
                            <a:srgbClr val="FFFFFF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Variance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52A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399" b="1">
                          <a:solidFill>
                            <a:srgbClr val="FFFFFF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% Var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52A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5078">
                <a:tc>
                  <a:txBody>
                    <a:bodyPr/>
                    <a:lstStyle/>
                    <a:p>
                      <a:pPr algn="l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Rental Income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{{RENTINCCM}}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{{RENTINCPTD}}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{{RENTINCVAR}}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{{RENTINCVARPER}}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{{RENTINCYTD}}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{{RENTINCYTDBUD}}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{{RENTINCYTDVAR}}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{{RENTINCYTDVARPER}}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5078">
                <a:tc>
                  <a:txBody>
                    <a:bodyPr/>
                    <a:lstStyle/>
                    <a:p>
                      <a:pPr algn="l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Discounts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{{DISCCM}}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{{DISCPTD}}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{{DISCVAR}}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{{DISCVARPER}}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{{DISCYTD}}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{{DISCYTDBUD}}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{{DISCYTDVAR}}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{{DISCYTDVARPER}}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5078">
                <a:tc>
                  <a:txBody>
                    <a:bodyPr/>
                    <a:lstStyle/>
                    <a:p>
                      <a:pPr algn="l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TOTAL RENTAL INCOME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{{TOTRENINCCM}}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{{TOTRENINCPTD}}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{{TOTRENVAR}}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{{TOTRENVARPER}}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{{TOTRENINCYTD}}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{{TOTRENINCYTDBUD}}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{{TOTRENINCYTDVAR}}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{{TOTRENINCYTDVARPER}}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5078">
                <a:tc>
                  <a:txBody>
                    <a:bodyPr/>
                    <a:lstStyle/>
                    <a:p>
                      <a:pPr algn="l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Tenant Income - Admin Fees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{{ADMFEECM}}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{{ADMFEEPTD}}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{{ADMFEEVAR}}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{{ADMVARPER}}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{{ADMFEEYTD}}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{{ADMFEEYTDBUD}}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{{ADMFEEYTDVAR}}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{{ADMFEEYTDVARPER}}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5078">
                <a:tc>
                  <a:txBody>
                    <a:bodyPr/>
                    <a:lstStyle/>
                    <a:p>
                      <a:pPr algn="l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Tenant Income - Late Fees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{{LATFEECM}}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{{LATFEEPTD}}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{{LATFEEVAR}}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{{LATFEEVARPER}}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{{LATFEEYTD}}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{{LATFEEYTDBUD}}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{{LATFEEYTDVAR}}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{{LATFEEYTDVARPER}}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5078">
                <a:tc>
                  <a:txBody>
                    <a:bodyPr/>
                    <a:lstStyle/>
                    <a:p>
                      <a:pPr algn="l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Tenant Income – Insurance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{{INSURCM}}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{{INSURPTD}}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{{INSURVAR}}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{{INSURVARPER}}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{{INSURYTD}}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{{INSURYTDBUD}}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{{INSURYTDVAR}}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{{INSURYTDVARPER}}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5078">
                <a:tc>
                  <a:txBody>
                    <a:bodyPr/>
                    <a:lstStyle/>
                    <a:p>
                      <a:pPr algn="l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Tenant Income – Other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{{OTHERCM}}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{{OTHERPTD}}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{{OTHERVAR}}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{{OTHERVARPER}}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{{OTHERYTD}}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{{OTHERYTDBUD}}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{{OTHERYTDVAR}}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{{OTHERYTDVARPER}}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05078">
                <a:tc>
                  <a:txBody>
                    <a:bodyPr/>
                    <a:lstStyle/>
                    <a:p>
                      <a:pPr algn="l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Retail Sales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{{RETSALCM}}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{{RETSALPTD}}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{{RETSALVAR}}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{{RETSALVARPER}}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{{RETSALYTD}}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{{RETSALYTDBUD}}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{{RETSALYTDVAR}}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{{RETSALYTDVARPER}}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05078">
                <a:tc>
                  <a:txBody>
                    <a:bodyPr/>
                    <a:lstStyle/>
                    <a:p>
                      <a:pPr algn="l">
                        <a:lnSpc>
                          <a:spcPts val="1379"/>
                        </a:lnSpc>
                        <a:defRPr/>
                      </a:pPr>
                      <a:r>
                        <a:rPr lang="en-US" sz="999" b="1">
                          <a:solidFill>
                            <a:srgbClr val="000000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Secure Payment Processing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79"/>
                        </a:lnSpc>
                        <a:defRPr/>
                      </a:pPr>
                      <a:r>
                        <a:rPr lang="en-US" sz="999" b="1">
                          <a:solidFill>
                            <a:srgbClr val="000000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{{SECPPCM}}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79"/>
                        </a:lnSpc>
                        <a:defRPr/>
                      </a:pPr>
                      <a:r>
                        <a:rPr lang="en-US" sz="999" b="1">
                          <a:solidFill>
                            <a:srgbClr val="000000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{{SECPPPTD}}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79"/>
                        </a:lnSpc>
                        <a:defRPr/>
                      </a:pPr>
                      <a:r>
                        <a:rPr lang="en-US" sz="999" b="1">
                          <a:solidFill>
                            <a:srgbClr val="000000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{{SECPPVAR}}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79"/>
                        </a:lnSpc>
                        <a:defRPr/>
                      </a:pPr>
                      <a:r>
                        <a:rPr lang="en-US" sz="999" b="1">
                          <a:solidFill>
                            <a:srgbClr val="000000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{{SECPPVARPER}}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79"/>
                        </a:lnSpc>
                        <a:defRPr/>
                      </a:pPr>
                      <a:r>
                        <a:rPr lang="en-US" sz="999" b="1">
                          <a:solidFill>
                            <a:srgbClr val="000000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{{SECPPYTD}}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79"/>
                        </a:lnSpc>
                        <a:defRPr/>
                      </a:pPr>
                      <a:r>
                        <a:rPr lang="en-US" sz="999" b="1">
                          <a:solidFill>
                            <a:srgbClr val="000000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{{SECPPYTDBUD}}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79"/>
                        </a:lnSpc>
                        <a:defRPr/>
                      </a:pPr>
                      <a:r>
                        <a:rPr lang="en-US" sz="999" b="1">
                          <a:solidFill>
                            <a:srgbClr val="000000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{{SECPPYTDVAR}}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79"/>
                        </a:lnSpc>
                        <a:defRPr/>
                      </a:pPr>
                      <a:r>
                        <a:rPr lang="en-US" sz="999" b="1">
                          <a:solidFill>
                            <a:srgbClr val="000000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{{SECPPYTDVARPER}}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05078">
                <a:tc>
                  <a:txBody>
                    <a:bodyPr/>
                    <a:lstStyle/>
                    <a:p>
                      <a:pPr algn="l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TOTAL INCOME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{{TOTALINCCM}}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{{TOTALINCPTD}}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{{TOTALINCVAR}}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{{TOTALVARPER}}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{{TOTALINCYTD}}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{{TOTALINCYTDBUD}}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{{TOTALINCYTDVAR}}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{{TOTALINCYTDVARPER}}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05078">
                <a:tc>
                  <a:txBody>
                    <a:bodyPr/>
                    <a:lstStyle/>
                    <a:p>
                      <a:pPr algn="l">
                        <a:lnSpc>
                          <a:spcPts val="1380"/>
                        </a:lnSpc>
                        <a:defRPr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PROPERTY EXPENSES</a:t>
                      </a:r>
                      <a:endParaRPr lang="en-US" sz="1100" dirty="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05078">
                <a:tc>
                  <a:txBody>
                    <a:bodyPr/>
                    <a:lstStyle/>
                    <a:p>
                      <a:pPr algn="l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Advertising &amp; Marketing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{{ADVERCM}}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{{ADVERPTD}}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{{ADVERVAR}}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{{ADVERVARPER}}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{{ADVERYTD}}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{{ADVERYTDBUD}}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{{ADVERYTDVAR}}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{{ADVERYTDVARPER}}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05078">
                <a:tc>
                  <a:txBody>
                    <a:bodyPr/>
                    <a:lstStyle/>
                    <a:p>
                      <a:pPr algn="l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Auction Expenses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{{AUCTCM}}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{{AUCTPTD}}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{{AUCTVAR}}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{{AUCTVARPER}}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{{AUCTYTD}}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{{AUCTYTDBUD}}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{{AUCTYTDVAR}}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{{AUCTYTDVARPER}}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05078">
                <a:tc>
                  <a:txBody>
                    <a:bodyPr/>
                    <a:lstStyle/>
                    <a:p>
                      <a:pPr algn="l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CAM Charges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{{CAMCM}}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{{CAMPTD}}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{{CAMVAR}}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{{CAMVARPER}}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{{CAMYTD}}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{{CAMYTDBUD}}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{{CAMYTDVAR}}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{{CAMYTDVARPER}}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05078">
                <a:tc>
                  <a:txBody>
                    <a:bodyPr/>
                    <a:lstStyle/>
                    <a:p>
                      <a:pPr algn="l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Credit Card Merchant Fees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{{CCMCM}}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{{CCMPTD}}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{{CCMVAR}}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{{CCMVARPER}}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{{CCMYTD}}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{{CCMYTDBUD}}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{{CCMYTDVAR}}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{{CCMYTDVARPER}}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05078">
                <a:tc>
                  <a:txBody>
                    <a:bodyPr/>
                    <a:lstStyle/>
                    <a:p>
                      <a:pPr algn="l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Dues &amp; Subscriptions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{{DUESCM}}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{{DUESPTD}}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{{DUESVAR}}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{{DUESVARPER}}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{{DUESYTD}}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{{DUESYTDBUD}}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{{DUESYTDVAR}}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{{DUESYTDVARPER}}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05078">
                <a:tc>
                  <a:txBody>
                    <a:bodyPr/>
                    <a:lstStyle/>
                    <a:p>
                      <a:pPr algn="l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Fire Prevention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{{FIRECM}}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{{FIREPTD}}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{{FIREVAR}}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{{FIREVARPER}}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{{FIREYTD}}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{{FIREYTDBUD}}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{{FIREYTDVAR}}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{{FIREYTDVARPER}}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05078">
                <a:tc>
                  <a:txBody>
                    <a:bodyPr/>
                    <a:lstStyle/>
                    <a:p>
                      <a:pPr algn="l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Insurance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{{INSURCM}}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{{INSURPTD}}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{{INSURVAR}}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{{INSURVARPER}}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{{INSURYTD}}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{{INSURYTDBUD}}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{{INSURYTDVAR}}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{{INSURYTDVARPER}}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05078">
                <a:tc>
                  <a:txBody>
                    <a:bodyPr/>
                    <a:lstStyle/>
                    <a:p>
                      <a:pPr algn="l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Licenses &amp; Permits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{{PERMCM}}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{{PERMPTD}}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{{PERMVAR}}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{{PERMVARPER}}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{{PERMYTD}}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{{PERMYTDBUD}}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{{PERMYTDVAR}}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{{PERMYTDVARPER}}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05078">
                <a:tc>
                  <a:txBody>
                    <a:bodyPr/>
                    <a:lstStyle/>
                    <a:p>
                      <a:pPr algn="l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Management Fees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{{MGMTCM}}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{{MGMTPTD}}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{{MGMTVAR}}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{{MGMTVARPER}}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{{MGMTYTD}}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{{MGMTYTDBUD}}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{{MGMTYTDVAR}}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{{MGMTYTDVARPER}}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205078">
                <a:tc>
                  <a:txBody>
                    <a:bodyPr/>
                    <a:lstStyle/>
                    <a:p>
                      <a:pPr algn="l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Management Fees - Staff Costs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{{MGMTSTFCM}}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{{MGMTSTFPTD}}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{{MGMTSTFVAR}}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{{MGMTSTFVARPER}}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{{MGMTSTFYTD}}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{{MGMTSTFYTDBUD}}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{{MGMTSTFYTDVAR}}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{{MGMTSTFYTDPER}}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205078">
                <a:tc>
                  <a:txBody>
                    <a:bodyPr/>
                    <a:lstStyle/>
                    <a:p>
                      <a:pPr algn="l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Office Supplies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{{OFFSUPCM}}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{{OFFSUPPTD}}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{{OFFSUPVAR}}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{{OFFSUPVARPER}}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{{OFFSUPYTD}}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{{OFFSUPYTDBUD}}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{{OFFSUPYTDVAR}}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{{OFFSUPYTDVARPER}}</a:t>
                      </a:r>
                      <a:endParaRPr lang="en-US" sz="1100" dirty="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-10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-1" b="-18519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3150" y="-142875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68627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6944916" y="9326434"/>
            <a:ext cx="1097400" cy="787200"/>
            <a:chOff x="0" y="0"/>
            <a:chExt cx="1463200" cy="10496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463200" cy="1049600"/>
            </a:xfrm>
            <a:custGeom>
              <a:avLst/>
              <a:gdLst/>
              <a:ahLst/>
              <a:cxnLst/>
              <a:rect l="l" t="t" r="r" b="b"/>
              <a:pathLst>
                <a:path w="1463200" h="1049600">
                  <a:moveTo>
                    <a:pt x="0" y="0"/>
                  </a:moveTo>
                  <a:lnTo>
                    <a:pt x="1463200" y="0"/>
                  </a:lnTo>
                  <a:lnTo>
                    <a:pt x="1463200" y="1049600"/>
                  </a:lnTo>
                  <a:lnTo>
                    <a:pt x="0" y="10496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1463200" cy="10972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400"/>
                </a:lnSpc>
              </a:pPr>
              <a:r>
                <a:rPr lang="en-US" sz="2000">
                  <a:solidFill>
                    <a:srgbClr val="595959"/>
                  </a:solidFill>
                  <a:latin typeface="Avenir"/>
                  <a:ea typeface="Avenir"/>
                  <a:cs typeface="Avenir"/>
                  <a:sym typeface="Avenir"/>
                </a:rPr>
                <a:t>4</a:t>
              </a:r>
            </a:p>
          </p:txBody>
        </p:sp>
      </p:grpSp>
      <p:sp>
        <p:nvSpPr>
          <p:cNvPr id="9" name="AutoShape 9"/>
          <p:cNvSpPr/>
          <p:nvPr/>
        </p:nvSpPr>
        <p:spPr>
          <a:xfrm rot="14726">
            <a:off x="453322" y="4411025"/>
            <a:ext cx="17018256" cy="0"/>
          </a:xfrm>
          <a:prstGeom prst="line">
            <a:avLst/>
          </a:prstGeom>
          <a:ln w="19050" cap="rnd">
            <a:solidFill>
              <a:srgbClr val="3B52A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10" name="Group 10"/>
          <p:cNvGrpSpPr/>
          <p:nvPr/>
        </p:nvGrpSpPr>
        <p:grpSpPr>
          <a:xfrm>
            <a:off x="4085298" y="4718850"/>
            <a:ext cx="2324100" cy="1318500"/>
            <a:chOff x="0" y="0"/>
            <a:chExt cx="3098800" cy="1758000"/>
          </a:xfrm>
        </p:grpSpPr>
        <p:sp>
          <p:nvSpPr>
            <p:cNvPr id="11" name="Freeform 11"/>
            <p:cNvSpPr/>
            <p:nvPr/>
          </p:nvSpPr>
          <p:spPr>
            <a:xfrm>
              <a:off x="25400" y="25400"/>
              <a:ext cx="3048000" cy="1707261"/>
            </a:xfrm>
            <a:custGeom>
              <a:avLst/>
              <a:gdLst/>
              <a:ahLst/>
              <a:cxnLst/>
              <a:rect l="l" t="t" r="r" b="b"/>
              <a:pathLst>
                <a:path w="3048000" h="1707261">
                  <a:moveTo>
                    <a:pt x="0" y="0"/>
                  </a:moveTo>
                  <a:lnTo>
                    <a:pt x="3048000" y="0"/>
                  </a:lnTo>
                  <a:lnTo>
                    <a:pt x="3048000" y="1707261"/>
                  </a:lnTo>
                  <a:lnTo>
                    <a:pt x="0" y="1707261"/>
                  </a:lnTo>
                  <a:close/>
                </a:path>
              </a:pathLst>
            </a:custGeom>
            <a:solidFill>
              <a:srgbClr val="6F94CA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12"/>
            <p:cNvSpPr/>
            <p:nvPr/>
          </p:nvSpPr>
          <p:spPr>
            <a:xfrm>
              <a:off x="0" y="0"/>
              <a:ext cx="3098800" cy="1758061"/>
            </a:xfrm>
            <a:custGeom>
              <a:avLst/>
              <a:gdLst/>
              <a:ahLst/>
              <a:cxnLst/>
              <a:rect l="l" t="t" r="r" b="b"/>
              <a:pathLst>
                <a:path w="3098800" h="1758061">
                  <a:moveTo>
                    <a:pt x="25400" y="0"/>
                  </a:moveTo>
                  <a:lnTo>
                    <a:pt x="3073400" y="0"/>
                  </a:lnTo>
                  <a:cubicBezTo>
                    <a:pt x="3087370" y="0"/>
                    <a:pt x="3098800" y="11430"/>
                    <a:pt x="3098800" y="25400"/>
                  </a:cubicBezTo>
                  <a:lnTo>
                    <a:pt x="3098800" y="1732661"/>
                  </a:lnTo>
                  <a:cubicBezTo>
                    <a:pt x="3098800" y="1746631"/>
                    <a:pt x="3087370" y="1758061"/>
                    <a:pt x="3073400" y="1758061"/>
                  </a:cubicBezTo>
                  <a:lnTo>
                    <a:pt x="25400" y="1758061"/>
                  </a:lnTo>
                  <a:cubicBezTo>
                    <a:pt x="11430" y="1758061"/>
                    <a:pt x="0" y="1746631"/>
                    <a:pt x="0" y="1732661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1732661"/>
                  </a:lnTo>
                  <a:lnTo>
                    <a:pt x="25400" y="1732661"/>
                  </a:lnTo>
                  <a:lnTo>
                    <a:pt x="25400" y="1707261"/>
                  </a:lnTo>
                  <a:lnTo>
                    <a:pt x="3073400" y="1707261"/>
                  </a:lnTo>
                  <a:lnTo>
                    <a:pt x="3073400" y="1732661"/>
                  </a:lnTo>
                  <a:lnTo>
                    <a:pt x="3048000" y="1732661"/>
                  </a:lnTo>
                  <a:lnTo>
                    <a:pt x="3048000" y="25400"/>
                  </a:lnTo>
                  <a:lnTo>
                    <a:pt x="3073400" y="25400"/>
                  </a:lnTo>
                  <a:lnTo>
                    <a:pt x="307340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6F94CA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57150"/>
              <a:ext cx="3098800" cy="18151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r>
                <a:rPr lang="en-US" sz="2799" b="1">
                  <a:solidFill>
                    <a:srgbClr val="FFFFFF"/>
                  </a:solidFill>
                  <a:latin typeface="Avenir Bold"/>
                  <a:ea typeface="Avenir Bold"/>
                  <a:cs typeface="Avenir Bold"/>
                  <a:sym typeface="Avenir Bold"/>
                </a:rPr>
                <a:t>TRAILING 3-MONTH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4085378" y="6391348"/>
            <a:ext cx="2324100" cy="1318500"/>
            <a:chOff x="0" y="0"/>
            <a:chExt cx="3098800" cy="1758000"/>
          </a:xfrm>
        </p:grpSpPr>
        <p:sp>
          <p:nvSpPr>
            <p:cNvPr id="15" name="Freeform 15"/>
            <p:cNvSpPr/>
            <p:nvPr/>
          </p:nvSpPr>
          <p:spPr>
            <a:xfrm>
              <a:off x="25400" y="25400"/>
              <a:ext cx="3048000" cy="1707261"/>
            </a:xfrm>
            <a:custGeom>
              <a:avLst/>
              <a:gdLst/>
              <a:ahLst/>
              <a:cxnLst/>
              <a:rect l="l" t="t" r="r" b="b"/>
              <a:pathLst>
                <a:path w="3048000" h="1707261">
                  <a:moveTo>
                    <a:pt x="0" y="0"/>
                  </a:moveTo>
                  <a:lnTo>
                    <a:pt x="3048000" y="0"/>
                  </a:lnTo>
                  <a:lnTo>
                    <a:pt x="3048000" y="1707261"/>
                  </a:lnTo>
                  <a:lnTo>
                    <a:pt x="0" y="1707261"/>
                  </a:lnTo>
                  <a:close/>
                </a:path>
              </a:pathLst>
            </a:custGeom>
            <a:solidFill>
              <a:srgbClr val="9A9A9A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16"/>
            <p:cNvSpPr/>
            <p:nvPr/>
          </p:nvSpPr>
          <p:spPr>
            <a:xfrm>
              <a:off x="0" y="0"/>
              <a:ext cx="3098800" cy="1758061"/>
            </a:xfrm>
            <a:custGeom>
              <a:avLst/>
              <a:gdLst/>
              <a:ahLst/>
              <a:cxnLst/>
              <a:rect l="l" t="t" r="r" b="b"/>
              <a:pathLst>
                <a:path w="3098800" h="1758061">
                  <a:moveTo>
                    <a:pt x="25400" y="0"/>
                  </a:moveTo>
                  <a:lnTo>
                    <a:pt x="3073400" y="0"/>
                  </a:lnTo>
                  <a:cubicBezTo>
                    <a:pt x="3087370" y="0"/>
                    <a:pt x="3098800" y="11430"/>
                    <a:pt x="3098800" y="25400"/>
                  </a:cubicBezTo>
                  <a:lnTo>
                    <a:pt x="3098800" y="1732661"/>
                  </a:lnTo>
                  <a:cubicBezTo>
                    <a:pt x="3098800" y="1746631"/>
                    <a:pt x="3087370" y="1758061"/>
                    <a:pt x="3073400" y="1758061"/>
                  </a:cubicBezTo>
                  <a:lnTo>
                    <a:pt x="25400" y="1758061"/>
                  </a:lnTo>
                  <a:cubicBezTo>
                    <a:pt x="11430" y="1758061"/>
                    <a:pt x="0" y="1746631"/>
                    <a:pt x="0" y="1732661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1732661"/>
                  </a:lnTo>
                  <a:lnTo>
                    <a:pt x="25400" y="1732661"/>
                  </a:lnTo>
                  <a:lnTo>
                    <a:pt x="25400" y="1707261"/>
                  </a:lnTo>
                  <a:lnTo>
                    <a:pt x="3073400" y="1707261"/>
                  </a:lnTo>
                  <a:lnTo>
                    <a:pt x="3073400" y="1732661"/>
                  </a:lnTo>
                  <a:lnTo>
                    <a:pt x="3048000" y="1732661"/>
                  </a:lnTo>
                  <a:lnTo>
                    <a:pt x="3048000" y="25400"/>
                  </a:lnTo>
                  <a:lnTo>
                    <a:pt x="3073400" y="25400"/>
                  </a:lnTo>
                  <a:lnTo>
                    <a:pt x="307340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9A9A9A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57150"/>
              <a:ext cx="3098800" cy="18151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r>
                <a:rPr lang="en-US" sz="2799" b="1">
                  <a:solidFill>
                    <a:srgbClr val="FFFFFF"/>
                  </a:solidFill>
                  <a:latin typeface="Avenir Bold"/>
                  <a:ea typeface="Avenir Bold"/>
                  <a:cs typeface="Avenir Bold"/>
                  <a:sym typeface="Avenir Bold"/>
                </a:rPr>
                <a:t>TRAILING 6-MONTH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5334500" y="3748326"/>
            <a:ext cx="3700200" cy="653180"/>
            <a:chOff x="0" y="0"/>
            <a:chExt cx="4933600" cy="870906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4933600" cy="870906"/>
            </a:xfrm>
            <a:custGeom>
              <a:avLst/>
              <a:gdLst/>
              <a:ahLst/>
              <a:cxnLst/>
              <a:rect l="l" t="t" r="r" b="b"/>
              <a:pathLst>
                <a:path w="4933600" h="870906">
                  <a:moveTo>
                    <a:pt x="0" y="0"/>
                  </a:moveTo>
                  <a:lnTo>
                    <a:pt x="4933600" y="0"/>
                  </a:lnTo>
                  <a:lnTo>
                    <a:pt x="4933600" y="870906"/>
                  </a:lnTo>
                  <a:lnTo>
                    <a:pt x="0" y="87090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47625"/>
              <a:ext cx="4933600" cy="91853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400"/>
                </a:lnSpc>
              </a:pPr>
              <a:r>
                <a:rPr lang="en-US" sz="2000" b="1" dirty="0">
                  <a:solidFill>
                    <a:srgbClr val="3B52A1"/>
                  </a:solidFill>
                  <a:latin typeface="Avenir Bold"/>
                  <a:ea typeface="Avenir Bold"/>
                  <a:cs typeface="Avenir Bold"/>
                  <a:sym typeface="Avenir Bold"/>
                </a:rPr>
                <a:t>{{MOVIPER}} {{INCORDEC1}} vs. {{PREVMON}}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848700" y="1951450"/>
            <a:ext cx="3294600" cy="1645800"/>
            <a:chOff x="0" y="0"/>
            <a:chExt cx="4392800" cy="21944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4392803" cy="2194433"/>
            </a:xfrm>
            <a:custGeom>
              <a:avLst/>
              <a:gdLst/>
              <a:ahLst/>
              <a:cxnLst/>
              <a:rect l="l" t="t" r="r" b="b"/>
              <a:pathLst>
                <a:path w="4392803" h="2194433">
                  <a:moveTo>
                    <a:pt x="0" y="0"/>
                  </a:moveTo>
                  <a:lnTo>
                    <a:pt x="4392803" y="0"/>
                  </a:lnTo>
                  <a:lnTo>
                    <a:pt x="4392803" y="2194433"/>
                  </a:lnTo>
                  <a:lnTo>
                    <a:pt x="0" y="2194433"/>
                  </a:lnTo>
                  <a:close/>
                </a:path>
              </a:pathLst>
            </a:custGeom>
            <a:solidFill>
              <a:srgbClr val="3B52A1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85725"/>
              <a:ext cx="4392800" cy="22801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800"/>
                </a:lnSpc>
              </a:pPr>
              <a:r>
                <a:rPr lang="en-US" sz="4000" b="1">
                  <a:solidFill>
                    <a:srgbClr val="FFFFFF"/>
                  </a:solidFill>
                  <a:latin typeface="Avenir Bold"/>
                  <a:ea typeface="Avenir Bold"/>
                  <a:cs typeface="Avenir Bold"/>
                  <a:sym typeface="Avenir Bold"/>
                </a:rPr>
                <a:t>{{CURRENTMONTH}}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9034700" y="3752600"/>
            <a:ext cx="3769122" cy="653180"/>
            <a:chOff x="0" y="0"/>
            <a:chExt cx="5025495" cy="870906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5025496" cy="870906"/>
            </a:xfrm>
            <a:custGeom>
              <a:avLst/>
              <a:gdLst/>
              <a:ahLst/>
              <a:cxnLst/>
              <a:rect l="l" t="t" r="r" b="b"/>
              <a:pathLst>
                <a:path w="5025496" h="870906">
                  <a:moveTo>
                    <a:pt x="0" y="0"/>
                  </a:moveTo>
                  <a:lnTo>
                    <a:pt x="5025496" y="0"/>
                  </a:lnTo>
                  <a:lnTo>
                    <a:pt x="5025496" y="870906"/>
                  </a:lnTo>
                  <a:lnTo>
                    <a:pt x="0" y="87090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-47625"/>
              <a:ext cx="5025495" cy="91853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400"/>
                </a:lnSpc>
              </a:pPr>
              <a:r>
                <a:rPr lang="en-US" sz="2000" b="1">
                  <a:solidFill>
                    <a:srgbClr val="3B52A1"/>
                  </a:solidFill>
                  <a:latin typeface="Avenir Bold"/>
                  <a:ea typeface="Avenir Bold"/>
                  <a:cs typeface="Avenir Bold"/>
                  <a:sym typeface="Avenir Bold"/>
                </a:rPr>
                <a:t>{{MOVOPER}} {{INCORDEC2}} vs. {{PREVMON}}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12544325" y="3737213"/>
            <a:ext cx="3700200" cy="653180"/>
            <a:chOff x="0" y="0"/>
            <a:chExt cx="4933600" cy="870906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4933600" cy="870906"/>
            </a:xfrm>
            <a:custGeom>
              <a:avLst/>
              <a:gdLst/>
              <a:ahLst/>
              <a:cxnLst/>
              <a:rect l="l" t="t" r="r" b="b"/>
              <a:pathLst>
                <a:path w="4933600" h="870906">
                  <a:moveTo>
                    <a:pt x="0" y="0"/>
                  </a:moveTo>
                  <a:lnTo>
                    <a:pt x="4933600" y="0"/>
                  </a:lnTo>
                  <a:lnTo>
                    <a:pt x="4933600" y="870906"/>
                  </a:lnTo>
                  <a:lnTo>
                    <a:pt x="0" y="87090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0" y="-47625"/>
              <a:ext cx="4933600" cy="91853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400"/>
                </a:lnSpc>
              </a:pPr>
              <a:r>
                <a:rPr lang="en-US" sz="2000" b="1">
                  <a:solidFill>
                    <a:srgbClr val="3B52A1"/>
                  </a:solidFill>
                  <a:latin typeface="Avenir Bold"/>
                  <a:ea typeface="Avenir Bold"/>
                  <a:cs typeface="Avenir Bold"/>
                  <a:sym typeface="Avenir Bold"/>
                </a:rPr>
                <a:t>{{MOVN}} {{INCORDEC3}} vs. {{PREVMON}}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0" y="9463800"/>
            <a:ext cx="18288000" cy="823200"/>
            <a:chOff x="0" y="0"/>
            <a:chExt cx="24384000" cy="109760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24384000" cy="1097661"/>
            </a:xfrm>
            <a:custGeom>
              <a:avLst/>
              <a:gdLst/>
              <a:ahLst/>
              <a:cxnLst/>
              <a:rect l="l" t="t" r="r" b="b"/>
              <a:pathLst>
                <a:path w="24384000" h="1097661">
                  <a:moveTo>
                    <a:pt x="0" y="0"/>
                  </a:moveTo>
                  <a:lnTo>
                    <a:pt x="24384000" y="0"/>
                  </a:lnTo>
                  <a:lnTo>
                    <a:pt x="24384000" y="1097661"/>
                  </a:lnTo>
                  <a:lnTo>
                    <a:pt x="0" y="1097661"/>
                  </a:lnTo>
                  <a:close/>
                </a:path>
              </a:pathLst>
            </a:custGeom>
            <a:solidFill>
              <a:srgbClr val="6F94CA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0" y="-47625"/>
              <a:ext cx="24384000" cy="11452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FFFFFF"/>
                  </a:solidFill>
                  <a:latin typeface="Avenir"/>
                  <a:ea typeface="Avenir"/>
                  <a:cs typeface="Avenir"/>
                  <a:sym typeface="Avenir"/>
                </a:rPr>
                <a:t>Owner Summary Report | {{CURRENTDATE}}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16920116" y="9481784"/>
            <a:ext cx="1097400" cy="787200"/>
            <a:chOff x="0" y="0"/>
            <a:chExt cx="1463200" cy="1049600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1463200" cy="1049600"/>
            </a:xfrm>
            <a:custGeom>
              <a:avLst/>
              <a:gdLst/>
              <a:ahLst/>
              <a:cxnLst/>
              <a:rect l="l" t="t" r="r" b="b"/>
              <a:pathLst>
                <a:path w="1463200" h="1049600">
                  <a:moveTo>
                    <a:pt x="0" y="0"/>
                  </a:moveTo>
                  <a:lnTo>
                    <a:pt x="1463200" y="0"/>
                  </a:lnTo>
                  <a:lnTo>
                    <a:pt x="1463200" y="1049600"/>
                  </a:lnTo>
                  <a:lnTo>
                    <a:pt x="0" y="10496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0" y="-47625"/>
              <a:ext cx="1463200" cy="10972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400"/>
                </a:lnSpc>
              </a:pPr>
              <a:r>
                <a:rPr lang="en-US" sz="2000">
                  <a:solidFill>
                    <a:srgbClr val="FFFFFF"/>
                  </a:solidFill>
                  <a:latin typeface="Avenir"/>
                  <a:ea typeface="Avenir"/>
                  <a:cs typeface="Avenir"/>
                  <a:sym typeface="Avenir"/>
                </a:rPr>
                <a:t>4</a:t>
              </a:r>
            </a:p>
          </p:txBody>
        </p:sp>
      </p:grpSp>
      <p:sp>
        <p:nvSpPr>
          <p:cNvPr id="36" name="TextBox 36"/>
          <p:cNvSpPr txBox="1"/>
          <p:nvPr/>
        </p:nvSpPr>
        <p:spPr>
          <a:xfrm>
            <a:off x="155301" y="8982351"/>
            <a:ext cx="5817150" cy="390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sz="1200" i="1">
                <a:solidFill>
                  <a:srgbClr val="595959"/>
                </a:solidFill>
                <a:latin typeface="Arial Italics"/>
                <a:ea typeface="Arial Italics"/>
                <a:cs typeface="Arial Italics"/>
                <a:sym typeface="Arial Italics"/>
              </a:rPr>
              <a:t>Trailing number includes current month.</a:t>
            </a:r>
          </a:p>
        </p:txBody>
      </p:sp>
      <p:grpSp>
        <p:nvGrpSpPr>
          <p:cNvPr id="37" name="Group 37"/>
          <p:cNvGrpSpPr/>
          <p:nvPr/>
        </p:nvGrpSpPr>
        <p:grpSpPr>
          <a:xfrm>
            <a:off x="4085378" y="8067748"/>
            <a:ext cx="2324100" cy="1318500"/>
            <a:chOff x="0" y="0"/>
            <a:chExt cx="3098800" cy="1758000"/>
          </a:xfrm>
        </p:grpSpPr>
        <p:sp>
          <p:nvSpPr>
            <p:cNvPr id="38" name="Freeform 38"/>
            <p:cNvSpPr/>
            <p:nvPr/>
          </p:nvSpPr>
          <p:spPr>
            <a:xfrm>
              <a:off x="25400" y="25400"/>
              <a:ext cx="3048000" cy="1707261"/>
            </a:xfrm>
            <a:custGeom>
              <a:avLst/>
              <a:gdLst/>
              <a:ahLst/>
              <a:cxnLst/>
              <a:rect l="l" t="t" r="r" b="b"/>
              <a:pathLst>
                <a:path w="3048000" h="1707261">
                  <a:moveTo>
                    <a:pt x="0" y="0"/>
                  </a:moveTo>
                  <a:lnTo>
                    <a:pt x="3048000" y="0"/>
                  </a:lnTo>
                  <a:lnTo>
                    <a:pt x="3048000" y="1707261"/>
                  </a:lnTo>
                  <a:lnTo>
                    <a:pt x="0" y="1707261"/>
                  </a:lnTo>
                  <a:close/>
                </a:path>
              </a:pathLst>
            </a:custGeom>
            <a:solidFill>
              <a:srgbClr val="504B4E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Freeform 39"/>
            <p:cNvSpPr/>
            <p:nvPr/>
          </p:nvSpPr>
          <p:spPr>
            <a:xfrm>
              <a:off x="0" y="0"/>
              <a:ext cx="3098800" cy="1758061"/>
            </a:xfrm>
            <a:custGeom>
              <a:avLst/>
              <a:gdLst/>
              <a:ahLst/>
              <a:cxnLst/>
              <a:rect l="l" t="t" r="r" b="b"/>
              <a:pathLst>
                <a:path w="3098800" h="1758061">
                  <a:moveTo>
                    <a:pt x="25400" y="0"/>
                  </a:moveTo>
                  <a:lnTo>
                    <a:pt x="3073400" y="0"/>
                  </a:lnTo>
                  <a:cubicBezTo>
                    <a:pt x="3087370" y="0"/>
                    <a:pt x="3098800" y="11430"/>
                    <a:pt x="3098800" y="25400"/>
                  </a:cubicBezTo>
                  <a:lnTo>
                    <a:pt x="3098800" y="1732661"/>
                  </a:lnTo>
                  <a:cubicBezTo>
                    <a:pt x="3098800" y="1746631"/>
                    <a:pt x="3087370" y="1758061"/>
                    <a:pt x="3073400" y="1758061"/>
                  </a:cubicBezTo>
                  <a:lnTo>
                    <a:pt x="25400" y="1758061"/>
                  </a:lnTo>
                  <a:cubicBezTo>
                    <a:pt x="11430" y="1758061"/>
                    <a:pt x="0" y="1746631"/>
                    <a:pt x="0" y="1732661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1732661"/>
                  </a:lnTo>
                  <a:lnTo>
                    <a:pt x="25400" y="1732661"/>
                  </a:lnTo>
                  <a:lnTo>
                    <a:pt x="25400" y="1707261"/>
                  </a:lnTo>
                  <a:lnTo>
                    <a:pt x="3073400" y="1707261"/>
                  </a:lnTo>
                  <a:lnTo>
                    <a:pt x="3073400" y="1732661"/>
                  </a:lnTo>
                  <a:lnTo>
                    <a:pt x="3048000" y="1732661"/>
                  </a:lnTo>
                  <a:lnTo>
                    <a:pt x="3048000" y="25400"/>
                  </a:lnTo>
                  <a:lnTo>
                    <a:pt x="3073400" y="25400"/>
                  </a:lnTo>
                  <a:lnTo>
                    <a:pt x="307340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504B4E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0" y="-57150"/>
              <a:ext cx="3098800" cy="18151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r>
                <a:rPr lang="en-US" sz="2799" b="1">
                  <a:solidFill>
                    <a:srgbClr val="FFFFFF"/>
                  </a:solidFill>
                  <a:latin typeface="Avenir Bold"/>
                  <a:ea typeface="Avenir Bold"/>
                  <a:cs typeface="Avenir Bold"/>
                  <a:sym typeface="Avenir Bold"/>
                </a:rPr>
                <a:t>TRAILING 12-MONTH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5541936" y="1951450"/>
            <a:ext cx="3310650" cy="1664850"/>
            <a:chOff x="0" y="0"/>
            <a:chExt cx="871941" cy="438479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871941" cy="438479"/>
            </a:xfrm>
            <a:custGeom>
              <a:avLst/>
              <a:gdLst/>
              <a:ahLst/>
              <a:cxnLst/>
              <a:rect l="l" t="t" r="r" b="b"/>
              <a:pathLst>
                <a:path w="871941" h="438479">
                  <a:moveTo>
                    <a:pt x="0" y="0"/>
                  </a:moveTo>
                  <a:lnTo>
                    <a:pt x="871941" y="0"/>
                  </a:lnTo>
                  <a:lnTo>
                    <a:pt x="871941" y="438479"/>
                  </a:lnTo>
                  <a:lnTo>
                    <a:pt x="0" y="43847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3B52A1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0" y="-47625"/>
              <a:ext cx="871941" cy="48610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00"/>
                </a:lnSpc>
              </a:pPr>
              <a:endParaRPr/>
            </a:p>
          </p:txBody>
        </p:sp>
      </p:grpSp>
      <p:sp>
        <p:nvSpPr>
          <p:cNvPr id="44" name="TextBox 44"/>
          <p:cNvSpPr txBox="1"/>
          <p:nvPr/>
        </p:nvSpPr>
        <p:spPr>
          <a:xfrm>
            <a:off x="5606657" y="2125238"/>
            <a:ext cx="3181207" cy="6896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039"/>
              </a:lnSpc>
              <a:spcBef>
                <a:spcPct val="0"/>
              </a:spcBef>
            </a:pPr>
            <a:r>
              <a:rPr lang="en-US" sz="3599" b="1" dirty="0">
                <a:solidFill>
                  <a:srgbClr val="3B52A1"/>
                </a:solidFill>
                <a:latin typeface="Avenir Bold"/>
                <a:ea typeface="Avenir Bold"/>
                <a:cs typeface="Avenir Bold"/>
                <a:sym typeface="Avenir Bold"/>
              </a:rPr>
              <a:t>{{MOVEINS}}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5562477" y="2833926"/>
            <a:ext cx="3269567" cy="561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199"/>
              </a:lnSpc>
              <a:spcBef>
                <a:spcPct val="0"/>
              </a:spcBef>
            </a:pPr>
            <a:r>
              <a:rPr lang="en-US" sz="2999" dirty="0">
                <a:solidFill>
                  <a:srgbClr val="3B52A1"/>
                </a:solidFill>
                <a:latin typeface="Avenir"/>
                <a:ea typeface="Avenir"/>
                <a:cs typeface="Avenir"/>
                <a:sym typeface="Avenir"/>
              </a:rPr>
              <a:t>Move-ins</a:t>
            </a:r>
          </a:p>
        </p:txBody>
      </p:sp>
      <p:grpSp>
        <p:nvGrpSpPr>
          <p:cNvPr id="46" name="Group 46"/>
          <p:cNvGrpSpPr/>
          <p:nvPr/>
        </p:nvGrpSpPr>
        <p:grpSpPr>
          <a:xfrm>
            <a:off x="9188027" y="1963175"/>
            <a:ext cx="3310650" cy="1664850"/>
            <a:chOff x="0" y="0"/>
            <a:chExt cx="871941" cy="438479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871941" cy="438479"/>
            </a:xfrm>
            <a:custGeom>
              <a:avLst/>
              <a:gdLst/>
              <a:ahLst/>
              <a:cxnLst/>
              <a:rect l="l" t="t" r="r" b="b"/>
              <a:pathLst>
                <a:path w="871941" h="438479">
                  <a:moveTo>
                    <a:pt x="0" y="0"/>
                  </a:moveTo>
                  <a:lnTo>
                    <a:pt x="871941" y="0"/>
                  </a:lnTo>
                  <a:lnTo>
                    <a:pt x="871941" y="438479"/>
                  </a:lnTo>
                  <a:lnTo>
                    <a:pt x="0" y="43847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3B52A1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0" y="-47625"/>
              <a:ext cx="871941" cy="48610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00"/>
                </a:lnSpc>
              </a:pPr>
              <a:endParaRPr/>
            </a:p>
          </p:txBody>
        </p:sp>
      </p:grpSp>
      <p:sp>
        <p:nvSpPr>
          <p:cNvPr id="49" name="TextBox 49"/>
          <p:cNvSpPr txBox="1"/>
          <p:nvPr/>
        </p:nvSpPr>
        <p:spPr>
          <a:xfrm>
            <a:off x="9252749" y="2094238"/>
            <a:ext cx="3181207" cy="6896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039"/>
              </a:lnSpc>
              <a:spcBef>
                <a:spcPct val="0"/>
              </a:spcBef>
            </a:pPr>
            <a:r>
              <a:rPr lang="en-US" sz="3599" b="1">
                <a:solidFill>
                  <a:srgbClr val="3B52A1"/>
                </a:solidFill>
                <a:latin typeface="Avenir Bold"/>
                <a:ea typeface="Avenir Bold"/>
                <a:cs typeface="Avenir Bold"/>
                <a:sym typeface="Avenir Bold"/>
              </a:rPr>
              <a:t>{{MOVEOUTS}}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9232445" y="2833926"/>
            <a:ext cx="3269567" cy="561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199"/>
              </a:lnSpc>
              <a:spcBef>
                <a:spcPct val="0"/>
              </a:spcBef>
            </a:pPr>
            <a:r>
              <a:rPr lang="en-US" sz="2999">
                <a:solidFill>
                  <a:srgbClr val="3B52A1"/>
                </a:solidFill>
                <a:latin typeface="Avenir"/>
                <a:ea typeface="Avenir"/>
                <a:cs typeface="Avenir"/>
                <a:sym typeface="Avenir"/>
              </a:rPr>
              <a:t>Move-outs</a:t>
            </a:r>
          </a:p>
        </p:txBody>
      </p:sp>
      <p:grpSp>
        <p:nvGrpSpPr>
          <p:cNvPr id="51" name="Group 51"/>
          <p:cNvGrpSpPr/>
          <p:nvPr/>
        </p:nvGrpSpPr>
        <p:grpSpPr>
          <a:xfrm>
            <a:off x="12739100" y="1932400"/>
            <a:ext cx="3310650" cy="1664850"/>
            <a:chOff x="0" y="0"/>
            <a:chExt cx="871941" cy="438479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871941" cy="438479"/>
            </a:xfrm>
            <a:custGeom>
              <a:avLst/>
              <a:gdLst/>
              <a:ahLst/>
              <a:cxnLst/>
              <a:rect l="l" t="t" r="r" b="b"/>
              <a:pathLst>
                <a:path w="871941" h="438479">
                  <a:moveTo>
                    <a:pt x="0" y="0"/>
                  </a:moveTo>
                  <a:lnTo>
                    <a:pt x="871941" y="0"/>
                  </a:lnTo>
                  <a:lnTo>
                    <a:pt x="871941" y="438479"/>
                  </a:lnTo>
                  <a:lnTo>
                    <a:pt x="0" y="43847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3B52A1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0" y="-47625"/>
              <a:ext cx="871941" cy="48610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00"/>
                </a:lnSpc>
              </a:pPr>
              <a:endParaRPr/>
            </a:p>
          </p:txBody>
        </p:sp>
      </p:grpSp>
      <p:sp>
        <p:nvSpPr>
          <p:cNvPr id="54" name="TextBox 54"/>
          <p:cNvSpPr txBox="1"/>
          <p:nvPr/>
        </p:nvSpPr>
        <p:spPr>
          <a:xfrm>
            <a:off x="12803822" y="2075188"/>
            <a:ext cx="3181207" cy="6896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039"/>
              </a:lnSpc>
              <a:spcBef>
                <a:spcPct val="0"/>
              </a:spcBef>
            </a:pPr>
            <a:r>
              <a:rPr lang="en-US" sz="3599" b="1">
                <a:solidFill>
                  <a:srgbClr val="3B52A1"/>
                </a:solidFill>
                <a:latin typeface="Avenir Bold"/>
                <a:ea typeface="Avenir Bold"/>
                <a:cs typeface="Avenir Bold"/>
                <a:sym typeface="Avenir Bold"/>
              </a:rPr>
              <a:t>{{NETMOVE}}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12761326" y="2833926"/>
            <a:ext cx="3269567" cy="561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199"/>
              </a:lnSpc>
              <a:spcBef>
                <a:spcPct val="0"/>
              </a:spcBef>
            </a:pPr>
            <a:r>
              <a:rPr lang="en-US" sz="2999">
                <a:solidFill>
                  <a:srgbClr val="3B52A1"/>
                </a:solidFill>
                <a:latin typeface="Avenir"/>
                <a:ea typeface="Avenir"/>
                <a:cs typeface="Avenir"/>
                <a:sym typeface="Avenir"/>
              </a:rPr>
              <a:t>Net</a:t>
            </a:r>
          </a:p>
        </p:txBody>
      </p:sp>
      <p:grpSp>
        <p:nvGrpSpPr>
          <p:cNvPr id="56" name="Group 56"/>
          <p:cNvGrpSpPr/>
          <p:nvPr/>
        </p:nvGrpSpPr>
        <p:grpSpPr>
          <a:xfrm>
            <a:off x="6883049" y="4790611"/>
            <a:ext cx="2274101" cy="1331239"/>
            <a:chOff x="0" y="0"/>
            <a:chExt cx="598940" cy="350614"/>
          </a:xfrm>
        </p:grpSpPr>
        <p:sp>
          <p:nvSpPr>
            <p:cNvPr id="57" name="Freeform 57"/>
            <p:cNvSpPr/>
            <p:nvPr/>
          </p:nvSpPr>
          <p:spPr>
            <a:xfrm>
              <a:off x="0" y="0"/>
              <a:ext cx="598940" cy="350614"/>
            </a:xfrm>
            <a:custGeom>
              <a:avLst/>
              <a:gdLst/>
              <a:ahLst/>
              <a:cxnLst/>
              <a:rect l="l" t="t" r="r" b="b"/>
              <a:pathLst>
                <a:path w="598940" h="350614">
                  <a:moveTo>
                    <a:pt x="0" y="0"/>
                  </a:moveTo>
                  <a:lnTo>
                    <a:pt x="598940" y="0"/>
                  </a:lnTo>
                  <a:lnTo>
                    <a:pt x="598940" y="350614"/>
                  </a:lnTo>
                  <a:lnTo>
                    <a:pt x="0" y="35061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3B52A1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0" y="-47625"/>
              <a:ext cx="598940" cy="39823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00"/>
                </a:lnSpc>
              </a:pPr>
              <a:endParaRPr/>
            </a:p>
          </p:txBody>
        </p:sp>
      </p:grpSp>
      <p:sp>
        <p:nvSpPr>
          <p:cNvPr id="59" name="TextBox 59"/>
          <p:cNvSpPr txBox="1"/>
          <p:nvPr/>
        </p:nvSpPr>
        <p:spPr>
          <a:xfrm>
            <a:off x="6409478" y="5458433"/>
            <a:ext cx="3269567" cy="4534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3B52A1"/>
                </a:solidFill>
                <a:latin typeface="Avenir"/>
                <a:ea typeface="Avenir"/>
                <a:cs typeface="Avenir"/>
                <a:sym typeface="Avenir"/>
              </a:rPr>
              <a:t>Move-ins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6369870" y="4895850"/>
            <a:ext cx="3181207" cy="4959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640"/>
              </a:lnSpc>
              <a:spcBef>
                <a:spcPct val="0"/>
              </a:spcBef>
            </a:pPr>
            <a:r>
              <a:rPr lang="en-US" sz="2600" b="1">
                <a:solidFill>
                  <a:srgbClr val="3B52A1"/>
                </a:solidFill>
                <a:latin typeface="Avenir Bold"/>
                <a:ea typeface="Avenir Bold"/>
                <a:cs typeface="Avenir Bold"/>
                <a:sym typeface="Avenir Bold"/>
              </a:rPr>
              <a:t>{{MOVEINSTRL3}}</a:t>
            </a:r>
          </a:p>
        </p:txBody>
      </p:sp>
      <p:grpSp>
        <p:nvGrpSpPr>
          <p:cNvPr id="61" name="Group 61"/>
          <p:cNvGrpSpPr/>
          <p:nvPr/>
        </p:nvGrpSpPr>
        <p:grpSpPr>
          <a:xfrm>
            <a:off x="9551077" y="4758822"/>
            <a:ext cx="2274101" cy="1331239"/>
            <a:chOff x="0" y="0"/>
            <a:chExt cx="598940" cy="350614"/>
          </a:xfrm>
        </p:grpSpPr>
        <p:sp>
          <p:nvSpPr>
            <p:cNvPr id="62" name="Freeform 62"/>
            <p:cNvSpPr/>
            <p:nvPr/>
          </p:nvSpPr>
          <p:spPr>
            <a:xfrm>
              <a:off x="0" y="0"/>
              <a:ext cx="598940" cy="350614"/>
            </a:xfrm>
            <a:custGeom>
              <a:avLst/>
              <a:gdLst/>
              <a:ahLst/>
              <a:cxnLst/>
              <a:rect l="l" t="t" r="r" b="b"/>
              <a:pathLst>
                <a:path w="598940" h="350614">
                  <a:moveTo>
                    <a:pt x="0" y="0"/>
                  </a:moveTo>
                  <a:lnTo>
                    <a:pt x="598940" y="0"/>
                  </a:lnTo>
                  <a:lnTo>
                    <a:pt x="598940" y="350614"/>
                  </a:lnTo>
                  <a:lnTo>
                    <a:pt x="0" y="35061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3B52A1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0" y="-47625"/>
              <a:ext cx="598940" cy="39823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00"/>
                </a:lnSpc>
              </a:pPr>
              <a:endParaRPr/>
            </a:p>
          </p:txBody>
        </p:sp>
      </p:grpSp>
      <p:sp>
        <p:nvSpPr>
          <p:cNvPr id="64" name="TextBox 64"/>
          <p:cNvSpPr txBox="1"/>
          <p:nvPr/>
        </p:nvSpPr>
        <p:spPr>
          <a:xfrm>
            <a:off x="9034700" y="4878415"/>
            <a:ext cx="3181207" cy="4959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640"/>
              </a:lnSpc>
              <a:spcBef>
                <a:spcPct val="0"/>
              </a:spcBef>
            </a:pPr>
            <a:r>
              <a:rPr lang="en-US" sz="2600" b="1">
                <a:solidFill>
                  <a:srgbClr val="3B52A1"/>
                </a:solidFill>
                <a:latin typeface="Avenir Bold"/>
                <a:ea typeface="Avenir Bold"/>
                <a:cs typeface="Avenir Bold"/>
                <a:sym typeface="Avenir Bold"/>
              </a:rPr>
              <a:t>{{MOVEOUTSTRL3}}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9068893" y="5458433"/>
            <a:ext cx="3269567" cy="4534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3B52A1"/>
                </a:solidFill>
                <a:latin typeface="Avenir"/>
                <a:ea typeface="Avenir"/>
                <a:cs typeface="Avenir"/>
                <a:sym typeface="Avenir"/>
              </a:rPr>
              <a:t>Move-outs</a:t>
            </a:r>
          </a:p>
        </p:txBody>
      </p:sp>
      <p:grpSp>
        <p:nvGrpSpPr>
          <p:cNvPr id="66" name="Group 66"/>
          <p:cNvGrpSpPr/>
          <p:nvPr/>
        </p:nvGrpSpPr>
        <p:grpSpPr>
          <a:xfrm>
            <a:off x="12215703" y="4758822"/>
            <a:ext cx="2274101" cy="1331239"/>
            <a:chOff x="0" y="0"/>
            <a:chExt cx="598940" cy="350614"/>
          </a:xfrm>
        </p:grpSpPr>
        <p:sp>
          <p:nvSpPr>
            <p:cNvPr id="67" name="Freeform 67"/>
            <p:cNvSpPr/>
            <p:nvPr/>
          </p:nvSpPr>
          <p:spPr>
            <a:xfrm>
              <a:off x="0" y="0"/>
              <a:ext cx="598940" cy="350614"/>
            </a:xfrm>
            <a:custGeom>
              <a:avLst/>
              <a:gdLst/>
              <a:ahLst/>
              <a:cxnLst/>
              <a:rect l="l" t="t" r="r" b="b"/>
              <a:pathLst>
                <a:path w="598940" h="350614">
                  <a:moveTo>
                    <a:pt x="0" y="0"/>
                  </a:moveTo>
                  <a:lnTo>
                    <a:pt x="598940" y="0"/>
                  </a:lnTo>
                  <a:lnTo>
                    <a:pt x="598940" y="350614"/>
                  </a:lnTo>
                  <a:lnTo>
                    <a:pt x="0" y="35061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3B52A1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0" y="-47625"/>
              <a:ext cx="598940" cy="39823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00"/>
                </a:lnSpc>
              </a:pPr>
              <a:endParaRPr/>
            </a:p>
          </p:txBody>
        </p:sp>
      </p:grpSp>
      <p:sp>
        <p:nvSpPr>
          <p:cNvPr id="69" name="TextBox 69"/>
          <p:cNvSpPr txBox="1"/>
          <p:nvPr/>
        </p:nvSpPr>
        <p:spPr>
          <a:xfrm>
            <a:off x="11736993" y="5460048"/>
            <a:ext cx="3269567" cy="4534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3B52A1"/>
                </a:solidFill>
                <a:latin typeface="Avenir"/>
                <a:ea typeface="Avenir"/>
                <a:cs typeface="Avenir"/>
                <a:sym typeface="Avenir"/>
              </a:rPr>
              <a:t>Net</a:t>
            </a:r>
          </a:p>
        </p:txBody>
      </p:sp>
      <p:sp>
        <p:nvSpPr>
          <p:cNvPr id="70" name="TextBox 70"/>
          <p:cNvSpPr txBox="1"/>
          <p:nvPr/>
        </p:nvSpPr>
        <p:spPr>
          <a:xfrm>
            <a:off x="11781223" y="4878415"/>
            <a:ext cx="3181207" cy="4959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640"/>
              </a:lnSpc>
              <a:spcBef>
                <a:spcPct val="0"/>
              </a:spcBef>
            </a:pPr>
            <a:r>
              <a:rPr lang="en-US" sz="2600" b="1">
                <a:solidFill>
                  <a:srgbClr val="3B52A1"/>
                </a:solidFill>
                <a:latin typeface="Avenir Bold"/>
                <a:ea typeface="Avenir Bold"/>
                <a:cs typeface="Avenir Bold"/>
                <a:sym typeface="Avenir Bold"/>
              </a:rPr>
              <a:t>{{NETTRL3}}</a:t>
            </a:r>
          </a:p>
        </p:txBody>
      </p:sp>
      <p:grpSp>
        <p:nvGrpSpPr>
          <p:cNvPr id="71" name="Group 71"/>
          <p:cNvGrpSpPr/>
          <p:nvPr/>
        </p:nvGrpSpPr>
        <p:grpSpPr>
          <a:xfrm>
            <a:off x="6883049" y="6326636"/>
            <a:ext cx="2274101" cy="1331239"/>
            <a:chOff x="0" y="0"/>
            <a:chExt cx="598940" cy="350614"/>
          </a:xfrm>
        </p:grpSpPr>
        <p:sp>
          <p:nvSpPr>
            <p:cNvPr id="72" name="Freeform 72"/>
            <p:cNvSpPr/>
            <p:nvPr/>
          </p:nvSpPr>
          <p:spPr>
            <a:xfrm>
              <a:off x="0" y="0"/>
              <a:ext cx="598940" cy="350614"/>
            </a:xfrm>
            <a:custGeom>
              <a:avLst/>
              <a:gdLst/>
              <a:ahLst/>
              <a:cxnLst/>
              <a:rect l="l" t="t" r="r" b="b"/>
              <a:pathLst>
                <a:path w="598940" h="350614">
                  <a:moveTo>
                    <a:pt x="0" y="0"/>
                  </a:moveTo>
                  <a:lnTo>
                    <a:pt x="598940" y="0"/>
                  </a:lnTo>
                  <a:lnTo>
                    <a:pt x="598940" y="350614"/>
                  </a:lnTo>
                  <a:lnTo>
                    <a:pt x="0" y="35061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9A9A9A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0" y="-47625"/>
              <a:ext cx="598940" cy="39823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00"/>
                </a:lnSpc>
              </a:pPr>
              <a:endParaRPr/>
            </a:p>
          </p:txBody>
        </p:sp>
      </p:grpSp>
      <p:grpSp>
        <p:nvGrpSpPr>
          <p:cNvPr id="74" name="Group 74"/>
          <p:cNvGrpSpPr/>
          <p:nvPr/>
        </p:nvGrpSpPr>
        <p:grpSpPr>
          <a:xfrm>
            <a:off x="9582100" y="6326636"/>
            <a:ext cx="2274101" cy="1331239"/>
            <a:chOff x="0" y="0"/>
            <a:chExt cx="598940" cy="350614"/>
          </a:xfrm>
        </p:grpSpPr>
        <p:sp>
          <p:nvSpPr>
            <p:cNvPr id="75" name="Freeform 75"/>
            <p:cNvSpPr/>
            <p:nvPr/>
          </p:nvSpPr>
          <p:spPr>
            <a:xfrm>
              <a:off x="0" y="0"/>
              <a:ext cx="598940" cy="350614"/>
            </a:xfrm>
            <a:custGeom>
              <a:avLst/>
              <a:gdLst/>
              <a:ahLst/>
              <a:cxnLst/>
              <a:rect l="l" t="t" r="r" b="b"/>
              <a:pathLst>
                <a:path w="598940" h="350614">
                  <a:moveTo>
                    <a:pt x="0" y="0"/>
                  </a:moveTo>
                  <a:lnTo>
                    <a:pt x="598940" y="0"/>
                  </a:lnTo>
                  <a:lnTo>
                    <a:pt x="598940" y="350614"/>
                  </a:lnTo>
                  <a:lnTo>
                    <a:pt x="0" y="35061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9A9A9A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0" y="-47625"/>
              <a:ext cx="598940" cy="39823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00"/>
                </a:lnSpc>
              </a:pPr>
              <a:endParaRPr/>
            </a:p>
          </p:txBody>
        </p:sp>
      </p:grpSp>
      <p:grpSp>
        <p:nvGrpSpPr>
          <p:cNvPr id="77" name="Group 77"/>
          <p:cNvGrpSpPr/>
          <p:nvPr/>
        </p:nvGrpSpPr>
        <p:grpSpPr>
          <a:xfrm>
            <a:off x="12215703" y="6320514"/>
            <a:ext cx="2274101" cy="1331239"/>
            <a:chOff x="0" y="0"/>
            <a:chExt cx="598940" cy="350614"/>
          </a:xfrm>
        </p:grpSpPr>
        <p:sp>
          <p:nvSpPr>
            <p:cNvPr id="78" name="Freeform 78"/>
            <p:cNvSpPr/>
            <p:nvPr/>
          </p:nvSpPr>
          <p:spPr>
            <a:xfrm>
              <a:off x="0" y="0"/>
              <a:ext cx="598940" cy="350614"/>
            </a:xfrm>
            <a:custGeom>
              <a:avLst/>
              <a:gdLst/>
              <a:ahLst/>
              <a:cxnLst/>
              <a:rect l="l" t="t" r="r" b="b"/>
              <a:pathLst>
                <a:path w="598940" h="350614">
                  <a:moveTo>
                    <a:pt x="0" y="0"/>
                  </a:moveTo>
                  <a:lnTo>
                    <a:pt x="598940" y="0"/>
                  </a:lnTo>
                  <a:lnTo>
                    <a:pt x="598940" y="350614"/>
                  </a:lnTo>
                  <a:lnTo>
                    <a:pt x="0" y="35061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9A9A9A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0" y="-47625"/>
              <a:ext cx="598940" cy="39823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00"/>
                </a:lnSpc>
              </a:pPr>
              <a:endParaRPr/>
            </a:p>
          </p:txBody>
        </p:sp>
      </p:grpSp>
      <p:sp>
        <p:nvSpPr>
          <p:cNvPr id="80" name="TextBox 80"/>
          <p:cNvSpPr txBox="1"/>
          <p:nvPr/>
        </p:nvSpPr>
        <p:spPr>
          <a:xfrm>
            <a:off x="6444971" y="6496348"/>
            <a:ext cx="3181207" cy="4959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640"/>
              </a:lnSpc>
              <a:spcBef>
                <a:spcPct val="0"/>
              </a:spcBef>
            </a:pPr>
            <a:r>
              <a:rPr lang="en-US" sz="2600" b="1">
                <a:solidFill>
                  <a:srgbClr val="9A9A9A"/>
                </a:solidFill>
                <a:latin typeface="Avenir Bold"/>
                <a:ea typeface="Avenir Bold"/>
                <a:cs typeface="Avenir Bold"/>
                <a:sym typeface="Avenir Bold"/>
              </a:rPr>
              <a:t>{{MOVEINSTRL6}}</a:t>
            </a:r>
          </a:p>
        </p:txBody>
      </p:sp>
      <p:sp>
        <p:nvSpPr>
          <p:cNvPr id="81" name="TextBox 81"/>
          <p:cNvSpPr txBox="1"/>
          <p:nvPr/>
        </p:nvSpPr>
        <p:spPr>
          <a:xfrm>
            <a:off x="6325690" y="7020830"/>
            <a:ext cx="3269567" cy="4534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9A9A9A"/>
                </a:solidFill>
                <a:latin typeface="Avenir"/>
                <a:ea typeface="Avenir"/>
                <a:cs typeface="Avenir"/>
                <a:sym typeface="Avenir"/>
              </a:rPr>
              <a:t>Move-ins</a:t>
            </a:r>
          </a:p>
        </p:txBody>
      </p:sp>
      <p:sp>
        <p:nvSpPr>
          <p:cNvPr id="82" name="TextBox 82"/>
          <p:cNvSpPr txBox="1"/>
          <p:nvPr/>
        </p:nvSpPr>
        <p:spPr>
          <a:xfrm>
            <a:off x="9143900" y="6490226"/>
            <a:ext cx="3181207" cy="4959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640"/>
              </a:lnSpc>
              <a:spcBef>
                <a:spcPct val="0"/>
              </a:spcBef>
            </a:pPr>
            <a:r>
              <a:rPr lang="en-US" sz="2600" b="1">
                <a:solidFill>
                  <a:srgbClr val="9A9A9A"/>
                </a:solidFill>
                <a:latin typeface="Avenir Bold"/>
                <a:ea typeface="Avenir Bold"/>
                <a:cs typeface="Avenir Bold"/>
                <a:sym typeface="Avenir Bold"/>
              </a:rPr>
              <a:t>{{MOVEOUTSTRL6}}</a:t>
            </a:r>
          </a:p>
        </p:txBody>
      </p:sp>
      <p:sp>
        <p:nvSpPr>
          <p:cNvPr id="83" name="TextBox 83"/>
          <p:cNvSpPr txBox="1"/>
          <p:nvPr/>
        </p:nvSpPr>
        <p:spPr>
          <a:xfrm>
            <a:off x="9099720" y="6955348"/>
            <a:ext cx="3269567" cy="4534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9A9A9A"/>
                </a:solidFill>
                <a:latin typeface="Avenir"/>
                <a:ea typeface="Avenir"/>
                <a:cs typeface="Avenir"/>
                <a:sym typeface="Avenir"/>
              </a:rPr>
              <a:t>Move-outs</a:t>
            </a:r>
          </a:p>
        </p:txBody>
      </p:sp>
      <p:sp>
        <p:nvSpPr>
          <p:cNvPr id="84" name="TextBox 84"/>
          <p:cNvSpPr txBox="1"/>
          <p:nvPr/>
        </p:nvSpPr>
        <p:spPr>
          <a:xfrm>
            <a:off x="11717970" y="6955348"/>
            <a:ext cx="3269567" cy="4534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9A9A9A"/>
                </a:solidFill>
                <a:latin typeface="Avenir"/>
                <a:ea typeface="Avenir"/>
                <a:cs typeface="Avenir"/>
                <a:sym typeface="Avenir"/>
              </a:rPr>
              <a:t>Net</a:t>
            </a:r>
          </a:p>
        </p:txBody>
      </p:sp>
      <p:sp>
        <p:nvSpPr>
          <p:cNvPr id="85" name="TextBox 85"/>
          <p:cNvSpPr txBox="1"/>
          <p:nvPr/>
        </p:nvSpPr>
        <p:spPr>
          <a:xfrm>
            <a:off x="11717970" y="6490226"/>
            <a:ext cx="3181207" cy="4959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640"/>
              </a:lnSpc>
              <a:spcBef>
                <a:spcPct val="0"/>
              </a:spcBef>
            </a:pPr>
            <a:r>
              <a:rPr lang="en-US" sz="2600" b="1">
                <a:solidFill>
                  <a:srgbClr val="9A9A9A"/>
                </a:solidFill>
                <a:latin typeface="Avenir Bold"/>
                <a:ea typeface="Avenir Bold"/>
                <a:cs typeface="Avenir Bold"/>
                <a:sym typeface="Avenir Bold"/>
              </a:rPr>
              <a:t>{{NETTRL6}}</a:t>
            </a:r>
          </a:p>
        </p:txBody>
      </p:sp>
      <p:grpSp>
        <p:nvGrpSpPr>
          <p:cNvPr id="86" name="Group 86"/>
          <p:cNvGrpSpPr/>
          <p:nvPr/>
        </p:nvGrpSpPr>
        <p:grpSpPr>
          <a:xfrm>
            <a:off x="6883049" y="8061378"/>
            <a:ext cx="2274101" cy="1331239"/>
            <a:chOff x="0" y="0"/>
            <a:chExt cx="598940" cy="350614"/>
          </a:xfrm>
        </p:grpSpPr>
        <p:sp>
          <p:nvSpPr>
            <p:cNvPr id="87" name="Freeform 87"/>
            <p:cNvSpPr/>
            <p:nvPr/>
          </p:nvSpPr>
          <p:spPr>
            <a:xfrm>
              <a:off x="0" y="0"/>
              <a:ext cx="598940" cy="350614"/>
            </a:xfrm>
            <a:custGeom>
              <a:avLst/>
              <a:gdLst/>
              <a:ahLst/>
              <a:cxnLst/>
              <a:rect l="l" t="t" r="r" b="b"/>
              <a:pathLst>
                <a:path w="598940" h="350614">
                  <a:moveTo>
                    <a:pt x="0" y="0"/>
                  </a:moveTo>
                  <a:lnTo>
                    <a:pt x="598940" y="0"/>
                  </a:lnTo>
                  <a:lnTo>
                    <a:pt x="598940" y="350614"/>
                  </a:lnTo>
                  <a:lnTo>
                    <a:pt x="0" y="35061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504B4E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0" y="-47625"/>
              <a:ext cx="598940" cy="39823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00"/>
                </a:lnSpc>
              </a:pPr>
              <a:endParaRPr/>
            </a:p>
          </p:txBody>
        </p:sp>
      </p:grpSp>
      <p:grpSp>
        <p:nvGrpSpPr>
          <p:cNvPr id="89" name="Group 89"/>
          <p:cNvGrpSpPr/>
          <p:nvPr/>
        </p:nvGrpSpPr>
        <p:grpSpPr>
          <a:xfrm>
            <a:off x="9582100" y="8076975"/>
            <a:ext cx="2274101" cy="1331239"/>
            <a:chOff x="0" y="0"/>
            <a:chExt cx="598940" cy="350614"/>
          </a:xfrm>
        </p:grpSpPr>
        <p:sp>
          <p:nvSpPr>
            <p:cNvPr id="90" name="Freeform 90"/>
            <p:cNvSpPr/>
            <p:nvPr/>
          </p:nvSpPr>
          <p:spPr>
            <a:xfrm>
              <a:off x="0" y="0"/>
              <a:ext cx="598940" cy="350614"/>
            </a:xfrm>
            <a:custGeom>
              <a:avLst/>
              <a:gdLst/>
              <a:ahLst/>
              <a:cxnLst/>
              <a:rect l="l" t="t" r="r" b="b"/>
              <a:pathLst>
                <a:path w="598940" h="350614">
                  <a:moveTo>
                    <a:pt x="0" y="0"/>
                  </a:moveTo>
                  <a:lnTo>
                    <a:pt x="598940" y="0"/>
                  </a:lnTo>
                  <a:lnTo>
                    <a:pt x="598940" y="350614"/>
                  </a:lnTo>
                  <a:lnTo>
                    <a:pt x="0" y="35061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504B4E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1" name="TextBox 91"/>
            <p:cNvSpPr txBox="1"/>
            <p:nvPr/>
          </p:nvSpPr>
          <p:spPr>
            <a:xfrm>
              <a:off x="0" y="-47625"/>
              <a:ext cx="598940" cy="39823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00"/>
                </a:lnSpc>
              </a:pPr>
              <a:endParaRPr/>
            </a:p>
          </p:txBody>
        </p:sp>
      </p:grpSp>
      <p:grpSp>
        <p:nvGrpSpPr>
          <p:cNvPr id="92" name="Group 92"/>
          <p:cNvGrpSpPr/>
          <p:nvPr/>
        </p:nvGrpSpPr>
        <p:grpSpPr>
          <a:xfrm>
            <a:off x="12215907" y="8041112"/>
            <a:ext cx="2274101" cy="1331239"/>
            <a:chOff x="0" y="0"/>
            <a:chExt cx="598940" cy="350614"/>
          </a:xfrm>
        </p:grpSpPr>
        <p:sp>
          <p:nvSpPr>
            <p:cNvPr id="93" name="Freeform 93"/>
            <p:cNvSpPr/>
            <p:nvPr/>
          </p:nvSpPr>
          <p:spPr>
            <a:xfrm>
              <a:off x="0" y="0"/>
              <a:ext cx="598940" cy="350614"/>
            </a:xfrm>
            <a:custGeom>
              <a:avLst/>
              <a:gdLst/>
              <a:ahLst/>
              <a:cxnLst/>
              <a:rect l="l" t="t" r="r" b="b"/>
              <a:pathLst>
                <a:path w="598940" h="350614">
                  <a:moveTo>
                    <a:pt x="0" y="0"/>
                  </a:moveTo>
                  <a:lnTo>
                    <a:pt x="598940" y="0"/>
                  </a:lnTo>
                  <a:lnTo>
                    <a:pt x="598940" y="350614"/>
                  </a:lnTo>
                  <a:lnTo>
                    <a:pt x="0" y="35061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504B4E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4" name="TextBox 94"/>
            <p:cNvSpPr txBox="1"/>
            <p:nvPr/>
          </p:nvSpPr>
          <p:spPr>
            <a:xfrm>
              <a:off x="0" y="-47625"/>
              <a:ext cx="598940" cy="39823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00"/>
                </a:lnSpc>
              </a:pPr>
              <a:endParaRPr/>
            </a:p>
          </p:txBody>
        </p:sp>
      </p:grpSp>
      <p:sp>
        <p:nvSpPr>
          <p:cNvPr id="95" name="TextBox 95"/>
          <p:cNvSpPr txBox="1"/>
          <p:nvPr/>
        </p:nvSpPr>
        <p:spPr>
          <a:xfrm>
            <a:off x="6517856" y="8153175"/>
            <a:ext cx="3181207" cy="4959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640"/>
              </a:lnSpc>
              <a:spcBef>
                <a:spcPct val="0"/>
              </a:spcBef>
            </a:pPr>
            <a:r>
              <a:rPr lang="en-US" sz="2600" b="1">
                <a:solidFill>
                  <a:srgbClr val="504B4E"/>
                </a:solidFill>
                <a:latin typeface="Avenir Bold"/>
                <a:ea typeface="Avenir Bold"/>
                <a:cs typeface="Avenir Bold"/>
                <a:sym typeface="Avenir Bold"/>
              </a:rPr>
              <a:t>{{MOVEINSTRL12}}</a:t>
            </a:r>
          </a:p>
        </p:txBody>
      </p:sp>
      <p:sp>
        <p:nvSpPr>
          <p:cNvPr id="96" name="TextBox 96"/>
          <p:cNvSpPr txBox="1"/>
          <p:nvPr/>
        </p:nvSpPr>
        <p:spPr>
          <a:xfrm>
            <a:off x="6281510" y="8715758"/>
            <a:ext cx="3269567" cy="4534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504B4E"/>
                </a:solidFill>
                <a:latin typeface="Avenir"/>
                <a:ea typeface="Avenir"/>
                <a:cs typeface="Avenir"/>
                <a:sym typeface="Avenir"/>
              </a:rPr>
              <a:t>Move-ins</a:t>
            </a:r>
          </a:p>
        </p:txBody>
      </p:sp>
      <p:sp>
        <p:nvSpPr>
          <p:cNvPr id="97" name="TextBox 97"/>
          <p:cNvSpPr txBox="1"/>
          <p:nvPr/>
        </p:nvSpPr>
        <p:spPr>
          <a:xfrm>
            <a:off x="9128547" y="8153175"/>
            <a:ext cx="3181207" cy="9530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640"/>
              </a:lnSpc>
              <a:spcBef>
                <a:spcPct val="0"/>
              </a:spcBef>
            </a:pPr>
            <a:r>
              <a:rPr lang="en-US" sz="2600" b="1">
                <a:solidFill>
                  <a:srgbClr val="504B4E"/>
                </a:solidFill>
                <a:latin typeface="Avenir Bold"/>
                <a:ea typeface="Avenir Bold"/>
                <a:cs typeface="Avenir Bold"/>
                <a:sym typeface="Avenir Bold"/>
              </a:rPr>
              <a:t>{{MOVEOUTSTRL12}}</a:t>
            </a:r>
          </a:p>
        </p:txBody>
      </p:sp>
      <p:sp>
        <p:nvSpPr>
          <p:cNvPr id="98" name="TextBox 98"/>
          <p:cNvSpPr txBox="1"/>
          <p:nvPr/>
        </p:nvSpPr>
        <p:spPr>
          <a:xfrm>
            <a:off x="9068893" y="8715758"/>
            <a:ext cx="3269567" cy="4534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504B4E"/>
                </a:solidFill>
                <a:latin typeface="Avenir"/>
                <a:ea typeface="Avenir"/>
                <a:cs typeface="Avenir"/>
                <a:sym typeface="Avenir"/>
              </a:rPr>
              <a:t>Move-outs</a:t>
            </a:r>
          </a:p>
        </p:txBody>
      </p:sp>
      <p:sp>
        <p:nvSpPr>
          <p:cNvPr id="99" name="TextBox 99"/>
          <p:cNvSpPr txBox="1"/>
          <p:nvPr/>
        </p:nvSpPr>
        <p:spPr>
          <a:xfrm>
            <a:off x="11762150" y="8153175"/>
            <a:ext cx="3181207" cy="4959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640"/>
              </a:lnSpc>
              <a:spcBef>
                <a:spcPct val="0"/>
              </a:spcBef>
            </a:pPr>
            <a:r>
              <a:rPr lang="en-US" sz="2600" b="1">
                <a:solidFill>
                  <a:srgbClr val="504B4E"/>
                </a:solidFill>
                <a:latin typeface="Avenir Bold"/>
                <a:ea typeface="Avenir Bold"/>
                <a:cs typeface="Avenir Bold"/>
                <a:sym typeface="Avenir Bold"/>
              </a:rPr>
              <a:t>{{NETTRL12}}</a:t>
            </a:r>
          </a:p>
        </p:txBody>
      </p:sp>
      <p:sp>
        <p:nvSpPr>
          <p:cNvPr id="100" name="TextBox 100"/>
          <p:cNvSpPr txBox="1"/>
          <p:nvPr/>
        </p:nvSpPr>
        <p:spPr>
          <a:xfrm>
            <a:off x="11718174" y="8715758"/>
            <a:ext cx="3269567" cy="4534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504B4E"/>
                </a:solidFill>
                <a:latin typeface="Avenir"/>
                <a:ea typeface="Avenir"/>
                <a:cs typeface="Avenir"/>
                <a:sym typeface="Avenir"/>
              </a:rPr>
              <a:t>Net</a:t>
            </a:r>
          </a:p>
        </p:txBody>
      </p:sp>
      <p:grpSp>
        <p:nvGrpSpPr>
          <p:cNvPr id="104" name="Group 8">
            <a:extLst>
              <a:ext uri="{FF2B5EF4-FFF2-40B4-BE49-F238E27FC236}">
                <a16:creationId xmlns:a16="http://schemas.microsoft.com/office/drawing/2014/main" id="{EE292075-059A-6F08-DE48-4A8DDBBA0B11}"/>
              </a:ext>
            </a:extLst>
          </p:cNvPr>
          <p:cNvGrpSpPr/>
          <p:nvPr/>
        </p:nvGrpSpPr>
        <p:grpSpPr>
          <a:xfrm>
            <a:off x="0" y="-190500"/>
            <a:ext cx="18288000" cy="1609200"/>
            <a:chOff x="0" y="0"/>
            <a:chExt cx="24384000" cy="2145600"/>
          </a:xfrm>
        </p:grpSpPr>
        <p:sp>
          <p:nvSpPr>
            <p:cNvPr id="105" name="Freeform 9">
              <a:extLst>
                <a:ext uri="{FF2B5EF4-FFF2-40B4-BE49-F238E27FC236}">
                  <a16:creationId xmlns:a16="http://schemas.microsoft.com/office/drawing/2014/main" id="{113FD3DC-1311-0C31-50E9-18F8169BD813}"/>
                </a:ext>
              </a:extLst>
            </p:cNvPr>
            <p:cNvSpPr/>
            <p:nvPr/>
          </p:nvSpPr>
          <p:spPr>
            <a:xfrm>
              <a:off x="0" y="0"/>
              <a:ext cx="24384000" cy="2145538"/>
            </a:xfrm>
            <a:custGeom>
              <a:avLst/>
              <a:gdLst/>
              <a:ahLst/>
              <a:cxnLst/>
              <a:rect l="l" t="t" r="r" b="b"/>
              <a:pathLst>
                <a:path w="24384000" h="2145538">
                  <a:moveTo>
                    <a:pt x="0" y="0"/>
                  </a:moveTo>
                  <a:lnTo>
                    <a:pt x="24384000" y="0"/>
                  </a:lnTo>
                  <a:lnTo>
                    <a:pt x="24384000" y="2145538"/>
                  </a:lnTo>
                  <a:lnTo>
                    <a:pt x="0" y="2145538"/>
                  </a:lnTo>
                  <a:close/>
                </a:path>
              </a:pathLst>
            </a:custGeom>
            <a:solidFill>
              <a:srgbClr val="3B52A1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6" name="TextBox 10">
              <a:extLst>
                <a:ext uri="{FF2B5EF4-FFF2-40B4-BE49-F238E27FC236}">
                  <a16:creationId xmlns:a16="http://schemas.microsoft.com/office/drawing/2014/main" id="{8269F3FC-56DA-1FF6-AB8F-11D27ECBE60E}"/>
                </a:ext>
              </a:extLst>
            </p:cNvPr>
            <p:cNvSpPr txBox="1"/>
            <p:nvPr/>
          </p:nvSpPr>
          <p:spPr>
            <a:xfrm>
              <a:off x="0" y="-95250"/>
              <a:ext cx="24384000" cy="22408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5999"/>
                </a:lnSpc>
              </a:pPr>
              <a:r>
                <a:rPr lang="en-US" sz="4999">
                  <a:solidFill>
                    <a:srgbClr val="FFFFFF"/>
                  </a:solidFill>
                  <a:latin typeface="Avenir"/>
                  <a:ea typeface="Avenir"/>
                  <a:cs typeface="Avenir"/>
                  <a:sym typeface="Avenir"/>
                </a:rPr>
                <a:t> {{CURRENTMONTH}} Performance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478834"/>
            <a:ext cx="18288000" cy="823200"/>
            <a:chOff x="0" y="0"/>
            <a:chExt cx="24384000" cy="10976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097661"/>
            </a:xfrm>
            <a:custGeom>
              <a:avLst/>
              <a:gdLst/>
              <a:ahLst/>
              <a:cxnLst/>
              <a:rect l="l" t="t" r="r" b="b"/>
              <a:pathLst>
                <a:path w="24384000" h="1097661">
                  <a:moveTo>
                    <a:pt x="0" y="0"/>
                  </a:moveTo>
                  <a:lnTo>
                    <a:pt x="24384000" y="0"/>
                  </a:lnTo>
                  <a:lnTo>
                    <a:pt x="24384000" y="1097661"/>
                  </a:lnTo>
                  <a:lnTo>
                    <a:pt x="0" y="1097661"/>
                  </a:lnTo>
                  <a:close/>
                </a:path>
              </a:pathLst>
            </a:custGeom>
            <a:solidFill>
              <a:srgbClr val="6F94CA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24384000" cy="11452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FFFFFF"/>
                  </a:solidFill>
                  <a:latin typeface="Avenir"/>
                  <a:ea typeface="Avenir"/>
                  <a:cs typeface="Avenir"/>
                  <a:sym typeface="Avenir"/>
                </a:rPr>
                <a:t>Owner Summary Report | {{CURRENTDATE}}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6944916" y="9478834"/>
            <a:ext cx="1097400" cy="787200"/>
            <a:chOff x="0" y="0"/>
            <a:chExt cx="1463200" cy="10496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463200" cy="1049600"/>
            </a:xfrm>
            <a:custGeom>
              <a:avLst/>
              <a:gdLst/>
              <a:ahLst/>
              <a:cxnLst/>
              <a:rect l="l" t="t" r="r" b="b"/>
              <a:pathLst>
                <a:path w="1463200" h="1049600">
                  <a:moveTo>
                    <a:pt x="0" y="0"/>
                  </a:moveTo>
                  <a:lnTo>
                    <a:pt x="1463200" y="0"/>
                  </a:lnTo>
                  <a:lnTo>
                    <a:pt x="1463200" y="1049600"/>
                  </a:lnTo>
                  <a:lnTo>
                    <a:pt x="0" y="10496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1463200" cy="10972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400"/>
                </a:lnSpc>
              </a:pPr>
              <a:r>
                <a:rPr lang="en-US" sz="2000">
                  <a:solidFill>
                    <a:srgbClr val="FFFFFF"/>
                  </a:solidFill>
                  <a:latin typeface="Avenir"/>
                  <a:ea typeface="Avenir"/>
                  <a:cs typeface="Avenir"/>
                  <a:sym typeface="Avenir"/>
                </a:rPr>
                <a:t>5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0" y="0"/>
            <a:ext cx="18288000" cy="1609200"/>
            <a:chOff x="0" y="0"/>
            <a:chExt cx="24384000" cy="21456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4384000" cy="2145538"/>
            </a:xfrm>
            <a:custGeom>
              <a:avLst/>
              <a:gdLst/>
              <a:ahLst/>
              <a:cxnLst/>
              <a:rect l="l" t="t" r="r" b="b"/>
              <a:pathLst>
                <a:path w="24384000" h="2145538">
                  <a:moveTo>
                    <a:pt x="0" y="0"/>
                  </a:moveTo>
                  <a:lnTo>
                    <a:pt x="24384000" y="0"/>
                  </a:lnTo>
                  <a:lnTo>
                    <a:pt x="24384000" y="2145538"/>
                  </a:lnTo>
                  <a:lnTo>
                    <a:pt x="0" y="2145538"/>
                  </a:lnTo>
                  <a:close/>
                </a:path>
              </a:pathLst>
            </a:custGeom>
            <a:solidFill>
              <a:srgbClr val="3B52A1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95250"/>
              <a:ext cx="24384000" cy="22408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5999"/>
                </a:lnSpc>
              </a:pPr>
              <a:r>
                <a:rPr lang="en-US" sz="4999">
                  <a:solidFill>
                    <a:srgbClr val="FFFFFF"/>
                  </a:solidFill>
                  <a:latin typeface="Avenir"/>
                  <a:ea typeface="Avenir"/>
                  <a:cs typeface="Avenir"/>
                  <a:sym typeface="Avenir"/>
                </a:rPr>
                <a:t> {{CURRENTMONTH}} Performance</a:t>
              </a:r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155301" y="9080201"/>
            <a:ext cx="5817150" cy="390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sz="1200" i="1">
                <a:solidFill>
                  <a:srgbClr val="595959"/>
                </a:solidFill>
                <a:latin typeface="Arial Italics"/>
                <a:ea typeface="Arial Italics"/>
                <a:cs typeface="Arial Italics"/>
                <a:sym typeface="Arial Italics"/>
              </a:rPr>
              <a:t>Definitions in rate management report.</a:t>
            </a:r>
          </a:p>
        </p:txBody>
      </p:sp>
      <p:graphicFrame>
        <p:nvGraphicFramePr>
          <p:cNvPr id="13" name="Table 13"/>
          <p:cNvGraphicFramePr>
            <a:graphicFrameLocks noGrp="1"/>
          </p:cNvGraphicFramePr>
          <p:nvPr/>
        </p:nvGraphicFramePr>
        <p:xfrm>
          <a:off x="1576076" y="1609188"/>
          <a:ext cx="1625600" cy="762000"/>
        </p:xfrm>
        <a:graphic>
          <a:graphicData uri="http://schemas.openxmlformats.org/drawingml/2006/table">
            <a:tbl>
              <a:tblPr/>
              <a:tblGrid>
                <a:gridCol w="1625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762000">
                <a:tc>
                  <a:txBody>
                    <a:bodyPr/>
                    <a:lstStyle/>
                    <a:p>
                      <a:pPr algn="l">
                        <a:lnSpc>
                          <a:spcPts val="2760"/>
                        </a:lnSpc>
                        <a:defRPr/>
                      </a:pPr>
                      <a:r>
                        <a:rPr lang="en-US" sz="2000" b="1">
                          <a:solidFill>
                            <a:srgbClr val="3B52A1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SUMMARY</a:t>
                      </a:r>
                      <a:endParaRPr lang="en-US" sz="1100"/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4" name="Table 14"/>
          <p:cNvGraphicFramePr>
            <a:graphicFrameLocks noGrp="1"/>
          </p:cNvGraphicFramePr>
          <p:nvPr/>
        </p:nvGraphicFramePr>
        <p:xfrm>
          <a:off x="10431576" y="1609212"/>
          <a:ext cx="2971800" cy="762000"/>
        </p:xfrm>
        <a:graphic>
          <a:graphicData uri="http://schemas.openxmlformats.org/drawingml/2006/table">
            <a:tbl>
              <a:tblPr/>
              <a:tblGrid>
                <a:gridCol w="2971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762000">
                <a:tc>
                  <a:txBody>
                    <a:bodyPr/>
                    <a:lstStyle/>
                    <a:p>
                      <a:pPr algn="l">
                        <a:lnSpc>
                          <a:spcPts val="2760"/>
                        </a:lnSpc>
                        <a:defRPr/>
                      </a:pPr>
                      <a:r>
                        <a:rPr lang="en-US" sz="2000" b="1">
                          <a:solidFill>
                            <a:srgbClr val="3B52A1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RATE MANAGEMENT</a:t>
                      </a:r>
                      <a:endParaRPr lang="en-US" sz="1100"/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5" name="Table 15"/>
          <p:cNvGraphicFramePr>
            <a:graphicFrameLocks noGrp="1"/>
          </p:cNvGraphicFramePr>
          <p:nvPr/>
        </p:nvGraphicFramePr>
        <p:xfrm>
          <a:off x="1576100" y="2673900"/>
          <a:ext cx="7215330" cy="5765800"/>
        </p:xfrm>
        <a:graphic>
          <a:graphicData uri="http://schemas.openxmlformats.org/drawingml/2006/table">
            <a:tbl>
              <a:tblPr/>
              <a:tblGrid>
                <a:gridCol w="32498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0659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5887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91365">
                <a:tc>
                  <a:txBody>
                    <a:bodyPr/>
                    <a:lstStyle/>
                    <a:p>
                      <a:pPr algn="ctr">
                        <a:lnSpc>
                          <a:spcPts val="2483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KPI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52A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83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Current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52A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83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Last Month Value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52A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0603">
                <a:tc>
                  <a:txBody>
                    <a:bodyPr/>
                    <a:lstStyle/>
                    <a:p>
                      <a:pPr algn="ctr">
                        <a:lnSpc>
                          <a:spcPts val="2483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SqFt Occupancy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83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{{SFTOC}}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83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{{SFTOCLM}}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8537">
                <a:tc>
                  <a:txBody>
                    <a:bodyPr/>
                    <a:lstStyle/>
                    <a:p>
                      <a:pPr algn="ctr">
                        <a:lnSpc>
                          <a:spcPts val="2483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MTD MoveIns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83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{{MTDMI}}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83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{{MTDMILM}}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2717">
                <a:tc>
                  <a:txBody>
                    <a:bodyPr/>
                    <a:lstStyle/>
                    <a:p>
                      <a:pPr algn="ctr">
                        <a:lnSpc>
                          <a:spcPts val="2483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$/SqFt MoveIns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83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{{DSFTMI}}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83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{{DSFTMILM}}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0817">
                <a:tc>
                  <a:txBody>
                    <a:bodyPr/>
                    <a:lstStyle/>
                    <a:p>
                      <a:pPr algn="ctr">
                        <a:lnSpc>
                          <a:spcPts val="2483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MTD Moveouts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83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{{MTDMO}}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83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{{MTDMOLM}}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18750">
                <a:tc>
                  <a:txBody>
                    <a:bodyPr/>
                    <a:lstStyle/>
                    <a:p>
                      <a:pPr algn="ctr">
                        <a:lnSpc>
                          <a:spcPts val="2483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$/SqFt MoveOuts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83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{{DSFTMO}}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83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{{DSFTMOLM}}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91470">
                <a:tc>
                  <a:txBody>
                    <a:bodyPr/>
                    <a:lstStyle/>
                    <a:p>
                      <a:pPr algn="ctr">
                        <a:lnSpc>
                          <a:spcPts val="2483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% Occ Units LOR &gt; 6 Months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83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{{PERLOR}}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83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{{PERLORLM}}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34737">
                <a:tc>
                  <a:txBody>
                    <a:bodyPr/>
                    <a:lstStyle/>
                    <a:p>
                      <a:pPr algn="ctr">
                        <a:lnSpc>
                          <a:spcPts val="2483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Avg LOR of MoveOuts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83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{{AVGLOR}}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83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{{AVGLORLM}}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666804">
                <a:tc>
                  <a:txBody>
                    <a:bodyPr/>
                    <a:lstStyle/>
                    <a:p>
                      <a:pPr algn="ctr">
                        <a:lnSpc>
                          <a:spcPts val="2483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% MoveIns with Promo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83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{{PROMO}}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83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{{PROMOLM}}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16" name="Table 16">
            <a:extLst>
              <a:ext uri="{FF2B5EF4-FFF2-40B4-BE49-F238E27FC236}">
                <a16:creationId xmlns:a16="http://schemas.microsoft.com/office/drawing/2014/main" id="{B0A64135-733F-DD9F-55A5-FE1E0DB14F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1560318"/>
              </p:ext>
            </p:extLst>
          </p:nvPr>
        </p:nvGraphicFramePr>
        <p:xfrm>
          <a:off x="10431600" y="2673888"/>
          <a:ext cx="6616700" cy="4520753"/>
        </p:xfrm>
        <a:graphic>
          <a:graphicData uri="http://schemas.openxmlformats.org/drawingml/2006/table">
            <a:tbl>
              <a:tblPr/>
              <a:tblGrid>
                <a:gridCol w="46144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022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74770">
                <a:tc gridSpan="2">
                  <a:txBody>
                    <a:bodyPr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{{NEXTMONTH}} ECRI Adjustments</a:t>
                      </a:r>
                      <a:endParaRPr lang="en-US" sz="1100" dirty="0"/>
                    </a:p>
                    <a:p>
                      <a:pPr algn="ctr">
                        <a:lnSpc>
                          <a:spcPts val="2160"/>
                        </a:lnSpc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(4-6 months since last increase)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52A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{{CURRENTMONTH}} In-place Rent Escalations</a:t>
                      </a:r>
                      <a:endParaRPr lang="en-US" sz="1100"/>
                    </a:p>
                    <a:p>
                      <a:pPr algn="ctr">
                        <a:lnSpc>
                          <a:spcPts val="2160"/>
                        </a:lnSpc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(4-6 months since last increase)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52A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567">
                <a:tc>
                  <a:txBody>
                    <a:bodyPr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Number of rent increase letters sent</a:t>
                      </a:r>
                      <a:endParaRPr lang="en-US" sz="110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{{NUMREN}}</a:t>
                      </a:r>
                      <a:endParaRPr lang="en-US" sz="110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5756">
                <a:tc>
                  <a:txBody>
                    <a:bodyPr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Total square footage</a:t>
                      </a:r>
                      <a:endParaRPr lang="en-US" sz="110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{{TOTSFT}}</a:t>
                      </a:r>
                      <a:endParaRPr lang="en-US" sz="110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3640">
                <a:tc>
                  <a:txBody>
                    <a:bodyPr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 dirty="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Base rental rate; prior </a:t>
                      </a:r>
                      <a:r>
                        <a:rPr lang="en-US" sz="180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to ECRI </a:t>
                      </a:r>
                      <a:r>
                        <a:rPr lang="en-US" sz="1800" dirty="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($/sq ft)</a:t>
                      </a:r>
                      <a:endParaRPr lang="en-US" sz="1100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{{BASERENPR}}</a:t>
                      </a:r>
                      <a:endParaRPr lang="en-US" sz="110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2829">
                <a:tc>
                  <a:txBody>
                    <a:bodyPr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 dirty="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Total $ increase with ECRI</a:t>
                      </a:r>
                      <a:endParaRPr lang="en-US" sz="1100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{{TOTINCESC}}</a:t>
                      </a:r>
                      <a:endParaRPr lang="en-US" sz="1100"/>
                    </a:p>
                  </a:txBody>
                  <a:tcPr marL="0" marR="0" marT="0" marB="0" anchor="ctr">
                    <a:lnL w="4762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8190">
                <a:tc>
                  <a:txBody>
                    <a:bodyPr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 dirty="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New rental rate, </a:t>
                      </a:r>
                      <a:r>
                        <a:rPr lang="en-US" sz="180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after ECRI </a:t>
                      </a:r>
                      <a:r>
                        <a:rPr lang="en-US" sz="1800" dirty="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($/sq ft)</a:t>
                      </a:r>
                      <a:endParaRPr lang="en-US" sz="1100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{{NEWRENRT}}</a:t>
                      </a:r>
                      <a:endParaRPr lang="en-US" sz="1100"/>
                    </a:p>
                  </a:txBody>
                  <a:tcPr marL="0" marR="0" marT="0" marB="0" anchor="ctr">
                    <a:lnL w="4762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59001">
                <a:tc>
                  <a:txBody>
                    <a:bodyPr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Average percent increase per unit</a:t>
                      </a:r>
                      <a:endParaRPr lang="en-US" sz="110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 dirty="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{{AVGPERINC}}</a:t>
                      </a:r>
                      <a:endParaRPr lang="en-US" sz="1100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609200"/>
            <a:chOff x="0" y="0"/>
            <a:chExt cx="24384000" cy="21456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2145538"/>
            </a:xfrm>
            <a:custGeom>
              <a:avLst/>
              <a:gdLst/>
              <a:ahLst/>
              <a:cxnLst/>
              <a:rect l="l" t="t" r="r" b="b"/>
              <a:pathLst>
                <a:path w="24384000" h="2145538">
                  <a:moveTo>
                    <a:pt x="0" y="0"/>
                  </a:moveTo>
                  <a:lnTo>
                    <a:pt x="24384000" y="0"/>
                  </a:lnTo>
                  <a:lnTo>
                    <a:pt x="24384000" y="2145538"/>
                  </a:lnTo>
                  <a:lnTo>
                    <a:pt x="0" y="2145538"/>
                  </a:lnTo>
                  <a:close/>
                </a:path>
              </a:pathLst>
            </a:custGeom>
            <a:solidFill>
              <a:srgbClr val="3B52A1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95250"/>
              <a:ext cx="24384000" cy="22408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5999"/>
                </a:lnSpc>
              </a:pPr>
              <a:r>
                <a:rPr lang="en-US" sz="4999" dirty="0">
                  <a:solidFill>
                    <a:srgbClr val="FFFFFF"/>
                  </a:solidFill>
                  <a:latin typeface="Avenir"/>
                  <a:ea typeface="Avenir"/>
                  <a:cs typeface="Avenir"/>
                  <a:sym typeface="Avenir"/>
                </a:rPr>
                <a:t>   Rate Management | Current Sell Rate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6944916" y="9326434"/>
            <a:ext cx="1097400" cy="787200"/>
            <a:chOff x="0" y="0"/>
            <a:chExt cx="1463200" cy="10496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463200" cy="1049600"/>
            </a:xfrm>
            <a:custGeom>
              <a:avLst/>
              <a:gdLst/>
              <a:ahLst/>
              <a:cxnLst/>
              <a:rect l="l" t="t" r="r" b="b"/>
              <a:pathLst>
                <a:path w="1463200" h="1049600">
                  <a:moveTo>
                    <a:pt x="0" y="0"/>
                  </a:moveTo>
                  <a:lnTo>
                    <a:pt x="1463200" y="0"/>
                  </a:lnTo>
                  <a:lnTo>
                    <a:pt x="1463200" y="1049600"/>
                  </a:lnTo>
                  <a:lnTo>
                    <a:pt x="0" y="10496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1463200" cy="10972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400"/>
                </a:lnSpc>
              </a:pPr>
              <a:r>
                <a:rPr lang="en-US" sz="2000">
                  <a:solidFill>
                    <a:srgbClr val="595959"/>
                  </a:solidFill>
                  <a:latin typeface="Avenir"/>
                  <a:ea typeface="Avenir"/>
                  <a:cs typeface="Avenir"/>
                  <a:sym typeface="Avenir"/>
                </a:rPr>
                <a:t>6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0" y="9463800"/>
            <a:ext cx="18288000" cy="823200"/>
            <a:chOff x="0" y="0"/>
            <a:chExt cx="24384000" cy="10976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4384000" cy="1097661"/>
            </a:xfrm>
            <a:custGeom>
              <a:avLst/>
              <a:gdLst/>
              <a:ahLst/>
              <a:cxnLst/>
              <a:rect l="l" t="t" r="r" b="b"/>
              <a:pathLst>
                <a:path w="24384000" h="1097661">
                  <a:moveTo>
                    <a:pt x="0" y="0"/>
                  </a:moveTo>
                  <a:lnTo>
                    <a:pt x="24384000" y="0"/>
                  </a:lnTo>
                  <a:lnTo>
                    <a:pt x="24384000" y="1097661"/>
                  </a:lnTo>
                  <a:lnTo>
                    <a:pt x="0" y="1097661"/>
                  </a:lnTo>
                  <a:close/>
                </a:path>
              </a:pathLst>
            </a:custGeom>
            <a:solidFill>
              <a:srgbClr val="6F94CA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24384000" cy="11452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FFFFFF"/>
                  </a:solidFill>
                  <a:latin typeface="Avenir"/>
                  <a:ea typeface="Avenir"/>
                  <a:cs typeface="Avenir"/>
                  <a:sym typeface="Avenir"/>
                </a:rPr>
                <a:t>Owner Summary Report | {{CURRENTDATE}}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6920116" y="9481784"/>
            <a:ext cx="1097400" cy="787200"/>
            <a:chOff x="0" y="0"/>
            <a:chExt cx="1463200" cy="10496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463200" cy="1049600"/>
            </a:xfrm>
            <a:custGeom>
              <a:avLst/>
              <a:gdLst/>
              <a:ahLst/>
              <a:cxnLst/>
              <a:rect l="l" t="t" r="r" b="b"/>
              <a:pathLst>
                <a:path w="1463200" h="1049600">
                  <a:moveTo>
                    <a:pt x="0" y="0"/>
                  </a:moveTo>
                  <a:lnTo>
                    <a:pt x="1463200" y="0"/>
                  </a:lnTo>
                  <a:lnTo>
                    <a:pt x="1463200" y="1049600"/>
                  </a:lnTo>
                  <a:lnTo>
                    <a:pt x="0" y="10496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47625"/>
              <a:ext cx="1463200" cy="10972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400"/>
                </a:lnSpc>
              </a:pPr>
              <a:r>
                <a:rPr lang="en-US" sz="2000">
                  <a:solidFill>
                    <a:srgbClr val="FFFFFF"/>
                  </a:solidFill>
                  <a:latin typeface="Avenir"/>
                  <a:ea typeface="Avenir"/>
                  <a:cs typeface="Avenir"/>
                  <a:sym typeface="Avenir"/>
                </a:rPr>
                <a:t>6</a:t>
              </a:r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91425" y="9078975"/>
            <a:ext cx="6299550" cy="1795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sz="1200" i="1" dirty="0">
                <a:solidFill>
                  <a:srgbClr val="595959"/>
                </a:solidFill>
                <a:latin typeface="Arial Italics"/>
                <a:ea typeface="Arial Italics"/>
                <a:cs typeface="Arial Italics"/>
                <a:sym typeface="Arial Italics"/>
              </a:rPr>
              <a:t>Sell Rates are only available for vacant spaces</a:t>
            </a:r>
          </a:p>
        </p:txBody>
      </p:sp>
      <p:sp>
        <p:nvSpPr>
          <p:cNvPr id="17" name="TextBox 17"/>
          <p:cNvSpPr txBox="1"/>
          <p:nvPr/>
        </p:nvSpPr>
        <p:spPr>
          <a:xfrm rot="-5400000">
            <a:off x="-226538" y="3591213"/>
            <a:ext cx="2477550" cy="744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3B52A1"/>
                </a:solidFill>
                <a:latin typeface="Avenir"/>
                <a:ea typeface="Avenir"/>
                <a:cs typeface="Avenir"/>
                <a:sym typeface="Avenir"/>
              </a:rPr>
              <a:t>FLOOR 1 UNITS</a:t>
            </a:r>
          </a:p>
        </p:txBody>
      </p:sp>
      <p:sp>
        <p:nvSpPr>
          <p:cNvPr id="18" name="TextBox 18"/>
          <p:cNvSpPr txBox="1"/>
          <p:nvPr/>
        </p:nvSpPr>
        <p:spPr>
          <a:xfrm rot="-5400000">
            <a:off x="-226538" y="7275612"/>
            <a:ext cx="2477550" cy="744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3B52A1"/>
                </a:solidFill>
                <a:latin typeface="Avenir"/>
                <a:ea typeface="Avenir"/>
                <a:cs typeface="Avenir"/>
                <a:sym typeface="Avenir"/>
              </a:rPr>
              <a:t>ELEVATOR UNITS</a:t>
            </a:r>
          </a:p>
        </p:txBody>
      </p:sp>
      <p:graphicFrame>
        <p:nvGraphicFramePr>
          <p:cNvPr id="21" name="Table 15">
            <a:extLst>
              <a:ext uri="{FF2B5EF4-FFF2-40B4-BE49-F238E27FC236}">
                <a16:creationId xmlns:a16="http://schemas.microsoft.com/office/drawing/2014/main" id="{E3E01C2E-A4C4-1FE8-58B4-496E3CC00F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6574155"/>
              </p:ext>
            </p:extLst>
          </p:nvPr>
        </p:nvGraphicFramePr>
        <p:xfrm>
          <a:off x="1381800" y="1727100"/>
          <a:ext cx="15214600" cy="3581399"/>
        </p:xfrm>
        <a:graphic>
          <a:graphicData uri="http://schemas.openxmlformats.org/drawingml/2006/table">
            <a:tbl>
              <a:tblPr/>
              <a:tblGrid>
                <a:gridCol w="28490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37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945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419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485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861563">
                <a:tc>
                  <a:txBody>
                    <a:bodyPr/>
                    <a:lstStyle/>
                    <a:p>
                      <a:pPr algn="ctr">
                        <a:lnSpc>
                          <a:spcPts val="2208"/>
                        </a:lnSpc>
                        <a:defRPr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Unit</a:t>
                      </a:r>
                      <a:endParaRPr lang="en-US" sz="1100" dirty="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52A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08"/>
                        </a:lnSpc>
                        <a:defRPr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Current Sell Rate</a:t>
                      </a:r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52A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08"/>
                        </a:lnSpc>
                        <a:defRPr/>
                      </a:pPr>
                      <a:r>
                        <a:rPr lang="en-US" sz="1600" b="1">
                          <a:solidFill>
                            <a:srgbClr val="FFFFFF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STORE </a:t>
                      </a:r>
                      <a:endParaRPr lang="en-US" sz="1100"/>
                    </a:p>
                    <a:p>
                      <a:pPr algn="ctr">
                        <a:lnSpc>
                          <a:spcPts val="2208"/>
                        </a:lnSpc>
                      </a:pPr>
                      <a:r>
                        <a:rPr lang="en-US" sz="1600" b="1">
                          <a:solidFill>
                            <a:srgbClr val="FFFFFF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New Rate</a:t>
                      </a:r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52A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08"/>
                        </a:lnSpc>
                        <a:defRPr/>
                      </a:pPr>
                      <a:r>
                        <a:rPr lang="en-US" sz="1600" b="1">
                          <a:solidFill>
                            <a:srgbClr val="FFFFFF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STORE New Rate </a:t>
                      </a:r>
                      <a:endParaRPr lang="en-US" sz="1100"/>
                    </a:p>
                    <a:p>
                      <a:pPr algn="ctr">
                        <a:lnSpc>
                          <a:spcPts val="2208"/>
                        </a:lnSpc>
                      </a:pPr>
                      <a:r>
                        <a:rPr lang="en-US" sz="1600" b="1">
                          <a:solidFill>
                            <a:srgbClr val="FFFFFF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($/sq ft)</a:t>
                      </a:r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52A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08"/>
                        </a:lnSpc>
                        <a:defRPr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Current Set Rate</a:t>
                      </a:r>
                      <a:endParaRPr lang="en-US" sz="1100" dirty="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52A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8548">
                <a:tc>
                  <a:txBody>
                    <a:bodyPr/>
                    <a:lstStyle/>
                    <a:p>
                      <a:pPr algn="ctr">
                        <a:lnSpc>
                          <a:spcPts val="2208"/>
                        </a:lnSpc>
                        <a:defRPr/>
                      </a:pPr>
                      <a:r>
                        <a:rPr lang="en-US" sz="160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5 x 5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08"/>
                        </a:lnSpc>
                        <a:defRPr/>
                      </a:pPr>
                      <a:r>
                        <a:rPr lang="en-US" sz="1600" dirty="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{{5X5WEBPR}}</a:t>
                      </a:r>
                      <a:endParaRPr lang="en-US" sz="1100" dirty="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08"/>
                        </a:lnSpc>
                        <a:defRPr/>
                      </a:pPr>
                      <a:r>
                        <a:rPr lang="en-US" sz="1600" dirty="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{{5X5WEBPR}}</a:t>
                      </a:r>
                      <a:endParaRPr lang="en-US" sz="1100" dirty="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CA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08"/>
                        </a:lnSpc>
                        <a:defRPr/>
                      </a:pPr>
                      <a:r>
                        <a:rPr lang="en-US" sz="1600" dirty="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{{5X5WEBPR}}</a:t>
                      </a:r>
                      <a:endParaRPr lang="en-US" sz="1100" dirty="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CA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08"/>
                        </a:lnSpc>
                        <a:defRPr/>
                      </a:pPr>
                      <a:r>
                        <a:rPr lang="en-US" sz="1600" dirty="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{{5X5WEBPR}}</a:t>
                      </a:r>
                      <a:endParaRPr lang="en-US" sz="1100" dirty="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8548">
                <a:tc>
                  <a:txBody>
                    <a:bodyPr/>
                    <a:lstStyle/>
                    <a:p>
                      <a:pPr algn="ctr">
                        <a:lnSpc>
                          <a:spcPts val="2208"/>
                        </a:lnSpc>
                        <a:defRPr/>
                      </a:pPr>
                      <a:r>
                        <a:rPr lang="en-US" sz="160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10 x 5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08"/>
                        </a:lnSpc>
                        <a:defRPr/>
                      </a:pPr>
                      <a:r>
                        <a:rPr lang="en-US" sz="1600" dirty="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{{10X5WEBPR}}</a:t>
                      </a:r>
                      <a:endParaRPr lang="en-US" sz="1100" dirty="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08"/>
                        </a:lnSpc>
                        <a:defRPr/>
                      </a:pPr>
                      <a:r>
                        <a:rPr lang="en-US" sz="1600" dirty="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{{10X5WEBPR}}</a:t>
                      </a:r>
                      <a:endParaRPr lang="en-US" sz="1100" dirty="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CA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08"/>
                        </a:lnSpc>
                        <a:defRPr/>
                      </a:pPr>
                      <a:r>
                        <a:rPr lang="en-US" sz="1600" dirty="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{{10X5WEBPR}}</a:t>
                      </a:r>
                      <a:endParaRPr lang="en-US" sz="1100" dirty="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CA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08"/>
                        </a:lnSpc>
                        <a:defRPr/>
                      </a:pPr>
                      <a:r>
                        <a:rPr lang="en-US" sz="1600" dirty="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{{10X5WEBPR}}</a:t>
                      </a:r>
                      <a:endParaRPr lang="en-US" sz="1100" dirty="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8548">
                <a:tc>
                  <a:txBody>
                    <a:bodyPr/>
                    <a:lstStyle/>
                    <a:p>
                      <a:pPr algn="ctr">
                        <a:lnSpc>
                          <a:spcPts val="2208"/>
                        </a:lnSpc>
                        <a:defRPr/>
                      </a:pPr>
                      <a:r>
                        <a:rPr lang="en-US" sz="160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10 x 10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08"/>
                        </a:lnSpc>
                        <a:defRPr/>
                      </a:pPr>
                      <a:r>
                        <a:rPr lang="en-US" sz="1600" dirty="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{{10X10WEBPR}}</a:t>
                      </a:r>
                      <a:endParaRPr lang="en-US" sz="1100" dirty="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08"/>
                        </a:lnSpc>
                        <a:defRPr/>
                      </a:pPr>
                      <a:r>
                        <a:rPr lang="en-US" sz="1600" dirty="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{{10X10WEBPR}}</a:t>
                      </a:r>
                      <a:endParaRPr lang="en-US" sz="1100" dirty="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CA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08"/>
                        </a:lnSpc>
                        <a:defRPr/>
                      </a:pPr>
                      <a:r>
                        <a:rPr lang="en-US" sz="1600" dirty="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{{10X10WEBPR}}</a:t>
                      </a:r>
                      <a:endParaRPr lang="en-US" sz="1100" dirty="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CA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08"/>
                        </a:lnSpc>
                        <a:defRPr/>
                      </a:pPr>
                      <a:r>
                        <a:rPr lang="en-US" sz="1600" dirty="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{{10X10WEBPR}}</a:t>
                      </a:r>
                      <a:endParaRPr lang="en-US" sz="1100" dirty="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8548">
                <a:tc>
                  <a:txBody>
                    <a:bodyPr/>
                    <a:lstStyle/>
                    <a:p>
                      <a:pPr algn="ctr">
                        <a:lnSpc>
                          <a:spcPts val="2208"/>
                        </a:lnSpc>
                        <a:defRPr/>
                      </a:pPr>
                      <a:r>
                        <a:rPr lang="en-US" sz="160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10 x 15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08"/>
                        </a:lnSpc>
                        <a:defRPr/>
                      </a:pPr>
                      <a:r>
                        <a:rPr lang="en-US" sz="1600" dirty="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{{10X15WEBPR}}</a:t>
                      </a:r>
                      <a:endParaRPr lang="en-US" sz="1100" dirty="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08"/>
                        </a:lnSpc>
                        <a:defRPr/>
                      </a:pPr>
                      <a:r>
                        <a:rPr lang="en-US" sz="1600" dirty="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{{10X15WEBPR}}</a:t>
                      </a:r>
                      <a:endParaRPr lang="en-US" sz="1100" dirty="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CA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08"/>
                        </a:lnSpc>
                        <a:defRPr/>
                      </a:pPr>
                      <a:r>
                        <a:rPr lang="en-US" sz="1600" dirty="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{{10X15WEBPR}}</a:t>
                      </a:r>
                      <a:endParaRPr lang="en-US" sz="1100" dirty="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CA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08"/>
                        </a:lnSpc>
                        <a:defRPr/>
                      </a:pPr>
                      <a:r>
                        <a:rPr lang="en-US" sz="1600" dirty="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{{10X15WEBPR}}</a:t>
                      </a:r>
                      <a:endParaRPr lang="en-US" sz="1100" dirty="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8548">
                <a:tc>
                  <a:txBody>
                    <a:bodyPr/>
                    <a:lstStyle/>
                    <a:p>
                      <a:pPr algn="ctr">
                        <a:lnSpc>
                          <a:spcPts val="2208"/>
                        </a:lnSpc>
                        <a:defRPr/>
                      </a:pPr>
                      <a:r>
                        <a:rPr lang="en-US" sz="160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10 x 20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08"/>
                        </a:lnSpc>
                        <a:defRPr/>
                      </a:pPr>
                      <a:r>
                        <a:rPr lang="en-US" sz="1600" dirty="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{{10X20WEBPR}}</a:t>
                      </a:r>
                      <a:endParaRPr lang="en-US" sz="1100" dirty="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08"/>
                        </a:lnSpc>
                        <a:defRPr/>
                      </a:pPr>
                      <a:r>
                        <a:rPr lang="en-US" sz="1600" dirty="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{{10X20WEBPR}}</a:t>
                      </a:r>
                      <a:endParaRPr lang="en-US" sz="1100" dirty="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CA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08"/>
                        </a:lnSpc>
                        <a:defRPr/>
                      </a:pPr>
                      <a:r>
                        <a:rPr lang="en-US" sz="1600" dirty="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{{10X20WEBPR}}</a:t>
                      </a:r>
                      <a:endParaRPr lang="en-US" sz="1100" dirty="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CA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08"/>
                        </a:lnSpc>
                        <a:defRPr/>
                      </a:pPr>
                      <a:r>
                        <a:rPr lang="en-US" sz="1600" dirty="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{{10X20WEBPR}}</a:t>
                      </a:r>
                      <a:endParaRPr lang="en-US" sz="1100" dirty="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8548">
                <a:tc>
                  <a:txBody>
                    <a:bodyPr/>
                    <a:lstStyle/>
                    <a:p>
                      <a:pPr algn="ctr">
                        <a:lnSpc>
                          <a:spcPts val="2208"/>
                        </a:lnSpc>
                        <a:defRPr/>
                      </a:pPr>
                      <a:r>
                        <a:rPr lang="en-US" sz="160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15 x 5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08"/>
                        </a:lnSpc>
                        <a:defRPr/>
                      </a:pPr>
                      <a:r>
                        <a:rPr lang="en-US" sz="1600" dirty="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{{15X5WEBPR}}</a:t>
                      </a:r>
                      <a:endParaRPr lang="en-US" sz="1100" dirty="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08"/>
                        </a:lnSpc>
                        <a:defRPr/>
                      </a:pPr>
                      <a:r>
                        <a:rPr lang="en-US" sz="1600" dirty="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{{15X5WEBPR}}</a:t>
                      </a:r>
                      <a:endParaRPr lang="en-US" sz="1100" dirty="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CA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08"/>
                        </a:lnSpc>
                        <a:defRPr/>
                      </a:pPr>
                      <a:r>
                        <a:rPr lang="en-US" sz="1600" dirty="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{{15X5WEBPR}}</a:t>
                      </a:r>
                      <a:endParaRPr lang="en-US" sz="1100" dirty="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CA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08"/>
                        </a:lnSpc>
                        <a:defRPr/>
                      </a:pPr>
                      <a:r>
                        <a:rPr lang="en-US" sz="1600" dirty="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{{15X5WEBPR}}</a:t>
                      </a:r>
                      <a:endParaRPr lang="en-US" sz="1100" dirty="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8548">
                <a:tc>
                  <a:txBody>
                    <a:bodyPr/>
                    <a:lstStyle/>
                    <a:p>
                      <a:pPr algn="ctr">
                        <a:lnSpc>
                          <a:spcPts val="2208"/>
                        </a:lnSpc>
                        <a:defRPr/>
                      </a:pPr>
                      <a:r>
                        <a:rPr lang="en-US" sz="160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20 x 15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08"/>
                        </a:lnSpc>
                        <a:defRPr/>
                      </a:pPr>
                      <a:r>
                        <a:rPr lang="en-US" sz="1600" dirty="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{{20X15WEBPR}}</a:t>
                      </a:r>
                      <a:endParaRPr lang="en-US" sz="1100" dirty="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08"/>
                        </a:lnSpc>
                        <a:defRPr/>
                      </a:pPr>
                      <a:r>
                        <a:rPr lang="en-US" sz="1600" dirty="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{{20X15WEBPR}}</a:t>
                      </a:r>
                      <a:endParaRPr lang="en-US" sz="1100" dirty="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CA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08"/>
                        </a:lnSpc>
                        <a:defRPr/>
                      </a:pPr>
                      <a:r>
                        <a:rPr lang="en-US" sz="1600" dirty="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{{20X15WEBPR}}</a:t>
                      </a:r>
                      <a:endParaRPr lang="en-US" sz="1100" dirty="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CA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08"/>
                        </a:lnSpc>
                        <a:defRPr/>
                      </a:pPr>
                      <a:r>
                        <a:rPr lang="en-US" sz="1600" dirty="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{{20X15WEBPR}}</a:t>
                      </a:r>
                      <a:endParaRPr lang="en-US" sz="1100" dirty="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22" name="Table 16">
            <a:extLst>
              <a:ext uri="{FF2B5EF4-FFF2-40B4-BE49-F238E27FC236}">
                <a16:creationId xmlns:a16="http://schemas.microsoft.com/office/drawing/2014/main" id="{251D5D69-C5AF-711E-9A8F-53BF6C49BB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3727602"/>
              </p:ext>
            </p:extLst>
          </p:nvPr>
        </p:nvGraphicFramePr>
        <p:xfrm>
          <a:off x="1381800" y="5672850"/>
          <a:ext cx="15240000" cy="3200402"/>
        </p:xfrm>
        <a:graphic>
          <a:graphicData uri="http://schemas.openxmlformats.org/drawingml/2006/table">
            <a:tbl>
              <a:tblPr/>
              <a:tblGrid>
                <a:gridCol w="26427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07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4885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9706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55060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863600">
                <a:tc>
                  <a:txBody>
                    <a:bodyPr/>
                    <a:lstStyle/>
                    <a:p>
                      <a:pPr algn="ctr">
                        <a:lnSpc>
                          <a:spcPts val="2208"/>
                        </a:lnSpc>
                        <a:defRPr/>
                      </a:pPr>
                      <a:r>
                        <a:rPr lang="en-US" sz="1600" b="1">
                          <a:solidFill>
                            <a:srgbClr val="FFFFFF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Unit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52A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08"/>
                        </a:lnSpc>
                        <a:defRPr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Current Sell Rate</a:t>
                      </a:r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52A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08"/>
                        </a:lnSpc>
                        <a:defRPr/>
                      </a:pPr>
                      <a:r>
                        <a:rPr lang="en-US" sz="1600" b="1">
                          <a:solidFill>
                            <a:srgbClr val="FFFFFF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STORE </a:t>
                      </a:r>
                      <a:endParaRPr lang="en-US" sz="1100"/>
                    </a:p>
                    <a:p>
                      <a:pPr algn="ctr">
                        <a:lnSpc>
                          <a:spcPts val="2208"/>
                        </a:lnSpc>
                      </a:pPr>
                      <a:r>
                        <a:rPr lang="en-US" sz="1600" b="1">
                          <a:solidFill>
                            <a:srgbClr val="FFFFFF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New Rate</a:t>
                      </a:r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52A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08"/>
                        </a:lnSpc>
                        <a:defRPr/>
                      </a:pPr>
                      <a:r>
                        <a:rPr lang="en-US" sz="1600" b="1">
                          <a:solidFill>
                            <a:srgbClr val="FFFFFF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STORE New Rate </a:t>
                      </a:r>
                      <a:endParaRPr lang="en-US" sz="1100"/>
                    </a:p>
                    <a:p>
                      <a:pPr algn="ctr">
                        <a:lnSpc>
                          <a:spcPts val="2208"/>
                        </a:lnSpc>
                      </a:pPr>
                      <a:r>
                        <a:rPr lang="en-US" sz="1600" b="1">
                          <a:solidFill>
                            <a:srgbClr val="FFFFFF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($/sq ft)</a:t>
                      </a:r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52A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08"/>
                        </a:lnSpc>
                        <a:defRPr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Current Set Rate</a:t>
                      </a:r>
                      <a:endParaRPr lang="en-US" sz="1100" dirty="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52A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9467">
                <a:tc>
                  <a:txBody>
                    <a:bodyPr/>
                    <a:lstStyle/>
                    <a:p>
                      <a:pPr algn="ctr">
                        <a:lnSpc>
                          <a:spcPts val="2208"/>
                        </a:lnSpc>
                        <a:defRPr/>
                      </a:pPr>
                      <a:r>
                        <a:rPr lang="en-US" sz="160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5 x 5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08"/>
                        </a:lnSpc>
                        <a:defRPr/>
                      </a:pPr>
                      <a:r>
                        <a:rPr lang="en-US" sz="1600" dirty="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{{5X5WEBPREV}}</a:t>
                      </a:r>
                      <a:endParaRPr lang="en-US" sz="1100" dirty="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08"/>
                        </a:lnSpc>
                        <a:defRPr/>
                      </a:pPr>
                      <a:r>
                        <a:rPr lang="en-US" sz="1600" dirty="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{{5X5WEBPREV}}</a:t>
                      </a:r>
                      <a:endParaRPr lang="en-US" sz="1100" dirty="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CA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08"/>
                        </a:lnSpc>
                        <a:defRPr/>
                      </a:pPr>
                      <a:r>
                        <a:rPr lang="en-US" sz="1600" dirty="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{{5X5WEBPREV}}</a:t>
                      </a:r>
                      <a:endParaRPr lang="en-US" sz="1100" dirty="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CA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08"/>
                        </a:lnSpc>
                        <a:defRPr/>
                      </a:pPr>
                      <a:r>
                        <a:rPr lang="en-US" sz="1600" dirty="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{{5X5WEBPREV}}</a:t>
                      </a:r>
                      <a:endParaRPr lang="en-US" sz="1100" dirty="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9467">
                <a:tc>
                  <a:txBody>
                    <a:bodyPr/>
                    <a:lstStyle/>
                    <a:p>
                      <a:pPr algn="ctr">
                        <a:lnSpc>
                          <a:spcPts val="2208"/>
                        </a:lnSpc>
                        <a:defRPr/>
                      </a:pPr>
                      <a:r>
                        <a:rPr lang="en-US" sz="160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10 x 5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08"/>
                        </a:lnSpc>
                        <a:defRPr/>
                      </a:pPr>
                      <a:r>
                        <a:rPr lang="en-US" sz="1600" dirty="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{{10X5WEBPREV}}</a:t>
                      </a:r>
                      <a:endParaRPr lang="en-US" sz="1100" dirty="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08"/>
                        </a:lnSpc>
                        <a:defRPr/>
                      </a:pPr>
                      <a:r>
                        <a:rPr lang="en-US" sz="1600" dirty="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{{10X5WEBPREV}}</a:t>
                      </a:r>
                      <a:endParaRPr lang="en-US" sz="1100" dirty="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CA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08"/>
                        </a:lnSpc>
                        <a:defRPr/>
                      </a:pPr>
                      <a:r>
                        <a:rPr lang="en-US" sz="1600" dirty="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{{10X5WEBPREV}}</a:t>
                      </a:r>
                      <a:endParaRPr lang="en-US" sz="1100" dirty="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CA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08"/>
                        </a:lnSpc>
                        <a:defRPr/>
                      </a:pPr>
                      <a:r>
                        <a:rPr lang="en-US" sz="1600" dirty="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{{10X5WEBPREV}}</a:t>
                      </a:r>
                      <a:endParaRPr lang="en-US" sz="1100" dirty="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9467">
                <a:tc>
                  <a:txBody>
                    <a:bodyPr/>
                    <a:lstStyle/>
                    <a:p>
                      <a:pPr algn="ctr">
                        <a:lnSpc>
                          <a:spcPts val="2208"/>
                        </a:lnSpc>
                        <a:defRPr/>
                      </a:pPr>
                      <a:r>
                        <a:rPr lang="en-US" sz="160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10 x 10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08"/>
                        </a:lnSpc>
                        <a:defRPr/>
                      </a:pPr>
                      <a:r>
                        <a:rPr lang="en-US" sz="1600" dirty="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{{10X10WEBPREV}}</a:t>
                      </a:r>
                      <a:endParaRPr lang="en-US" sz="1100" dirty="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08"/>
                        </a:lnSpc>
                        <a:defRPr/>
                      </a:pPr>
                      <a:r>
                        <a:rPr lang="en-US" sz="1600" dirty="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{{10X10WEBPREV}}</a:t>
                      </a:r>
                      <a:endParaRPr lang="en-US" sz="1100" dirty="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CA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08"/>
                        </a:lnSpc>
                        <a:defRPr/>
                      </a:pPr>
                      <a:r>
                        <a:rPr lang="en-US" sz="1600" dirty="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{{10X10WEBPREV}}</a:t>
                      </a:r>
                      <a:endParaRPr lang="en-US" sz="1100" dirty="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CA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08"/>
                        </a:lnSpc>
                        <a:defRPr/>
                      </a:pPr>
                      <a:r>
                        <a:rPr lang="en-US" sz="1600" dirty="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{{10X10WEBPREV}}</a:t>
                      </a:r>
                      <a:endParaRPr lang="en-US" sz="1100" dirty="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9467">
                <a:tc>
                  <a:txBody>
                    <a:bodyPr/>
                    <a:lstStyle/>
                    <a:p>
                      <a:pPr algn="ctr">
                        <a:lnSpc>
                          <a:spcPts val="2208"/>
                        </a:lnSpc>
                        <a:defRPr/>
                      </a:pPr>
                      <a:r>
                        <a:rPr lang="en-US" sz="160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10 x 15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08"/>
                        </a:lnSpc>
                        <a:defRPr/>
                      </a:pPr>
                      <a:r>
                        <a:rPr lang="en-US" sz="1600" dirty="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{{10X15WEBPREV}}</a:t>
                      </a:r>
                      <a:endParaRPr lang="en-US" sz="1100" dirty="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08"/>
                        </a:lnSpc>
                        <a:defRPr/>
                      </a:pPr>
                      <a:r>
                        <a:rPr lang="en-US" sz="1600" dirty="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{{10X15WEBPREV}}</a:t>
                      </a:r>
                      <a:endParaRPr lang="en-US" sz="1100" dirty="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CA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08"/>
                        </a:lnSpc>
                        <a:defRPr/>
                      </a:pPr>
                      <a:r>
                        <a:rPr lang="en-US" sz="1600" dirty="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{{10X15WEBPREV}}</a:t>
                      </a:r>
                      <a:endParaRPr lang="en-US" sz="1100" dirty="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CA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08"/>
                        </a:lnSpc>
                        <a:defRPr/>
                      </a:pPr>
                      <a:r>
                        <a:rPr lang="en-US" sz="1600" dirty="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{{10X15WEBPREV}}</a:t>
                      </a:r>
                      <a:endParaRPr lang="en-US" sz="1100" dirty="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9467">
                <a:tc>
                  <a:txBody>
                    <a:bodyPr/>
                    <a:lstStyle/>
                    <a:p>
                      <a:pPr algn="ctr">
                        <a:lnSpc>
                          <a:spcPts val="2208"/>
                        </a:lnSpc>
                        <a:defRPr/>
                      </a:pPr>
                      <a:r>
                        <a:rPr lang="en-US" sz="160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10 x 20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08"/>
                        </a:lnSpc>
                        <a:defRPr/>
                      </a:pPr>
                      <a:r>
                        <a:rPr lang="en-US" sz="1600" dirty="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{{10X20WEBPREV}}</a:t>
                      </a:r>
                      <a:endParaRPr lang="en-US" sz="1100" dirty="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08"/>
                        </a:lnSpc>
                        <a:defRPr/>
                      </a:pPr>
                      <a:r>
                        <a:rPr lang="en-US" sz="1600" dirty="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{{10X20WEBPREV}}</a:t>
                      </a:r>
                      <a:endParaRPr lang="en-US" sz="1100" dirty="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CA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08"/>
                        </a:lnSpc>
                        <a:defRPr/>
                      </a:pPr>
                      <a:r>
                        <a:rPr lang="en-US" sz="1600" dirty="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{{10X20WEBPREV}}</a:t>
                      </a:r>
                      <a:endParaRPr lang="en-US" sz="1100" dirty="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CA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08"/>
                        </a:lnSpc>
                        <a:defRPr/>
                      </a:pPr>
                      <a:r>
                        <a:rPr lang="en-US" sz="1600" dirty="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{{10X20WEBPREV}}</a:t>
                      </a:r>
                      <a:endParaRPr lang="en-US" sz="1100" dirty="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9467">
                <a:tc>
                  <a:txBody>
                    <a:bodyPr/>
                    <a:lstStyle/>
                    <a:p>
                      <a:pPr algn="ctr">
                        <a:lnSpc>
                          <a:spcPts val="2208"/>
                        </a:lnSpc>
                        <a:defRPr/>
                      </a:pPr>
                      <a:r>
                        <a:rPr lang="en-US" sz="160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20 x 15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08"/>
                        </a:lnSpc>
                        <a:defRPr/>
                      </a:pPr>
                      <a:r>
                        <a:rPr lang="en-US" sz="1600" dirty="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{{20X15WEBPREV}}</a:t>
                      </a:r>
                      <a:endParaRPr lang="en-US" sz="1100" dirty="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08"/>
                        </a:lnSpc>
                        <a:defRPr/>
                      </a:pPr>
                      <a:r>
                        <a:rPr lang="en-US" sz="1600" dirty="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{{20X15WEBPREV}}</a:t>
                      </a:r>
                      <a:endParaRPr lang="en-US" sz="1100" dirty="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CA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08"/>
                        </a:lnSpc>
                        <a:defRPr/>
                      </a:pPr>
                      <a:r>
                        <a:rPr lang="en-US" sz="1600" dirty="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{{20X15WEBPREV}}</a:t>
                      </a:r>
                      <a:endParaRPr lang="en-US" sz="1100" dirty="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CA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08"/>
                        </a:lnSpc>
                        <a:defRPr/>
                      </a:pPr>
                      <a:r>
                        <a:rPr lang="en-US" sz="160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{{20X15WEBPREV}}</a:t>
                      </a:r>
                      <a:endParaRPr lang="en-US" sz="1100" dirty="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1" name="Group 2">
            <a:extLst>
              <a:ext uri="{FF2B5EF4-FFF2-40B4-BE49-F238E27FC236}">
                <a16:creationId xmlns:a16="http://schemas.microsoft.com/office/drawing/2014/main" id="{3669D1BF-BECF-E7EF-2E9E-6B288DC837BF}"/>
              </a:ext>
            </a:extLst>
          </p:cNvPr>
          <p:cNvGrpSpPr>
            <a:grpSpLocks noChangeAspect="1"/>
          </p:cNvGrpSpPr>
          <p:nvPr/>
        </p:nvGrpSpPr>
        <p:grpSpPr>
          <a:xfrm>
            <a:off x="-5425" y="18016"/>
            <a:ext cx="18288000" cy="10287000"/>
            <a:chOff x="0" y="0"/>
            <a:chExt cx="24384000" cy="13716000"/>
          </a:xfrm>
        </p:grpSpPr>
        <p:sp>
          <p:nvSpPr>
            <p:cNvPr id="102" name="Freeform 3">
              <a:extLst>
                <a:ext uri="{FF2B5EF4-FFF2-40B4-BE49-F238E27FC236}">
                  <a16:creationId xmlns:a16="http://schemas.microsoft.com/office/drawing/2014/main" id="{62DAD2DE-0406-3378-AC0B-42EAC107D98D}"/>
                </a:ext>
              </a:extLst>
            </p:cNvPr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-1" b="-18519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03" name="Group 4">
            <a:extLst>
              <a:ext uri="{FF2B5EF4-FFF2-40B4-BE49-F238E27FC236}">
                <a16:creationId xmlns:a16="http://schemas.microsoft.com/office/drawing/2014/main" id="{9C0188C5-1867-CBB8-DE77-604BAC47A7A5}"/>
              </a:ext>
            </a:extLst>
          </p:cNvPr>
          <p:cNvGrpSpPr/>
          <p:nvPr/>
        </p:nvGrpSpPr>
        <p:grpSpPr>
          <a:xfrm>
            <a:off x="0" y="38100"/>
            <a:ext cx="18288000" cy="10287000"/>
            <a:chOff x="0" y="0"/>
            <a:chExt cx="24384000" cy="13716000"/>
          </a:xfrm>
        </p:grpSpPr>
        <p:sp>
          <p:nvSpPr>
            <p:cNvPr id="104" name="Freeform 5">
              <a:extLst>
                <a:ext uri="{FF2B5EF4-FFF2-40B4-BE49-F238E27FC236}">
                  <a16:creationId xmlns:a16="http://schemas.microsoft.com/office/drawing/2014/main" id="{7623B9DD-1846-F7E0-3EE7-1866D6B005C7}"/>
                </a:ext>
              </a:extLst>
            </p:cNvPr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68627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" name="Group 2"/>
          <p:cNvGrpSpPr/>
          <p:nvPr/>
        </p:nvGrpSpPr>
        <p:grpSpPr>
          <a:xfrm>
            <a:off x="0" y="0"/>
            <a:ext cx="18288000" cy="1609200"/>
            <a:chOff x="0" y="0"/>
            <a:chExt cx="24384000" cy="21456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2145538"/>
            </a:xfrm>
            <a:custGeom>
              <a:avLst/>
              <a:gdLst/>
              <a:ahLst/>
              <a:cxnLst/>
              <a:rect l="l" t="t" r="r" b="b"/>
              <a:pathLst>
                <a:path w="24384000" h="2145538">
                  <a:moveTo>
                    <a:pt x="0" y="0"/>
                  </a:moveTo>
                  <a:lnTo>
                    <a:pt x="24384000" y="0"/>
                  </a:lnTo>
                  <a:lnTo>
                    <a:pt x="24384000" y="2145538"/>
                  </a:lnTo>
                  <a:lnTo>
                    <a:pt x="0" y="2145538"/>
                  </a:lnTo>
                  <a:close/>
                </a:path>
              </a:pathLst>
            </a:custGeom>
            <a:solidFill>
              <a:srgbClr val="3B52A1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95250"/>
              <a:ext cx="24384000" cy="22408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>
                <a:lnSpc>
                  <a:spcPts val="5999"/>
                </a:lnSpc>
              </a:pPr>
              <a:r>
                <a:rPr lang="en-US" sz="4999" dirty="0">
                  <a:solidFill>
                    <a:srgbClr val="FFFFFF"/>
                  </a:solidFill>
                  <a:latin typeface="Avenir"/>
                  <a:ea typeface="Avenir"/>
                  <a:cs typeface="Avenir"/>
                  <a:sym typeface="Avenir"/>
                </a:rPr>
                <a:t>{{CURRENTMONTH}} Operational Snapshot 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6944916" y="9326434"/>
            <a:ext cx="1097400" cy="787200"/>
            <a:chOff x="0" y="0"/>
            <a:chExt cx="1463200" cy="10496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463200" cy="1049600"/>
            </a:xfrm>
            <a:custGeom>
              <a:avLst/>
              <a:gdLst/>
              <a:ahLst/>
              <a:cxnLst/>
              <a:rect l="l" t="t" r="r" b="b"/>
              <a:pathLst>
                <a:path w="1463200" h="1049600">
                  <a:moveTo>
                    <a:pt x="0" y="0"/>
                  </a:moveTo>
                  <a:lnTo>
                    <a:pt x="1463200" y="0"/>
                  </a:lnTo>
                  <a:lnTo>
                    <a:pt x="1463200" y="1049600"/>
                  </a:lnTo>
                  <a:lnTo>
                    <a:pt x="0" y="10496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1463200" cy="10972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400"/>
                </a:lnSpc>
              </a:pPr>
              <a:r>
                <a:rPr lang="en-US" sz="2000">
                  <a:solidFill>
                    <a:srgbClr val="595959"/>
                  </a:solidFill>
                  <a:latin typeface="Avenir"/>
                  <a:ea typeface="Avenir"/>
                  <a:cs typeface="Avenir"/>
                  <a:sym typeface="Avenir"/>
                </a:rPr>
                <a:t>7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0" y="9463800"/>
            <a:ext cx="18288000" cy="823200"/>
            <a:chOff x="0" y="0"/>
            <a:chExt cx="24384000" cy="10976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4384000" cy="1097661"/>
            </a:xfrm>
            <a:custGeom>
              <a:avLst/>
              <a:gdLst/>
              <a:ahLst/>
              <a:cxnLst/>
              <a:rect l="l" t="t" r="r" b="b"/>
              <a:pathLst>
                <a:path w="24384000" h="1097661">
                  <a:moveTo>
                    <a:pt x="0" y="0"/>
                  </a:moveTo>
                  <a:lnTo>
                    <a:pt x="24384000" y="0"/>
                  </a:lnTo>
                  <a:lnTo>
                    <a:pt x="24384000" y="1097661"/>
                  </a:lnTo>
                  <a:lnTo>
                    <a:pt x="0" y="1097661"/>
                  </a:lnTo>
                  <a:close/>
                </a:path>
              </a:pathLst>
            </a:custGeom>
            <a:solidFill>
              <a:srgbClr val="6F94CA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24384000" cy="11452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FFFFFF"/>
                  </a:solidFill>
                  <a:latin typeface="Avenir"/>
                  <a:ea typeface="Avenir"/>
                  <a:cs typeface="Avenir"/>
                  <a:sym typeface="Avenir"/>
                </a:rPr>
                <a:t>Owner Summary Report | {{CURRENTDATE}}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6920116" y="9481784"/>
            <a:ext cx="1097400" cy="787200"/>
            <a:chOff x="0" y="0"/>
            <a:chExt cx="1463200" cy="10496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463200" cy="1049600"/>
            </a:xfrm>
            <a:custGeom>
              <a:avLst/>
              <a:gdLst/>
              <a:ahLst/>
              <a:cxnLst/>
              <a:rect l="l" t="t" r="r" b="b"/>
              <a:pathLst>
                <a:path w="1463200" h="1049600">
                  <a:moveTo>
                    <a:pt x="0" y="0"/>
                  </a:moveTo>
                  <a:lnTo>
                    <a:pt x="1463200" y="0"/>
                  </a:lnTo>
                  <a:lnTo>
                    <a:pt x="1463200" y="1049600"/>
                  </a:lnTo>
                  <a:lnTo>
                    <a:pt x="0" y="10496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47625"/>
              <a:ext cx="1463200" cy="10972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400"/>
                </a:lnSpc>
              </a:pPr>
              <a:r>
                <a:rPr lang="en-US" sz="2000">
                  <a:solidFill>
                    <a:srgbClr val="FFFFFF"/>
                  </a:solidFill>
                  <a:latin typeface="Avenir"/>
                  <a:ea typeface="Avenir"/>
                  <a:cs typeface="Avenir"/>
                  <a:sym typeface="Avenir"/>
                </a:rPr>
                <a:t>7</a:t>
              </a:r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91443" y="9105175"/>
            <a:ext cx="10009350" cy="1795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sz="1200" i="1" dirty="0">
                <a:solidFill>
                  <a:srgbClr val="595959"/>
                </a:solidFill>
                <a:latin typeface="Arial Italics"/>
                <a:ea typeface="Arial Italics"/>
                <a:cs typeface="Arial Italics"/>
                <a:sym typeface="Arial Italics"/>
              </a:rPr>
              <a:t>Additional information can be found in the daily flash report.</a:t>
            </a:r>
          </a:p>
        </p:txBody>
      </p:sp>
      <p:grpSp>
        <p:nvGrpSpPr>
          <p:cNvPr id="16" name="Group 41">
            <a:extLst>
              <a:ext uri="{FF2B5EF4-FFF2-40B4-BE49-F238E27FC236}">
                <a16:creationId xmlns:a16="http://schemas.microsoft.com/office/drawing/2014/main" id="{7DFB2AB5-375E-C1C4-B80A-61E3C207CFBD}"/>
              </a:ext>
            </a:extLst>
          </p:cNvPr>
          <p:cNvGrpSpPr/>
          <p:nvPr/>
        </p:nvGrpSpPr>
        <p:grpSpPr>
          <a:xfrm>
            <a:off x="3852150" y="3162300"/>
            <a:ext cx="3310650" cy="1664850"/>
            <a:chOff x="0" y="0"/>
            <a:chExt cx="871941" cy="438479"/>
          </a:xfrm>
        </p:grpSpPr>
        <p:sp>
          <p:nvSpPr>
            <p:cNvPr id="17" name="Freeform 42">
              <a:extLst>
                <a:ext uri="{FF2B5EF4-FFF2-40B4-BE49-F238E27FC236}">
                  <a16:creationId xmlns:a16="http://schemas.microsoft.com/office/drawing/2014/main" id="{EA03B3A0-4F28-8517-12D7-929F93E1C6DE}"/>
                </a:ext>
              </a:extLst>
            </p:cNvPr>
            <p:cNvSpPr/>
            <p:nvPr/>
          </p:nvSpPr>
          <p:spPr>
            <a:xfrm>
              <a:off x="0" y="0"/>
              <a:ext cx="871941" cy="438479"/>
            </a:xfrm>
            <a:custGeom>
              <a:avLst/>
              <a:gdLst/>
              <a:ahLst/>
              <a:cxnLst/>
              <a:rect l="l" t="t" r="r" b="b"/>
              <a:pathLst>
                <a:path w="871941" h="438479">
                  <a:moveTo>
                    <a:pt x="0" y="0"/>
                  </a:moveTo>
                  <a:lnTo>
                    <a:pt x="871941" y="0"/>
                  </a:lnTo>
                  <a:lnTo>
                    <a:pt x="871941" y="438479"/>
                  </a:lnTo>
                  <a:lnTo>
                    <a:pt x="0" y="43847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3B52A1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43">
              <a:extLst>
                <a:ext uri="{FF2B5EF4-FFF2-40B4-BE49-F238E27FC236}">
                  <a16:creationId xmlns:a16="http://schemas.microsoft.com/office/drawing/2014/main" id="{BA50E27C-5D12-7098-659C-2F3974E9F765}"/>
                </a:ext>
              </a:extLst>
            </p:cNvPr>
            <p:cNvSpPr txBox="1"/>
            <p:nvPr/>
          </p:nvSpPr>
          <p:spPr>
            <a:xfrm>
              <a:off x="0" y="-47625"/>
              <a:ext cx="871941" cy="48610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00"/>
                </a:lnSpc>
              </a:pPr>
              <a:endParaRPr/>
            </a:p>
          </p:txBody>
        </p:sp>
      </p:grpSp>
      <p:sp>
        <p:nvSpPr>
          <p:cNvPr id="32" name="TextBox 44">
            <a:extLst>
              <a:ext uri="{FF2B5EF4-FFF2-40B4-BE49-F238E27FC236}">
                <a16:creationId xmlns:a16="http://schemas.microsoft.com/office/drawing/2014/main" id="{C287B4B5-E27A-95EE-15C7-28349203BFBD}"/>
              </a:ext>
            </a:extLst>
          </p:cNvPr>
          <p:cNvSpPr txBox="1"/>
          <p:nvPr/>
        </p:nvSpPr>
        <p:spPr>
          <a:xfrm>
            <a:off x="3928350" y="3234663"/>
            <a:ext cx="3181207" cy="12346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039"/>
              </a:lnSpc>
              <a:spcBef>
                <a:spcPct val="0"/>
              </a:spcBef>
            </a:pPr>
            <a:r>
              <a:rPr lang="en-US" sz="3599" b="1" dirty="0">
                <a:solidFill>
                  <a:srgbClr val="3B52A1"/>
                </a:solidFill>
                <a:latin typeface="Avenir Bold"/>
                <a:ea typeface="Avenir Bold"/>
                <a:cs typeface="Avenir Bold"/>
                <a:sym typeface="Avenir Bold"/>
              </a:rPr>
              <a:t>{{MTDRENTALS}}</a:t>
            </a:r>
          </a:p>
        </p:txBody>
      </p:sp>
      <p:sp>
        <p:nvSpPr>
          <p:cNvPr id="33" name="TextBox 45">
            <a:extLst>
              <a:ext uri="{FF2B5EF4-FFF2-40B4-BE49-F238E27FC236}">
                <a16:creationId xmlns:a16="http://schemas.microsoft.com/office/drawing/2014/main" id="{9711E967-15B6-CD0C-2AC2-9CB7DC7D67CE}"/>
              </a:ext>
            </a:extLst>
          </p:cNvPr>
          <p:cNvSpPr txBox="1"/>
          <p:nvPr/>
        </p:nvSpPr>
        <p:spPr>
          <a:xfrm>
            <a:off x="3852150" y="4048125"/>
            <a:ext cx="3269567" cy="4978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199"/>
              </a:lnSpc>
              <a:spcBef>
                <a:spcPct val="0"/>
              </a:spcBef>
            </a:pPr>
            <a:r>
              <a:rPr lang="en-US" sz="2999" dirty="0">
                <a:solidFill>
                  <a:srgbClr val="3B52A1"/>
                </a:solidFill>
                <a:latin typeface="Avenir"/>
                <a:ea typeface="Avenir"/>
                <a:cs typeface="Avenir"/>
                <a:sym typeface="Avenir"/>
              </a:rPr>
              <a:t>MTD Rentals</a:t>
            </a:r>
          </a:p>
        </p:txBody>
      </p:sp>
      <p:grpSp>
        <p:nvGrpSpPr>
          <p:cNvPr id="46" name="Group 41">
            <a:extLst>
              <a:ext uri="{FF2B5EF4-FFF2-40B4-BE49-F238E27FC236}">
                <a16:creationId xmlns:a16="http://schemas.microsoft.com/office/drawing/2014/main" id="{EFEFABE1-C600-38CC-194D-0378FCCF6476}"/>
              </a:ext>
            </a:extLst>
          </p:cNvPr>
          <p:cNvGrpSpPr/>
          <p:nvPr/>
        </p:nvGrpSpPr>
        <p:grpSpPr>
          <a:xfrm>
            <a:off x="7315200" y="3162300"/>
            <a:ext cx="3310650" cy="1664850"/>
            <a:chOff x="0" y="0"/>
            <a:chExt cx="871941" cy="438479"/>
          </a:xfrm>
        </p:grpSpPr>
        <p:sp>
          <p:nvSpPr>
            <p:cNvPr id="47" name="Freeform 42">
              <a:extLst>
                <a:ext uri="{FF2B5EF4-FFF2-40B4-BE49-F238E27FC236}">
                  <a16:creationId xmlns:a16="http://schemas.microsoft.com/office/drawing/2014/main" id="{C7E010AD-67F0-DB79-4FAB-C3293D1D20CB}"/>
                </a:ext>
              </a:extLst>
            </p:cNvPr>
            <p:cNvSpPr/>
            <p:nvPr/>
          </p:nvSpPr>
          <p:spPr>
            <a:xfrm>
              <a:off x="0" y="0"/>
              <a:ext cx="871941" cy="438479"/>
            </a:xfrm>
            <a:custGeom>
              <a:avLst/>
              <a:gdLst/>
              <a:ahLst/>
              <a:cxnLst/>
              <a:rect l="l" t="t" r="r" b="b"/>
              <a:pathLst>
                <a:path w="871941" h="438479">
                  <a:moveTo>
                    <a:pt x="0" y="0"/>
                  </a:moveTo>
                  <a:lnTo>
                    <a:pt x="871941" y="0"/>
                  </a:lnTo>
                  <a:lnTo>
                    <a:pt x="871941" y="438479"/>
                  </a:lnTo>
                  <a:lnTo>
                    <a:pt x="0" y="43847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3B52A1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TextBox 43">
              <a:extLst>
                <a:ext uri="{FF2B5EF4-FFF2-40B4-BE49-F238E27FC236}">
                  <a16:creationId xmlns:a16="http://schemas.microsoft.com/office/drawing/2014/main" id="{90FDDEBF-5E60-FECF-D5C5-CD896F71690C}"/>
                </a:ext>
              </a:extLst>
            </p:cNvPr>
            <p:cNvSpPr txBox="1"/>
            <p:nvPr/>
          </p:nvSpPr>
          <p:spPr>
            <a:xfrm>
              <a:off x="0" y="-47625"/>
              <a:ext cx="871941" cy="48610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00"/>
                </a:lnSpc>
              </a:pPr>
              <a:endParaRPr/>
            </a:p>
          </p:txBody>
        </p:sp>
      </p:grpSp>
      <p:sp>
        <p:nvSpPr>
          <p:cNvPr id="49" name="TextBox 44">
            <a:extLst>
              <a:ext uri="{FF2B5EF4-FFF2-40B4-BE49-F238E27FC236}">
                <a16:creationId xmlns:a16="http://schemas.microsoft.com/office/drawing/2014/main" id="{4BB2B5A3-D35C-6334-37AD-5EE2ED8BB57A}"/>
              </a:ext>
            </a:extLst>
          </p:cNvPr>
          <p:cNvSpPr txBox="1"/>
          <p:nvPr/>
        </p:nvSpPr>
        <p:spPr>
          <a:xfrm>
            <a:off x="7391400" y="3234663"/>
            <a:ext cx="3181207" cy="12346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039"/>
              </a:lnSpc>
              <a:spcBef>
                <a:spcPct val="0"/>
              </a:spcBef>
            </a:pPr>
            <a:r>
              <a:rPr lang="en-US" sz="3599" b="1" dirty="0">
                <a:solidFill>
                  <a:srgbClr val="3B52A1"/>
                </a:solidFill>
                <a:latin typeface="Avenir Bold"/>
                <a:ea typeface="Avenir Bold"/>
                <a:cs typeface="Avenir Bold"/>
                <a:sym typeface="Avenir Bold"/>
              </a:rPr>
              <a:t>{{MTDVACATES}}</a:t>
            </a:r>
          </a:p>
        </p:txBody>
      </p:sp>
      <p:sp>
        <p:nvSpPr>
          <p:cNvPr id="50" name="TextBox 45">
            <a:extLst>
              <a:ext uri="{FF2B5EF4-FFF2-40B4-BE49-F238E27FC236}">
                <a16:creationId xmlns:a16="http://schemas.microsoft.com/office/drawing/2014/main" id="{E947CF11-6478-526B-BBD9-DEA14896B0A5}"/>
              </a:ext>
            </a:extLst>
          </p:cNvPr>
          <p:cNvSpPr txBox="1"/>
          <p:nvPr/>
        </p:nvSpPr>
        <p:spPr>
          <a:xfrm>
            <a:off x="7315200" y="4048125"/>
            <a:ext cx="3269567" cy="49782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4199"/>
              </a:lnSpc>
              <a:spcBef>
                <a:spcPct val="0"/>
              </a:spcBef>
            </a:pPr>
            <a:r>
              <a:rPr lang="en-US" sz="2999" dirty="0">
                <a:solidFill>
                  <a:srgbClr val="3B52A1"/>
                </a:solidFill>
                <a:latin typeface="Avenir"/>
                <a:ea typeface="Avenir"/>
                <a:cs typeface="Avenir"/>
                <a:sym typeface="Avenir"/>
              </a:rPr>
              <a:t>MTD Vacates</a:t>
            </a:r>
          </a:p>
        </p:txBody>
      </p:sp>
      <p:grpSp>
        <p:nvGrpSpPr>
          <p:cNvPr id="51" name="Group 41">
            <a:extLst>
              <a:ext uri="{FF2B5EF4-FFF2-40B4-BE49-F238E27FC236}">
                <a16:creationId xmlns:a16="http://schemas.microsoft.com/office/drawing/2014/main" id="{05B9E614-D59C-40C8-9F4C-E974E1D81485}"/>
              </a:ext>
            </a:extLst>
          </p:cNvPr>
          <p:cNvGrpSpPr/>
          <p:nvPr/>
        </p:nvGrpSpPr>
        <p:grpSpPr>
          <a:xfrm>
            <a:off x="10820400" y="3162300"/>
            <a:ext cx="3310650" cy="1664850"/>
            <a:chOff x="0" y="0"/>
            <a:chExt cx="871941" cy="438479"/>
          </a:xfrm>
        </p:grpSpPr>
        <p:sp>
          <p:nvSpPr>
            <p:cNvPr id="52" name="Freeform 42">
              <a:extLst>
                <a:ext uri="{FF2B5EF4-FFF2-40B4-BE49-F238E27FC236}">
                  <a16:creationId xmlns:a16="http://schemas.microsoft.com/office/drawing/2014/main" id="{D382B21C-317D-C115-FCA6-5CBD756100BB}"/>
                </a:ext>
              </a:extLst>
            </p:cNvPr>
            <p:cNvSpPr/>
            <p:nvPr/>
          </p:nvSpPr>
          <p:spPr>
            <a:xfrm>
              <a:off x="0" y="0"/>
              <a:ext cx="871941" cy="438479"/>
            </a:xfrm>
            <a:custGeom>
              <a:avLst/>
              <a:gdLst/>
              <a:ahLst/>
              <a:cxnLst/>
              <a:rect l="l" t="t" r="r" b="b"/>
              <a:pathLst>
                <a:path w="871941" h="438479">
                  <a:moveTo>
                    <a:pt x="0" y="0"/>
                  </a:moveTo>
                  <a:lnTo>
                    <a:pt x="871941" y="0"/>
                  </a:lnTo>
                  <a:lnTo>
                    <a:pt x="871941" y="438479"/>
                  </a:lnTo>
                  <a:lnTo>
                    <a:pt x="0" y="43847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3B52A1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TextBox 43">
              <a:extLst>
                <a:ext uri="{FF2B5EF4-FFF2-40B4-BE49-F238E27FC236}">
                  <a16:creationId xmlns:a16="http://schemas.microsoft.com/office/drawing/2014/main" id="{FD7006A7-4484-9849-2D02-E0FECA00F050}"/>
                </a:ext>
              </a:extLst>
            </p:cNvPr>
            <p:cNvSpPr txBox="1"/>
            <p:nvPr/>
          </p:nvSpPr>
          <p:spPr>
            <a:xfrm>
              <a:off x="0" y="-47625"/>
              <a:ext cx="871941" cy="48610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00"/>
                </a:lnSpc>
              </a:pPr>
              <a:endParaRPr/>
            </a:p>
          </p:txBody>
        </p:sp>
      </p:grpSp>
      <p:sp>
        <p:nvSpPr>
          <p:cNvPr id="54" name="TextBox 44">
            <a:extLst>
              <a:ext uri="{FF2B5EF4-FFF2-40B4-BE49-F238E27FC236}">
                <a16:creationId xmlns:a16="http://schemas.microsoft.com/office/drawing/2014/main" id="{B7B3BBE5-CAF3-C9F1-D2A9-53FEB02F50C5}"/>
              </a:ext>
            </a:extLst>
          </p:cNvPr>
          <p:cNvSpPr txBox="1"/>
          <p:nvPr/>
        </p:nvSpPr>
        <p:spPr>
          <a:xfrm>
            <a:off x="10896600" y="3234663"/>
            <a:ext cx="3181207" cy="12346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039"/>
              </a:lnSpc>
              <a:spcBef>
                <a:spcPct val="0"/>
              </a:spcBef>
            </a:pPr>
            <a:r>
              <a:rPr lang="en-US" sz="3599" b="1" dirty="0">
                <a:solidFill>
                  <a:srgbClr val="3B52A1"/>
                </a:solidFill>
                <a:latin typeface="Avenir Bold"/>
                <a:ea typeface="Avenir Bold"/>
                <a:cs typeface="Avenir Bold"/>
                <a:sym typeface="Avenir Bold"/>
              </a:rPr>
              <a:t>{{MTDNETRENTALS}}</a:t>
            </a:r>
          </a:p>
        </p:txBody>
      </p:sp>
      <p:sp>
        <p:nvSpPr>
          <p:cNvPr id="55" name="TextBox 45">
            <a:extLst>
              <a:ext uri="{FF2B5EF4-FFF2-40B4-BE49-F238E27FC236}">
                <a16:creationId xmlns:a16="http://schemas.microsoft.com/office/drawing/2014/main" id="{9C28B3A7-9D35-D1C8-509C-FC32497E31E0}"/>
              </a:ext>
            </a:extLst>
          </p:cNvPr>
          <p:cNvSpPr txBox="1"/>
          <p:nvPr/>
        </p:nvSpPr>
        <p:spPr>
          <a:xfrm>
            <a:off x="10820400" y="4048125"/>
            <a:ext cx="3269567" cy="4978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199"/>
              </a:lnSpc>
              <a:spcBef>
                <a:spcPct val="0"/>
              </a:spcBef>
            </a:pPr>
            <a:r>
              <a:rPr lang="en-US" sz="2999" dirty="0">
                <a:solidFill>
                  <a:srgbClr val="3B52A1"/>
                </a:solidFill>
                <a:latin typeface="Avenir"/>
                <a:ea typeface="Avenir"/>
                <a:cs typeface="Avenir"/>
                <a:sym typeface="Avenir"/>
              </a:rPr>
              <a:t>MTD Net</a:t>
            </a:r>
          </a:p>
        </p:txBody>
      </p:sp>
      <p:grpSp>
        <p:nvGrpSpPr>
          <p:cNvPr id="76" name="Group 41">
            <a:extLst>
              <a:ext uri="{FF2B5EF4-FFF2-40B4-BE49-F238E27FC236}">
                <a16:creationId xmlns:a16="http://schemas.microsoft.com/office/drawing/2014/main" id="{B145205C-F1A3-7397-D900-432548B13003}"/>
              </a:ext>
            </a:extLst>
          </p:cNvPr>
          <p:cNvGrpSpPr/>
          <p:nvPr/>
        </p:nvGrpSpPr>
        <p:grpSpPr>
          <a:xfrm>
            <a:off x="304800" y="5231250"/>
            <a:ext cx="3310650" cy="1664850"/>
            <a:chOff x="0" y="0"/>
            <a:chExt cx="871941" cy="438479"/>
          </a:xfrm>
        </p:grpSpPr>
        <p:sp>
          <p:nvSpPr>
            <p:cNvPr id="77" name="Freeform 42">
              <a:extLst>
                <a:ext uri="{FF2B5EF4-FFF2-40B4-BE49-F238E27FC236}">
                  <a16:creationId xmlns:a16="http://schemas.microsoft.com/office/drawing/2014/main" id="{282D1D12-C5E6-316A-33BE-FD77D90C0A93}"/>
                </a:ext>
              </a:extLst>
            </p:cNvPr>
            <p:cNvSpPr/>
            <p:nvPr/>
          </p:nvSpPr>
          <p:spPr>
            <a:xfrm>
              <a:off x="0" y="0"/>
              <a:ext cx="871941" cy="438479"/>
            </a:xfrm>
            <a:custGeom>
              <a:avLst/>
              <a:gdLst/>
              <a:ahLst/>
              <a:cxnLst/>
              <a:rect l="l" t="t" r="r" b="b"/>
              <a:pathLst>
                <a:path w="871941" h="438479">
                  <a:moveTo>
                    <a:pt x="0" y="0"/>
                  </a:moveTo>
                  <a:lnTo>
                    <a:pt x="871941" y="0"/>
                  </a:lnTo>
                  <a:lnTo>
                    <a:pt x="871941" y="438479"/>
                  </a:lnTo>
                  <a:lnTo>
                    <a:pt x="0" y="43847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3B52A1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8" name="TextBox 43">
              <a:extLst>
                <a:ext uri="{FF2B5EF4-FFF2-40B4-BE49-F238E27FC236}">
                  <a16:creationId xmlns:a16="http://schemas.microsoft.com/office/drawing/2014/main" id="{90EC3831-7541-8ABC-8715-78FB148716AA}"/>
                </a:ext>
              </a:extLst>
            </p:cNvPr>
            <p:cNvSpPr txBox="1"/>
            <p:nvPr/>
          </p:nvSpPr>
          <p:spPr>
            <a:xfrm>
              <a:off x="0" y="-47625"/>
              <a:ext cx="871941" cy="48610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00"/>
                </a:lnSpc>
              </a:pPr>
              <a:endParaRPr/>
            </a:p>
          </p:txBody>
        </p:sp>
      </p:grpSp>
      <p:sp>
        <p:nvSpPr>
          <p:cNvPr id="79" name="TextBox 44">
            <a:extLst>
              <a:ext uri="{FF2B5EF4-FFF2-40B4-BE49-F238E27FC236}">
                <a16:creationId xmlns:a16="http://schemas.microsoft.com/office/drawing/2014/main" id="{96785DB2-C3F3-F75D-8DE6-C162AB3A9A28}"/>
              </a:ext>
            </a:extLst>
          </p:cNvPr>
          <p:cNvSpPr txBox="1"/>
          <p:nvPr/>
        </p:nvSpPr>
        <p:spPr>
          <a:xfrm>
            <a:off x="381000" y="5303613"/>
            <a:ext cx="3181207" cy="5934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039"/>
              </a:lnSpc>
              <a:spcBef>
                <a:spcPct val="0"/>
              </a:spcBef>
            </a:pPr>
            <a:r>
              <a:rPr lang="en-US" sz="3599" b="1" dirty="0">
                <a:solidFill>
                  <a:srgbClr val="3B52A1"/>
                </a:solidFill>
                <a:latin typeface="Avenir Bold"/>
                <a:ea typeface="Avenir Bold"/>
                <a:cs typeface="Avenir Bold"/>
                <a:sym typeface="Avenir Bold"/>
              </a:rPr>
              <a:t>{{PROJRENT}}</a:t>
            </a:r>
          </a:p>
        </p:txBody>
      </p:sp>
      <p:sp>
        <p:nvSpPr>
          <p:cNvPr id="80" name="TextBox 45">
            <a:extLst>
              <a:ext uri="{FF2B5EF4-FFF2-40B4-BE49-F238E27FC236}">
                <a16:creationId xmlns:a16="http://schemas.microsoft.com/office/drawing/2014/main" id="{9AD64C21-DD1B-0C03-CA2E-8BC0F6BAF7DC}"/>
              </a:ext>
            </a:extLst>
          </p:cNvPr>
          <p:cNvSpPr txBox="1"/>
          <p:nvPr/>
        </p:nvSpPr>
        <p:spPr>
          <a:xfrm>
            <a:off x="304800" y="6117075"/>
            <a:ext cx="3269567" cy="4978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199"/>
              </a:lnSpc>
              <a:spcBef>
                <a:spcPct val="0"/>
              </a:spcBef>
            </a:pPr>
            <a:r>
              <a:rPr lang="en-US" sz="2999" dirty="0">
                <a:solidFill>
                  <a:srgbClr val="3B52A1"/>
                </a:solidFill>
                <a:latin typeface="Avenir"/>
                <a:ea typeface="Avenir"/>
                <a:cs typeface="Avenir"/>
                <a:sym typeface="Avenir"/>
              </a:rPr>
              <a:t>Projected Rent</a:t>
            </a:r>
          </a:p>
        </p:txBody>
      </p:sp>
      <p:grpSp>
        <p:nvGrpSpPr>
          <p:cNvPr id="81" name="Group 41">
            <a:extLst>
              <a:ext uri="{FF2B5EF4-FFF2-40B4-BE49-F238E27FC236}">
                <a16:creationId xmlns:a16="http://schemas.microsoft.com/office/drawing/2014/main" id="{A8B17132-26AB-4386-9931-9F9E9EFA4E4B}"/>
              </a:ext>
            </a:extLst>
          </p:cNvPr>
          <p:cNvGrpSpPr/>
          <p:nvPr/>
        </p:nvGrpSpPr>
        <p:grpSpPr>
          <a:xfrm>
            <a:off x="3829193" y="5231250"/>
            <a:ext cx="3310650" cy="1664850"/>
            <a:chOff x="0" y="0"/>
            <a:chExt cx="871941" cy="438479"/>
          </a:xfrm>
        </p:grpSpPr>
        <p:sp>
          <p:nvSpPr>
            <p:cNvPr id="82" name="Freeform 42">
              <a:extLst>
                <a:ext uri="{FF2B5EF4-FFF2-40B4-BE49-F238E27FC236}">
                  <a16:creationId xmlns:a16="http://schemas.microsoft.com/office/drawing/2014/main" id="{7B080420-AA1B-E73F-1AAC-0DEF51E8B94E}"/>
                </a:ext>
              </a:extLst>
            </p:cNvPr>
            <p:cNvSpPr/>
            <p:nvPr/>
          </p:nvSpPr>
          <p:spPr>
            <a:xfrm>
              <a:off x="0" y="0"/>
              <a:ext cx="871941" cy="438479"/>
            </a:xfrm>
            <a:custGeom>
              <a:avLst/>
              <a:gdLst/>
              <a:ahLst/>
              <a:cxnLst/>
              <a:rect l="l" t="t" r="r" b="b"/>
              <a:pathLst>
                <a:path w="871941" h="438479">
                  <a:moveTo>
                    <a:pt x="0" y="0"/>
                  </a:moveTo>
                  <a:lnTo>
                    <a:pt x="871941" y="0"/>
                  </a:lnTo>
                  <a:lnTo>
                    <a:pt x="871941" y="438479"/>
                  </a:lnTo>
                  <a:lnTo>
                    <a:pt x="0" y="43847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3B52A1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3" name="TextBox 43">
              <a:extLst>
                <a:ext uri="{FF2B5EF4-FFF2-40B4-BE49-F238E27FC236}">
                  <a16:creationId xmlns:a16="http://schemas.microsoft.com/office/drawing/2014/main" id="{A0E891B5-E360-0705-A1DA-EB73B0478221}"/>
                </a:ext>
              </a:extLst>
            </p:cNvPr>
            <p:cNvSpPr txBox="1"/>
            <p:nvPr/>
          </p:nvSpPr>
          <p:spPr>
            <a:xfrm>
              <a:off x="0" y="-47625"/>
              <a:ext cx="871941" cy="48610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00"/>
                </a:lnSpc>
              </a:pPr>
              <a:endParaRPr/>
            </a:p>
          </p:txBody>
        </p:sp>
      </p:grpSp>
      <p:sp>
        <p:nvSpPr>
          <p:cNvPr id="84" name="TextBox 44">
            <a:extLst>
              <a:ext uri="{FF2B5EF4-FFF2-40B4-BE49-F238E27FC236}">
                <a16:creationId xmlns:a16="http://schemas.microsoft.com/office/drawing/2014/main" id="{0EC5E9F7-863C-DE5B-D71D-7E0632316569}"/>
              </a:ext>
            </a:extLst>
          </p:cNvPr>
          <p:cNvSpPr txBox="1"/>
          <p:nvPr/>
        </p:nvSpPr>
        <p:spPr>
          <a:xfrm>
            <a:off x="3905393" y="5303613"/>
            <a:ext cx="3181207" cy="12346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039"/>
              </a:lnSpc>
              <a:spcBef>
                <a:spcPct val="0"/>
              </a:spcBef>
            </a:pPr>
            <a:r>
              <a:rPr lang="en-US" sz="3599" b="1" dirty="0">
                <a:solidFill>
                  <a:srgbClr val="3B52A1"/>
                </a:solidFill>
                <a:latin typeface="Avenir Bold"/>
                <a:ea typeface="Avenir Bold"/>
                <a:cs typeface="Avenir Bold"/>
                <a:sym typeface="Avenir Bold"/>
              </a:rPr>
              <a:t>{{PROJRENTPERSF}}</a:t>
            </a:r>
          </a:p>
        </p:txBody>
      </p:sp>
      <p:sp>
        <p:nvSpPr>
          <p:cNvPr id="85" name="TextBox 45">
            <a:extLst>
              <a:ext uri="{FF2B5EF4-FFF2-40B4-BE49-F238E27FC236}">
                <a16:creationId xmlns:a16="http://schemas.microsoft.com/office/drawing/2014/main" id="{D64049D5-8E8A-C7F3-44C8-5165D72D8E91}"/>
              </a:ext>
            </a:extLst>
          </p:cNvPr>
          <p:cNvSpPr txBox="1"/>
          <p:nvPr/>
        </p:nvSpPr>
        <p:spPr>
          <a:xfrm>
            <a:off x="3829193" y="6117075"/>
            <a:ext cx="3269567" cy="4978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199"/>
              </a:lnSpc>
              <a:spcBef>
                <a:spcPct val="0"/>
              </a:spcBef>
            </a:pPr>
            <a:r>
              <a:rPr lang="en-US" sz="2999" dirty="0">
                <a:solidFill>
                  <a:srgbClr val="3B52A1"/>
                </a:solidFill>
                <a:latin typeface="Avenir"/>
                <a:ea typeface="Avenir"/>
                <a:cs typeface="Avenir"/>
                <a:sym typeface="Avenir"/>
              </a:rPr>
              <a:t>Projected Rent/SF</a:t>
            </a:r>
          </a:p>
        </p:txBody>
      </p:sp>
      <p:grpSp>
        <p:nvGrpSpPr>
          <p:cNvPr id="86" name="Group 41">
            <a:extLst>
              <a:ext uri="{FF2B5EF4-FFF2-40B4-BE49-F238E27FC236}">
                <a16:creationId xmlns:a16="http://schemas.microsoft.com/office/drawing/2014/main" id="{A194E09A-672B-2566-2FEF-76B25DA68195}"/>
              </a:ext>
            </a:extLst>
          </p:cNvPr>
          <p:cNvGrpSpPr/>
          <p:nvPr/>
        </p:nvGrpSpPr>
        <p:grpSpPr>
          <a:xfrm>
            <a:off x="7334393" y="5231250"/>
            <a:ext cx="3310650" cy="1664850"/>
            <a:chOff x="0" y="0"/>
            <a:chExt cx="871941" cy="438479"/>
          </a:xfrm>
        </p:grpSpPr>
        <p:sp>
          <p:nvSpPr>
            <p:cNvPr id="87" name="Freeform 42">
              <a:extLst>
                <a:ext uri="{FF2B5EF4-FFF2-40B4-BE49-F238E27FC236}">
                  <a16:creationId xmlns:a16="http://schemas.microsoft.com/office/drawing/2014/main" id="{83F4823C-CB9F-2299-905B-FFCE65A1C5B4}"/>
                </a:ext>
              </a:extLst>
            </p:cNvPr>
            <p:cNvSpPr/>
            <p:nvPr/>
          </p:nvSpPr>
          <p:spPr>
            <a:xfrm>
              <a:off x="0" y="0"/>
              <a:ext cx="871941" cy="438479"/>
            </a:xfrm>
            <a:custGeom>
              <a:avLst/>
              <a:gdLst/>
              <a:ahLst/>
              <a:cxnLst/>
              <a:rect l="l" t="t" r="r" b="b"/>
              <a:pathLst>
                <a:path w="871941" h="438479">
                  <a:moveTo>
                    <a:pt x="0" y="0"/>
                  </a:moveTo>
                  <a:lnTo>
                    <a:pt x="871941" y="0"/>
                  </a:lnTo>
                  <a:lnTo>
                    <a:pt x="871941" y="438479"/>
                  </a:lnTo>
                  <a:lnTo>
                    <a:pt x="0" y="43847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3B52A1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8" name="TextBox 43">
              <a:extLst>
                <a:ext uri="{FF2B5EF4-FFF2-40B4-BE49-F238E27FC236}">
                  <a16:creationId xmlns:a16="http://schemas.microsoft.com/office/drawing/2014/main" id="{B685CAA6-A831-9BC5-749C-7B54048059BE}"/>
                </a:ext>
              </a:extLst>
            </p:cNvPr>
            <p:cNvSpPr txBox="1"/>
            <p:nvPr/>
          </p:nvSpPr>
          <p:spPr>
            <a:xfrm>
              <a:off x="0" y="-47625"/>
              <a:ext cx="871941" cy="48610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00"/>
                </a:lnSpc>
              </a:pPr>
              <a:endParaRPr/>
            </a:p>
          </p:txBody>
        </p:sp>
      </p:grpSp>
      <p:sp>
        <p:nvSpPr>
          <p:cNvPr id="89" name="TextBox 44">
            <a:extLst>
              <a:ext uri="{FF2B5EF4-FFF2-40B4-BE49-F238E27FC236}">
                <a16:creationId xmlns:a16="http://schemas.microsoft.com/office/drawing/2014/main" id="{B63650AF-EADA-6832-7C25-802DF507A2B8}"/>
              </a:ext>
            </a:extLst>
          </p:cNvPr>
          <p:cNvSpPr txBox="1"/>
          <p:nvPr/>
        </p:nvSpPr>
        <p:spPr>
          <a:xfrm>
            <a:off x="7410593" y="5303613"/>
            <a:ext cx="3181207" cy="12346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039"/>
              </a:lnSpc>
              <a:spcBef>
                <a:spcPct val="0"/>
              </a:spcBef>
            </a:pPr>
            <a:r>
              <a:rPr lang="en-US" sz="3599" b="1" dirty="0">
                <a:solidFill>
                  <a:srgbClr val="3B52A1"/>
                </a:solidFill>
                <a:latin typeface="Avenir Bold"/>
                <a:ea typeface="Avenir Bold"/>
                <a:cs typeface="Avenir Bold"/>
                <a:sym typeface="Avenir Bold"/>
              </a:rPr>
              <a:t>{{EFFPOTRENT}}</a:t>
            </a:r>
          </a:p>
        </p:txBody>
      </p:sp>
      <p:sp>
        <p:nvSpPr>
          <p:cNvPr id="90" name="TextBox 45">
            <a:extLst>
              <a:ext uri="{FF2B5EF4-FFF2-40B4-BE49-F238E27FC236}">
                <a16:creationId xmlns:a16="http://schemas.microsoft.com/office/drawing/2014/main" id="{5710F870-E13D-FA29-B9C8-001C04CF19C7}"/>
              </a:ext>
            </a:extLst>
          </p:cNvPr>
          <p:cNvSpPr txBox="1"/>
          <p:nvPr/>
        </p:nvSpPr>
        <p:spPr>
          <a:xfrm>
            <a:off x="7334393" y="6117075"/>
            <a:ext cx="3269567" cy="4978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199"/>
              </a:lnSpc>
              <a:spcBef>
                <a:spcPct val="0"/>
              </a:spcBef>
            </a:pPr>
            <a:r>
              <a:rPr lang="en-US" sz="2999" dirty="0">
                <a:solidFill>
                  <a:srgbClr val="3B52A1"/>
                </a:solidFill>
                <a:latin typeface="Avenir"/>
                <a:ea typeface="Avenir"/>
                <a:cs typeface="Avenir"/>
                <a:sym typeface="Avenir"/>
              </a:rPr>
              <a:t>Sell Rate Pot. Rent</a:t>
            </a:r>
          </a:p>
        </p:txBody>
      </p:sp>
      <p:grpSp>
        <p:nvGrpSpPr>
          <p:cNvPr id="91" name="Group 41">
            <a:extLst>
              <a:ext uri="{FF2B5EF4-FFF2-40B4-BE49-F238E27FC236}">
                <a16:creationId xmlns:a16="http://schemas.microsoft.com/office/drawing/2014/main" id="{09450ECB-CD00-7D46-7A37-1F8918A66617}"/>
              </a:ext>
            </a:extLst>
          </p:cNvPr>
          <p:cNvGrpSpPr/>
          <p:nvPr/>
        </p:nvGrpSpPr>
        <p:grpSpPr>
          <a:xfrm>
            <a:off x="10839593" y="5231250"/>
            <a:ext cx="3310650" cy="1664850"/>
            <a:chOff x="0" y="0"/>
            <a:chExt cx="871941" cy="438479"/>
          </a:xfrm>
        </p:grpSpPr>
        <p:sp>
          <p:nvSpPr>
            <p:cNvPr id="92" name="Freeform 42">
              <a:extLst>
                <a:ext uri="{FF2B5EF4-FFF2-40B4-BE49-F238E27FC236}">
                  <a16:creationId xmlns:a16="http://schemas.microsoft.com/office/drawing/2014/main" id="{55882327-D0FD-4E3E-6D18-F9ABA78E25CA}"/>
                </a:ext>
              </a:extLst>
            </p:cNvPr>
            <p:cNvSpPr/>
            <p:nvPr/>
          </p:nvSpPr>
          <p:spPr>
            <a:xfrm>
              <a:off x="0" y="0"/>
              <a:ext cx="871941" cy="438479"/>
            </a:xfrm>
            <a:custGeom>
              <a:avLst/>
              <a:gdLst/>
              <a:ahLst/>
              <a:cxnLst/>
              <a:rect l="l" t="t" r="r" b="b"/>
              <a:pathLst>
                <a:path w="871941" h="438479">
                  <a:moveTo>
                    <a:pt x="0" y="0"/>
                  </a:moveTo>
                  <a:lnTo>
                    <a:pt x="871941" y="0"/>
                  </a:lnTo>
                  <a:lnTo>
                    <a:pt x="871941" y="438479"/>
                  </a:lnTo>
                  <a:lnTo>
                    <a:pt x="0" y="43847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3B52A1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3" name="TextBox 43">
              <a:extLst>
                <a:ext uri="{FF2B5EF4-FFF2-40B4-BE49-F238E27FC236}">
                  <a16:creationId xmlns:a16="http://schemas.microsoft.com/office/drawing/2014/main" id="{13402C5B-CE31-9205-C539-4F2AB05D1106}"/>
                </a:ext>
              </a:extLst>
            </p:cNvPr>
            <p:cNvSpPr txBox="1"/>
            <p:nvPr/>
          </p:nvSpPr>
          <p:spPr>
            <a:xfrm>
              <a:off x="0" y="-47625"/>
              <a:ext cx="871941" cy="48610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00"/>
                </a:lnSpc>
              </a:pPr>
              <a:endParaRPr/>
            </a:p>
          </p:txBody>
        </p:sp>
      </p:grpSp>
      <p:sp>
        <p:nvSpPr>
          <p:cNvPr id="94" name="TextBox 44">
            <a:extLst>
              <a:ext uri="{FF2B5EF4-FFF2-40B4-BE49-F238E27FC236}">
                <a16:creationId xmlns:a16="http://schemas.microsoft.com/office/drawing/2014/main" id="{5C0E170E-3640-1A76-EA6E-C86ACC4E07FA}"/>
              </a:ext>
            </a:extLst>
          </p:cNvPr>
          <p:cNvSpPr txBox="1"/>
          <p:nvPr/>
        </p:nvSpPr>
        <p:spPr>
          <a:xfrm>
            <a:off x="10915793" y="5303613"/>
            <a:ext cx="3181207" cy="12346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039"/>
              </a:lnSpc>
              <a:spcBef>
                <a:spcPct val="0"/>
              </a:spcBef>
            </a:pPr>
            <a:r>
              <a:rPr lang="en-US" sz="3599" b="1" dirty="0">
                <a:solidFill>
                  <a:srgbClr val="3B52A1"/>
                </a:solidFill>
                <a:latin typeface="Avenir Bold"/>
                <a:ea typeface="Avenir Bold"/>
                <a:cs typeface="Avenir Bold"/>
                <a:sym typeface="Avenir Bold"/>
              </a:rPr>
              <a:t>{{AVGSFVACA}}</a:t>
            </a:r>
          </a:p>
        </p:txBody>
      </p:sp>
      <p:sp>
        <p:nvSpPr>
          <p:cNvPr id="95" name="TextBox 45">
            <a:extLst>
              <a:ext uri="{FF2B5EF4-FFF2-40B4-BE49-F238E27FC236}">
                <a16:creationId xmlns:a16="http://schemas.microsoft.com/office/drawing/2014/main" id="{C5886E1E-4AE8-98E7-0055-886791ABD92C}"/>
              </a:ext>
            </a:extLst>
          </p:cNvPr>
          <p:cNvSpPr txBox="1"/>
          <p:nvPr/>
        </p:nvSpPr>
        <p:spPr>
          <a:xfrm>
            <a:off x="10839593" y="6117075"/>
            <a:ext cx="3269567" cy="49782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4199"/>
              </a:lnSpc>
              <a:spcBef>
                <a:spcPct val="0"/>
              </a:spcBef>
            </a:pPr>
            <a:r>
              <a:rPr lang="en-US" sz="2999" dirty="0">
                <a:solidFill>
                  <a:srgbClr val="3B52A1"/>
                </a:solidFill>
                <a:latin typeface="Avenir"/>
                <a:ea typeface="Avenir"/>
                <a:cs typeface="Avenir"/>
                <a:sym typeface="Avenir"/>
              </a:rPr>
              <a:t>Sell Rate/</a:t>
            </a:r>
            <a:r>
              <a:rPr lang="en-US" sz="2999" dirty="0" err="1">
                <a:solidFill>
                  <a:srgbClr val="3B52A1"/>
                </a:solidFill>
                <a:latin typeface="Avenir"/>
                <a:ea typeface="Avenir"/>
                <a:cs typeface="Avenir"/>
                <a:sym typeface="Avenir"/>
              </a:rPr>
              <a:t>SqFt</a:t>
            </a:r>
            <a:endParaRPr lang="en-US" sz="2999" dirty="0">
              <a:solidFill>
                <a:srgbClr val="3B52A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grpSp>
        <p:nvGrpSpPr>
          <p:cNvPr id="96" name="Group 41">
            <a:extLst>
              <a:ext uri="{FF2B5EF4-FFF2-40B4-BE49-F238E27FC236}">
                <a16:creationId xmlns:a16="http://schemas.microsoft.com/office/drawing/2014/main" id="{F795C424-A623-3F60-28FE-BE1120DF67A8}"/>
              </a:ext>
            </a:extLst>
          </p:cNvPr>
          <p:cNvGrpSpPr/>
          <p:nvPr/>
        </p:nvGrpSpPr>
        <p:grpSpPr>
          <a:xfrm>
            <a:off x="14420993" y="5231250"/>
            <a:ext cx="3310650" cy="1664850"/>
            <a:chOff x="0" y="0"/>
            <a:chExt cx="871941" cy="438479"/>
          </a:xfrm>
        </p:grpSpPr>
        <p:sp>
          <p:nvSpPr>
            <p:cNvPr id="97" name="Freeform 42">
              <a:extLst>
                <a:ext uri="{FF2B5EF4-FFF2-40B4-BE49-F238E27FC236}">
                  <a16:creationId xmlns:a16="http://schemas.microsoft.com/office/drawing/2014/main" id="{ABDF11F4-BD05-7E49-438D-380E76D9172D}"/>
                </a:ext>
              </a:extLst>
            </p:cNvPr>
            <p:cNvSpPr/>
            <p:nvPr/>
          </p:nvSpPr>
          <p:spPr>
            <a:xfrm>
              <a:off x="0" y="0"/>
              <a:ext cx="871941" cy="438479"/>
            </a:xfrm>
            <a:custGeom>
              <a:avLst/>
              <a:gdLst/>
              <a:ahLst/>
              <a:cxnLst/>
              <a:rect l="l" t="t" r="r" b="b"/>
              <a:pathLst>
                <a:path w="871941" h="438479">
                  <a:moveTo>
                    <a:pt x="0" y="0"/>
                  </a:moveTo>
                  <a:lnTo>
                    <a:pt x="871941" y="0"/>
                  </a:lnTo>
                  <a:lnTo>
                    <a:pt x="871941" y="438479"/>
                  </a:lnTo>
                  <a:lnTo>
                    <a:pt x="0" y="43847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3B52A1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8" name="TextBox 43">
              <a:extLst>
                <a:ext uri="{FF2B5EF4-FFF2-40B4-BE49-F238E27FC236}">
                  <a16:creationId xmlns:a16="http://schemas.microsoft.com/office/drawing/2014/main" id="{34C9B84F-F1AA-FC35-8913-6E63E29F7DFE}"/>
                </a:ext>
              </a:extLst>
            </p:cNvPr>
            <p:cNvSpPr txBox="1"/>
            <p:nvPr/>
          </p:nvSpPr>
          <p:spPr>
            <a:xfrm>
              <a:off x="0" y="-47625"/>
              <a:ext cx="871941" cy="48610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00"/>
                </a:lnSpc>
              </a:pPr>
              <a:endParaRPr/>
            </a:p>
          </p:txBody>
        </p:sp>
      </p:grpSp>
      <p:sp>
        <p:nvSpPr>
          <p:cNvPr id="99" name="TextBox 44">
            <a:extLst>
              <a:ext uri="{FF2B5EF4-FFF2-40B4-BE49-F238E27FC236}">
                <a16:creationId xmlns:a16="http://schemas.microsoft.com/office/drawing/2014/main" id="{CF69C673-9587-85AA-26B9-51CF533DC558}"/>
              </a:ext>
            </a:extLst>
          </p:cNvPr>
          <p:cNvSpPr txBox="1"/>
          <p:nvPr/>
        </p:nvSpPr>
        <p:spPr>
          <a:xfrm>
            <a:off x="14497193" y="5303613"/>
            <a:ext cx="3181207" cy="12346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039"/>
              </a:lnSpc>
              <a:spcBef>
                <a:spcPct val="0"/>
              </a:spcBef>
            </a:pPr>
            <a:r>
              <a:rPr lang="en-US" sz="3599" b="1" dirty="0">
                <a:solidFill>
                  <a:srgbClr val="3B52A1"/>
                </a:solidFill>
                <a:latin typeface="Avenir Bold"/>
                <a:ea typeface="Avenir Bold"/>
                <a:cs typeface="Avenir Bold"/>
                <a:sym typeface="Avenir Bold"/>
              </a:rPr>
              <a:t>{{GROSSPOTRENT}}</a:t>
            </a:r>
          </a:p>
        </p:txBody>
      </p:sp>
      <p:sp>
        <p:nvSpPr>
          <p:cNvPr id="100" name="TextBox 45">
            <a:extLst>
              <a:ext uri="{FF2B5EF4-FFF2-40B4-BE49-F238E27FC236}">
                <a16:creationId xmlns:a16="http://schemas.microsoft.com/office/drawing/2014/main" id="{5F2F2D86-BB5A-879B-7F18-4B1B2D65AF81}"/>
              </a:ext>
            </a:extLst>
          </p:cNvPr>
          <p:cNvSpPr txBox="1"/>
          <p:nvPr/>
        </p:nvSpPr>
        <p:spPr>
          <a:xfrm>
            <a:off x="14420993" y="6117075"/>
            <a:ext cx="3269567" cy="4978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199"/>
              </a:lnSpc>
              <a:spcBef>
                <a:spcPct val="0"/>
              </a:spcBef>
            </a:pPr>
            <a:r>
              <a:rPr lang="en-US" sz="2999" dirty="0">
                <a:solidFill>
                  <a:srgbClr val="3B52A1"/>
                </a:solidFill>
                <a:latin typeface="Avenir"/>
                <a:ea typeface="Avenir"/>
                <a:cs typeface="Avenir"/>
                <a:sym typeface="Avenir"/>
              </a:rPr>
              <a:t>Gross Pot. Rent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-10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-1" b="-18519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-100" y="45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68627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6944916" y="9326434"/>
            <a:ext cx="1097400" cy="787200"/>
            <a:chOff x="0" y="0"/>
            <a:chExt cx="1463200" cy="10496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463200" cy="1049600"/>
            </a:xfrm>
            <a:custGeom>
              <a:avLst/>
              <a:gdLst/>
              <a:ahLst/>
              <a:cxnLst/>
              <a:rect l="l" t="t" r="r" b="b"/>
              <a:pathLst>
                <a:path w="1463200" h="1049600">
                  <a:moveTo>
                    <a:pt x="0" y="0"/>
                  </a:moveTo>
                  <a:lnTo>
                    <a:pt x="1463200" y="0"/>
                  </a:lnTo>
                  <a:lnTo>
                    <a:pt x="1463200" y="1049600"/>
                  </a:lnTo>
                  <a:lnTo>
                    <a:pt x="0" y="10496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1463200" cy="10972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400"/>
                </a:lnSpc>
              </a:pPr>
              <a:r>
                <a:rPr lang="en-US" sz="2000">
                  <a:solidFill>
                    <a:srgbClr val="595959"/>
                  </a:solidFill>
                  <a:latin typeface="Avenir"/>
                  <a:ea typeface="Avenir"/>
                  <a:cs typeface="Avenir"/>
                  <a:sym typeface="Avenir"/>
                </a:rPr>
                <a:t>8</a:t>
              </a:r>
            </a:p>
          </p:txBody>
        </p:sp>
      </p:grpSp>
      <p:sp>
        <p:nvSpPr>
          <p:cNvPr id="9" name="AutoShape 9"/>
          <p:cNvSpPr/>
          <p:nvPr/>
        </p:nvSpPr>
        <p:spPr>
          <a:xfrm rot="14726">
            <a:off x="439672" y="5134425"/>
            <a:ext cx="17018256" cy="0"/>
          </a:xfrm>
          <a:prstGeom prst="line">
            <a:avLst/>
          </a:prstGeom>
          <a:ln w="19050" cap="rnd">
            <a:solidFill>
              <a:srgbClr val="3B52A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10" name="Group 10"/>
          <p:cNvGrpSpPr/>
          <p:nvPr/>
        </p:nvGrpSpPr>
        <p:grpSpPr>
          <a:xfrm>
            <a:off x="3525075" y="2983476"/>
            <a:ext cx="5346799" cy="1645800"/>
            <a:chOff x="0" y="0"/>
            <a:chExt cx="4392800" cy="21944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4392803" cy="2194433"/>
            </a:xfrm>
            <a:custGeom>
              <a:avLst/>
              <a:gdLst/>
              <a:ahLst/>
              <a:cxnLst/>
              <a:rect l="l" t="t" r="r" b="b"/>
              <a:pathLst>
                <a:path w="4392803" h="2194433">
                  <a:moveTo>
                    <a:pt x="0" y="0"/>
                  </a:moveTo>
                  <a:lnTo>
                    <a:pt x="4392803" y="0"/>
                  </a:lnTo>
                  <a:lnTo>
                    <a:pt x="4392803" y="2194433"/>
                  </a:lnTo>
                  <a:lnTo>
                    <a:pt x="0" y="2194433"/>
                  </a:lnTo>
                  <a:close/>
                </a:path>
              </a:pathLst>
            </a:custGeom>
            <a:solidFill>
              <a:srgbClr val="3B52A1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85725"/>
              <a:ext cx="4392800" cy="22801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800"/>
                </a:lnSpc>
              </a:pPr>
              <a:r>
                <a:rPr lang="en-US" sz="4000" b="1" dirty="0">
                  <a:solidFill>
                    <a:srgbClr val="FFFFFF"/>
                  </a:solidFill>
                  <a:latin typeface="Avenir Bold"/>
                  <a:ea typeface="Avenir Bold"/>
                  <a:cs typeface="Avenir Bold"/>
                  <a:sym typeface="Avenir Bold"/>
                </a:rPr>
                <a:t>{{CURRENTMONTH}}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0" y="9463800"/>
            <a:ext cx="18288000" cy="823200"/>
            <a:chOff x="0" y="0"/>
            <a:chExt cx="24384000" cy="10976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4384000" cy="1097661"/>
            </a:xfrm>
            <a:custGeom>
              <a:avLst/>
              <a:gdLst/>
              <a:ahLst/>
              <a:cxnLst/>
              <a:rect l="l" t="t" r="r" b="b"/>
              <a:pathLst>
                <a:path w="24384000" h="1097661">
                  <a:moveTo>
                    <a:pt x="0" y="0"/>
                  </a:moveTo>
                  <a:lnTo>
                    <a:pt x="24384000" y="0"/>
                  </a:lnTo>
                  <a:lnTo>
                    <a:pt x="24384000" y="1097661"/>
                  </a:lnTo>
                  <a:lnTo>
                    <a:pt x="0" y="1097661"/>
                  </a:lnTo>
                  <a:close/>
                </a:path>
              </a:pathLst>
            </a:custGeom>
            <a:solidFill>
              <a:srgbClr val="6F94CA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47625"/>
              <a:ext cx="24384000" cy="11452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FFFFFF"/>
                  </a:solidFill>
                  <a:latin typeface="Avenir"/>
                  <a:ea typeface="Avenir"/>
                  <a:cs typeface="Avenir"/>
                  <a:sym typeface="Avenir"/>
                </a:rPr>
                <a:t>Owner Summary Report | {{CURRENTDATE}}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6920116" y="9481784"/>
            <a:ext cx="1097400" cy="787200"/>
            <a:chOff x="0" y="0"/>
            <a:chExt cx="1463200" cy="10496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463200" cy="1049600"/>
            </a:xfrm>
            <a:custGeom>
              <a:avLst/>
              <a:gdLst/>
              <a:ahLst/>
              <a:cxnLst/>
              <a:rect l="l" t="t" r="r" b="b"/>
              <a:pathLst>
                <a:path w="1463200" h="1049600">
                  <a:moveTo>
                    <a:pt x="0" y="0"/>
                  </a:moveTo>
                  <a:lnTo>
                    <a:pt x="1463200" y="0"/>
                  </a:lnTo>
                  <a:lnTo>
                    <a:pt x="1463200" y="1049600"/>
                  </a:lnTo>
                  <a:lnTo>
                    <a:pt x="0" y="10496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47625"/>
              <a:ext cx="1463200" cy="10972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400"/>
                </a:lnSpc>
              </a:pPr>
              <a:r>
                <a:rPr lang="en-US" sz="2000">
                  <a:solidFill>
                    <a:srgbClr val="FFFFFF"/>
                  </a:solidFill>
                  <a:latin typeface="Avenir"/>
                  <a:ea typeface="Avenir"/>
                  <a:cs typeface="Avenir"/>
                  <a:sym typeface="Avenir"/>
                </a:rPr>
                <a:t>8</a:t>
              </a:r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91325" y="8929075"/>
            <a:ext cx="8780550" cy="1795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sz="1200" i="1" dirty="0">
                <a:solidFill>
                  <a:srgbClr val="595959"/>
                </a:solidFill>
                <a:latin typeface="Arial Italics"/>
                <a:ea typeface="Arial Italics"/>
                <a:cs typeface="Arial Italics"/>
                <a:sym typeface="Arial Italics"/>
              </a:rPr>
              <a:t>TPP excludes parking spaces and wine storage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-100" y="0"/>
            <a:ext cx="18288000" cy="1688076"/>
            <a:chOff x="0" y="0"/>
            <a:chExt cx="24384000" cy="2250768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24384000" cy="2250704"/>
            </a:xfrm>
            <a:custGeom>
              <a:avLst/>
              <a:gdLst/>
              <a:ahLst/>
              <a:cxnLst/>
              <a:rect l="l" t="t" r="r" b="b"/>
              <a:pathLst>
                <a:path w="24384000" h="2250704">
                  <a:moveTo>
                    <a:pt x="0" y="0"/>
                  </a:moveTo>
                  <a:lnTo>
                    <a:pt x="24384000" y="0"/>
                  </a:lnTo>
                  <a:lnTo>
                    <a:pt x="24384000" y="2250704"/>
                  </a:lnTo>
                  <a:lnTo>
                    <a:pt x="0" y="2250704"/>
                  </a:lnTo>
                  <a:close/>
                </a:path>
              </a:pathLst>
            </a:custGeom>
            <a:solidFill>
              <a:srgbClr val="3B52A1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95250"/>
              <a:ext cx="24384000" cy="23460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5999"/>
                </a:lnSpc>
              </a:pPr>
              <a:r>
                <a:rPr lang="en-US" sz="4999">
                  <a:solidFill>
                    <a:srgbClr val="FFFFFF"/>
                  </a:solidFill>
                  <a:latin typeface="Avenir"/>
                  <a:ea typeface="Avenir"/>
                  <a:cs typeface="Avenir"/>
                  <a:sym typeface="Avenir"/>
                </a:rPr>
                <a:t>  Tenant Protection Capture Rate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3525114" y="5633600"/>
            <a:ext cx="5380200" cy="1645800"/>
            <a:chOff x="0" y="0"/>
            <a:chExt cx="7173600" cy="21944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7173595" cy="2194433"/>
            </a:xfrm>
            <a:custGeom>
              <a:avLst/>
              <a:gdLst/>
              <a:ahLst/>
              <a:cxnLst/>
              <a:rect l="l" t="t" r="r" b="b"/>
              <a:pathLst>
                <a:path w="7173595" h="2194433">
                  <a:moveTo>
                    <a:pt x="0" y="0"/>
                  </a:moveTo>
                  <a:lnTo>
                    <a:pt x="7173595" y="0"/>
                  </a:lnTo>
                  <a:lnTo>
                    <a:pt x="7173595" y="2194433"/>
                  </a:lnTo>
                  <a:lnTo>
                    <a:pt x="0" y="2194433"/>
                  </a:lnTo>
                  <a:close/>
                </a:path>
              </a:pathLst>
            </a:custGeom>
            <a:solidFill>
              <a:srgbClr val="6F94CA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-85725"/>
              <a:ext cx="7173600" cy="22801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800"/>
                </a:lnSpc>
              </a:pPr>
              <a:r>
                <a:rPr lang="en-US" sz="4000" b="1">
                  <a:solidFill>
                    <a:srgbClr val="FFFFFF"/>
                  </a:solidFill>
                  <a:latin typeface="Avenir Bold"/>
                  <a:ea typeface="Avenir Bold"/>
                  <a:cs typeface="Avenir Bold"/>
                  <a:sym typeface="Avenir Bold"/>
                </a:rPr>
                <a:t>OVERALL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144000" y="2964426"/>
            <a:ext cx="5093900" cy="1664850"/>
            <a:chOff x="0" y="0"/>
            <a:chExt cx="871941" cy="43847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71941" cy="438479"/>
            </a:xfrm>
            <a:custGeom>
              <a:avLst/>
              <a:gdLst/>
              <a:ahLst/>
              <a:cxnLst/>
              <a:rect l="l" t="t" r="r" b="b"/>
              <a:pathLst>
                <a:path w="871941" h="438479">
                  <a:moveTo>
                    <a:pt x="0" y="0"/>
                  </a:moveTo>
                  <a:lnTo>
                    <a:pt x="871941" y="0"/>
                  </a:lnTo>
                  <a:lnTo>
                    <a:pt x="871941" y="438479"/>
                  </a:lnTo>
                  <a:lnTo>
                    <a:pt x="0" y="43847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3B52A1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0" y="-47625"/>
              <a:ext cx="871941" cy="48610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00"/>
                </a:lnSpc>
              </a:pPr>
              <a:endParaRPr/>
            </a:p>
          </p:txBody>
        </p:sp>
      </p:grpSp>
      <p:sp>
        <p:nvSpPr>
          <p:cNvPr id="34" name="TextBox 34"/>
          <p:cNvSpPr txBox="1"/>
          <p:nvPr/>
        </p:nvSpPr>
        <p:spPr>
          <a:xfrm>
            <a:off x="10134600" y="3127637"/>
            <a:ext cx="3181207" cy="6896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039"/>
              </a:lnSpc>
              <a:spcBef>
                <a:spcPct val="0"/>
              </a:spcBef>
            </a:pPr>
            <a:r>
              <a:rPr lang="en-US" sz="3599" b="1" dirty="0">
                <a:solidFill>
                  <a:srgbClr val="3B52A1"/>
                </a:solidFill>
                <a:latin typeface="Avenir Bold"/>
                <a:ea typeface="Avenir Bold"/>
                <a:cs typeface="Avenir Bold"/>
                <a:sym typeface="Avenir Bold"/>
              </a:rPr>
              <a:t>{{INSURPER}}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0141633" y="3870577"/>
            <a:ext cx="3269567" cy="4978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199"/>
              </a:lnSpc>
              <a:spcBef>
                <a:spcPct val="0"/>
              </a:spcBef>
            </a:pPr>
            <a:r>
              <a:rPr lang="en-US" sz="2999" dirty="0">
                <a:solidFill>
                  <a:srgbClr val="3B52A1"/>
                </a:solidFill>
                <a:latin typeface="Avenir"/>
                <a:ea typeface="Avenir"/>
                <a:cs typeface="Avenir"/>
                <a:sym typeface="Avenir"/>
              </a:rPr>
              <a:t>Total Protected</a:t>
            </a:r>
          </a:p>
        </p:txBody>
      </p:sp>
      <p:grpSp>
        <p:nvGrpSpPr>
          <p:cNvPr id="36" name="Group 36"/>
          <p:cNvGrpSpPr/>
          <p:nvPr/>
        </p:nvGrpSpPr>
        <p:grpSpPr>
          <a:xfrm>
            <a:off x="9144000" y="5614550"/>
            <a:ext cx="5029178" cy="1664850"/>
            <a:chOff x="0" y="0"/>
            <a:chExt cx="1324557" cy="438479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1324557" cy="438479"/>
            </a:xfrm>
            <a:custGeom>
              <a:avLst/>
              <a:gdLst/>
              <a:ahLst/>
              <a:cxnLst/>
              <a:rect l="l" t="t" r="r" b="b"/>
              <a:pathLst>
                <a:path w="1324557" h="438479">
                  <a:moveTo>
                    <a:pt x="0" y="0"/>
                  </a:moveTo>
                  <a:lnTo>
                    <a:pt x="1324557" y="0"/>
                  </a:lnTo>
                  <a:lnTo>
                    <a:pt x="1324557" y="438479"/>
                  </a:lnTo>
                  <a:lnTo>
                    <a:pt x="0" y="43847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3B52A1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0" y="-47625"/>
              <a:ext cx="1324557" cy="48610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00"/>
                </a:lnSpc>
              </a:pPr>
              <a:endParaRPr/>
            </a:p>
          </p:txBody>
        </p:sp>
      </p:grpSp>
      <p:sp>
        <p:nvSpPr>
          <p:cNvPr id="39" name="TextBox 39"/>
          <p:cNvSpPr txBox="1"/>
          <p:nvPr/>
        </p:nvSpPr>
        <p:spPr>
          <a:xfrm>
            <a:off x="9865163" y="6030719"/>
            <a:ext cx="3586853" cy="6896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039"/>
              </a:lnSpc>
              <a:spcBef>
                <a:spcPct val="0"/>
              </a:spcBef>
            </a:pPr>
            <a:r>
              <a:rPr lang="en-US" sz="3599" b="1">
                <a:solidFill>
                  <a:srgbClr val="3B52A1"/>
                </a:solidFill>
                <a:latin typeface="Avenir Bold"/>
                <a:ea typeface="Avenir Bold"/>
                <a:cs typeface="Avenir Bold"/>
                <a:sym typeface="Avenir Bold"/>
              </a:rPr>
              <a:t>{{OVERALLPER}}</a:t>
            </a:r>
          </a:p>
        </p:txBody>
      </p:sp>
      <p:sp>
        <p:nvSpPr>
          <p:cNvPr id="40" name="TextBox 35">
            <a:extLst>
              <a:ext uri="{FF2B5EF4-FFF2-40B4-BE49-F238E27FC236}">
                <a16:creationId xmlns:a16="http://schemas.microsoft.com/office/drawing/2014/main" id="{92A0F015-363D-9D1A-81BE-2E4881924FBD}"/>
              </a:ext>
            </a:extLst>
          </p:cNvPr>
          <p:cNvSpPr txBox="1"/>
          <p:nvPr/>
        </p:nvSpPr>
        <p:spPr>
          <a:xfrm>
            <a:off x="9703247" y="6655104"/>
            <a:ext cx="3910684" cy="49782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4199"/>
              </a:lnSpc>
              <a:spcBef>
                <a:spcPct val="0"/>
              </a:spcBef>
            </a:pPr>
            <a:r>
              <a:rPr lang="en-US" sz="2999" dirty="0">
                <a:solidFill>
                  <a:srgbClr val="3B52A1"/>
                </a:solidFill>
                <a:latin typeface="Avenir"/>
                <a:ea typeface="Avenir"/>
                <a:cs typeface="Avenir"/>
                <a:sym typeface="Avenir"/>
              </a:rPr>
              <a:t>Protected Percentage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78725" y="4843175"/>
            <a:ext cx="16518450" cy="4337250"/>
            <a:chOff x="0" y="0"/>
            <a:chExt cx="22024600" cy="5783000"/>
          </a:xfrm>
        </p:grpSpPr>
        <p:sp>
          <p:nvSpPr>
            <p:cNvPr id="3" name="Freeform 3"/>
            <p:cNvSpPr/>
            <p:nvPr/>
          </p:nvSpPr>
          <p:spPr>
            <a:xfrm>
              <a:off x="12700" y="12700"/>
              <a:ext cx="21999194" cy="5757545"/>
            </a:xfrm>
            <a:custGeom>
              <a:avLst/>
              <a:gdLst/>
              <a:ahLst/>
              <a:cxnLst/>
              <a:rect l="l" t="t" r="r" b="b"/>
              <a:pathLst>
                <a:path w="21999194" h="5757545">
                  <a:moveTo>
                    <a:pt x="0" y="0"/>
                  </a:moveTo>
                  <a:lnTo>
                    <a:pt x="21999194" y="0"/>
                  </a:lnTo>
                  <a:lnTo>
                    <a:pt x="21999194" y="5757545"/>
                  </a:lnTo>
                  <a:lnTo>
                    <a:pt x="0" y="5757545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Freeform 4"/>
            <p:cNvSpPr/>
            <p:nvPr/>
          </p:nvSpPr>
          <p:spPr>
            <a:xfrm>
              <a:off x="0" y="0"/>
              <a:ext cx="22024594" cy="5782945"/>
            </a:xfrm>
            <a:custGeom>
              <a:avLst/>
              <a:gdLst/>
              <a:ahLst/>
              <a:cxnLst/>
              <a:rect l="l" t="t" r="r" b="b"/>
              <a:pathLst>
                <a:path w="22024594" h="5782945">
                  <a:moveTo>
                    <a:pt x="12700" y="0"/>
                  </a:moveTo>
                  <a:lnTo>
                    <a:pt x="22011894" y="0"/>
                  </a:lnTo>
                  <a:cubicBezTo>
                    <a:pt x="22018879" y="0"/>
                    <a:pt x="22024594" y="5715"/>
                    <a:pt x="22024594" y="12700"/>
                  </a:cubicBezTo>
                  <a:lnTo>
                    <a:pt x="22024594" y="5770245"/>
                  </a:lnTo>
                  <a:cubicBezTo>
                    <a:pt x="22024594" y="5777230"/>
                    <a:pt x="22018879" y="5782945"/>
                    <a:pt x="22011894" y="5782945"/>
                  </a:cubicBezTo>
                  <a:lnTo>
                    <a:pt x="12700" y="5782945"/>
                  </a:lnTo>
                  <a:cubicBezTo>
                    <a:pt x="5715" y="5782945"/>
                    <a:pt x="0" y="5777230"/>
                    <a:pt x="0" y="5770245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5770245"/>
                  </a:lnTo>
                  <a:lnTo>
                    <a:pt x="12700" y="5770245"/>
                  </a:lnTo>
                  <a:lnTo>
                    <a:pt x="12700" y="5757545"/>
                  </a:lnTo>
                  <a:lnTo>
                    <a:pt x="22011894" y="5757545"/>
                  </a:lnTo>
                  <a:lnTo>
                    <a:pt x="22011894" y="5770245"/>
                  </a:lnTo>
                  <a:lnTo>
                    <a:pt x="21999194" y="5770245"/>
                  </a:lnTo>
                  <a:lnTo>
                    <a:pt x="21999194" y="12700"/>
                  </a:lnTo>
                  <a:lnTo>
                    <a:pt x="22011894" y="12700"/>
                  </a:lnTo>
                  <a:lnTo>
                    <a:pt x="22011894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6944916" y="9326434"/>
            <a:ext cx="1097400" cy="787200"/>
            <a:chOff x="0" y="0"/>
            <a:chExt cx="1463200" cy="10496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463200" cy="1049600"/>
            </a:xfrm>
            <a:custGeom>
              <a:avLst/>
              <a:gdLst/>
              <a:ahLst/>
              <a:cxnLst/>
              <a:rect l="l" t="t" r="r" b="b"/>
              <a:pathLst>
                <a:path w="1463200" h="1049600">
                  <a:moveTo>
                    <a:pt x="0" y="0"/>
                  </a:moveTo>
                  <a:lnTo>
                    <a:pt x="1463200" y="0"/>
                  </a:lnTo>
                  <a:lnTo>
                    <a:pt x="1463200" y="1049600"/>
                  </a:lnTo>
                  <a:lnTo>
                    <a:pt x="0" y="10496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9525"/>
              <a:ext cx="1463200" cy="10591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400"/>
                </a:lnSpc>
              </a:pPr>
              <a:r>
                <a:rPr lang="en-US" sz="2000">
                  <a:solidFill>
                    <a:srgbClr val="595959"/>
                  </a:solidFill>
                  <a:latin typeface="Arial"/>
                  <a:ea typeface="Arial"/>
                  <a:cs typeface="Arial"/>
                  <a:sym typeface="Arial"/>
                </a:rPr>
                <a:t>9</a:t>
              </a:r>
            </a:p>
          </p:txBody>
        </p:sp>
      </p:grpSp>
      <p:graphicFrame>
        <p:nvGraphicFramePr>
          <p:cNvPr id="8" name="Table 8"/>
          <p:cNvGraphicFramePr>
            <a:graphicFrameLocks noGrp="1"/>
          </p:cNvGraphicFramePr>
          <p:nvPr/>
        </p:nvGraphicFramePr>
        <p:xfrm>
          <a:off x="888250" y="1639850"/>
          <a:ext cx="9652000" cy="2143124"/>
        </p:xfrm>
        <a:graphic>
          <a:graphicData uri="http://schemas.openxmlformats.org/drawingml/2006/table">
            <a:tbl>
              <a:tblPr/>
              <a:tblGrid>
                <a:gridCol w="28223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954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342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5781">
                <a:tc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80000" marR="80000" marT="80000" marB="80000" anchor="ctr">
                    <a:lnL w="9525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52A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FFFFFF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Month-to-date</a:t>
                      </a:r>
                      <a:endParaRPr lang="en-US" sz="1100"/>
                    </a:p>
                  </a:txBody>
                  <a:tcPr marL="80000" marR="80000" marT="80000" marB="80000" anchor="ctr">
                    <a:lnL w="9525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52A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FFFFFF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Year-to-date</a:t>
                      </a:r>
                      <a:endParaRPr lang="en-US" sz="1100"/>
                    </a:p>
                  </a:txBody>
                  <a:tcPr marL="80000" marR="80000" marT="80000" marB="80000" anchor="ctr">
                    <a:lnL w="9525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52A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5781">
                <a:tc>
                  <a:txBody>
                    <a:bodyPr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Budget</a:t>
                      </a:r>
                      <a:endParaRPr lang="en-US" sz="1100"/>
                    </a:p>
                  </a:txBody>
                  <a:tcPr marL="80000" marR="80000" marT="80000" marB="80000" anchor="ctr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{{REPCM}}</a:t>
                      </a:r>
                      <a:endParaRPr lang="en-US" sz="1100"/>
                    </a:p>
                  </a:txBody>
                  <a:tcPr marL="80000" marR="80000" marT="80000" marB="80000" anchor="ctr">
                    <a:lnL w="476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{{REPYTDBUD}}</a:t>
                      </a:r>
                      <a:endParaRPr lang="en-US" sz="1100"/>
                    </a:p>
                  </a:txBody>
                  <a:tcPr marL="80000" marR="80000" marT="80000" marB="80000" anchor="ctr">
                    <a:lnL w="476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5781">
                <a:tc>
                  <a:txBody>
                    <a:bodyPr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Actual</a:t>
                      </a:r>
                      <a:endParaRPr lang="en-US" sz="1100"/>
                    </a:p>
                  </a:txBody>
                  <a:tcPr marL="80000" marR="80000" marT="80000" marB="80000" anchor="ctr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{{REPPTD}}</a:t>
                      </a:r>
                      <a:endParaRPr lang="en-US" sz="1100"/>
                    </a:p>
                  </a:txBody>
                  <a:tcPr marL="80000" marR="80000" marT="80000" marB="80000" anchor="ctr">
                    <a:lnL w="4762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{{REPYTD}}</a:t>
                      </a:r>
                      <a:endParaRPr lang="en-US" sz="1100"/>
                    </a:p>
                  </a:txBody>
                  <a:tcPr marL="80000" marR="80000" marT="80000" marB="80000" anchor="ctr">
                    <a:lnL w="4762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5781">
                <a:tc>
                  <a:txBody>
                    <a:bodyPr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Variance</a:t>
                      </a:r>
                      <a:endParaRPr lang="en-US" sz="1100"/>
                    </a:p>
                  </a:txBody>
                  <a:tcPr marL="80000" marR="80000" marT="80000" marB="80000" anchor="ctr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{{REPVAR}}</a:t>
                      </a:r>
                      <a:endParaRPr lang="en-US" sz="1100"/>
                    </a:p>
                  </a:txBody>
                  <a:tcPr marL="80000" marR="80000" marT="80000" marB="80000" anchor="ctr">
                    <a:lnL w="4762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{{REPYTDVAR}}</a:t>
                      </a:r>
                      <a:endParaRPr lang="en-US" sz="1100"/>
                    </a:p>
                  </a:txBody>
                  <a:tcPr marL="80000" marR="80000" marT="80000" marB="80000" anchor="ctr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9" name="Table 9"/>
          <p:cNvGraphicFramePr>
            <a:graphicFrameLocks noGrp="1"/>
          </p:cNvGraphicFramePr>
          <p:nvPr/>
        </p:nvGraphicFramePr>
        <p:xfrm>
          <a:off x="1143100" y="5143500"/>
          <a:ext cx="5562600" cy="2621441"/>
        </p:xfrm>
        <a:graphic>
          <a:graphicData uri="http://schemas.openxmlformats.org/drawingml/2006/table">
            <a:tbl>
              <a:tblPr/>
              <a:tblGrid>
                <a:gridCol w="5562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40502">
                <a:tc>
                  <a:txBody>
                    <a:bodyPr/>
                    <a:lstStyle/>
                    <a:p>
                      <a:pPr algn="l">
                        <a:lnSpc>
                          <a:spcPts val="3311"/>
                        </a:lnSpc>
                        <a:defRPr/>
                      </a:pPr>
                      <a:r>
                        <a:rPr lang="en-US" sz="2400">
                          <a:solidFill>
                            <a:srgbClr val="595959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REPAIR LOG</a:t>
                      </a:r>
                      <a:endParaRPr lang="en-US" sz="1100"/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80939">
                <a:tc>
                  <a:txBody>
                    <a:bodyPr/>
                    <a:lstStyle/>
                    <a:p>
                      <a:pPr algn="l">
                        <a:lnSpc>
                          <a:spcPts val="2779"/>
                        </a:lnSpc>
                        <a:defRPr/>
                      </a:pPr>
                      <a:r>
                        <a:rPr lang="en-US" sz="2000" b="1">
                          <a:solidFill>
                            <a:srgbClr val="6F94CA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DATE:</a:t>
                      </a:r>
                      <a:r>
                        <a:rPr lang="en-US" sz="2000">
                          <a:solidFill>
                            <a:srgbClr val="000000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 {{CURRENTDATE}}</a:t>
                      </a:r>
                      <a:endParaRPr lang="en-US" sz="1100"/>
                    </a:p>
                    <a:p>
                      <a:pPr algn="l">
                        <a:lnSpc>
                          <a:spcPts val="2779"/>
                        </a:lnSpc>
                      </a:pPr>
                      <a:r>
                        <a:rPr lang="en-US" sz="2000" b="1">
                          <a:solidFill>
                            <a:srgbClr val="6F94CA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DESCRIPTION OF EXPENSES: </a:t>
                      </a:r>
                      <a:r>
                        <a:rPr lang="en-US" sz="2000">
                          <a:solidFill>
                            <a:srgbClr val="000000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N/A</a:t>
                      </a:r>
                    </a:p>
                    <a:p>
                      <a:pPr algn="l">
                        <a:lnSpc>
                          <a:spcPts val="2779"/>
                        </a:lnSpc>
                      </a:pPr>
                      <a:r>
                        <a:rPr lang="en-US" sz="2000">
                          <a:solidFill>
                            <a:srgbClr val="6F94CA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COST: </a:t>
                      </a:r>
                      <a:r>
                        <a:rPr lang="en-US" sz="2000">
                          <a:solidFill>
                            <a:srgbClr val="000000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$N/A</a:t>
                      </a:r>
                    </a:p>
                    <a:p>
                      <a:pPr algn="l">
                        <a:lnSpc>
                          <a:spcPts val="2779"/>
                        </a:lnSpc>
                      </a:pPr>
                      <a:r>
                        <a:rPr lang="en-US" sz="2000">
                          <a:solidFill>
                            <a:srgbClr val="6F94CA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STATUS:</a:t>
                      </a:r>
                      <a:r>
                        <a:rPr lang="en-US" sz="2000">
                          <a:solidFill>
                            <a:srgbClr val="000000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 N/A</a:t>
                      </a: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10" name="Group 10"/>
          <p:cNvGrpSpPr/>
          <p:nvPr/>
        </p:nvGrpSpPr>
        <p:grpSpPr>
          <a:xfrm>
            <a:off x="0" y="9463800"/>
            <a:ext cx="18288000" cy="823200"/>
            <a:chOff x="0" y="0"/>
            <a:chExt cx="24384000" cy="10976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4384000" cy="1097661"/>
            </a:xfrm>
            <a:custGeom>
              <a:avLst/>
              <a:gdLst/>
              <a:ahLst/>
              <a:cxnLst/>
              <a:rect l="l" t="t" r="r" b="b"/>
              <a:pathLst>
                <a:path w="24384000" h="1097661">
                  <a:moveTo>
                    <a:pt x="0" y="0"/>
                  </a:moveTo>
                  <a:lnTo>
                    <a:pt x="24384000" y="0"/>
                  </a:lnTo>
                  <a:lnTo>
                    <a:pt x="24384000" y="1097661"/>
                  </a:lnTo>
                  <a:lnTo>
                    <a:pt x="0" y="1097661"/>
                  </a:lnTo>
                  <a:close/>
                </a:path>
              </a:pathLst>
            </a:custGeom>
            <a:solidFill>
              <a:srgbClr val="6F94CA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47625"/>
              <a:ext cx="24384000" cy="11452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FFFFFF"/>
                  </a:solidFill>
                  <a:latin typeface="Avenir"/>
                  <a:ea typeface="Avenir"/>
                  <a:cs typeface="Avenir"/>
                  <a:sym typeface="Avenir"/>
                </a:rPr>
                <a:t>Owner Summary Report | {{CURRENTDATE}}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6920116" y="9481784"/>
            <a:ext cx="1097400" cy="787200"/>
            <a:chOff x="0" y="0"/>
            <a:chExt cx="1463200" cy="10496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463200" cy="1049600"/>
            </a:xfrm>
            <a:custGeom>
              <a:avLst/>
              <a:gdLst/>
              <a:ahLst/>
              <a:cxnLst/>
              <a:rect l="l" t="t" r="r" b="b"/>
              <a:pathLst>
                <a:path w="1463200" h="1049600">
                  <a:moveTo>
                    <a:pt x="0" y="0"/>
                  </a:moveTo>
                  <a:lnTo>
                    <a:pt x="1463200" y="0"/>
                  </a:lnTo>
                  <a:lnTo>
                    <a:pt x="1463200" y="1049600"/>
                  </a:lnTo>
                  <a:lnTo>
                    <a:pt x="0" y="10496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47625"/>
              <a:ext cx="1463200" cy="10972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400"/>
                </a:lnSpc>
              </a:pPr>
              <a:r>
                <a:rPr lang="en-US" sz="2000">
                  <a:solidFill>
                    <a:srgbClr val="FFFFFF"/>
                  </a:solidFill>
                  <a:latin typeface="Avenir"/>
                  <a:ea typeface="Avenir"/>
                  <a:cs typeface="Avenir"/>
                  <a:sym typeface="Avenir"/>
                </a:rPr>
                <a:t>9</a:t>
              </a:r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714825" y="276625"/>
            <a:ext cx="16858350" cy="857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47"/>
              </a:lnSpc>
            </a:pPr>
            <a:r>
              <a:rPr lang="en-US" sz="5039">
                <a:solidFill>
                  <a:srgbClr val="3B52A1"/>
                </a:solidFill>
                <a:latin typeface="Avenir"/>
                <a:ea typeface="Avenir"/>
                <a:cs typeface="Avenir"/>
                <a:sym typeface="Avenir"/>
              </a:rPr>
              <a:t>Repair and Maintenance Budget Variance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10913625" y="1630625"/>
            <a:ext cx="6483450" cy="2701050"/>
            <a:chOff x="0" y="0"/>
            <a:chExt cx="8644600" cy="3601400"/>
          </a:xfrm>
        </p:grpSpPr>
        <p:sp>
          <p:nvSpPr>
            <p:cNvPr id="18" name="Freeform 18"/>
            <p:cNvSpPr/>
            <p:nvPr/>
          </p:nvSpPr>
          <p:spPr>
            <a:xfrm>
              <a:off x="12700" y="12700"/>
              <a:ext cx="8619236" cy="3575939"/>
            </a:xfrm>
            <a:custGeom>
              <a:avLst/>
              <a:gdLst/>
              <a:ahLst/>
              <a:cxnLst/>
              <a:rect l="l" t="t" r="r" b="b"/>
              <a:pathLst>
                <a:path w="8619236" h="3575939">
                  <a:moveTo>
                    <a:pt x="0" y="0"/>
                  </a:moveTo>
                  <a:lnTo>
                    <a:pt x="8619236" y="0"/>
                  </a:lnTo>
                  <a:lnTo>
                    <a:pt x="8619236" y="3575939"/>
                  </a:lnTo>
                  <a:lnTo>
                    <a:pt x="0" y="357593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9"/>
            <p:cNvSpPr/>
            <p:nvPr/>
          </p:nvSpPr>
          <p:spPr>
            <a:xfrm>
              <a:off x="0" y="0"/>
              <a:ext cx="8644636" cy="3601339"/>
            </a:xfrm>
            <a:custGeom>
              <a:avLst/>
              <a:gdLst/>
              <a:ahLst/>
              <a:cxnLst/>
              <a:rect l="l" t="t" r="r" b="b"/>
              <a:pathLst>
                <a:path w="8644636" h="3601339">
                  <a:moveTo>
                    <a:pt x="12700" y="0"/>
                  </a:moveTo>
                  <a:lnTo>
                    <a:pt x="8631936" y="0"/>
                  </a:lnTo>
                  <a:cubicBezTo>
                    <a:pt x="8638921" y="0"/>
                    <a:pt x="8644636" y="5715"/>
                    <a:pt x="8644636" y="12700"/>
                  </a:cubicBezTo>
                  <a:lnTo>
                    <a:pt x="8644636" y="3588639"/>
                  </a:lnTo>
                  <a:cubicBezTo>
                    <a:pt x="8644636" y="3595624"/>
                    <a:pt x="8638921" y="3601339"/>
                    <a:pt x="8631936" y="3601339"/>
                  </a:cubicBezTo>
                  <a:lnTo>
                    <a:pt x="12700" y="3601339"/>
                  </a:lnTo>
                  <a:cubicBezTo>
                    <a:pt x="5715" y="3601339"/>
                    <a:pt x="0" y="3595624"/>
                    <a:pt x="0" y="3588639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3588639"/>
                  </a:lnTo>
                  <a:lnTo>
                    <a:pt x="12700" y="3588639"/>
                  </a:lnTo>
                  <a:lnTo>
                    <a:pt x="12700" y="3575939"/>
                  </a:lnTo>
                  <a:lnTo>
                    <a:pt x="8631936" y="3575939"/>
                  </a:lnTo>
                  <a:lnTo>
                    <a:pt x="8631936" y="3588639"/>
                  </a:lnTo>
                  <a:lnTo>
                    <a:pt x="8619236" y="3588639"/>
                  </a:lnTo>
                  <a:lnTo>
                    <a:pt x="8619236" y="12700"/>
                  </a:lnTo>
                  <a:lnTo>
                    <a:pt x="8631936" y="12700"/>
                  </a:lnTo>
                  <a:lnTo>
                    <a:pt x="8631936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/>
            <a:lstStyle/>
            <a:p>
              <a:endParaRPr lang="en-US"/>
            </a:p>
          </p:txBody>
        </p:sp>
      </p:grpSp>
      <p:graphicFrame>
        <p:nvGraphicFramePr>
          <p:cNvPr id="20" name="Table 20"/>
          <p:cNvGraphicFramePr>
            <a:graphicFrameLocks noGrp="1"/>
          </p:cNvGraphicFramePr>
          <p:nvPr/>
        </p:nvGraphicFramePr>
        <p:xfrm>
          <a:off x="11098800" y="1708350"/>
          <a:ext cx="5816600" cy="1319668"/>
        </p:xfrm>
        <a:graphic>
          <a:graphicData uri="http://schemas.openxmlformats.org/drawingml/2006/table">
            <a:tbl>
              <a:tblPr/>
              <a:tblGrid>
                <a:gridCol w="5816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52028">
                <a:tc>
                  <a:txBody>
                    <a:bodyPr/>
                    <a:lstStyle/>
                    <a:p>
                      <a:pPr algn="l">
                        <a:lnSpc>
                          <a:spcPts val="3311"/>
                        </a:lnSpc>
                        <a:defRPr/>
                      </a:pPr>
                      <a:r>
                        <a:rPr lang="en-US" sz="2400">
                          <a:solidFill>
                            <a:srgbClr val="595959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MANAGEMENT NOTES</a:t>
                      </a:r>
                      <a:endParaRPr lang="en-US" sz="1100"/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3372">
                <a:tc>
                  <a:txBody>
                    <a:bodyPr/>
                    <a:lstStyle/>
                    <a:p>
                      <a:pPr algn="l">
                        <a:lnSpc>
                          <a:spcPts val="276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N/A</a:t>
                      </a:r>
                      <a:endParaRPr lang="en-US" sz="1100"/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809" r="-9799" b="-32276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-4500"/>
            <a:ext cx="18288000" cy="10296000"/>
            <a:chOff x="0" y="0"/>
            <a:chExt cx="24384000" cy="13728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27937"/>
            </a:xfrm>
            <a:custGeom>
              <a:avLst/>
              <a:gdLst/>
              <a:ahLst/>
              <a:cxnLst/>
              <a:rect l="l" t="t" r="r" b="b"/>
              <a:pathLst>
                <a:path w="24384000" h="13727937">
                  <a:moveTo>
                    <a:pt x="0" y="0"/>
                  </a:moveTo>
                  <a:lnTo>
                    <a:pt x="24384000" y="0"/>
                  </a:lnTo>
                  <a:lnTo>
                    <a:pt x="24384000" y="13727937"/>
                  </a:lnTo>
                  <a:lnTo>
                    <a:pt x="0" y="13727937"/>
                  </a:lnTo>
                  <a:close/>
                </a:path>
              </a:pathLst>
            </a:custGeom>
            <a:solidFill>
              <a:srgbClr val="3B52A1">
                <a:alpha val="46275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743000" y="1407150"/>
            <a:ext cx="15564000" cy="7377675"/>
            <a:chOff x="0" y="0"/>
            <a:chExt cx="20752000" cy="98369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0752054" cy="9836912"/>
            </a:xfrm>
            <a:custGeom>
              <a:avLst/>
              <a:gdLst/>
              <a:ahLst/>
              <a:cxnLst/>
              <a:rect l="l" t="t" r="r" b="b"/>
              <a:pathLst>
                <a:path w="20752054" h="9836912">
                  <a:moveTo>
                    <a:pt x="0" y="0"/>
                  </a:moveTo>
                  <a:lnTo>
                    <a:pt x="20752054" y="0"/>
                  </a:lnTo>
                  <a:lnTo>
                    <a:pt x="20752054" y="9836912"/>
                  </a:lnTo>
                  <a:lnTo>
                    <a:pt x="0" y="9836912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714825" y="296475"/>
            <a:ext cx="16858350" cy="857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47"/>
              </a:lnSpc>
            </a:pPr>
            <a:r>
              <a:rPr lang="en-US" sz="5039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rPr>
              <a:t>Delinquent Rent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0" y="9463800"/>
            <a:ext cx="18288000" cy="823200"/>
            <a:chOff x="0" y="0"/>
            <a:chExt cx="24384000" cy="10976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4384000" cy="1097661"/>
            </a:xfrm>
            <a:custGeom>
              <a:avLst/>
              <a:gdLst/>
              <a:ahLst/>
              <a:cxnLst/>
              <a:rect l="l" t="t" r="r" b="b"/>
              <a:pathLst>
                <a:path w="24384000" h="1097661">
                  <a:moveTo>
                    <a:pt x="0" y="0"/>
                  </a:moveTo>
                  <a:lnTo>
                    <a:pt x="24384000" y="0"/>
                  </a:lnTo>
                  <a:lnTo>
                    <a:pt x="24384000" y="1097661"/>
                  </a:lnTo>
                  <a:lnTo>
                    <a:pt x="0" y="109766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24384000" cy="11452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504B4E"/>
                  </a:solidFill>
                  <a:latin typeface="Avenir"/>
                  <a:ea typeface="Avenir"/>
                  <a:cs typeface="Avenir"/>
                  <a:sym typeface="Avenir"/>
                </a:rPr>
                <a:t>Owner Summary Report | May 2025</a:t>
              </a:r>
            </a:p>
          </p:txBody>
        </p:sp>
      </p:grpSp>
      <p:graphicFrame>
        <p:nvGraphicFramePr>
          <p:cNvPr id="12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934395"/>
              </p:ext>
            </p:extLst>
          </p:nvPr>
        </p:nvGraphicFramePr>
        <p:xfrm>
          <a:off x="2184250" y="3238500"/>
          <a:ext cx="14655800" cy="3022601"/>
        </p:xfrm>
        <a:graphic>
          <a:graphicData uri="http://schemas.openxmlformats.org/drawingml/2006/table">
            <a:tbl>
              <a:tblPr/>
              <a:tblGrid>
                <a:gridCol w="33133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808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808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7808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40828">
                <a:tc gridSpan="4">
                  <a:txBody>
                    <a:bodyPr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DELINQUENT RENT</a:t>
                      </a:r>
                      <a:endParaRPr lang="en-US" sz="1100" dirty="0"/>
                    </a:p>
                  </a:txBody>
                  <a:tcPr marL="79328" marR="79328" marT="79328" marB="79328" anchor="ctr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52A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 b="1">
                          <a:solidFill>
                            <a:srgbClr val="FFFFFF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DELINQUENT RENT</a:t>
                      </a:r>
                      <a:endParaRPr lang="en-US" sz="1100"/>
                    </a:p>
                  </a:txBody>
                  <a:tcPr marL="79328" marR="79328" marT="79328" marB="79328" anchor="ctr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52A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 b="1">
                          <a:solidFill>
                            <a:srgbClr val="FFFFFF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DELINQUENT RENT</a:t>
                      </a:r>
                      <a:endParaRPr lang="en-US" sz="1100"/>
                    </a:p>
                  </a:txBody>
                  <a:tcPr marL="79328" marR="79328" marT="79328" marB="79328" anchor="ctr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52A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 b="1">
                          <a:solidFill>
                            <a:srgbClr val="FFFFFF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DELINQUENT RENT</a:t>
                      </a:r>
                      <a:endParaRPr lang="en-US" sz="1100"/>
                    </a:p>
                  </a:txBody>
                  <a:tcPr marL="79328" marR="79328" marT="79328" marB="79328" anchor="ctr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52A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828">
                <a:tc>
                  <a:txBody>
                    <a:bodyPr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 b="1">
                          <a:solidFill>
                            <a:srgbClr val="FFFFFF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Days</a:t>
                      </a:r>
                      <a:endParaRPr lang="en-US" sz="1100"/>
                    </a:p>
                  </a:txBody>
                  <a:tcPr marL="79328" marR="79328" marT="79328" marB="79328" anchor="ctr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52A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Percent</a:t>
                      </a:r>
                      <a:endParaRPr lang="en-US" sz="1100" dirty="0"/>
                    </a:p>
                  </a:txBody>
                  <a:tcPr marL="79328" marR="79328" marT="79328" marB="79328" anchor="ctr">
                    <a:lnL w="9525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52A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 b="1">
                          <a:solidFill>
                            <a:srgbClr val="FFFFFF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Units</a:t>
                      </a:r>
                      <a:endParaRPr lang="en-US" sz="1100"/>
                    </a:p>
                  </a:txBody>
                  <a:tcPr marL="79328" marR="79328" marT="79328" marB="79328" anchor="ctr">
                    <a:lnL w="9525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52A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 b="1">
                          <a:solidFill>
                            <a:srgbClr val="FFFFFF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Dollars</a:t>
                      </a:r>
                      <a:endParaRPr lang="en-US" sz="1100"/>
                    </a:p>
                  </a:txBody>
                  <a:tcPr marL="79328" marR="79328" marT="79328" marB="79328" anchor="ctr">
                    <a:lnL w="9525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52A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0315">
                <a:tc>
                  <a:txBody>
                    <a:bodyPr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1-30</a:t>
                      </a:r>
                      <a:endParaRPr lang="en-US" sz="1100"/>
                    </a:p>
                  </a:txBody>
                  <a:tcPr marL="79328" marR="79328" marT="79328" marB="79328" anchor="ctr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{{DELINPER30}}</a:t>
                      </a:r>
                      <a:endParaRPr lang="en-US" sz="1100"/>
                    </a:p>
                  </a:txBody>
                  <a:tcPr marL="79328" marR="79328" marT="79328" marB="79328" anchor="ctr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{{DELINUNIT30}}</a:t>
                      </a:r>
                      <a:endParaRPr lang="en-US" sz="1100"/>
                    </a:p>
                  </a:txBody>
                  <a:tcPr marL="79328" marR="79328" marT="79328" marB="79328" anchor="ctr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{{DELINDOL30}}</a:t>
                      </a:r>
                      <a:endParaRPr lang="en-US" sz="1100"/>
                    </a:p>
                  </a:txBody>
                  <a:tcPr marL="79328" marR="79328" marT="79328" marB="79328" anchor="ctr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0315">
                <a:tc>
                  <a:txBody>
                    <a:bodyPr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31-60</a:t>
                      </a:r>
                      <a:endParaRPr lang="en-US" sz="1100"/>
                    </a:p>
                  </a:txBody>
                  <a:tcPr marL="79328" marR="79328" marT="79328" marB="79328" anchor="ctr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{{DELINPER60}}</a:t>
                      </a:r>
                      <a:endParaRPr lang="en-US" sz="1100"/>
                    </a:p>
                  </a:txBody>
                  <a:tcPr marL="79328" marR="79328" marT="79328" marB="79328" anchor="ctr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{{DELINUNIT60}}</a:t>
                      </a:r>
                      <a:endParaRPr lang="en-US" sz="1100"/>
                    </a:p>
                  </a:txBody>
                  <a:tcPr marL="79328" marR="79328" marT="79328" marB="79328" anchor="ctr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{{DELINDOL60}}</a:t>
                      </a:r>
                      <a:endParaRPr lang="en-US" sz="1100"/>
                    </a:p>
                  </a:txBody>
                  <a:tcPr marL="79328" marR="79328" marT="79328" marB="79328" anchor="ctr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0315">
                <a:tc>
                  <a:txBody>
                    <a:bodyPr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61+</a:t>
                      </a:r>
                      <a:endParaRPr lang="en-US" sz="1100"/>
                    </a:p>
                  </a:txBody>
                  <a:tcPr marL="79328" marR="79328" marT="79328" marB="79328" anchor="ctr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{{DELINPER61}}</a:t>
                      </a:r>
                      <a:endParaRPr lang="en-US" sz="1100"/>
                    </a:p>
                  </a:txBody>
                  <a:tcPr marL="79328" marR="79328" marT="79328" marB="79328" anchor="ctr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{{DELINUNIT61}}</a:t>
                      </a:r>
                      <a:endParaRPr lang="en-US" sz="1100"/>
                    </a:p>
                  </a:txBody>
                  <a:tcPr marL="79328" marR="79328" marT="79328" marB="79328" anchor="ctr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 dirty="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{{DELINDOL61}}</a:t>
                      </a:r>
                      <a:endParaRPr lang="en-US" sz="1100" dirty="0"/>
                    </a:p>
                  </a:txBody>
                  <a:tcPr marL="79328" marR="79328" marT="79328" marB="79328" anchor="ctr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13" name="Group 13"/>
          <p:cNvGrpSpPr/>
          <p:nvPr/>
        </p:nvGrpSpPr>
        <p:grpSpPr>
          <a:xfrm>
            <a:off x="16920116" y="9481784"/>
            <a:ext cx="1097400" cy="787200"/>
            <a:chOff x="0" y="0"/>
            <a:chExt cx="1463200" cy="10496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463200" cy="1049600"/>
            </a:xfrm>
            <a:custGeom>
              <a:avLst/>
              <a:gdLst/>
              <a:ahLst/>
              <a:cxnLst/>
              <a:rect l="l" t="t" r="r" b="b"/>
              <a:pathLst>
                <a:path w="1463200" h="1049600">
                  <a:moveTo>
                    <a:pt x="0" y="0"/>
                  </a:moveTo>
                  <a:lnTo>
                    <a:pt x="1463200" y="0"/>
                  </a:lnTo>
                  <a:lnTo>
                    <a:pt x="1463200" y="1049600"/>
                  </a:lnTo>
                  <a:lnTo>
                    <a:pt x="0" y="10496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47625"/>
              <a:ext cx="1463200" cy="10972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400"/>
                </a:lnSpc>
              </a:pPr>
              <a:r>
                <a:rPr lang="en-US" sz="2000">
                  <a:solidFill>
                    <a:srgbClr val="504B4E"/>
                  </a:solidFill>
                  <a:latin typeface="Avenir"/>
                  <a:ea typeface="Avenir"/>
                  <a:cs typeface="Avenir"/>
                  <a:sym typeface="Avenir"/>
                </a:rPr>
                <a:t>10</a:t>
              </a:r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91425" y="9038375"/>
            <a:ext cx="5817150" cy="390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sz="1200" i="1">
                <a:solidFill>
                  <a:srgbClr val="FFFFFF"/>
                </a:solidFill>
                <a:latin typeface="Arial Italics"/>
                <a:ea typeface="Arial Italics"/>
                <a:cs typeface="Arial Italics"/>
                <a:sym typeface="Arial Italics"/>
              </a:rPr>
              <a:t>Percent is total delinquent rent against total rental income.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0" y="9463800"/>
            <a:ext cx="18288000" cy="823200"/>
            <a:chOff x="0" y="0"/>
            <a:chExt cx="24384000" cy="10976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24384000" cy="1097661"/>
            </a:xfrm>
            <a:custGeom>
              <a:avLst/>
              <a:gdLst/>
              <a:ahLst/>
              <a:cxnLst/>
              <a:rect l="l" t="t" r="r" b="b"/>
              <a:pathLst>
                <a:path w="24384000" h="1097661">
                  <a:moveTo>
                    <a:pt x="0" y="0"/>
                  </a:moveTo>
                  <a:lnTo>
                    <a:pt x="24384000" y="0"/>
                  </a:lnTo>
                  <a:lnTo>
                    <a:pt x="24384000" y="1097661"/>
                  </a:lnTo>
                  <a:lnTo>
                    <a:pt x="0" y="1097661"/>
                  </a:lnTo>
                  <a:close/>
                </a:path>
              </a:pathLst>
            </a:custGeom>
            <a:solidFill>
              <a:srgbClr val="6F94CA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47625"/>
              <a:ext cx="24384000" cy="11452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FFFFFF"/>
                  </a:solidFill>
                  <a:latin typeface="Avenir"/>
                  <a:ea typeface="Avenir"/>
                  <a:cs typeface="Avenir"/>
                  <a:sym typeface="Avenir"/>
                </a:rPr>
                <a:t>Owner Summary Report | {{CURRENTDATE}}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6920116" y="9481784"/>
            <a:ext cx="1097400" cy="787200"/>
            <a:chOff x="0" y="0"/>
            <a:chExt cx="1463200" cy="10496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463200" cy="1049600"/>
            </a:xfrm>
            <a:custGeom>
              <a:avLst/>
              <a:gdLst/>
              <a:ahLst/>
              <a:cxnLst/>
              <a:rect l="l" t="t" r="r" b="b"/>
              <a:pathLst>
                <a:path w="1463200" h="1049600">
                  <a:moveTo>
                    <a:pt x="0" y="0"/>
                  </a:moveTo>
                  <a:lnTo>
                    <a:pt x="1463200" y="0"/>
                  </a:lnTo>
                  <a:lnTo>
                    <a:pt x="1463200" y="1049600"/>
                  </a:lnTo>
                  <a:lnTo>
                    <a:pt x="0" y="10496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47625"/>
              <a:ext cx="1463200" cy="10972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400"/>
                </a:lnSpc>
              </a:pPr>
              <a:r>
                <a:rPr lang="en-US" sz="2000">
                  <a:solidFill>
                    <a:srgbClr val="FFFFFF"/>
                  </a:solidFill>
                  <a:latin typeface="Avenir"/>
                  <a:ea typeface="Avenir"/>
                  <a:cs typeface="Avenir"/>
                  <a:sym typeface="Avenir"/>
                </a:rPr>
                <a:t>10</a:t>
              </a:r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2214450" y="7658100"/>
            <a:ext cx="6548550" cy="1145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 b="1" dirty="0">
                <a:solidFill>
                  <a:srgbClr val="3B52A1"/>
                </a:solidFill>
                <a:latin typeface="Avenir Bold"/>
                <a:ea typeface="Avenir Bold"/>
                <a:cs typeface="Avenir Bold"/>
                <a:sym typeface="Avenir Bold"/>
              </a:rPr>
              <a:t>MANAGEMENT NOTES</a:t>
            </a:r>
          </a:p>
          <a:p>
            <a:pPr algn="l">
              <a:lnSpc>
                <a:spcPts val="2400"/>
              </a:lnSpc>
            </a:pPr>
            <a:r>
              <a:rPr lang="en-US" sz="2000" dirty="0">
                <a:solidFill>
                  <a:srgbClr val="595959"/>
                </a:solidFill>
                <a:latin typeface="Avenir"/>
                <a:ea typeface="Avenir"/>
                <a:cs typeface="Avenir"/>
                <a:sym typeface="Avenir"/>
              </a:rPr>
              <a:t>Delinquencies remain low at this facility.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0" y="0"/>
            <a:ext cx="18478500" cy="10287000"/>
            <a:chOff x="0" y="0"/>
            <a:chExt cx="24638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638000" cy="13716000"/>
            </a:xfrm>
            <a:custGeom>
              <a:avLst/>
              <a:gdLst/>
              <a:ahLst/>
              <a:cxnLst/>
              <a:rect l="l" t="t" r="r" b="b"/>
              <a:pathLst>
                <a:path w="24638000" h="13716000">
                  <a:moveTo>
                    <a:pt x="0" y="0"/>
                  </a:moveTo>
                  <a:lnTo>
                    <a:pt x="24638000" y="0"/>
                  </a:lnTo>
                  <a:lnTo>
                    <a:pt x="24638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619" r="620" b="-19753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-47700" y="0"/>
            <a:ext cx="18383400" cy="10296000"/>
            <a:chOff x="0" y="0"/>
            <a:chExt cx="24511200" cy="13728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511254" cy="13727937"/>
            </a:xfrm>
            <a:custGeom>
              <a:avLst/>
              <a:gdLst/>
              <a:ahLst/>
              <a:cxnLst/>
              <a:rect l="l" t="t" r="r" b="b"/>
              <a:pathLst>
                <a:path w="24511254" h="13727937">
                  <a:moveTo>
                    <a:pt x="0" y="0"/>
                  </a:moveTo>
                  <a:lnTo>
                    <a:pt x="24511254" y="0"/>
                  </a:lnTo>
                  <a:lnTo>
                    <a:pt x="24511254" y="13727937"/>
                  </a:lnTo>
                  <a:lnTo>
                    <a:pt x="0" y="13727937"/>
                  </a:lnTo>
                  <a:close/>
                </a:path>
              </a:pathLst>
            </a:custGeom>
            <a:solidFill>
              <a:srgbClr val="FFFFFF">
                <a:alpha val="46275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0" y="0"/>
            <a:ext cx="18335700" cy="1681647"/>
            <a:chOff x="0" y="0"/>
            <a:chExt cx="24447600" cy="224219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4447601" cy="2242208"/>
            </a:xfrm>
            <a:custGeom>
              <a:avLst/>
              <a:gdLst/>
              <a:ahLst/>
              <a:cxnLst/>
              <a:rect l="l" t="t" r="r" b="b"/>
              <a:pathLst>
                <a:path w="24447601" h="2242208">
                  <a:moveTo>
                    <a:pt x="0" y="0"/>
                  </a:moveTo>
                  <a:lnTo>
                    <a:pt x="24447601" y="0"/>
                  </a:lnTo>
                  <a:lnTo>
                    <a:pt x="24447601" y="2242208"/>
                  </a:lnTo>
                  <a:lnTo>
                    <a:pt x="0" y="2242208"/>
                  </a:lnTo>
                  <a:close/>
                </a:path>
              </a:pathLst>
            </a:custGeom>
            <a:solidFill>
              <a:srgbClr val="3B52A1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104775"/>
              <a:ext cx="24447600" cy="234697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6000"/>
                </a:lnSpc>
              </a:pPr>
              <a:r>
                <a:rPr lang="en-US" sz="5000">
                  <a:solidFill>
                    <a:srgbClr val="FFFFFF"/>
                  </a:solidFill>
                  <a:latin typeface="Avenir"/>
                  <a:ea typeface="Avenir"/>
                  <a:cs typeface="Avenir"/>
                  <a:sym typeface="Avenir"/>
                </a:rPr>
                <a:t>  Marketing &amp; Digital Performance |</a:t>
              </a:r>
            </a:p>
          </p:txBody>
        </p:sp>
      </p:grpSp>
      <p:sp>
        <p:nvSpPr>
          <p:cNvPr id="9" name="AutoShape 9"/>
          <p:cNvSpPr/>
          <p:nvPr/>
        </p:nvSpPr>
        <p:spPr>
          <a:xfrm>
            <a:off x="1028700" y="5741971"/>
            <a:ext cx="16230600" cy="0"/>
          </a:xfrm>
          <a:prstGeom prst="line">
            <a:avLst/>
          </a:prstGeom>
          <a:ln w="47625" cap="rnd">
            <a:solidFill>
              <a:srgbClr val="6F94C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10" name="Group 10"/>
          <p:cNvGrpSpPr/>
          <p:nvPr/>
        </p:nvGrpSpPr>
        <p:grpSpPr>
          <a:xfrm>
            <a:off x="5564811" y="3212999"/>
            <a:ext cx="3310650" cy="1645800"/>
            <a:chOff x="0" y="0"/>
            <a:chExt cx="871941" cy="433462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71941" cy="433462"/>
            </a:xfrm>
            <a:custGeom>
              <a:avLst/>
              <a:gdLst/>
              <a:ahLst/>
              <a:cxnLst/>
              <a:rect l="l" t="t" r="r" b="b"/>
              <a:pathLst>
                <a:path w="871941" h="433462">
                  <a:moveTo>
                    <a:pt x="0" y="0"/>
                  </a:moveTo>
                  <a:lnTo>
                    <a:pt x="871941" y="0"/>
                  </a:lnTo>
                  <a:lnTo>
                    <a:pt x="871941" y="433462"/>
                  </a:lnTo>
                  <a:lnTo>
                    <a:pt x="0" y="43346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3B52A1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47625"/>
              <a:ext cx="871941" cy="4810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00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323347" y="3203474"/>
            <a:ext cx="3310650" cy="1655325"/>
            <a:chOff x="0" y="0"/>
            <a:chExt cx="871941" cy="43597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71941" cy="435970"/>
            </a:xfrm>
            <a:custGeom>
              <a:avLst/>
              <a:gdLst/>
              <a:ahLst/>
              <a:cxnLst/>
              <a:rect l="l" t="t" r="r" b="b"/>
              <a:pathLst>
                <a:path w="871941" h="435970">
                  <a:moveTo>
                    <a:pt x="0" y="0"/>
                  </a:moveTo>
                  <a:lnTo>
                    <a:pt x="871941" y="0"/>
                  </a:lnTo>
                  <a:lnTo>
                    <a:pt x="871941" y="435970"/>
                  </a:lnTo>
                  <a:lnTo>
                    <a:pt x="0" y="43597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3B52A1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47625"/>
              <a:ext cx="871941" cy="4835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00"/>
                </a:lnSpc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3081884" y="3212999"/>
            <a:ext cx="3310650" cy="1664850"/>
            <a:chOff x="0" y="0"/>
            <a:chExt cx="871941" cy="43847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71941" cy="438479"/>
            </a:xfrm>
            <a:custGeom>
              <a:avLst/>
              <a:gdLst/>
              <a:ahLst/>
              <a:cxnLst/>
              <a:rect l="l" t="t" r="r" b="b"/>
              <a:pathLst>
                <a:path w="871941" h="438479">
                  <a:moveTo>
                    <a:pt x="0" y="0"/>
                  </a:moveTo>
                  <a:lnTo>
                    <a:pt x="871941" y="0"/>
                  </a:lnTo>
                  <a:lnTo>
                    <a:pt x="871941" y="438479"/>
                  </a:lnTo>
                  <a:lnTo>
                    <a:pt x="0" y="43847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3B52A1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47625"/>
              <a:ext cx="871941" cy="48610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00"/>
                </a:lnSpc>
              </a:pPr>
              <a:endParaRPr/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5690520" y="6458484"/>
            <a:ext cx="3227939" cy="469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rPr>
              <a:t>XXX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1895466" y="6399677"/>
            <a:ext cx="6979995" cy="2858623"/>
            <a:chOff x="0" y="0"/>
            <a:chExt cx="1838353" cy="752888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838353" cy="752888"/>
            </a:xfrm>
            <a:custGeom>
              <a:avLst/>
              <a:gdLst/>
              <a:ahLst/>
              <a:cxnLst/>
              <a:rect l="l" t="t" r="r" b="b"/>
              <a:pathLst>
                <a:path w="1838353" h="752888">
                  <a:moveTo>
                    <a:pt x="0" y="0"/>
                  </a:moveTo>
                  <a:lnTo>
                    <a:pt x="1838353" y="0"/>
                  </a:lnTo>
                  <a:lnTo>
                    <a:pt x="1838353" y="752888"/>
                  </a:lnTo>
                  <a:lnTo>
                    <a:pt x="0" y="752888"/>
                  </a:lnTo>
                  <a:close/>
                </a:path>
              </a:pathLst>
            </a:custGeom>
            <a:solidFill>
              <a:srgbClr val="3B52A1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47625"/>
              <a:ext cx="1838353" cy="80051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00"/>
                </a:lnSpc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412539" y="6399677"/>
            <a:ext cx="6979995" cy="2858623"/>
            <a:chOff x="0" y="0"/>
            <a:chExt cx="1838353" cy="752888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838353" cy="752888"/>
            </a:xfrm>
            <a:custGeom>
              <a:avLst/>
              <a:gdLst/>
              <a:ahLst/>
              <a:cxnLst/>
              <a:rect l="l" t="t" r="r" b="b"/>
              <a:pathLst>
                <a:path w="1838353" h="752888">
                  <a:moveTo>
                    <a:pt x="0" y="0"/>
                  </a:moveTo>
                  <a:lnTo>
                    <a:pt x="1838353" y="0"/>
                  </a:lnTo>
                  <a:lnTo>
                    <a:pt x="1838353" y="752888"/>
                  </a:lnTo>
                  <a:lnTo>
                    <a:pt x="0" y="752888"/>
                  </a:lnTo>
                  <a:close/>
                </a:path>
              </a:pathLst>
            </a:custGeom>
            <a:solidFill>
              <a:srgbClr val="3B52A1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-47625"/>
              <a:ext cx="1838353" cy="80051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00"/>
                </a:lnSpc>
              </a:pPr>
              <a:endParaRPr/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5585353" y="4100100"/>
            <a:ext cx="3269567" cy="561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199"/>
              </a:lnSpc>
              <a:spcBef>
                <a:spcPct val="0"/>
              </a:spcBef>
            </a:pPr>
            <a:r>
              <a:rPr lang="en-US" sz="2999">
                <a:solidFill>
                  <a:srgbClr val="3B52A1"/>
                </a:solidFill>
                <a:latin typeface="Avenir"/>
                <a:ea typeface="Avenir"/>
                <a:cs typeface="Avenir"/>
                <a:sym typeface="Avenir"/>
              </a:rPr>
              <a:t>Total Clicks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9336317" y="4100100"/>
            <a:ext cx="3269567" cy="561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199"/>
              </a:lnSpc>
              <a:spcBef>
                <a:spcPct val="0"/>
              </a:spcBef>
            </a:pPr>
            <a:r>
              <a:rPr lang="en-US" sz="2999">
                <a:solidFill>
                  <a:srgbClr val="3B52A1"/>
                </a:solidFill>
                <a:latin typeface="Avenir"/>
                <a:ea typeface="Avenir"/>
                <a:cs typeface="Avenir"/>
                <a:sym typeface="Avenir"/>
              </a:rPr>
              <a:t>Conversions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3102425" y="4119150"/>
            <a:ext cx="3269567" cy="4978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199"/>
              </a:lnSpc>
              <a:spcBef>
                <a:spcPct val="0"/>
              </a:spcBef>
            </a:pPr>
            <a:r>
              <a:rPr lang="en-US" sz="2999" dirty="0">
                <a:solidFill>
                  <a:srgbClr val="3B52A1"/>
                </a:solidFill>
                <a:latin typeface="Avenir"/>
                <a:ea typeface="Avenir"/>
                <a:cs typeface="Avenir"/>
                <a:sym typeface="Avenir"/>
              </a:rPr>
              <a:t>Cost/Click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2792074" y="6617234"/>
            <a:ext cx="5186779" cy="6045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479"/>
              </a:lnSpc>
              <a:spcBef>
                <a:spcPct val="0"/>
              </a:spcBef>
            </a:pPr>
            <a:r>
              <a:rPr lang="en-US" sz="3199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rPr>
              <a:t>Google Rank Tracker (MoM)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0309146" y="6590247"/>
            <a:ext cx="5186779" cy="561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199"/>
              </a:lnSpc>
              <a:spcBef>
                <a:spcPct val="0"/>
              </a:spcBef>
            </a:pPr>
            <a:r>
              <a:rPr lang="en-US" sz="2999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rPr>
              <a:t>Keyword Search Grid (MoM)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2345717" y="8206814"/>
            <a:ext cx="2410148" cy="692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99"/>
              </a:lnSpc>
            </a:pPr>
            <a:r>
              <a:rPr lang="en-US" sz="2499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rPr>
              <a:t>Avg Google Position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5891164" y="8206814"/>
            <a:ext cx="1755749" cy="692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99"/>
              </a:lnSpc>
            </a:pPr>
            <a:r>
              <a:rPr lang="en-US" sz="2499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rPr>
              <a:t>Position Change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2135098" y="7374963"/>
            <a:ext cx="2831387" cy="14606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b="1">
                <a:solidFill>
                  <a:srgbClr val="FFFFFF"/>
                </a:solidFill>
                <a:latin typeface="Avenir Bold"/>
                <a:ea typeface="Avenir Bold"/>
                <a:cs typeface="Avenir Bold"/>
                <a:sym typeface="Avenir Bold"/>
              </a:rPr>
              <a:t>{{GOOPOS}}</a:t>
            </a:r>
          </a:p>
          <a:p>
            <a:pPr algn="ctr">
              <a:lnSpc>
                <a:spcPts val="5599"/>
              </a:lnSpc>
            </a:pPr>
            <a:endParaRPr lang="en-US" sz="3999" b="1">
              <a:solidFill>
                <a:srgbClr val="FFFFFF"/>
              </a:solidFill>
              <a:latin typeface="Avenir Bold"/>
              <a:ea typeface="Avenir Bold"/>
              <a:cs typeface="Avenir Bold"/>
              <a:sym typeface="Avenir Bold"/>
            </a:endParaRPr>
          </a:p>
        </p:txBody>
      </p:sp>
      <p:sp>
        <p:nvSpPr>
          <p:cNvPr id="34" name="TextBox 34"/>
          <p:cNvSpPr txBox="1"/>
          <p:nvPr/>
        </p:nvSpPr>
        <p:spPr>
          <a:xfrm>
            <a:off x="5390052" y="7374963"/>
            <a:ext cx="2709483" cy="14606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b="1">
                <a:solidFill>
                  <a:srgbClr val="FFFFFF"/>
                </a:solidFill>
                <a:latin typeface="Avenir Bold"/>
                <a:ea typeface="Avenir Bold"/>
                <a:cs typeface="Avenir Bold"/>
                <a:sym typeface="Avenir Bold"/>
              </a:rPr>
              <a:t>{{POSCHG}}</a:t>
            </a:r>
          </a:p>
          <a:p>
            <a:pPr algn="ctr">
              <a:lnSpc>
                <a:spcPts val="5599"/>
              </a:lnSpc>
            </a:pPr>
            <a:endParaRPr lang="en-US" sz="3999" b="1">
              <a:solidFill>
                <a:srgbClr val="FFFFFF"/>
              </a:solidFill>
              <a:latin typeface="Avenir Bold"/>
              <a:ea typeface="Avenir Bold"/>
              <a:cs typeface="Avenir Bold"/>
              <a:sym typeface="Avenir Bold"/>
            </a:endParaRPr>
          </a:p>
        </p:txBody>
      </p:sp>
      <p:sp>
        <p:nvSpPr>
          <p:cNvPr id="35" name="TextBox 35"/>
          <p:cNvSpPr txBox="1"/>
          <p:nvPr/>
        </p:nvSpPr>
        <p:spPr>
          <a:xfrm>
            <a:off x="10450931" y="8111564"/>
            <a:ext cx="2108145" cy="469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rPr>
              <a:t>Avg Map Rank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3868669" y="8206814"/>
            <a:ext cx="1737079" cy="692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99"/>
              </a:lnSpc>
            </a:pPr>
            <a:r>
              <a:rPr lang="en-US" sz="2499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rPr>
              <a:t>Position Change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0159665" y="7374963"/>
            <a:ext cx="2690677" cy="14606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b="1">
                <a:solidFill>
                  <a:srgbClr val="FFFFFF"/>
                </a:solidFill>
                <a:latin typeface="Avenir Bold"/>
                <a:ea typeface="Avenir Bold"/>
                <a:cs typeface="Avenir Bold"/>
                <a:sym typeface="Avenir Bold"/>
              </a:rPr>
              <a:t>{{KEYMAP}}</a:t>
            </a:r>
          </a:p>
          <a:p>
            <a:pPr algn="ctr">
              <a:lnSpc>
                <a:spcPts val="5599"/>
              </a:lnSpc>
            </a:pPr>
            <a:endParaRPr lang="en-US" sz="3999" b="1">
              <a:solidFill>
                <a:srgbClr val="FFFFFF"/>
              </a:solidFill>
              <a:latin typeface="Avenir Bold"/>
              <a:ea typeface="Avenir Bold"/>
              <a:cs typeface="Avenir Bold"/>
              <a:sym typeface="Avenir Bold"/>
            </a:endParaRPr>
          </a:p>
        </p:txBody>
      </p:sp>
      <p:sp>
        <p:nvSpPr>
          <p:cNvPr id="38" name="TextBox 38"/>
          <p:cNvSpPr txBox="1"/>
          <p:nvPr/>
        </p:nvSpPr>
        <p:spPr>
          <a:xfrm>
            <a:off x="13405437" y="7374963"/>
            <a:ext cx="2568232" cy="14606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b="1">
                <a:solidFill>
                  <a:srgbClr val="FFFFFF"/>
                </a:solidFill>
                <a:latin typeface="Avenir Bold"/>
                <a:ea typeface="Avenir Bold"/>
                <a:cs typeface="Avenir Bold"/>
                <a:sym typeface="Avenir Bold"/>
              </a:rPr>
              <a:t>{{KEYPOS}}</a:t>
            </a:r>
          </a:p>
          <a:p>
            <a:pPr algn="ctr">
              <a:lnSpc>
                <a:spcPts val="5599"/>
              </a:lnSpc>
            </a:pPr>
            <a:endParaRPr lang="en-US" sz="3999" b="1">
              <a:solidFill>
                <a:srgbClr val="FFFFFF"/>
              </a:solidFill>
              <a:latin typeface="Avenir Bold"/>
              <a:ea typeface="Avenir Bold"/>
              <a:cs typeface="Avenir Bold"/>
              <a:sym typeface="Avenir Bold"/>
            </a:endParaRPr>
          </a:p>
        </p:txBody>
      </p:sp>
      <p:sp>
        <p:nvSpPr>
          <p:cNvPr id="39" name="TextBox 39"/>
          <p:cNvSpPr txBox="1"/>
          <p:nvPr/>
        </p:nvSpPr>
        <p:spPr>
          <a:xfrm>
            <a:off x="11505003" y="8918014"/>
            <a:ext cx="2909590" cy="269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 b="1" i="1">
                <a:solidFill>
                  <a:srgbClr val="FFFFFF"/>
                </a:solidFill>
                <a:latin typeface="Avenir Bold Italics"/>
                <a:ea typeface="Avenir Bold Italics"/>
                <a:cs typeface="Avenir Bold Italics"/>
                <a:sym typeface="Avenir Bold Italics"/>
              </a:rPr>
              <a:t>*Results for “self storage near me”</a:t>
            </a:r>
          </a:p>
        </p:txBody>
      </p:sp>
      <p:grpSp>
        <p:nvGrpSpPr>
          <p:cNvPr id="40" name="Group 40"/>
          <p:cNvGrpSpPr/>
          <p:nvPr/>
        </p:nvGrpSpPr>
        <p:grpSpPr>
          <a:xfrm>
            <a:off x="1895466" y="3212999"/>
            <a:ext cx="3310650" cy="1645800"/>
            <a:chOff x="0" y="0"/>
            <a:chExt cx="871941" cy="433462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71941" cy="433462"/>
            </a:xfrm>
            <a:custGeom>
              <a:avLst/>
              <a:gdLst/>
              <a:ahLst/>
              <a:cxnLst/>
              <a:rect l="l" t="t" r="r" b="b"/>
              <a:pathLst>
                <a:path w="871941" h="433462">
                  <a:moveTo>
                    <a:pt x="0" y="0"/>
                  </a:moveTo>
                  <a:lnTo>
                    <a:pt x="871941" y="0"/>
                  </a:lnTo>
                  <a:lnTo>
                    <a:pt x="871941" y="433462"/>
                  </a:lnTo>
                  <a:lnTo>
                    <a:pt x="0" y="43346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3B52A1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0" y="-47625"/>
              <a:ext cx="871941" cy="4810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00"/>
                </a:lnSpc>
              </a:pPr>
              <a:endParaRPr/>
            </a:p>
          </p:txBody>
        </p:sp>
      </p:grpSp>
      <p:sp>
        <p:nvSpPr>
          <p:cNvPr id="43" name="TextBox 43"/>
          <p:cNvSpPr txBox="1"/>
          <p:nvPr/>
        </p:nvSpPr>
        <p:spPr>
          <a:xfrm>
            <a:off x="1916008" y="4100100"/>
            <a:ext cx="3269567" cy="561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199"/>
              </a:lnSpc>
              <a:spcBef>
                <a:spcPct val="0"/>
              </a:spcBef>
            </a:pPr>
            <a:r>
              <a:rPr lang="en-US" sz="2999">
                <a:solidFill>
                  <a:srgbClr val="3B52A1"/>
                </a:solidFill>
                <a:latin typeface="Avenir"/>
                <a:ea typeface="Avenir"/>
                <a:cs typeface="Avenir"/>
                <a:sym typeface="Avenir"/>
              </a:rPr>
              <a:t>Impressions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1895466" y="3382619"/>
            <a:ext cx="3290108" cy="2100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b="1" dirty="0">
                <a:solidFill>
                  <a:srgbClr val="3B52A1"/>
                </a:solidFill>
                <a:latin typeface="Avenir Bold"/>
                <a:ea typeface="Avenir Bold"/>
                <a:cs typeface="Avenir Bold"/>
                <a:sym typeface="Avenir Bold"/>
              </a:rPr>
              <a:t>{{GOOIMPRES}}</a:t>
            </a:r>
          </a:p>
          <a:p>
            <a:pPr algn="ctr">
              <a:lnSpc>
                <a:spcPts val="5599"/>
              </a:lnSpc>
            </a:pPr>
            <a:endParaRPr lang="en-US" sz="3999" b="1" dirty="0">
              <a:solidFill>
                <a:srgbClr val="3B52A1"/>
              </a:solidFill>
              <a:latin typeface="Avenir Bold"/>
              <a:ea typeface="Avenir Bold"/>
              <a:cs typeface="Avenir Bold"/>
              <a:sym typeface="Avenir Bold"/>
            </a:endParaRPr>
          </a:p>
        </p:txBody>
      </p:sp>
      <p:sp>
        <p:nvSpPr>
          <p:cNvPr id="45" name="TextBox 45"/>
          <p:cNvSpPr txBox="1"/>
          <p:nvPr/>
        </p:nvSpPr>
        <p:spPr>
          <a:xfrm>
            <a:off x="5585353" y="3382619"/>
            <a:ext cx="3261745" cy="2100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b="1" dirty="0">
                <a:solidFill>
                  <a:srgbClr val="3B52A1"/>
                </a:solidFill>
                <a:latin typeface="Avenir Bold"/>
                <a:ea typeface="Avenir Bold"/>
                <a:cs typeface="Avenir Bold"/>
                <a:sym typeface="Avenir Bold"/>
              </a:rPr>
              <a:t>{{GOOCLICKS}}</a:t>
            </a:r>
          </a:p>
          <a:p>
            <a:pPr algn="ctr">
              <a:lnSpc>
                <a:spcPts val="5599"/>
              </a:lnSpc>
            </a:pPr>
            <a:endParaRPr lang="en-US" sz="3999" b="1" dirty="0">
              <a:solidFill>
                <a:srgbClr val="3B52A1"/>
              </a:solidFill>
              <a:latin typeface="Avenir Bold"/>
              <a:ea typeface="Avenir Bold"/>
              <a:cs typeface="Avenir Bold"/>
              <a:sym typeface="Avenir Bold"/>
            </a:endParaRPr>
          </a:p>
        </p:txBody>
      </p:sp>
      <p:sp>
        <p:nvSpPr>
          <p:cNvPr id="46" name="TextBox 46"/>
          <p:cNvSpPr txBox="1"/>
          <p:nvPr/>
        </p:nvSpPr>
        <p:spPr>
          <a:xfrm>
            <a:off x="9336317" y="3382619"/>
            <a:ext cx="3269567" cy="2100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b="1" dirty="0">
                <a:solidFill>
                  <a:srgbClr val="3B52A1"/>
                </a:solidFill>
                <a:latin typeface="Avenir Bold"/>
                <a:ea typeface="Avenir Bold"/>
                <a:cs typeface="Avenir Bold"/>
                <a:sym typeface="Avenir Bold"/>
              </a:rPr>
              <a:t>{{GOOCONV}}</a:t>
            </a:r>
          </a:p>
          <a:p>
            <a:pPr algn="ctr">
              <a:lnSpc>
                <a:spcPts val="5599"/>
              </a:lnSpc>
            </a:pPr>
            <a:endParaRPr lang="en-US" sz="3999" b="1" dirty="0">
              <a:solidFill>
                <a:srgbClr val="3B52A1"/>
              </a:solidFill>
              <a:latin typeface="Avenir Bold"/>
              <a:ea typeface="Avenir Bold"/>
              <a:cs typeface="Avenir Bold"/>
              <a:sym typeface="Avenir Bold"/>
            </a:endParaRPr>
          </a:p>
        </p:txBody>
      </p:sp>
      <p:sp>
        <p:nvSpPr>
          <p:cNvPr id="47" name="TextBox 47"/>
          <p:cNvSpPr txBox="1"/>
          <p:nvPr/>
        </p:nvSpPr>
        <p:spPr>
          <a:xfrm>
            <a:off x="13091197" y="3382619"/>
            <a:ext cx="3280795" cy="13819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b="1" dirty="0">
                <a:solidFill>
                  <a:srgbClr val="3B52A1"/>
                </a:solidFill>
                <a:latin typeface="Avenir Bold"/>
                <a:ea typeface="Avenir Bold"/>
                <a:cs typeface="Avenir Bold"/>
                <a:sym typeface="Avenir Bold"/>
              </a:rPr>
              <a:t>{{GOOCOSCON}}</a:t>
            </a:r>
          </a:p>
        </p:txBody>
      </p:sp>
      <p:grpSp>
        <p:nvGrpSpPr>
          <p:cNvPr id="48" name="Group 48"/>
          <p:cNvGrpSpPr>
            <a:grpSpLocks noChangeAspect="1"/>
          </p:cNvGrpSpPr>
          <p:nvPr/>
        </p:nvGrpSpPr>
        <p:grpSpPr>
          <a:xfrm>
            <a:off x="10286915" y="536822"/>
            <a:ext cx="608042" cy="608002"/>
            <a:chOff x="0" y="0"/>
            <a:chExt cx="810723" cy="810669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810768" cy="810641"/>
            </a:xfrm>
            <a:custGeom>
              <a:avLst/>
              <a:gdLst/>
              <a:ahLst/>
              <a:cxnLst/>
              <a:rect l="l" t="t" r="r" b="b"/>
              <a:pathLst>
                <a:path w="810768" h="810641">
                  <a:moveTo>
                    <a:pt x="0" y="0"/>
                  </a:moveTo>
                  <a:lnTo>
                    <a:pt x="810768" y="0"/>
                  </a:lnTo>
                  <a:lnTo>
                    <a:pt x="810768" y="810641"/>
                  </a:lnTo>
                  <a:lnTo>
                    <a:pt x="0" y="8106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3" r="5" b="-6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>
            <a:grpSpLocks noChangeAspect="1"/>
          </p:cNvGrpSpPr>
          <p:nvPr/>
        </p:nvGrpSpPr>
        <p:grpSpPr>
          <a:xfrm>
            <a:off x="0" y="0"/>
            <a:ext cx="18478500" cy="10287000"/>
            <a:chOff x="0" y="0"/>
            <a:chExt cx="24638000" cy="137160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638000" cy="13716000"/>
            </a:xfrm>
            <a:custGeom>
              <a:avLst/>
              <a:gdLst/>
              <a:ahLst/>
              <a:cxnLst/>
              <a:rect l="l" t="t" r="r" b="b"/>
              <a:pathLst>
                <a:path w="24638000" h="13716000">
                  <a:moveTo>
                    <a:pt x="0" y="0"/>
                  </a:moveTo>
                  <a:lnTo>
                    <a:pt x="24638000" y="0"/>
                  </a:lnTo>
                  <a:lnTo>
                    <a:pt x="24638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619" r="620" b="-19753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47700" y="0"/>
            <a:ext cx="18383400" cy="10296000"/>
            <a:chOff x="0" y="0"/>
            <a:chExt cx="24511200" cy="137280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4511254" cy="13727937"/>
            </a:xfrm>
            <a:custGeom>
              <a:avLst/>
              <a:gdLst/>
              <a:ahLst/>
              <a:cxnLst/>
              <a:rect l="l" t="t" r="r" b="b"/>
              <a:pathLst>
                <a:path w="24511254" h="13727937">
                  <a:moveTo>
                    <a:pt x="0" y="0"/>
                  </a:moveTo>
                  <a:lnTo>
                    <a:pt x="24511254" y="0"/>
                  </a:lnTo>
                  <a:lnTo>
                    <a:pt x="24511254" y="13727937"/>
                  </a:lnTo>
                  <a:lnTo>
                    <a:pt x="0" y="13727937"/>
                  </a:lnTo>
                  <a:close/>
                </a:path>
              </a:pathLst>
            </a:custGeom>
            <a:solidFill>
              <a:srgbClr val="FFFFFF">
                <a:alpha val="46275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028700" y="6405406"/>
            <a:ext cx="16230600" cy="2852894"/>
            <a:chOff x="0" y="0"/>
            <a:chExt cx="21640800" cy="3803858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1640771" cy="3803856"/>
            </a:xfrm>
            <a:custGeom>
              <a:avLst/>
              <a:gdLst/>
              <a:ahLst/>
              <a:cxnLst/>
              <a:rect l="l" t="t" r="r" b="b"/>
              <a:pathLst>
                <a:path w="21640771" h="3803856">
                  <a:moveTo>
                    <a:pt x="0" y="0"/>
                  </a:moveTo>
                  <a:lnTo>
                    <a:pt x="21640771" y="0"/>
                  </a:lnTo>
                  <a:lnTo>
                    <a:pt x="21640771" y="3803856"/>
                  </a:lnTo>
                  <a:lnTo>
                    <a:pt x="0" y="3803856"/>
                  </a:lnTo>
                  <a:close/>
                </a:path>
              </a:pathLst>
            </a:custGeom>
            <a:solidFill>
              <a:srgbClr val="6F94CA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9" name="AutoShape 9"/>
          <p:cNvSpPr/>
          <p:nvPr/>
        </p:nvSpPr>
        <p:spPr>
          <a:xfrm>
            <a:off x="8097885" y="856518"/>
            <a:ext cx="19050" cy="19050"/>
          </a:xfrm>
          <a:prstGeom prst="line">
            <a:avLst/>
          </a:prstGeom>
          <a:ln w="9525" cap="rnd">
            <a:solidFill>
              <a:srgbClr val="59595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10" name="Group 10"/>
          <p:cNvGrpSpPr/>
          <p:nvPr/>
        </p:nvGrpSpPr>
        <p:grpSpPr>
          <a:xfrm>
            <a:off x="9346074" y="3180693"/>
            <a:ext cx="3341918" cy="1645800"/>
            <a:chOff x="0" y="0"/>
            <a:chExt cx="880176" cy="433462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80176" cy="433462"/>
            </a:xfrm>
            <a:custGeom>
              <a:avLst/>
              <a:gdLst/>
              <a:ahLst/>
              <a:cxnLst/>
              <a:rect l="l" t="t" r="r" b="b"/>
              <a:pathLst>
                <a:path w="880176" h="433462">
                  <a:moveTo>
                    <a:pt x="0" y="0"/>
                  </a:moveTo>
                  <a:lnTo>
                    <a:pt x="880176" y="0"/>
                  </a:lnTo>
                  <a:lnTo>
                    <a:pt x="880176" y="433462"/>
                  </a:lnTo>
                  <a:lnTo>
                    <a:pt x="0" y="43346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3B52A1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47625"/>
              <a:ext cx="880176" cy="4810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00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768052" y="3180693"/>
            <a:ext cx="3310650" cy="1645800"/>
            <a:chOff x="0" y="0"/>
            <a:chExt cx="871941" cy="433462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71941" cy="433462"/>
            </a:xfrm>
            <a:custGeom>
              <a:avLst/>
              <a:gdLst/>
              <a:ahLst/>
              <a:cxnLst/>
              <a:rect l="l" t="t" r="r" b="b"/>
              <a:pathLst>
                <a:path w="871941" h="433462">
                  <a:moveTo>
                    <a:pt x="0" y="0"/>
                  </a:moveTo>
                  <a:lnTo>
                    <a:pt x="871941" y="0"/>
                  </a:lnTo>
                  <a:lnTo>
                    <a:pt x="871941" y="433462"/>
                  </a:lnTo>
                  <a:lnTo>
                    <a:pt x="0" y="43346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3B52A1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47625"/>
              <a:ext cx="871941" cy="4810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00"/>
                </a:lnSpc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3183291" y="3180693"/>
            <a:ext cx="3336657" cy="1645800"/>
            <a:chOff x="0" y="0"/>
            <a:chExt cx="878790" cy="433462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78790" cy="433462"/>
            </a:xfrm>
            <a:custGeom>
              <a:avLst/>
              <a:gdLst/>
              <a:ahLst/>
              <a:cxnLst/>
              <a:rect l="l" t="t" r="r" b="b"/>
              <a:pathLst>
                <a:path w="878790" h="433462">
                  <a:moveTo>
                    <a:pt x="0" y="0"/>
                  </a:moveTo>
                  <a:lnTo>
                    <a:pt x="878790" y="0"/>
                  </a:lnTo>
                  <a:lnTo>
                    <a:pt x="878790" y="433462"/>
                  </a:lnTo>
                  <a:lnTo>
                    <a:pt x="0" y="43346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3B52A1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47625"/>
              <a:ext cx="878790" cy="4810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00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5574002" y="3180693"/>
            <a:ext cx="3310650" cy="1636994"/>
            <a:chOff x="0" y="0"/>
            <a:chExt cx="871941" cy="431142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71941" cy="431142"/>
            </a:xfrm>
            <a:custGeom>
              <a:avLst/>
              <a:gdLst/>
              <a:ahLst/>
              <a:cxnLst/>
              <a:rect l="l" t="t" r="r" b="b"/>
              <a:pathLst>
                <a:path w="871941" h="431142">
                  <a:moveTo>
                    <a:pt x="0" y="0"/>
                  </a:moveTo>
                  <a:lnTo>
                    <a:pt x="871941" y="0"/>
                  </a:lnTo>
                  <a:lnTo>
                    <a:pt x="871941" y="431142"/>
                  </a:lnTo>
                  <a:lnTo>
                    <a:pt x="0" y="43114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3B52A1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47625"/>
              <a:ext cx="871941" cy="4787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00"/>
                </a:lnSpc>
              </a:pPr>
              <a:endParaRPr/>
            </a:p>
          </p:txBody>
        </p:sp>
      </p:grpSp>
      <p:sp>
        <p:nvSpPr>
          <p:cNvPr id="22" name="Freeform 22"/>
          <p:cNvSpPr/>
          <p:nvPr/>
        </p:nvSpPr>
        <p:spPr>
          <a:xfrm>
            <a:off x="13646729" y="3460501"/>
            <a:ext cx="2280270" cy="463883"/>
          </a:xfrm>
          <a:custGeom>
            <a:avLst/>
            <a:gdLst/>
            <a:ahLst/>
            <a:cxnLst/>
            <a:rect l="l" t="t" r="r" b="b"/>
            <a:pathLst>
              <a:path w="2280270" h="463883">
                <a:moveTo>
                  <a:pt x="0" y="0"/>
                </a:moveTo>
                <a:lnTo>
                  <a:pt x="2280270" y="0"/>
                </a:lnTo>
                <a:lnTo>
                  <a:pt x="2280270" y="463883"/>
                </a:lnTo>
                <a:lnTo>
                  <a:pt x="0" y="46388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r="-5679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3" name="TextBox 23"/>
          <p:cNvSpPr txBox="1"/>
          <p:nvPr/>
        </p:nvSpPr>
        <p:spPr>
          <a:xfrm>
            <a:off x="6588539" y="6603983"/>
            <a:ext cx="5301422" cy="504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99"/>
              </a:lnSpc>
            </a:pPr>
            <a:r>
              <a:rPr lang="en-US" sz="2999" b="1">
                <a:solidFill>
                  <a:srgbClr val="FFFFFF"/>
                </a:solidFill>
                <a:latin typeface="Avenir Bold"/>
                <a:ea typeface="Avenir Bold"/>
                <a:cs typeface="Avenir Bold"/>
                <a:sym typeface="Avenir Bold"/>
              </a:rPr>
              <a:t> NOVEMBER’S TOP REVIEWS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9382249" y="4077193"/>
            <a:ext cx="3269567" cy="479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500"/>
              </a:lnSpc>
              <a:spcBef>
                <a:spcPct val="0"/>
              </a:spcBef>
            </a:pPr>
            <a:r>
              <a:rPr lang="en-US" sz="2500">
                <a:solidFill>
                  <a:srgbClr val="3B52A1"/>
                </a:solidFill>
                <a:latin typeface="Avenir"/>
                <a:ea typeface="Avenir"/>
                <a:cs typeface="Avenir"/>
                <a:sym typeface="Avenir"/>
              </a:rPr>
              <a:t>MoM Change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3145191" y="3973136"/>
            <a:ext cx="3336657" cy="469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499"/>
              </a:lnSpc>
              <a:spcBef>
                <a:spcPct val="0"/>
              </a:spcBef>
            </a:pPr>
            <a:r>
              <a:rPr lang="en-US" sz="2499" b="1">
                <a:solidFill>
                  <a:srgbClr val="3B52A1"/>
                </a:solidFill>
                <a:latin typeface="Avenir Bold"/>
                <a:ea typeface="Avenir Bold"/>
                <a:cs typeface="Avenir Bold"/>
                <a:sym typeface="Avenir Bold"/>
              </a:rPr>
              <a:t>4.9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5946504" y="4077193"/>
            <a:ext cx="2565645" cy="479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500"/>
              </a:lnSpc>
              <a:spcBef>
                <a:spcPct val="0"/>
              </a:spcBef>
            </a:pPr>
            <a:r>
              <a:rPr lang="en-US" sz="2500">
                <a:solidFill>
                  <a:srgbClr val="3B52A1"/>
                </a:solidFill>
                <a:latin typeface="Avenir"/>
                <a:ea typeface="Avenir"/>
                <a:cs typeface="Avenir"/>
                <a:sym typeface="Avenir"/>
              </a:rPr>
              <a:t>MTD Reviews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768052" y="4077193"/>
            <a:ext cx="3310650" cy="479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500"/>
              </a:lnSpc>
              <a:spcBef>
                <a:spcPct val="0"/>
              </a:spcBef>
            </a:pPr>
            <a:r>
              <a:rPr lang="en-US" sz="2500">
                <a:solidFill>
                  <a:srgbClr val="3B52A1"/>
                </a:solidFill>
                <a:latin typeface="Avenir"/>
                <a:ea typeface="Avenir"/>
                <a:cs typeface="Avenir"/>
                <a:sym typeface="Avenir"/>
              </a:rPr>
              <a:t>Total GBP Reviews</a:t>
            </a:r>
          </a:p>
        </p:txBody>
      </p:sp>
      <p:grpSp>
        <p:nvGrpSpPr>
          <p:cNvPr id="28" name="Group 28"/>
          <p:cNvGrpSpPr/>
          <p:nvPr/>
        </p:nvGrpSpPr>
        <p:grpSpPr>
          <a:xfrm>
            <a:off x="1509601" y="7536257"/>
            <a:ext cx="4734223" cy="1044575"/>
            <a:chOff x="0" y="0"/>
            <a:chExt cx="6312297" cy="1392767"/>
          </a:xfrm>
        </p:grpSpPr>
        <p:sp>
          <p:nvSpPr>
            <p:cNvPr id="29" name="TextBox 29"/>
            <p:cNvSpPr txBox="1"/>
            <p:nvPr/>
          </p:nvSpPr>
          <p:spPr>
            <a:xfrm>
              <a:off x="0" y="-85725"/>
              <a:ext cx="6312297" cy="147849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800"/>
                </a:lnSpc>
              </a:pPr>
              <a:r>
                <a:rPr lang="en-US" sz="2000" b="1">
                  <a:solidFill>
                    <a:srgbClr val="FFFFFF"/>
                  </a:solidFill>
                  <a:latin typeface="Avenir Bold"/>
                  <a:ea typeface="Avenir Bold"/>
                  <a:cs typeface="Avenir Bold"/>
                  <a:sym typeface="Avenir Bold"/>
                </a:rPr>
                <a:t>Hannah Pedersen</a:t>
              </a:r>
            </a:p>
            <a:p>
              <a:pPr algn="l">
                <a:lnSpc>
                  <a:spcPts val="3079"/>
                </a:lnSpc>
              </a:pPr>
              <a:endParaRPr lang="en-US" sz="2000" b="1">
                <a:solidFill>
                  <a:srgbClr val="FFFFFF"/>
                </a:solidFill>
                <a:latin typeface="Avenir Bold"/>
                <a:ea typeface="Avenir Bold"/>
                <a:cs typeface="Avenir Bold"/>
                <a:sym typeface="Avenir Bold"/>
              </a:endParaRPr>
            </a:p>
            <a:p>
              <a:pPr algn="ctr">
                <a:lnSpc>
                  <a:spcPts val="2800"/>
                </a:lnSpc>
              </a:pPr>
              <a:r>
                <a:rPr lang="en-US" sz="2000" b="1" i="1">
                  <a:solidFill>
                    <a:srgbClr val="FFFFFF"/>
                  </a:solidFill>
                  <a:latin typeface="Avenir Bold Italics"/>
                  <a:ea typeface="Avenir Bold Italics"/>
                  <a:cs typeface="Avenir Bold Italics"/>
                  <a:sym typeface="Avenir Bold Italics"/>
                </a:rPr>
                <a:t>“</a:t>
              </a:r>
              <a:r>
                <a:rPr lang="en-US" sz="2000" i="1">
                  <a:solidFill>
                    <a:srgbClr val="FFFFFF"/>
                  </a:solidFill>
                  <a:latin typeface="Avenir Italics"/>
                  <a:ea typeface="Avenir Italics"/>
                  <a:cs typeface="Avenir Italics"/>
                  <a:sym typeface="Avenir Italics"/>
                </a:rPr>
                <a:t>Great service, easy, safe, great location”</a:t>
              </a:r>
            </a:p>
          </p:txBody>
        </p:sp>
        <p:sp>
          <p:nvSpPr>
            <p:cNvPr id="30" name="Freeform 30"/>
            <p:cNvSpPr/>
            <p:nvPr/>
          </p:nvSpPr>
          <p:spPr>
            <a:xfrm>
              <a:off x="0" y="487561"/>
              <a:ext cx="1641789" cy="316044"/>
            </a:xfrm>
            <a:custGeom>
              <a:avLst/>
              <a:gdLst/>
              <a:ahLst/>
              <a:cxnLst/>
              <a:rect l="l" t="t" r="r" b="b"/>
              <a:pathLst>
                <a:path w="1641789" h="316044">
                  <a:moveTo>
                    <a:pt x="0" y="0"/>
                  </a:moveTo>
                  <a:lnTo>
                    <a:pt x="1641789" y="0"/>
                  </a:lnTo>
                  <a:lnTo>
                    <a:pt x="1641789" y="316045"/>
                  </a:lnTo>
                  <a:lnTo>
                    <a:pt x="0" y="3160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6977248" y="7536257"/>
            <a:ext cx="4534275" cy="1044575"/>
            <a:chOff x="0" y="0"/>
            <a:chExt cx="6045700" cy="1392767"/>
          </a:xfrm>
        </p:grpSpPr>
        <p:sp>
          <p:nvSpPr>
            <p:cNvPr id="32" name="TextBox 32"/>
            <p:cNvSpPr txBox="1"/>
            <p:nvPr/>
          </p:nvSpPr>
          <p:spPr>
            <a:xfrm>
              <a:off x="9232" y="-85725"/>
              <a:ext cx="6036469" cy="147849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800"/>
                </a:lnSpc>
              </a:pPr>
              <a:r>
                <a:rPr lang="en-US" sz="2000" b="1">
                  <a:solidFill>
                    <a:srgbClr val="FFFFFF"/>
                  </a:solidFill>
                  <a:latin typeface="Avenir Bold"/>
                  <a:ea typeface="Avenir Bold"/>
                  <a:cs typeface="Avenir Bold"/>
                  <a:sym typeface="Avenir Bold"/>
                </a:rPr>
                <a:t>Livier Delgadillo</a:t>
              </a:r>
            </a:p>
            <a:p>
              <a:pPr algn="l">
                <a:lnSpc>
                  <a:spcPts val="3079"/>
                </a:lnSpc>
              </a:pPr>
              <a:endParaRPr lang="en-US" sz="2000" b="1">
                <a:solidFill>
                  <a:srgbClr val="FFFFFF"/>
                </a:solidFill>
                <a:latin typeface="Avenir Bold"/>
                <a:ea typeface="Avenir Bold"/>
                <a:cs typeface="Avenir Bold"/>
                <a:sym typeface="Avenir Bold"/>
              </a:endParaRPr>
            </a:p>
            <a:p>
              <a:pPr algn="ctr">
                <a:lnSpc>
                  <a:spcPts val="2800"/>
                </a:lnSpc>
              </a:pPr>
              <a:r>
                <a:rPr lang="en-US" sz="2000" b="1" i="1">
                  <a:solidFill>
                    <a:srgbClr val="FFFFFF"/>
                  </a:solidFill>
                  <a:latin typeface="Avenir Bold Italics"/>
                  <a:ea typeface="Avenir Bold Italics"/>
                  <a:cs typeface="Avenir Bold Italics"/>
                  <a:sym typeface="Avenir Bold Italics"/>
                </a:rPr>
                <a:t>“</a:t>
              </a:r>
              <a:r>
                <a:rPr lang="en-US" sz="2000" i="1">
                  <a:solidFill>
                    <a:srgbClr val="FFFFFF"/>
                  </a:solidFill>
                  <a:latin typeface="Avenir Italics"/>
                  <a:ea typeface="Avenir Italics"/>
                  <a:cs typeface="Avenir Italics"/>
                  <a:sym typeface="Avenir Italics"/>
                </a:rPr>
                <a:t>Great customer service from Andrew!”</a:t>
              </a:r>
            </a:p>
          </p:txBody>
        </p:sp>
        <p:sp>
          <p:nvSpPr>
            <p:cNvPr id="33" name="Freeform 33"/>
            <p:cNvSpPr/>
            <p:nvPr/>
          </p:nvSpPr>
          <p:spPr>
            <a:xfrm>
              <a:off x="0" y="512961"/>
              <a:ext cx="1641789" cy="316044"/>
            </a:xfrm>
            <a:custGeom>
              <a:avLst/>
              <a:gdLst/>
              <a:ahLst/>
              <a:cxnLst/>
              <a:rect l="l" t="t" r="r" b="b"/>
              <a:pathLst>
                <a:path w="1641789" h="316044">
                  <a:moveTo>
                    <a:pt x="0" y="0"/>
                  </a:moveTo>
                  <a:lnTo>
                    <a:pt x="1641789" y="0"/>
                  </a:lnTo>
                  <a:lnTo>
                    <a:pt x="1641789" y="316045"/>
                  </a:lnTo>
                  <a:lnTo>
                    <a:pt x="0" y="3160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12244949" y="7183832"/>
            <a:ext cx="4734223" cy="1749425"/>
            <a:chOff x="0" y="0"/>
            <a:chExt cx="6312297" cy="2332567"/>
          </a:xfrm>
        </p:grpSpPr>
        <p:sp>
          <p:nvSpPr>
            <p:cNvPr id="35" name="TextBox 35"/>
            <p:cNvSpPr txBox="1"/>
            <p:nvPr/>
          </p:nvSpPr>
          <p:spPr>
            <a:xfrm>
              <a:off x="0" y="-85725"/>
              <a:ext cx="6312297" cy="241829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800"/>
                </a:lnSpc>
              </a:pPr>
              <a:r>
                <a:rPr lang="en-US" sz="2000" b="1">
                  <a:solidFill>
                    <a:srgbClr val="FFFFFF"/>
                  </a:solidFill>
                  <a:latin typeface="Avenir Bold"/>
                  <a:ea typeface="Avenir Bold"/>
                  <a:cs typeface="Avenir Bold"/>
                  <a:sym typeface="Avenir Bold"/>
                </a:rPr>
                <a:t>Koko Tzavaras</a:t>
              </a:r>
            </a:p>
            <a:p>
              <a:pPr algn="l">
                <a:lnSpc>
                  <a:spcPts val="3079"/>
                </a:lnSpc>
              </a:pPr>
              <a:endParaRPr lang="en-US" sz="2000" b="1">
                <a:solidFill>
                  <a:srgbClr val="FFFFFF"/>
                </a:solidFill>
                <a:latin typeface="Avenir Bold"/>
                <a:ea typeface="Avenir Bold"/>
                <a:cs typeface="Avenir Bold"/>
                <a:sym typeface="Avenir Bold"/>
              </a:endParaRPr>
            </a:p>
            <a:p>
              <a:pPr algn="l">
                <a:lnSpc>
                  <a:spcPts val="2800"/>
                </a:lnSpc>
              </a:pPr>
              <a:r>
                <a:rPr lang="en-US" sz="2000" b="1" i="1">
                  <a:solidFill>
                    <a:srgbClr val="FFFFFF"/>
                  </a:solidFill>
                  <a:latin typeface="Avenir Bold Italics"/>
                  <a:ea typeface="Avenir Bold Italics"/>
                  <a:cs typeface="Avenir Bold Italics"/>
                  <a:sym typeface="Avenir Bold Italics"/>
                </a:rPr>
                <a:t>“</a:t>
              </a:r>
              <a:r>
                <a:rPr lang="en-US" sz="2000" i="1">
                  <a:solidFill>
                    <a:srgbClr val="FFFFFF"/>
                  </a:solidFill>
                  <a:latin typeface="Avenir Italics"/>
                  <a:ea typeface="Avenir Italics"/>
                  <a:cs typeface="Avenir Italics"/>
                  <a:sym typeface="Avenir Italics"/>
                </a:rPr>
                <a:t>Outstanding, helpful staff, beautiful facility, and excellent location! This is my second time being a client! Thank you!”</a:t>
              </a:r>
            </a:p>
          </p:txBody>
        </p:sp>
        <p:sp>
          <p:nvSpPr>
            <p:cNvPr id="36" name="Freeform 36"/>
            <p:cNvSpPr/>
            <p:nvPr/>
          </p:nvSpPr>
          <p:spPr>
            <a:xfrm>
              <a:off x="0" y="469900"/>
              <a:ext cx="1641789" cy="316044"/>
            </a:xfrm>
            <a:custGeom>
              <a:avLst/>
              <a:gdLst/>
              <a:ahLst/>
              <a:cxnLst/>
              <a:rect l="l" t="t" r="r" b="b"/>
              <a:pathLst>
                <a:path w="1641789" h="316044">
                  <a:moveTo>
                    <a:pt x="0" y="0"/>
                  </a:moveTo>
                  <a:lnTo>
                    <a:pt x="1641789" y="0"/>
                  </a:lnTo>
                  <a:lnTo>
                    <a:pt x="1641789" y="316044"/>
                  </a:lnTo>
                  <a:lnTo>
                    <a:pt x="0" y="3160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7" name="TextBox 37"/>
          <p:cNvSpPr txBox="1"/>
          <p:nvPr/>
        </p:nvSpPr>
        <p:spPr>
          <a:xfrm>
            <a:off x="2972279" y="3238417"/>
            <a:ext cx="902196" cy="755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b="1">
                <a:solidFill>
                  <a:srgbClr val="3B52A1"/>
                </a:solidFill>
                <a:latin typeface="Avenir Bold"/>
                <a:ea typeface="Avenir Bold"/>
                <a:cs typeface="Avenir Bold"/>
                <a:sym typeface="Avenir Bold"/>
              </a:rPr>
              <a:t>161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7078936" y="3198436"/>
            <a:ext cx="300782" cy="755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b="1">
                <a:solidFill>
                  <a:srgbClr val="3B52A1"/>
                </a:solidFill>
                <a:latin typeface="Avenir Bold"/>
                <a:ea typeface="Avenir Bold"/>
                <a:cs typeface="Avenir Bold"/>
                <a:sym typeface="Avenir Bold"/>
              </a:rPr>
              <a:t>1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0697498" y="3207243"/>
            <a:ext cx="639068" cy="755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b="1">
                <a:solidFill>
                  <a:srgbClr val="3B52A1"/>
                </a:solidFill>
                <a:latin typeface="Avenir Bold"/>
                <a:ea typeface="Avenir Bold"/>
                <a:cs typeface="Avenir Bold"/>
                <a:sym typeface="Avenir Bold"/>
              </a:rPr>
              <a:t>+1</a:t>
            </a:r>
          </a:p>
        </p:txBody>
      </p:sp>
      <p:sp>
        <p:nvSpPr>
          <p:cNvPr id="40" name="AutoShape 40"/>
          <p:cNvSpPr/>
          <p:nvPr/>
        </p:nvSpPr>
        <p:spPr>
          <a:xfrm>
            <a:off x="1028700" y="5741971"/>
            <a:ext cx="16230600" cy="0"/>
          </a:xfrm>
          <a:prstGeom prst="line">
            <a:avLst/>
          </a:prstGeom>
          <a:ln w="47625" cap="rnd">
            <a:solidFill>
              <a:srgbClr val="3B52A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41" name="Group 41"/>
          <p:cNvGrpSpPr/>
          <p:nvPr/>
        </p:nvGrpSpPr>
        <p:grpSpPr>
          <a:xfrm>
            <a:off x="0" y="0"/>
            <a:ext cx="18335700" cy="1681647"/>
            <a:chOff x="0" y="0"/>
            <a:chExt cx="24447600" cy="2242196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24447601" cy="2242208"/>
            </a:xfrm>
            <a:custGeom>
              <a:avLst/>
              <a:gdLst/>
              <a:ahLst/>
              <a:cxnLst/>
              <a:rect l="l" t="t" r="r" b="b"/>
              <a:pathLst>
                <a:path w="24447601" h="2242208">
                  <a:moveTo>
                    <a:pt x="0" y="0"/>
                  </a:moveTo>
                  <a:lnTo>
                    <a:pt x="24447601" y="0"/>
                  </a:lnTo>
                  <a:lnTo>
                    <a:pt x="24447601" y="2242208"/>
                  </a:lnTo>
                  <a:lnTo>
                    <a:pt x="0" y="2242208"/>
                  </a:lnTo>
                  <a:close/>
                </a:path>
              </a:pathLst>
            </a:custGeom>
            <a:solidFill>
              <a:srgbClr val="3B52A1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0" y="-104775"/>
              <a:ext cx="24447600" cy="234697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6000"/>
                </a:lnSpc>
              </a:pPr>
              <a:r>
                <a:rPr lang="en-US" sz="5000">
                  <a:solidFill>
                    <a:srgbClr val="FFFFFF"/>
                  </a:solidFill>
                  <a:latin typeface="Avenir"/>
                  <a:ea typeface="Avenir"/>
                  <a:cs typeface="Avenir"/>
                  <a:sym typeface="Avenir"/>
                </a:rPr>
                <a:t>  </a:t>
              </a:r>
            </a:p>
          </p:txBody>
        </p:sp>
      </p:grpSp>
      <p:sp>
        <p:nvSpPr>
          <p:cNvPr id="44" name="TextBox 44"/>
          <p:cNvSpPr txBox="1"/>
          <p:nvPr/>
        </p:nvSpPr>
        <p:spPr>
          <a:xfrm>
            <a:off x="400950" y="355048"/>
            <a:ext cx="16858350" cy="866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50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rPr>
              <a:t>Customer Experience | </a:t>
            </a:r>
          </a:p>
        </p:txBody>
      </p:sp>
      <p:grpSp>
        <p:nvGrpSpPr>
          <p:cNvPr id="45" name="Group 45"/>
          <p:cNvGrpSpPr>
            <a:grpSpLocks noChangeAspect="1"/>
          </p:cNvGrpSpPr>
          <p:nvPr/>
        </p:nvGrpSpPr>
        <p:grpSpPr>
          <a:xfrm>
            <a:off x="7075697" y="536822"/>
            <a:ext cx="608042" cy="608002"/>
            <a:chOff x="0" y="0"/>
            <a:chExt cx="810723" cy="810669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810768" cy="810641"/>
            </a:xfrm>
            <a:custGeom>
              <a:avLst/>
              <a:gdLst/>
              <a:ahLst/>
              <a:cxnLst/>
              <a:rect l="l" t="t" r="r" b="b"/>
              <a:pathLst>
                <a:path w="810768" h="810641">
                  <a:moveTo>
                    <a:pt x="0" y="0"/>
                  </a:moveTo>
                  <a:lnTo>
                    <a:pt x="810768" y="0"/>
                  </a:lnTo>
                  <a:lnTo>
                    <a:pt x="810768" y="810641"/>
                  </a:lnTo>
                  <a:lnTo>
                    <a:pt x="0" y="8106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t="-3" r="5" b="-6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7" name="TextBox 47"/>
          <p:cNvSpPr txBox="1"/>
          <p:nvPr/>
        </p:nvSpPr>
        <p:spPr>
          <a:xfrm>
            <a:off x="13183291" y="4347786"/>
            <a:ext cx="3336657" cy="469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3B52A1"/>
                </a:solidFill>
                <a:latin typeface="Avenir"/>
                <a:ea typeface="Avenir"/>
                <a:cs typeface="Avenir"/>
                <a:sym typeface="Avenir"/>
              </a:rPr>
              <a:t>Google Rating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671800" y="0"/>
            <a:ext cx="6616200" cy="10287000"/>
            <a:chOff x="0" y="0"/>
            <a:chExt cx="88216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821547" cy="13716000"/>
            </a:xfrm>
            <a:custGeom>
              <a:avLst/>
              <a:gdLst/>
              <a:ahLst/>
              <a:cxnLst/>
              <a:rect l="l" t="t" r="r" b="b"/>
              <a:pathLst>
                <a:path w="8821547" h="13716000">
                  <a:moveTo>
                    <a:pt x="0" y="0"/>
                  </a:moveTo>
                  <a:lnTo>
                    <a:pt x="8821547" y="0"/>
                  </a:lnTo>
                  <a:lnTo>
                    <a:pt x="8821547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3B52A1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12650975" y="6892850"/>
            <a:ext cx="4957950" cy="22134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 dirty="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rPr>
              <a:t>2111 E. Highland Avenue</a:t>
            </a:r>
          </a:p>
          <a:p>
            <a:pPr algn="ctr">
              <a:lnSpc>
                <a:spcPts val="2879"/>
              </a:lnSpc>
            </a:pPr>
            <a:r>
              <a:rPr lang="en-US" sz="2400" dirty="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rPr>
              <a:t>Suite 360</a:t>
            </a:r>
          </a:p>
          <a:p>
            <a:pPr algn="ctr">
              <a:lnSpc>
                <a:spcPts val="2879"/>
              </a:lnSpc>
            </a:pPr>
            <a:r>
              <a:rPr lang="en-US" sz="2400" dirty="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rPr>
              <a:t>Phoenix, AZ 85016</a:t>
            </a:r>
          </a:p>
          <a:p>
            <a:pPr algn="ctr">
              <a:lnSpc>
                <a:spcPts val="2879"/>
              </a:lnSpc>
            </a:pPr>
            <a:endParaRPr lang="en-US" sz="2400" dirty="0">
              <a:solidFill>
                <a:srgbClr val="FFFFFF"/>
              </a:solidFill>
              <a:latin typeface="Avenir"/>
              <a:ea typeface="Avenir"/>
              <a:cs typeface="Avenir"/>
              <a:sym typeface="Avenir"/>
            </a:endParaRPr>
          </a:p>
          <a:p>
            <a:pPr algn="ctr">
              <a:lnSpc>
                <a:spcPts val="2879"/>
              </a:lnSpc>
            </a:pPr>
            <a:endParaRPr lang="en-US" sz="2400" dirty="0">
              <a:solidFill>
                <a:srgbClr val="FFFFFF"/>
              </a:solidFill>
              <a:latin typeface="Avenir"/>
              <a:ea typeface="Avenir"/>
              <a:cs typeface="Avenir"/>
              <a:sym typeface="Avenir"/>
            </a:endParaRPr>
          </a:p>
          <a:p>
            <a:pPr algn="ctr">
              <a:lnSpc>
                <a:spcPts val="2879"/>
              </a:lnSpc>
            </a:pPr>
            <a:r>
              <a:rPr lang="en-US" sz="2400" dirty="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rPr>
              <a:t>www.STOREstorage.com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2059525" y="449750"/>
            <a:ext cx="5739750" cy="1076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40"/>
              </a:lnSpc>
            </a:pPr>
            <a:r>
              <a:rPr lang="en-US" sz="3200" b="1">
                <a:solidFill>
                  <a:srgbClr val="FFFFFF"/>
                </a:solidFill>
                <a:latin typeface="Avenir Bold"/>
                <a:ea typeface="Avenir Bold"/>
                <a:cs typeface="Avenir Bold"/>
                <a:sym typeface="Avenir Bold"/>
              </a:rPr>
              <a:t>OWNER SUMMARY REPORT</a:t>
            </a:r>
          </a:p>
        </p:txBody>
      </p:sp>
      <p:sp>
        <p:nvSpPr>
          <p:cNvPr id="6" name="AutoShape 6"/>
          <p:cNvSpPr/>
          <p:nvPr/>
        </p:nvSpPr>
        <p:spPr>
          <a:xfrm rot="46920">
            <a:off x="12405383" y="1407825"/>
            <a:ext cx="5198434" cy="0"/>
          </a:xfrm>
          <a:prstGeom prst="line">
            <a:avLst/>
          </a:prstGeom>
          <a:ln w="19050" cap="rnd">
            <a:solidFill>
              <a:srgbClr val="6F94C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7" name="Group 7"/>
          <p:cNvGrpSpPr/>
          <p:nvPr/>
        </p:nvGrpSpPr>
        <p:grpSpPr>
          <a:xfrm>
            <a:off x="11357725" y="-9375"/>
            <a:ext cx="463050" cy="10306050"/>
            <a:chOff x="0" y="0"/>
            <a:chExt cx="617400" cy="13741400"/>
          </a:xfrm>
        </p:grpSpPr>
        <p:sp>
          <p:nvSpPr>
            <p:cNvPr id="8" name="Freeform 8"/>
            <p:cNvSpPr/>
            <p:nvPr/>
          </p:nvSpPr>
          <p:spPr>
            <a:xfrm>
              <a:off x="12700" y="12700"/>
              <a:ext cx="591947" cy="13716000"/>
            </a:xfrm>
            <a:custGeom>
              <a:avLst/>
              <a:gdLst/>
              <a:ahLst/>
              <a:cxnLst/>
              <a:rect l="l" t="t" r="r" b="b"/>
              <a:pathLst>
                <a:path w="591947" h="13716000">
                  <a:moveTo>
                    <a:pt x="0" y="0"/>
                  </a:moveTo>
                  <a:lnTo>
                    <a:pt x="591947" y="0"/>
                  </a:lnTo>
                  <a:lnTo>
                    <a:pt x="591947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6F94CA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Freeform 9"/>
            <p:cNvSpPr/>
            <p:nvPr/>
          </p:nvSpPr>
          <p:spPr>
            <a:xfrm>
              <a:off x="0" y="0"/>
              <a:ext cx="617347" cy="13741400"/>
            </a:xfrm>
            <a:custGeom>
              <a:avLst/>
              <a:gdLst/>
              <a:ahLst/>
              <a:cxnLst/>
              <a:rect l="l" t="t" r="r" b="b"/>
              <a:pathLst>
                <a:path w="617347" h="13741400">
                  <a:moveTo>
                    <a:pt x="12700" y="0"/>
                  </a:moveTo>
                  <a:lnTo>
                    <a:pt x="604647" y="0"/>
                  </a:lnTo>
                  <a:cubicBezTo>
                    <a:pt x="611632" y="0"/>
                    <a:pt x="617347" y="5715"/>
                    <a:pt x="617347" y="12700"/>
                  </a:cubicBezTo>
                  <a:lnTo>
                    <a:pt x="617347" y="13728700"/>
                  </a:lnTo>
                  <a:cubicBezTo>
                    <a:pt x="617347" y="13735686"/>
                    <a:pt x="611632" y="13741400"/>
                    <a:pt x="604647" y="13741400"/>
                  </a:cubicBezTo>
                  <a:lnTo>
                    <a:pt x="12700" y="13741400"/>
                  </a:lnTo>
                  <a:cubicBezTo>
                    <a:pt x="5715" y="13741400"/>
                    <a:pt x="0" y="13735686"/>
                    <a:pt x="0" y="1372870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13728700"/>
                  </a:lnTo>
                  <a:lnTo>
                    <a:pt x="12700" y="13728700"/>
                  </a:lnTo>
                  <a:lnTo>
                    <a:pt x="12700" y="13716000"/>
                  </a:lnTo>
                  <a:lnTo>
                    <a:pt x="604647" y="13716000"/>
                  </a:lnTo>
                  <a:lnTo>
                    <a:pt x="604647" y="13728700"/>
                  </a:lnTo>
                  <a:lnTo>
                    <a:pt x="591947" y="13728700"/>
                  </a:lnTo>
                  <a:lnTo>
                    <a:pt x="591947" y="12700"/>
                  </a:lnTo>
                  <a:lnTo>
                    <a:pt x="604647" y="12700"/>
                  </a:lnTo>
                  <a:lnTo>
                    <a:pt x="604647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6F94CA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2059525" y="1516550"/>
            <a:ext cx="5739750" cy="552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40"/>
              </a:lnSpc>
            </a:pPr>
            <a:r>
              <a:rPr lang="en-US" sz="3200" b="1">
                <a:solidFill>
                  <a:srgbClr val="FFFFFF"/>
                </a:solidFill>
                <a:latin typeface="Avenir Bold"/>
                <a:ea typeface="Avenir Bold"/>
                <a:cs typeface="Avenir Bold"/>
                <a:sym typeface="Avenir Bold"/>
              </a:rPr>
              <a:t>{{CURRENTDATE}}</a:t>
            </a:r>
          </a:p>
        </p:txBody>
      </p:sp>
      <p:grpSp>
        <p:nvGrpSpPr>
          <p:cNvPr id="11" name="Group 11"/>
          <p:cNvGrpSpPr>
            <a:grpSpLocks noChangeAspect="1"/>
          </p:cNvGrpSpPr>
          <p:nvPr/>
        </p:nvGrpSpPr>
        <p:grpSpPr>
          <a:xfrm>
            <a:off x="12968450" y="5168500"/>
            <a:ext cx="3888596" cy="1320250"/>
            <a:chOff x="0" y="0"/>
            <a:chExt cx="5184795" cy="1760333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5184775" cy="1760347"/>
            </a:xfrm>
            <a:custGeom>
              <a:avLst/>
              <a:gdLst/>
              <a:ahLst/>
              <a:cxnLst/>
              <a:rect l="l" t="t" r="r" b="b"/>
              <a:pathLst>
                <a:path w="5184775" h="1760347">
                  <a:moveTo>
                    <a:pt x="0" y="0"/>
                  </a:moveTo>
                  <a:lnTo>
                    <a:pt x="5184775" y="0"/>
                  </a:lnTo>
                  <a:lnTo>
                    <a:pt x="5184775" y="1760347"/>
                  </a:lnTo>
                  <a:lnTo>
                    <a:pt x="0" y="17603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2" b="-1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3" name="Group 13"/>
          <p:cNvGrpSpPr>
            <a:grpSpLocks noChangeAspect="1"/>
          </p:cNvGrpSpPr>
          <p:nvPr/>
        </p:nvGrpSpPr>
        <p:grpSpPr>
          <a:xfrm>
            <a:off x="0" y="150"/>
            <a:ext cx="11367250" cy="10287000"/>
            <a:chOff x="0" y="0"/>
            <a:chExt cx="15156333" cy="137160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5156307" cy="13716000"/>
            </a:xfrm>
            <a:custGeom>
              <a:avLst/>
              <a:gdLst/>
              <a:ahLst/>
              <a:cxnLst/>
              <a:rect l="l" t="t" r="r" b="b"/>
              <a:pathLst>
                <a:path w="15156307" h="13716000">
                  <a:moveTo>
                    <a:pt x="0" y="0"/>
                  </a:moveTo>
                  <a:lnTo>
                    <a:pt x="15156307" y="0"/>
                  </a:lnTo>
                  <a:lnTo>
                    <a:pt x="15156307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0331" r="-10331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0" y="0"/>
            <a:ext cx="18478500" cy="10287000"/>
            <a:chOff x="0" y="0"/>
            <a:chExt cx="24638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638000" cy="13716000"/>
            </a:xfrm>
            <a:custGeom>
              <a:avLst/>
              <a:gdLst/>
              <a:ahLst/>
              <a:cxnLst/>
              <a:rect l="l" t="t" r="r" b="b"/>
              <a:pathLst>
                <a:path w="24638000" h="13716000">
                  <a:moveTo>
                    <a:pt x="0" y="0"/>
                  </a:moveTo>
                  <a:lnTo>
                    <a:pt x="24638000" y="0"/>
                  </a:lnTo>
                  <a:lnTo>
                    <a:pt x="24638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619" r="620" b="-19753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-4500"/>
            <a:ext cx="18388800" cy="10296000"/>
            <a:chOff x="0" y="0"/>
            <a:chExt cx="24518400" cy="13728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518365" cy="13727937"/>
            </a:xfrm>
            <a:custGeom>
              <a:avLst/>
              <a:gdLst/>
              <a:ahLst/>
              <a:cxnLst/>
              <a:rect l="l" t="t" r="r" b="b"/>
              <a:pathLst>
                <a:path w="24518365" h="13727937">
                  <a:moveTo>
                    <a:pt x="0" y="0"/>
                  </a:moveTo>
                  <a:lnTo>
                    <a:pt x="24518365" y="0"/>
                  </a:lnTo>
                  <a:lnTo>
                    <a:pt x="24518365" y="13727937"/>
                  </a:lnTo>
                  <a:lnTo>
                    <a:pt x="0" y="13727937"/>
                  </a:lnTo>
                  <a:close/>
                </a:path>
              </a:pathLst>
            </a:custGeom>
            <a:solidFill>
              <a:srgbClr val="3B52A1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0" y="7853100"/>
            <a:ext cx="11924400" cy="629400"/>
            <a:chOff x="0" y="0"/>
            <a:chExt cx="15899200" cy="8392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5899257" cy="839216"/>
            </a:xfrm>
            <a:custGeom>
              <a:avLst/>
              <a:gdLst/>
              <a:ahLst/>
              <a:cxnLst/>
              <a:rect l="l" t="t" r="r" b="b"/>
              <a:pathLst>
                <a:path w="15899257" h="839216">
                  <a:moveTo>
                    <a:pt x="0" y="0"/>
                  </a:moveTo>
                  <a:lnTo>
                    <a:pt x="15899257" y="0"/>
                  </a:lnTo>
                  <a:lnTo>
                    <a:pt x="15899257" y="839216"/>
                  </a:lnTo>
                  <a:lnTo>
                    <a:pt x="0" y="83921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2136075" y="7875150"/>
            <a:ext cx="6009150" cy="594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75"/>
              </a:lnSpc>
            </a:pPr>
            <a:r>
              <a:rPr lang="en-US" sz="3099" b="1">
                <a:solidFill>
                  <a:srgbClr val="FFFFFF"/>
                </a:solidFill>
                <a:latin typeface="Avenir Bold"/>
                <a:ea typeface="Avenir Bold"/>
                <a:cs typeface="Avenir Bold"/>
                <a:sym typeface="Avenir Bold"/>
              </a:rPr>
              <a:t>RATE MANAGEMENT REPORT</a:t>
            </a:r>
          </a:p>
        </p:txBody>
      </p:sp>
      <p:grpSp>
        <p:nvGrpSpPr>
          <p:cNvPr id="9" name="Group 9"/>
          <p:cNvGrpSpPr>
            <a:grpSpLocks noChangeAspect="1"/>
          </p:cNvGrpSpPr>
          <p:nvPr/>
        </p:nvGrpSpPr>
        <p:grpSpPr>
          <a:xfrm>
            <a:off x="742900" y="826350"/>
            <a:ext cx="4294652" cy="1458250"/>
            <a:chOff x="0" y="0"/>
            <a:chExt cx="5726203" cy="1944333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5726176" cy="1944370"/>
            </a:xfrm>
            <a:custGeom>
              <a:avLst/>
              <a:gdLst/>
              <a:ahLst/>
              <a:cxnLst/>
              <a:rect l="l" t="t" r="r" b="b"/>
              <a:pathLst>
                <a:path w="5726176" h="1944370">
                  <a:moveTo>
                    <a:pt x="0" y="0"/>
                  </a:moveTo>
                  <a:lnTo>
                    <a:pt x="5726176" y="0"/>
                  </a:lnTo>
                  <a:lnTo>
                    <a:pt x="5726176" y="1944370"/>
                  </a:lnTo>
                  <a:lnTo>
                    <a:pt x="0" y="19443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2" r="-2" b="1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0" y="0"/>
            <a:ext cx="18478500" cy="10287000"/>
            <a:chOff x="0" y="0"/>
            <a:chExt cx="24638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638000" cy="13716000"/>
            </a:xfrm>
            <a:custGeom>
              <a:avLst/>
              <a:gdLst/>
              <a:ahLst/>
              <a:cxnLst/>
              <a:rect l="l" t="t" r="r" b="b"/>
              <a:pathLst>
                <a:path w="24638000" h="13716000">
                  <a:moveTo>
                    <a:pt x="0" y="0"/>
                  </a:moveTo>
                  <a:lnTo>
                    <a:pt x="24638000" y="0"/>
                  </a:lnTo>
                  <a:lnTo>
                    <a:pt x="24638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619" r="620" b="-19753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-4500"/>
            <a:ext cx="18388800" cy="10296000"/>
            <a:chOff x="0" y="0"/>
            <a:chExt cx="24518400" cy="13728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518365" cy="13727937"/>
            </a:xfrm>
            <a:custGeom>
              <a:avLst/>
              <a:gdLst/>
              <a:ahLst/>
              <a:cxnLst/>
              <a:rect l="l" t="t" r="r" b="b"/>
              <a:pathLst>
                <a:path w="24518365" h="13727937">
                  <a:moveTo>
                    <a:pt x="0" y="0"/>
                  </a:moveTo>
                  <a:lnTo>
                    <a:pt x="24518365" y="0"/>
                  </a:lnTo>
                  <a:lnTo>
                    <a:pt x="24518365" y="13727937"/>
                  </a:lnTo>
                  <a:lnTo>
                    <a:pt x="0" y="13727937"/>
                  </a:lnTo>
                  <a:close/>
                </a:path>
              </a:pathLst>
            </a:custGeom>
            <a:solidFill>
              <a:srgbClr val="3B52A1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0" y="7853100"/>
            <a:ext cx="11924400" cy="629400"/>
            <a:chOff x="0" y="0"/>
            <a:chExt cx="15899200" cy="8392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5899257" cy="839216"/>
            </a:xfrm>
            <a:custGeom>
              <a:avLst/>
              <a:gdLst/>
              <a:ahLst/>
              <a:cxnLst/>
              <a:rect l="l" t="t" r="r" b="b"/>
              <a:pathLst>
                <a:path w="15899257" h="839216">
                  <a:moveTo>
                    <a:pt x="0" y="0"/>
                  </a:moveTo>
                  <a:lnTo>
                    <a:pt x="15899257" y="0"/>
                  </a:lnTo>
                  <a:lnTo>
                    <a:pt x="15899257" y="839216"/>
                  </a:lnTo>
                  <a:lnTo>
                    <a:pt x="0" y="83921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1915025" y="7818000"/>
            <a:ext cx="6281550" cy="651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99"/>
              </a:lnSpc>
            </a:pPr>
            <a:r>
              <a:rPr lang="en-US" sz="2499" b="1">
                <a:solidFill>
                  <a:srgbClr val="FFFFFF"/>
                </a:solidFill>
                <a:latin typeface="Avenir Bold"/>
                <a:ea typeface="Avenir Bold"/>
                <a:cs typeface="Avenir Bold"/>
                <a:sym typeface="Avenir Bold"/>
              </a:rPr>
              <a:t>MARKETING ANALYTICS DATA REPORT</a:t>
            </a:r>
          </a:p>
        </p:txBody>
      </p:sp>
      <p:grpSp>
        <p:nvGrpSpPr>
          <p:cNvPr id="9" name="Group 9"/>
          <p:cNvGrpSpPr>
            <a:grpSpLocks noChangeAspect="1"/>
          </p:cNvGrpSpPr>
          <p:nvPr/>
        </p:nvGrpSpPr>
        <p:grpSpPr>
          <a:xfrm>
            <a:off x="742900" y="826350"/>
            <a:ext cx="4294652" cy="1458250"/>
            <a:chOff x="0" y="0"/>
            <a:chExt cx="5726203" cy="1944333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5726176" cy="1944370"/>
            </a:xfrm>
            <a:custGeom>
              <a:avLst/>
              <a:gdLst/>
              <a:ahLst/>
              <a:cxnLst/>
              <a:rect l="l" t="t" r="r" b="b"/>
              <a:pathLst>
                <a:path w="5726176" h="1944370">
                  <a:moveTo>
                    <a:pt x="0" y="0"/>
                  </a:moveTo>
                  <a:lnTo>
                    <a:pt x="5726176" y="0"/>
                  </a:lnTo>
                  <a:lnTo>
                    <a:pt x="5726176" y="1944370"/>
                  </a:lnTo>
                  <a:lnTo>
                    <a:pt x="0" y="19443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2" r="-2" b="1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237</TotalTime>
  <Words>2025</Words>
  <Application>Microsoft Office PowerPoint</Application>
  <PresentationFormat>Custom</PresentationFormat>
  <Paragraphs>689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5" baseType="lpstr">
      <vt:lpstr>Avenir</vt:lpstr>
      <vt:lpstr>Avenir Italics</vt:lpstr>
      <vt:lpstr>Avenir Bold Italics</vt:lpstr>
      <vt:lpstr>Calibri</vt:lpstr>
      <vt:lpstr>Avenir Bold</vt:lpstr>
      <vt:lpstr>Arial Bold</vt:lpstr>
      <vt:lpstr>Arial</vt:lpstr>
      <vt:lpstr>Avenir Medium</vt:lpstr>
      <vt:lpstr>Arial Italics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Owner's Report Template</dc:title>
  <cp:lastModifiedBy>Alex Burke</cp:lastModifiedBy>
  <cp:revision>42</cp:revision>
  <dcterms:created xsi:type="dcterms:W3CDTF">2006-08-16T00:00:00Z</dcterms:created>
  <dcterms:modified xsi:type="dcterms:W3CDTF">2025-12-18T19:31:20Z</dcterms:modified>
  <dc:identifier>DAG3YRaK70Q</dc:identifier>
</cp:coreProperties>
</file>