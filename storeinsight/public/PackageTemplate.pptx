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Avenir" panose="020B0604020202020204" charset="0"/>
      <p:regular r:id="rId6"/>
    </p:embeddedFont>
    <p:embeddedFont>
      <p:font typeface="Avenir Bold" panose="020B0604020202020204" charset="0"/>
      <p:regular r:id="rId7"/>
      <p:bold r:id="rId8"/>
    </p:embeddedFont>
    <p:embeddedFont>
      <p:font typeface="Avenir Bold Italics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6652" autoAdjust="0"/>
  </p:normalViewPr>
  <p:slideViewPr>
    <p:cSldViewPr>
      <p:cViewPr varScale="1">
        <p:scale>
          <a:sx n="81" d="100"/>
          <a:sy n="81" d="100"/>
        </p:scale>
        <p:origin x="17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F41E3-3208-41AF-B0B6-8692D6A91E9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1F5D2-53B6-4C4D-A051-22BAC3F6F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2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jpe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2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402" y="0"/>
            <a:ext cx="13357974" cy="10287000"/>
            <a:chOff x="0" y="0"/>
            <a:chExt cx="17810632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10607" cy="13716000"/>
            </a:xfrm>
            <a:custGeom>
              <a:avLst/>
              <a:gdLst/>
              <a:ahLst/>
              <a:cxnLst/>
              <a:rect l="l" t="t" r="r" b="b"/>
              <a:pathLst>
                <a:path w="17810607" h="13716000">
                  <a:moveTo>
                    <a:pt x="0" y="0"/>
                  </a:moveTo>
                  <a:lnTo>
                    <a:pt x="17810607" y="0"/>
                  </a:lnTo>
                  <a:lnTo>
                    <a:pt x="17810607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7757" r="-775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88131" y="4610100"/>
            <a:ext cx="16671169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51"/>
              </a:lnSpc>
            </a:pPr>
            <a:r>
              <a:rPr lang="en-US" sz="13000" b="1" spc="-230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Property Analysis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88131" y="2832802"/>
            <a:ext cx="4522880" cy="1119054"/>
            <a:chOff x="0" y="0"/>
            <a:chExt cx="6030506" cy="14920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30468" cy="1492123"/>
            </a:xfrm>
            <a:custGeom>
              <a:avLst/>
              <a:gdLst/>
              <a:ahLst/>
              <a:cxnLst/>
              <a:rect l="l" t="t" r="r" b="b"/>
              <a:pathLst>
                <a:path w="6030468" h="1492123">
                  <a:moveTo>
                    <a:pt x="0" y="0"/>
                  </a:moveTo>
                  <a:lnTo>
                    <a:pt x="6030468" y="0"/>
                  </a:lnTo>
                  <a:lnTo>
                    <a:pt x="6030468" y="1492123"/>
                  </a:lnTo>
                  <a:lnTo>
                    <a:pt x="0" y="1492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7" b="-7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789051" y="156162"/>
            <a:ext cx="11578101" cy="10130838"/>
            <a:chOff x="0" y="0"/>
            <a:chExt cx="812800" cy="711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3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88131" y="9105900"/>
            <a:ext cx="5909634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3"/>
              </a:lnSpc>
            </a:pPr>
            <a:r>
              <a:rPr lang="en-US" sz="205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Confidential | {{PUBLISHMONTHYEAR}}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2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851536"/>
            <a:ext cx="18288000" cy="6204936"/>
            <a:chOff x="0" y="0"/>
            <a:chExt cx="2854277" cy="9684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4277" cy="968428"/>
            </a:xfrm>
            <a:custGeom>
              <a:avLst/>
              <a:gdLst/>
              <a:ahLst/>
              <a:cxnLst/>
              <a:rect l="l" t="t" r="r" b="b"/>
              <a:pathLst>
                <a:path w="2854277" h="968428">
                  <a:moveTo>
                    <a:pt x="0" y="0"/>
                  </a:moveTo>
                  <a:lnTo>
                    <a:pt x="2854277" y="0"/>
                  </a:lnTo>
                  <a:lnTo>
                    <a:pt x="2854277" y="968428"/>
                  </a:lnTo>
                  <a:lnTo>
                    <a:pt x="0" y="968428"/>
                  </a:lnTo>
                  <a:close/>
                </a:path>
              </a:pathLst>
            </a:custGeom>
            <a:solidFill>
              <a:srgbClr val="FFFFFF">
                <a:alpha val="9490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854277" cy="1025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2344" y="2320566"/>
            <a:ext cx="8601065" cy="5347506"/>
            <a:chOff x="0" y="0"/>
            <a:chExt cx="11468087" cy="71300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68100" cy="7130034"/>
            </a:xfrm>
            <a:custGeom>
              <a:avLst/>
              <a:gdLst/>
              <a:ahLst/>
              <a:cxnLst/>
              <a:rect l="l" t="t" r="r" b="b"/>
              <a:pathLst>
                <a:path w="11468100" h="7130034">
                  <a:moveTo>
                    <a:pt x="0" y="0"/>
                  </a:moveTo>
                  <a:lnTo>
                    <a:pt x="11468100" y="0"/>
                  </a:lnTo>
                  <a:lnTo>
                    <a:pt x="11468100" y="7130034"/>
                  </a:lnTo>
                  <a:lnTo>
                    <a:pt x="0" y="7130034"/>
                  </a:lnTo>
                  <a:close/>
                </a:path>
              </a:pathLst>
            </a:custGeom>
            <a:blipFill>
              <a:blip r:embed="rId2"/>
              <a:stretch>
                <a:fillRect t="-3643" b="-36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960339" y="8033235"/>
            <a:ext cx="8225085" cy="1591027"/>
          </a:xfrm>
          <a:custGeom>
            <a:avLst/>
            <a:gdLst/>
            <a:ahLst/>
            <a:cxnLst/>
            <a:rect l="l" t="t" r="r" b="b"/>
            <a:pathLst>
              <a:path w="8225085" h="1591027">
                <a:moveTo>
                  <a:pt x="0" y="0"/>
                </a:moveTo>
                <a:lnTo>
                  <a:pt x="8225085" y="0"/>
                </a:lnTo>
                <a:lnTo>
                  <a:pt x="8225085" y="1591027"/>
                </a:lnTo>
                <a:lnTo>
                  <a:pt x="0" y="15910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261487"/>
              </p:ext>
            </p:extLst>
          </p:nvPr>
        </p:nvGraphicFramePr>
        <p:xfrm>
          <a:off x="10198100" y="7569885"/>
          <a:ext cx="7061200" cy="1993901"/>
        </p:xfrm>
        <a:graphic>
          <a:graphicData uri="http://schemas.openxmlformats.org/drawingml/2006/table">
            <a:tbl>
              <a:tblPr/>
              <a:tblGrid>
                <a:gridCol w="2332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3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8793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 3-Year Hold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{{3YIRR}} IRR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{{3YMUL}}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315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5-Year Hold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{{5YIRR}} IRR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{{5YMUL}}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793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7-Year Hold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{{7YIRR}} IRR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</a:t>
                      </a:r>
                      <a:r>
                        <a:rPr lang="en-US" sz="27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7YMUL}}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273921" y="8443010"/>
            <a:ext cx="7538161" cy="151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6"/>
              </a:lnSpc>
            </a:pPr>
            <a:r>
              <a:rPr lang="en-US" sz="4820" b="1" dirty="0">
                <a:solidFill>
                  <a:srgbClr val="6F94CA"/>
                </a:solidFill>
                <a:latin typeface="Avenir Bold"/>
                <a:ea typeface="Avenir Bold"/>
                <a:cs typeface="Avenir Bold"/>
                <a:sym typeface="Avenir Bold"/>
              </a:rPr>
              <a:t>${{ASSETVALUE}} Asset Value Added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24200" y="7100506"/>
            <a:ext cx="6061225" cy="3794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1" b="1" i="1" dirty="0">
                <a:solidFill>
                  <a:srgbClr val="D7DFE5"/>
                </a:solidFill>
                <a:latin typeface="Avenir Bold Italics"/>
                <a:ea typeface="Avenir Bold Italics"/>
                <a:cs typeface="Avenir Bold Italics"/>
                <a:sym typeface="Avenir Bold Italics"/>
              </a:rPr>
              <a:t>Location: Primary Market in {{REGION}}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33168" y="6785515"/>
            <a:ext cx="7417613" cy="53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2999" b="1" u="sng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Investment Return Profile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2344" y="374590"/>
            <a:ext cx="16743312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80"/>
              </a:lnSpc>
            </a:pPr>
            <a:r>
              <a:rPr lang="en-US" sz="9600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Property overview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33168" y="2177739"/>
            <a:ext cx="7417613" cy="459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2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{{NOIPERCENT}}% NOI Increase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33168" y="2759535"/>
            <a:ext cx="7417613" cy="542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1"/>
              </a:lnSpc>
            </a:pPr>
            <a:r>
              <a:rPr lang="en-US" sz="26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Execution-led operational repositioning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33168" y="5283346"/>
            <a:ext cx="7417613" cy="459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2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{{EXPREDPERC}} Expense Reduction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33168" y="5880954"/>
            <a:ext cx="7417613" cy="542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1"/>
              </a:lnSpc>
            </a:pPr>
            <a:r>
              <a:rPr lang="en-US" sz="26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Fee optimization and disciplined cost controls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33168" y="3514477"/>
            <a:ext cx="7417613" cy="459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2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${{REVENUELIFT}}k+ Revenue Lift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33168" y="4093035"/>
            <a:ext cx="7417613" cy="971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1"/>
              </a:lnSpc>
            </a:pPr>
            <a:r>
              <a:rPr lang="en-US" sz="26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Dynamic pricing, tenant protection programs, and fee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2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3193" y="2496017"/>
            <a:ext cx="1118090" cy="1114826"/>
          </a:xfrm>
          <a:custGeom>
            <a:avLst/>
            <a:gdLst/>
            <a:ahLst/>
            <a:cxnLst/>
            <a:rect l="l" t="t" r="r" b="b"/>
            <a:pathLst>
              <a:path w="1118090" h="1114826">
                <a:moveTo>
                  <a:pt x="0" y="0"/>
                </a:moveTo>
                <a:lnTo>
                  <a:pt x="1118091" y="0"/>
                </a:lnTo>
                <a:lnTo>
                  <a:pt x="1118091" y="1114825"/>
                </a:lnTo>
                <a:lnTo>
                  <a:pt x="0" y="1114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" r="-3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43193" y="4318169"/>
            <a:ext cx="1118090" cy="928015"/>
          </a:xfrm>
          <a:custGeom>
            <a:avLst/>
            <a:gdLst/>
            <a:ahLst/>
            <a:cxnLst/>
            <a:rect l="l" t="t" r="r" b="b"/>
            <a:pathLst>
              <a:path w="1118090" h="928015">
                <a:moveTo>
                  <a:pt x="0" y="0"/>
                </a:moveTo>
                <a:lnTo>
                  <a:pt x="1118091" y="0"/>
                </a:lnTo>
                <a:lnTo>
                  <a:pt x="1118091" y="928015"/>
                </a:lnTo>
                <a:lnTo>
                  <a:pt x="0" y="928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1" b="-1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43193" y="7773068"/>
            <a:ext cx="1118090" cy="997896"/>
          </a:xfrm>
          <a:custGeom>
            <a:avLst/>
            <a:gdLst/>
            <a:ahLst/>
            <a:cxnLst/>
            <a:rect l="l" t="t" r="r" b="b"/>
            <a:pathLst>
              <a:path w="1118090" h="997896">
                <a:moveTo>
                  <a:pt x="0" y="0"/>
                </a:moveTo>
                <a:lnTo>
                  <a:pt x="1118091" y="0"/>
                </a:lnTo>
                <a:lnTo>
                  <a:pt x="1118091" y="997896"/>
                </a:lnTo>
                <a:lnTo>
                  <a:pt x="0" y="997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" r="-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43193" y="5950581"/>
            <a:ext cx="1118090" cy="1118090"/>
          </a:xfrm>
          <a:custGeom>
            <a:avLst/>
            <a:gdLst/>
            <a:ahLst/>
            <a:cxnLst/>
            <a:rect l="l" t="t" r="r" b="b"/>
            <a:pathLst>
              <a:path w="1118090" h="1118090">
                <a:moveTo>
                  <a:pt x="0" y="0"/>
                </a:moveTo>
                <a:lnTo>
                  <a:pt x="1118091" y="0"/>
                </a:lnTo>
                <a:lnTo>
                  <a:pt x="1118091" y="1118090"/>
                </a:lnTo>
                <a:lnTo>
                  <a:pt x="0" y="1118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96083" y="2486893"/>
            <a:ext cx="2922107" cy="916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</a:pPr>
            <a:r>
              <a:rPr lang="en-US" sz="3521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{{OCCPER}}</a:t>
            </a:r>
          </a:p>
          <a:p>
            <a:pPr algn="ctr">
              <a:lnSpc>
                <a:spcPts val="2949"/>
              </a:lnSpc>
            </a:pPr>
            <a:r>
              <a:rPr lang="en-US" sz="2347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Occupancy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96083" y="4203945"/>
            <a:ext cx="2922107" cy="95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1"/>
              </a:lnSpc>
            </a:pPr>
            <a:r>
              <a:rPr lang="en-US" sz="3526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{{RENTSQFT}}</a:t>
            </a:r>
          </a:p>
          <a:p>
            <a:pPr algn="ctr">
              <a:lnSpc>
                <a:spcPts val="3285"/>
              </a:lnSpc>
            </a:pPr>
            <a:r>
              <a:rPr lang="en-US" sz="2346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 Rentable </a:t>
            </a:r>
            <a:r>
              <a:rPr lang="en-US" sz="2346" b="1" dirty="0" err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SqFt</a:t>
            </a:r>
            <a:r>
              <a:rPr lang="en-US" sz="2346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6083" y="5943090"/>
            <a:ext cx="2922107" cy="916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</a:pPr>
            <a:r>
              <a:rPr lang="en-US" sz="3521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{{UNITS}} </a:t>
            </a:r>
          </a:p>
          <a:p>
            <a:pPr algn="ctr">
              <a:lnSpc>
                <a:spcPts val="2949"/>
              </a:lnSpc>
            </a:pPr>
            <a:r>
              <a:rPr lang="en-US" sz="2347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Total Units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96083" y="7657145"/>
            <a:ext cx="2922107" cy="148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</a:pPr>
            <a:r>
              <a:rPr lang="en-US" sz="3521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{{RATING}} Rating</a:t>
            </a:r>
          </a:p>
          <a:p>
            <a:pPr algn="ctr">
              <a:lnSpc>
                <a:spcPts val="2949"/>
              </a:lnSpc>
            </a:pPr>
            <a:r>
              <a:rPr lang="en-US" sz="2347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{{REVIEWS}} Reviews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870590" y="0"/>
            <a:ext cx="13417410" cy="10287000"/>
            <a:chOff x="0" y="0"/>
            <a:chExt cx="2094106" cy="16055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94106" cy="1605531"/>
            </a:xfrm>
            <a:custGeom>
              <a:avLst/>
              <a:gdLst/>
              <a:ahLst/>
              <a:cxnLst/>
              <a:rect l="l" t="t" r="r" b="b"/>
              <a:pathLst>
                <a:path w="2094106" h="1605531">
                  <a:moveTo>
                    <a:pt x="0" y="0"/>
                  </a:moveTo>
                  <a:lnTo>
                    <a:pt x="2094106" y="0"/>
                  </a:lnTo>
                  <a:lnTo>
                    <a:pt x="2094106" y="1605531"/>
                  </a:lnTo>
                  <a:lnTo>
                    <a:pt x="0" y="1605531"/>
                  </a:lnTo>
                  <a:close/>
                </a:path>
              </a:pathLst>
            </a:custGeom>
            <a:solidFill>
              <a:srgbClr val="FFFFFF">
                <a:alpha val="9490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094106" cy="1662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883019" y="0"/>
            <a:ext cx="19308593" cy="1790700"/>
            <a:chOff x="0" y="0"/>
            <a:chExt cx="3013565" cy="2794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13565" cy="279481"/>
            </a:xfrm>
            <a:custGeom>
              <a:avLst/>
              <a:gdLst/>
              <a:ahLst/>
              <a:cxnLst/>
              <a:rect l="l" t="t" r="r" b="b"/>
              <a:pathLst>
                <a:path w="3013565" h="279481">
                  <a:moveTo>
                    <a:pt x="0" y="0"/>
                  </a:moveTo>
                  <a:lnTo>
                    <a:pt x="3013565" y="0"/>
                  </a:lnTo>
                  <a:lnTo>
                    <a:pt x="3013565" y="279481"/>
                  </a:lnTo>
                  <a:lnTo>
                    <a:pt x="0" y="279481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013565" cy="336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3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208246" y="7834227"/>
            <a:ext cx="11853010" cy="41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2"/>
              </a:lnSpc>
            </a:pPr>
            <a:r>
              <a:rPr lang="en-US" sz="2700" dirty="0">
                <a:solidFill>
                  <a:srgbClr val="2D2D2D"/>
                </a:solidFill>
                <a:latin typeface="Avenir"/>
                <a:ea typeface="Avenir"/>
                <a:cs typeface="Avenir"/>
                <a:sym typeface="Avenir"/>
              </a:rPr>
              <a:t>{{SNAPSHOTDESCRIPTION}}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080849" y="1943100"/>
            <a:ext cx="8153400" cy="5435603"/>
            <a:chOff x="0" y="0"/>
            <a:chExt cx="10871200" cy="724747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871200" cy="7247509"/>
            </a:xfrm>
            <a:custGeom>
              <a:avLst/>
              <a:gdLst/>
              <a:ahLst/>
              <a:cxnLst/>
              <a:rect l="l" t="t" r="r" b="b"/>
              <a:pathLst>
                <a:path w="10871200" h="7247509">
                  <a:moveTo>
                    <a:pt x="0" y="0"/>
                  </a:moveTo>
                  <a:lnTo>
                    <a:pt x="10871200" y="0"/>
                  </a:lnTo>
                  <a:lnTo>
                    <a:pt x="10871200" y="7247509"/>
                  </a:lnTo>
                  <a:lnTo>
                    <a:pt x="0" y="724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9937" y="194310"/>
            <a:ext cx="16366570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80"/>
              </a:lnSpc>
            </a:pPr>
            <a:r>
              <a:rPr lang="en-US" sz="96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Market &amp; Property Snapshot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370443" y="2419817"/>
            <a:ext cx="3372679" cy="2286000"/>
            <a:chOff x="0" y="0"/>
            <a:chExt cx="4496905" cy="3048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96943" cy="3048000"/>
            </a:xfrm>
            <a:custGeom>
              <a:avLst/>
              <a:gdLst/>
              <a:ahLst/>
              <a:cxnLst/>
              <a:rect l="l" t="t" r="r" b="b"/>
              <a:pathLst>
                <a:path w="4496943" h="3048000">
                  <a:moveTo>
                    <a:pt x="0" y="0"/>
                  </a:moveTo>
                  <a:lnTo>
                    <a:pt x="4496943" y="0"/>
                  </a:lnTo>
                  <a:lnTo>
                    <a:pt x="4496943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5" r="-12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42277" y="4965906"/>
            <a:ext cx="3429000" cy="2286000"/>
            <a:chOff x="0" y="0"/>
            <a:chExt cx="4572000" cy="3048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572000" cy="3048000"/>
            </a:xfrm>
            <a:custGeom>
              <a:avLst/>
              <a:gdLst/>
              <a:ahLst/>
              <a:cxnLst/>
              <a:rect l="l" t="t" r="r" b="b"/>
              <a:pathLst>
                <a:path w="4572000" h="3048000">
                  <a:moveTo>
                    <a:pt x="0" y="0"/>
                  </a:moveTo>
                  <a:lnTo>
                    <a:pt x="4572000" y="0"/>
                  </a:lnTo>
                  <a:lnTo>
                    <a:pt x="4572000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0" r="-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122</Words>
  <Application>Microsoft Office PowerPoint</Application>
  <PresentationFormat>Custom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Avenir Bold</vt:lpstr>
      <vt:lpstr>Aptos</vt:lpstr>
      <vt:lpstr>Avenir</vt:lpstr>
      <vt:lpstr>Avenir Bold Italics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 Acq  Return Analysis_Carolinas (002).pptx</dc:title>
  <dc:creator>Ashley Reyes</dc:creator>
  <cp:lastModifiedBy>Alex Burke</cp:lastModifiedBy>
  <cp:revision>17</cp:revision>
  <dcterms:created xsi:type="dcterms:W3CDTF">2006-08-16T00:00:00Z</dcterms:created>
  <dcterms:modified xsi:type="dcterms:W3CDTF">2026-03-25T21:36:31Z</dcterms:modified>
  <dc:identifier>DAHEy43R5uY</dc:identifier>
</cp:coreProperties>
</file>