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8" r:id="rId3"/>
    <p:sldId id="258" r:id="rId4"/>
    <p:sldId id="259" r:id="rId5"/>
    <p:sldId id="260" r:id="rId6"/>
    <p:sldId id="261" r:id="rId7"/>
    <p:sldId id="263" r:id="rId8"/>
  </p:sldIdLst>
  <p:sldSz cx="18288000" cy="10287000"/>
  <p:notesSz cx="6858000" cy="9144000"/>
  <p:embeddedFontLst>
    <p:embeddedFont>
      <p:font typeface="Avenir" panose="020B0604020202020204" charset="0"/>
      <p:regular r:id="rId9"/>
    </p:embeddedFont>
    <p:embeddedFont>
      <p:font typeface="Avenir Bold" panose="020B0604020202020204" charset="0"/>
      <p:regular r:id="rId10"/>
      <p:bold r:id="rId11"/>
    </p:embeddedFont>
    <p:embeddedFont>
      <p:font typeface="Avenir Bold Italics" panose="020B0604020202020204" charset="0"/>
      <p:regular r:id="rId12"/>
    </p:embeddedFont>
    <p:embeddedFont>
      <p:font typeface="Avenir Ultra-Bold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C7041D-F970-1067-39C6-A9ABDE8211F9}" v="272" dt="2026-04-01T23:22:17.759"/>
    <p1510:client id="{C317D250-2A20-3E61-4926-CB387A192C4D}" v="5" dt="2026-04-01T22:59:18.1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47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5.fntdata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dynne Jarvis" userId="S::jordynne@storestorage.com::3d7c134f-c1fa-4785-8ccc-6b259f188725" providerId="AD" clId="Web-{C317D250-2A20-3E61-4926-CB387A192C4D}"/>
    <pc:docChg chg="modSld">
      <pc:chgData name="Jordynne Jarvis" userId="S::jordynne@storestorage.com::3d7c134f-c1fa-4785-8ccc-6b259f188725" providerId="AD" clId="Web-{C317D250-2A20-3E61-4926-CB387A192C4D}" dt="2026-04-01T22:59:18.155" v="4" actId="1076"/>
      <pc:docMkLst>
        <pc:docMk/>
      </pc:docMkLst>
      <pc:sldChg chg="modSp">
        <pc:chgData name="Jordynne Jarvis" userId="S::jordynne@storestorage.com::3d7c134f-c1fa-4785-8ccc-6b259f188725" providerId="AD" clId="Web-{C317D250-2A20-3E61-4926-CB387A192C4D}" dt="2026-04-01T22:59:18.155" v="4" actId="1076"/>
        <pc:sldMkLst>
          <pc:docMk/>
          <pc:sldMk cId="0" sldId="256"/>
        </pc:sldMkLst>
        <pc:spChg chg="mod">
          <ac:chgData name="Jordynne Jarvis" userId="S::jordynne@storestorage.com::3d7c134f-c1fa-4785-8ccc-6b259f188725" providerId="AD" clId="Web-{C317D250-2A20-3E61-4926-CB387A192C4D}" dt="2026-04-01T22:59:18.155" v="4" actId="1076"/>
          <ac:spMkLst>
            <pc:docMk/>
            <pc:sldMk cId="0" sldId="256"/>
            <ac:spMk id="6" creationId="{00000000-0000-0000-0000-000000000000}"/>
          </ac:spMkLst>
        </pc:spChg>
      </pc:sldChg>
    </pc:docChg>
  </pc:docChgLst>
  <pc:docChgLst>
    <pc:chgData name="Jordynne Jarvis" userId="S::jordynne@storestorage.com::3d7c134f-c1fa-4785-8ccc-6b259f188725" providerId="AD" clId="Web-{B9C7041D-F970-1067-39C6-A9ABDE8211F9}"/>
    <pc:docChg chg="addSld delSld modSld">
      <pc:chgData name="Jordynne Jarvis" userId="S::jordynne@storestorage.com::3d7c134f-c1fa-4785-8ccc-6b259f188725" providerId="AD" clId="Web-{B9C7041D-F970-1067-39C6-A9ABDE8211F9}" dt="2026-04-01T23:22:17.759" v="165" actId="1076"/>
      <pc:docMkLst>
        <pc:docMk/>
      </pc:docMkLst>
      <pc:sldChg chg="modSp">
        <pc:chgData name="Jordynne Jarvis" userId="S::jordynne@storestorage.com::3d7c134f-c1fa-4785-8ccc-6b259f188725" providerId="AD" clId="Web-{B9C7041D-F970-1067-39C6-A9ABDE8211F9}" dt="2026-04-01T23:18:01.813" v="109" actId="14100"/>
        <pc:sldMkLst>
          <pc:docMk/>
          <pc:sldMk cId="0" sldId="256"/>
        </pc:sldMkLst>
        <pc:spChg chg="mod">
          <ac:chgData name="Jordynne Jarvis" userId="S::jordynne@storestorage.com::3d7c134f-c1fa-4785-8ccc-6b259f188725" providerId="AD" clId="Web-{B9C7041D-F970-1067-39C6-A9ABDE8211F9}" dt="2026-04-01T23:17:32.387" v="108" actId="20577"/>
          <ac:spMkLst>
            <pc:docMk/>
            <pc:sldMk cId="0" sldId="256"/>
            <ac:spMk id="4" creationId="{00000000-0000-0000-0000-000000000000}"/>
          </ac:spMkLst>
        </pc:spChg>
        <pc:grpChg chg="mod">
          <ac:chgData name="Jordynne Jarvis" userId="S::jordynne@storestorage.com::3d7c134f-c1fa-4785-8ccc-6b259f188725" providerId="AD" clId="Web-{B9C7041D-F970-1067-39C6-A9ABDE8211F9}" dt="2026-04-01T23:18:01.813" v="109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modSp del">
        <pc:chgData name="Jordynne Jarvis" userId="S::jordynne@storestorage.com::3d7c134f-c1fa-4785-8ccc-6b259f188725" providerId="AD" clId="Web-{B9C7041D-F970-1067-39C6-A9ABDE8211F9}" dt="2026-04-01T23:17:02.147" v="100"/>
        <pc:sldMkLst>
          <pc:docMk/>
          <pc:sldMk cId="0" sldId="257"/>
        </pc:sldMkLst>
        <pc:spChg chg="mod">
          <ac:chgData name="Jordynne Jarvis" userId="S::jordynne@storestorage.com::3d7c134f-c1fa-4785-8ccc-6b259f188725" providerId="AD" clId="Web-{B9C7041D-F970-1067-39C6-A9ABDE8211F9}" dt="2026-04-01T23:10:17.196" v="67" actId="20577"/>
          <ac:spMkLst>
            <pc:docMk/>
            <pc:sldMk cId="0" sldId="257"/>
            <ac:spMk id="8" creationId="{00000000-0000-0000-0000-000000000000}"/>
          </ac:spMkLst>
        </pc:spChg>
      </pc:sldChg>
      <pc:sldChg chg="addSp delSp modSp">
        <pc:chgData name="Jordynne Jarvis" userId="S::jordynne@storestorage.com::3d7c134f-c1fa-4785-8ccc-6b259f188725" providerId="AD" clId="Web-{B9C7041D-F970-1067-39C6-A9ABDE8211F9}" dt="2026-04-01T23:16:46.004" v="98"/>
        <pc:sldMkLst>
          <pc:docMk/>
          <pc:sldMk cId="0" sldId="258"/>
        </pc:sldMkLst>
        <pc:grpChg chg="del">
          <ac:chgData name="Jordynne Jarvis" userId="S::jordynne@storestorage.com::3d7c134f-c1fa-4785-8ccc-6b259f188725" providerId="AD" clId="Web-{B9C7041D-F970-1067-39C6-A9ABDE8211F9}" dt="2026-04-01T23:16:46.004" v="98"/>
          <ac:grpSpMkLst>
            <pc:docMk/>
            <pc:sldMk cId="0" sldId="258"/>
            <ac:grpSpMk id="11" creationId="{00000000-0000-0000-0000-000000000000}"/>
          </ac:grpSpMkLst>
        </pc:grpChg>
        <pc:picChg chg="add mod ord">
          <ac:chgData name="Jordynne Jarvis" userId="S::jordynne@storestorage.com::3d7c134f-c1fa-4785-8ccc-6b259f188725" providerId="AD" clId="Web-{B9C7041D-F970-1067-39C6-A9ABDE8211F9}" dt="2026-04-01T23:16:43.738" v="97"/>
          <ac:picMkLst>
            <pc:docMk/>
            <pc:sldMk cId="0" sldId="258"/>
            <ac:picMk id="20" creationId="{A8A37466-8157-44F8-C18C-8B39F53C69D3}"/>
          </ac:picMkLst>
        </pc:picChg>
      </pc:sldChg>
      <pc:sldChg chg="del">
        <pc:chgData name="Jordynne Jarvis" userId="S::jordynne@storestorage.com::3d7c134f-c1fa-4785-8ccc-6b259f188725" providerId="AD" clId="Web-{B9C7041D-F970-1067-39C6-A9ABDE8211F9}" dt="2026-04-01T23:00:23.255" v="0"/>
        <pc:sldMkLst>
          <pc:docMk/>
          <pc:sldMk cId="0" sldId="262"/>
        </pc:sldMkLst>
      </pc:sldChg>
      <pc:sldChg chg="modSp">
        <pc:chgData name="Jordynne Jarvis" userId="S::jordynne@storestorage.com::3d7c134f-c1fa-4785-8ccc-6b259f188725" providerId="AD" clId="Web-{B9C7041D-F970-1067-39C6-A9ABDE8211F9}" dt="2026-04-01T23:09:05.162" v="65"/>
        <pc:sldMkLst>
          <pc:docMk/>
          <pc:sldMk cId="0" sldId="263"/>
        </pc:sldMkLst>
        <pc:graphicFrameChg chg="mod modGraphic">
          <ac:chgData name="Jordynne Jarvis" userId="S::jordynne@storestorage.com::3d7c134f-c1fa-4785-8ccc-6b259f188725" providerId="AD" clId="Web-{B9C7041D-F970-1067-39C6-A9ABDE8211F9}" dt="2026-04-01T23:08:48.255" v="57"/>
          <ac:graphicFrameMkLst>
            <pc:docMk/>
            <pc:sldMk cId="0" sldId="263"/>
            <ac:graphicFrameMk id="2" creationId="{00000000-0000-0000-0000-000000000000}"/>
          </ac:graphicFrameMkLst>
        </pc:graphicFrameChg>
        <pc:graphicFrameChg chg="mod modGraphic">
          <ac:chgData name="Jordynne Jarvis" userId="S::jordynne@storestorage.com::3d7c134f-c1fa-4785-8ccc-6b259f188725" providerId="AD" clId="Web-{B9C7041D-F970-1067-39C6-A9ABDE8211F9}" dt="2026-04-01T23:09:05.162" v="65"/>
          <ac:graphicFrameMkLst>
            <pc:docMk/>
            <pc:sldMk cId="0" sldId="263"/>
            <ac:graphicFrameMk id="5" creationId="{00000000-0000-0000-0000-000000000000}"/>
          </ac:graphicFrameMkLst>
        </pc:graphicFrameChg>
      </pc:sldChg>
      <pc:sldChg chg="del">
        <pc:chgData name="Jordynne Jarvis" userId="S::jordynne@storestorage.com::3d7c134f-c1fa-4785-8ccc-6b259f188725" providerId="AD" clId="Web-{B9C7041D-F970-1067-39C6-A9ABDE8211F9}" dt="2026-04-01T23:02:29.790" v="4"/>
        <pc:sldMkLst>
          <pc:docMk/>
          <pc:sldMk cId="0" sldId="264"/>
        </pc:sldMkLst>
      </pc:sldChg>
      <pc:sldChg chg="new del">
        <pc:chgData name="Jordynne Jarvis" userId="S::jordynne@storestorage.com::3d7c134f-c1fa-4785-8ccc-6b259f188725" providerId="AD" clId="Web-{B9C7041D-F970-1067-39C6-A9ABDE8211F9}" dt="2026-04-01T23:02:21.976" v="3"/>
        <pc:sldMkLst>
          <pc:docMk/>
          <pc:sldMk cId="1407357635" sldId="265"/>
        </pc:sldMkLst>
      </pc:sldChg>
      <pc:sldChg chg="modSp add">
        <pc:chgData name="Jordynne Jarvis" userId="S::jordynne@storestorage.com::3d7c134f-c1fa-4785-8ccc-6b259f188725" providerId="AD" clId="Web-{B9C7041D-F970-1067-39C6-A9ABDE8211F9}" dt="2026-04-01T23:22:17.759" v="165" actId="1076"/>
        <pc:sldMkLst>
          <pc:docMk/>
          <pc:sldMk cId="1633077855" sldId="266"/>
        </pc:sldMkLst>
        <pc:spChg chg="mod">
          <ac:chgData name="Jordynne Jarvis" userId="S::jordynne@storestorage.com::3d7c134f-c1fa-4785-8ccc-6b259f188725" providerId="AD" clId="Web-{B9C7041D-F970-1067-39C6-A9ABDE8211F9}" dt="2026-04-01T23:22:17.759" v="165" actId="1076"/>
          <ac:spMkLst>
            <pc:docMk/>
            <pc:sldMk cId="1633077855" sldId="266"/>
            <ac:spMk id="5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56.742" v="161" actId="1076"/>
          <ac:spMkLst>
            <pc:docMk/>
            <pc:sldMk cId="1633077855" sldId="266"/>
            <ac:spMk id="24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56.929" v="162" actId="1076"/>
          <ac:spMkLst>
            <pc:docMk/>
            <pc:sldMk cId="1633077855" sldId="266"/>
            <ac:spMk id="25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07:09.641" v="39" actId="20577"/>
          <ac:spMkLst>
            <pc:docMk/>
            <pc:sldMk cId="1633077855" sldId="266"/>
            <ac:spMk id="28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06:36.686" v="25" actId="20577"/>
          <ac:spMkLst>
            <pc:docMk/>
            <pc:sldMk cId="1633077855" sldId="266"/>
            <ac:spMk id="29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08.848" v="156" actId="20577"/>
          <ac:spMkLst>
            <pc:docMk/>
            <pc:sldMk cId="1633077855" sldId="266"/>
            <ac:spMk id="30" creationId="{00000000-0000-0000-0000-000000000000}"/>
          </ac:spMkLst>
        </pc:spChg>
        <pc:graphicFrameChg chg="modGraphic">
          <ac:chgData name="Jordynne Jarvis" userId="S::jordynne@storestorage.com::3d7c134f-c1fa-4785-8ccc-6b259f188725" providerId="AD" clId="Web-{B9C7041D-F970-1067-39C6-A9ABDE8211F9}" dt="2026-04-01T23:06:14.388" v="17"/>
          <ac:graphicFrameMkLst>
            <pc:docMk/>
            <pc:sldMk cId="1633077855" sldId="266"/>
            <ac:graphicFrameMk id="8" creationId="{00000000-0000-0000-0000-000000000000}"/>
          </ac:graphicFrameMkLst>
        </pc:graphicFrameChg>
        <pc:graphicFrameChg chg="mod modGraphic">
          <ac:chgData name="Jordynne Jarvis" userId="S::jordynne@storestorage.com::3d7c134f-c1fa-4785-8ccc-6b259f188725" providerId="AD" clId="Web-{B9C7041D-F970-1067-39C6-A9ABDE8211F9}" dt="2026-04-01T23:07:49.018" v="41"/>
          <ac:graphicFrameMkLst>
            <pc:docMk/>
            <pc:sldMk cId="1633077855" sldId="266"/>
            <ac:graphicFrameMk id="9" creationId="{00000000-0000-0000-0000-000000000000}"/>
          </ac:graphicFrameMkLst>
        </pc:graphicFrameChg>
      </pc:sldChg>
      <pc:sldChg chg="addSp delSp modSp new del">
        <pc:chgData name="Jordynne Jarvis" userId="S::jordynne@storestorage.com::3d7c134f-c1fa-4785-8ccc-6b259f188725" providerId="AD" clId="Web-{B9C7041D-F970-1067-39C6-A9ABDE8211F9}" dt="2026-04-01T23:16:52.568" v="99"/>
        <pc:sldMkLst>
          <pc:docMk/>
          <pc:sldMk cId="1150689235" sldId="267"/>
        </pc:sldMkLst>
        <pc:spChg chg="add mod">
          <ac:chgData name="Jordynne Jarvis" userId="S::jordynne@storestorage.com::3d7c134f-c1fa-4785-8ccc-6b259f188725" providerId="AD" clId="Web-{B9C7041D-F970-1067-39C6-A9ABDE8211F9}" dt="2026-04-01T23:12:25.418" v="70" actId="1076"/>
          <ac:spMkLst>
            <pc:docMk/>
            <pc:sldMk cId="1150689235" sldId="267"/>
            <ac:spMk id="3" creationId="{8AB95A1B-8ECA-8092-CCAA-09902D47208D}"/>
          </ac:spMkLst>
        </pc:spChg>
        <pc:picChg chg="add mod">
          <ac:chgData name="Jordynne Jarvis" userId="S::jordynne@storestorage.com::3d7c134f-c1fa-4785-8ccc-6b259f188725" providerId="AD" clId="Web-{B9C7041D-F970-1067-39C6-A9ABDE8211F9}" dt="2026-04-01T23:13:28.420" v="76" actId="14100"/>
          <ac:picMkLst>
            <pc:docMk/>
            <pc:sldMk cId="1150689235" sldId="267"/>
            <ac:picMk id="4" creationId="{3A0ACDE2-4C6B-F3A5-04E3-8DD846DB302B}"/>
          </ac:picMkLst>
        </pc:picChg>
        <pc:picChg chg="add del mod">
          <ac:chgData name="Jordynne Jarvis" userId="S::jordynne@storestorage.com::3d7c134f-c1fa-4785-8ccc-6b259f188725" providerId="AD" clId="Web-{B9C7041D-F970-1067-39C6-A9ABDE8211F9}" dt="2026-04-01T23:12:35.043" v="73"/>
          <ac:picMkLst>
            <pc:docMk/>
            <pc:sldMk cId="1150689235" sldId="267"/>
            <ac:picMk id="5" creationId="{374F7F82-97B1-5B8A-659D-D0B21E62668C}"/>
          </ac:picMkLst>
        </pc:picChg>
        <pc:picChg chg="add mod">
          <ac:chgData name="Jordynne Jarvis" userId="S::jordynne@storestorage.com::3d7c134f-c1fa-4785-8ccc-6b259f188725" providerId="AD" clId="Web-{B9C7041D-F970-1067-39C6-A9ABDE8211F9}" dt="2026-04-01T23:13:31.138" v="77" actId="1076"/>
          <ac:picMkLst>
            <pc:docMk/>
            <pc:sldMk cId="1150689235" sldId="267"/>
            <ac:picMk id="6" creationId="{BC72D61A-114E-7714-9EDE-C00CF0D6A3B3}"/>
          </ac:picMkLst>
        </pc:picChg>
      </pc:sldChg>
      <pc:sldChg chg="addSp delSp modSp add replId">
        <pc:chgData name="Jordynne Jarvis" userId="S::jordynne@storestorage.com::3d7c134f-c1fa-4785-8ccc-6b259f188725" providerId="AD" clId="Web-{B9C7041D-F970-1067-39C6-A9ABDE8211F9}" dt="2026-04-01T23:15:47.727" v="92"/>
        <pc:sldMkLst>
          <pc:docMk/>
          <pc:sldMk cId="678713263" sldId="268"/>
        </pc:sldMkLst>
        <pc:grpChg chg="del">
          <ac:chgData name="Jordynne Jarvis" userId="S::jordynne@storestorage.com::3d7c134f-c1fa-4785-8ccc-6b259f188725" providerId="AD" clId="Web-{B9C7041D-F970-1067-39C6-A9ABDE8211F9}" dt="2026-04-01T23:15:47.727" v="92"/>
          <ac:grpSpMkLst>
            <pc:docMk/>
            <pc:sldMk cId="678713263" sldId="268"/>
            <ac:grpSpMk id="2" creationId="{EBD3BEED-5379-0C4C-79C2-90783EE5F794}"/>
          </ac:grpSpMkLst>
        </pc:grpChg>
        <pc:picChg chg="add mod ord modCrop">
          <ac:chgData name="Jordynne Jarvis" userId="S::jordynne@storestorage.com::3d7c134f-c1fa-4785-8ccc-6b259f188725" providerId="AD" clId="Web-{B9C7041D-F970-1067-39C6-A9ABDE8211F9}" dt="2026-04-01T23:15:42.976" v="91"/>
          <ac:picMkLst>
            <pc:docMk/>
            <pc:sldMk cId="678713263" sldId="268"/>
            <ac:picMk id="18" creationId="{75843334-D352-F96C-BEE4-9E321D0C292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52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48402" y="0"/>
            <a:ext cx="12948216" cy="10287000"/>
            <a:chOff x="0" y="0"/>
            <a:chExt cx="2069499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69499" cy="1593725"/>
            </a:xfrm>
            <a:custGeom>
              <a:avLst/>
              <a:gdLst/>
              <a:ahLst/>
              <a:cxnLst/>
              <a:rect l="l" t="t" r="r" b="b"/>
              <a:pathLst>
                <a:path w="2069499" h="1593725">
                  <a:moveTo>
                    <a:pt x="0" y="0"/>
                  </a:moveTo>
                  <a:lnTo>
                    <a:pt x="2069499" y="0"/>
                  </a:lnTo>
                  <a:lnTo>
                    <a:pt x="2069499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>
                <a:alphaModFix amt="30000"/>
              </a:blip>
              <a:stretch>
                <a:fillRect l="-3556" r="-120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588127" y="9182100"/>
            <a:ext cx="5909630" cy="34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83"/>
              </a:lnSpc>
            </a:pPr>
            <a:r>
              <a:rPr lang="en-US" sz="2050" b="1" dirty="0">
                <a:solidFill>
                  <a:srgbClr val="D7DFE5"/>
                </a:solidFill>
                <a:latin typeface="Avenir Bold"/>
                <a:ea typeface="Avenir Bold"/>
                <a:cs typeface="Avenir Bold"/>
                <a:sym typeface="Avenir Bold"/>
              </a:rPr>
              <a:t>Confidential | {{PUBLISHMONTHYEAR}}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8127" y="4057397"/>
            <a:ext cx="16671173" cy="182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351"/>
              </a:lnSpc>
            </a:pPr>
            <a:r>
              <a:rPr lang="en-US" sz="11543" b="1" spc="-230">
                <a:solidFill>
                  <a:srgbClr val="FFFFFF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Acquisition &amp;</a:t>
            </a:r>
          </a:p>
        </p:txBody>
      </p:sp>
      <p:sp>
        <p:nvSpPr>
          <p:cNvPr id="6" name="Freeform 6"/>
          <p:cNvSpPr/>
          <p:nvPr/>
        </p:nvSpPr>
        <p:spPr>
          <a:xfrm>
            <a:off x="588127" y="2718193"/>
            <a:ext cx="4522878" cy="1119051"/>
          </a:xfrm>
          <a:custGeom>
            <a:avLst/>
            <a:gdLst/>
            <a:ahLst/>
            <a:cxnLst/>
            <a:rect l="l" t="t" r="r" b="b"/>
            <a:pathLst>
              <a:path w="4522878" h="1119051">
                <a:moveTo>
                  <a:pt x="0" y="0"/>
                </a:moveTo>
                <a:lnTo>
                  <a:pt x="4522878" y="0"/>
                </a:lnTo>
                <a:lnTo>
                  <a:pt x="4522878" y="1119051"/>
                </a:lnTo>
                <a:lnTo>
                  <a:pt x="0" y="11190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88127" y="5644430"/>
            <a:ext cx="16671173" cy="182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351"/>
              </a:lnSpc>
            </a:pPr>
            <a:r>
              <a:rPr lang="en-US" sz="11543" b="1" spc="-230">
                <a:solidFill>
                  <a:srgbClr val="FFFFFF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Return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96AB-0FB2-7267-6DDF-51C2F762E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close up of a rope&#10;&#10;AI-generated content may be incorrect.">
            <a:extLst>
              <a:ext uri="{FF2B5EF4-FFF2-40B4-BE49-F238E27FC236}">
                <a16:creationId xmlns:a16="http://schemas.microsoft.com/office/drawing/2014/main" id="{75843334-D352-F96C-BEE4-9E321D0C29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71"/>
          <a:stretch>
            <a:fillRect/>
          </a:stretch>
        </p:blipFill>
        <p:spPr>
          <a:xfrm>
            <a:off x="656137" y="2215140"/>
            <a:ext cx="8590102" cy="5582865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8C007857-D0AC-AFE2-EFCD-3E93F36665DB}"/>
              </a:ext>
            </a:extLst>
          </p:cNvPr>
          <p:cNvGrpSpPr/>
          <p:nvPr/>
        </p:nvGrpSpPr>
        <p:grpSpPr>
          <a:xfrm>
            <a:off x="842775" y="8395959"/>
            <a:ext cx="8225088" cy="1677823"/>
            <a:chOff x="0" y="0"/>
            <a:chExt cx="10966784" cy="2237096"/>
          </a:xfrm>
        </p:grpSpPr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054953EB-DD22-D36D-BB7E-E9DA2B46414D}"/>
                </a:ext>
              </a:extLst>
            </p:cNvPr>
            <p:cNvGrpSpPr/>
            <p:nvPr/>
          </p:nvGrpSpPr>
          <p:grpSpPr>
            <a:xfrm>
              <a:off x="0" y="0"/>
              <a:ext cx="10966784" cy="1656623"/>
              <a:chOff x="0" y="0"/>
              <a:chExt cx="2156583" cy="325770"/>
            </a:xfrm>
          </p:grpSpPr>
          <p:sp>
            <p:nvSpPr>
              <p:cNvPr id="6" name="Freeform 6">
                <a:extLst>
                  <a:ext uri="{FF2B5EF4-FFF2-40B4-BE49-F238E27FC236}">
                    <a16:creationId xmlns:a16="http://schemas.microsoft.com/office/drawing/2014/main" id="{0C56F3AD-FE87-ED0E-6593-0030AD5B4EEA}"/>
                  </a:ext>
                </a:extLst>
              </p:cNvPr>
              <p:cNvSpPr/>
              <p:nvPr/>
            </p:nvSpPr>
            <p:spPr>
              <a:xfrm>
                <a:off x="0" y="0"/>
                <a:ext cx="2156583" cy="325770"/>
              </a:xfrm>
              <a:custGeom>
                <a:avLst/>
                <a:gdLst/>
                <a:ahLst/>
                <a:cxnLst/>
                <a:rect l="l" t="t" r="r" b="b"/>
                <a:pathLst>
                  <a:path w="2156583" h="325770">
                    <a:moveTo>
                      <a:pt x="0" y="0"/>
                    </a:moveTo>
                    <a:lnTo>
                      <a:pt x="2156583" y="0"/>
                    </a:lnTo>
                    <a:lnTo>
                      <a:pt x="2156583" y="325770"/>
                    </a:lnTo>
                    <a:lnTo>
                      <a:pt x="0" y="325770"/>
                    </a:lnTo>
                    <a:close/>
                  </a:path>
                </a:pathLst>
              </a:custGeom>
              <a:solidFill>
                <a:srgbClr val="3B52A1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TextBox 7">
                <a:extLst>
                  <a:ext uri="{FF2B5EF4-FFF2-40B4-BE49-F238E27FC236}">
                    <a16:creationId xmlns:a16="http://schemas.microsoft.com/office/drawing/2014/main" id="{1540A0D0-AD14-3425-DFB3-D646C7B45898}"/>
                  </a:ext>
                </a:extLst>
              </p:cNvPr>
              <p:cNvSpPr txBox="1"/>
              <p:nvPr/>
            </p:nvSpPr>
            <p:spPr>
              <a:xfrm>
                <a:off x="0" y="-85725"/>
                <a:ext cx="2156583" cy="411495"/>
              </a:xfrm>
              <a:prstGeom prst="rect">
                <a:avLst/>
              </a:prstGeom>
            </p:spPr>
            <p:txBody>
              <a:bodyPr lIns="52902" tIns="52902" rIns="52902" bIns="52902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92C9D7C3-90AD-872D-43B4-BFD55B2BF092}"/>
                </a:ext>
              </a:extLst>
            </p:cNvPr>
            <p:cNvSpPr txBox="1"/>
            <p:nvPr/>
          </p:nvSpPr>
          <p:spPr>
            <a:xfrm>
              <a:off x="418113" y="275535"/>
              <a:ext cx="10050884" cy="19615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5905"/>
                </a:lnSpc>
                <a:spcBef>
                  <a:spcPct val="0"/>
                </a:spcBef>
              </a:pPr>
              <a:r>
                <a:rPr lang="en-US" sz="4700" b="1" dirty="0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${{ASSETVALUE}} Asset </a:t>
              </a:r>
              <a:r>
                <a:rPr lang="en-US" sz="4400" b="1" dirty="0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Value</a:t>
              </a:r>
              <a:r>
                <a:rPr lang="en-US" sz="4700" b="1" dirty="0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 Added</a:t>
              </a:r>
            </a:p>
          </p:txBody>
        </p:sp>
      </p:grp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F0013B94-B7F6-469B-1CBF-A608CB99D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679180"/>
              </p:ext>
            </p:extLst>
          </p:nvPr>
        </p:nvGraphicFramePr>
        <p:xfrm>
          <a:off x="10215604" y="6986174"/>
          <a:ext cx="7182492" cy="2652254"/>
        </p:xfrm>
        <a:graphic>
          <a:graphicData uri="http://schemas.openxmlformats.org/drawingml/2006/table">
            <a:tbl>
              <a:tblPr/>
              <a:tblGrid>
                <a:gridCol w="2783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90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1140">
                <a:tc gridSpan="3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140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3-Year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{{3YIRR}}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{{3YMUL}}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8834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5-Year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sym typeface="Avenir"/>
                        </a:rPr>
                        <a:t>{{5YMUL}}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140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7-Year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{{7YIRR}} IRR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dirty="0">
                          <a:solidFill>
                            <a:srgbClr val="FFFFFF"/>
                          </a:solidFill>
                          <a:latin typeface="Avenir"/>
                          <a:sym typeface="Avenir"/>
                        </a:rPr>
                        <a:t>{{7YMUL}}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>
            <a:extLst>
              <a:ext uri="{FF2B5EF4-FFF2-40B4-BE49-F238E27FC236}">
                <a16:creationId xmlns:a16="http://schemas.microsoft.com/office/drawing/2014/main" id="{1633D5B9-183C-CBEA-8F3A-A5BD149DAF63}"/>
              </a:ext>
            </a:extLst>
          </p:cNvPr>
          <p:cNvSpPr txBox="1"/>
          <p:nvPr/>
        </p:nvSpPr>
        <p:spPr>
          <a:xfrm>
            <a:off x="654785" y="46852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Value Creation Summary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7346F19-56B3-1CDA-8B54-0F8ECEE820C3}"/>
              </a:ext>
            </a:extLst>
          </p:cNvPr>
          <p:cNvSpPr txBox="1"/>
          <p:nvPr/>
        </p:nvSpPr>
        <p:spPr>
          <a:xfrm>
            <a:off x="10215604" y="2381169"/>
            <a:ext cx="7417611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{{NOIPERCENT}}% </a:t>
            </a:r>
            <a:r>
              <a:rPr lang="en-US" sz="2999" b="1" strike="noStrike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NOI Increase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E6F2226-0806-FB22-60C8-239BD424EFD7}"/>
              </a:ext>
            </a:extLst>
          </p:cNvPr>
          <p:cNvSpPr txBox="1"/>
          <p:nvPr/>
        </p:nvSpPr>
        <p:spPr>
          <a:xfrm>
            <a:off x="10215604" y="2953444"/>
            <a:ext cx="7417611" cy="47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Ex</a:t>
            </a:r>
            <a:r>
              <a:rPr lang="en-US" sz="2699" u="none" strike="noStrike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ecution-led operational repositioning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5DBE2A1-0FA6-3ECC-2A7F-B215BAE2C7DF}"/>
              </a:ext>
            </a:extLst>
          </p:cNvPr>
          <p:cNvSpPr txBox="1"/>
          <p:nvPr/>
        </p:nvSpPr>
        <p:spPr>
          <a:xfrm>
            <a:off x="10215604" y="5497315"/>
            <a:ext cx="7417611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{{EXPREDPERC}} Expense Reduction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139DBEC-3150-B544-EA88-BAA2B6246890}"/>
              </a:ext>
            </a:extLst>
          </p:cNvPr>
          <p:cNvSpPr txBox="1"/>
          <p:nvPr/>
        </p:nvSpPr>
        <p:spPr>
          <a:xfrm>
            <a:off x="10215604" y="6066350"/>
            <a:ext cx="7417611" cy="47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</a:t>
            </a:r>
            <a:r>
              <a:rPr lang="en-US" sz="2699" u="none" strike="noStrike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ee optimization and disciplined cost controls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8DCEA6C-3227-49B2-C39A-9C5E37FAF6F8}"/>
              </a:ext>
            </a:extLst>
          </p:cNvPr>
          <p:cNvSpPr txBox="1"/>
          <p:nvPr/>
        </p:nvSpPr>
        <p:spPr>
          <a:xfrm>
            <a:off x="10215604" y="3728443"/>
            <a:ext cx="7417611" cy="459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${{REVENUELIFT}}K+ Revenue Lift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EF44437-D634-F4BA-EA7B-322EABB42C58}"/>
              </a:ext>
            </a:extLst>
          </p:cNvPr>
          <p:cNvSpPr txBox="1"/>
          <p:nvPr/>
        </p:nvSpPr>
        <p:spPr>
          <a:xfrm>
            <a:off x="10215604" y="4297478"/>
            <a:ext cx="7417611" cy="904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Dynamic pricing, tenant protection programs, and fee optimization</a:t>
            </a:r>
          </a:p>
        </p:txBody>
      </p:sp>
    </p:spTree>
    <p:extLst>
      <p:ext uri="{BB962C8B-B14F-4D97-AF65-F5344CB8AC3E}">
        <p14:creationId xmlns:p14="http://schemas.microsoft.com/office/powerpoint/2010/main" val="67871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ridge over water with a city in the background&#10;&#10;AI-generated content may be incorrect.">
            <a:extLst>
              <a:ext uri="{FF2B5EF4-FFF2-40B4-BE49-F238E27FC236}">
                <a16:creationId xmlns:a16="http://schemas.microsoft.com/office/drawing/2014/main" id="{A8A37466-8157-44F8-C18C-8B39F53C6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076" y="2221302"/>
            <a:ext cx="12242243" cy="5364125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028700" y="2217650"/>
            <a:ext cx="3641864" cy="5755553"/>
            <a:chOff x="0" y="0"/>
            <a:chExt cx="4855818" cy="76740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0000" cy="1266292"/>
            </a:xfrm>
            <a:custGeom>
              <a:avLst/>
              <a:gdLst/>
              <a:ahLst/>
              <a:cxnLst/>
              <a:rect l="l" t="t" r="r" b="b"/>
              <a:pathLst>
                <a:path w="1270000" h="1266292">
                  <a:moveTo>
                    <a:pt x="0" y="0"/>
                  </a:moveTo>
                  <a:lnTo>
                    <a:pt x="1270000" y="0"/>
                  </a:lnTo>
                  <a:lnTo>
                    <a:pt x="1270000" y="1266292"/>
                  </a:lnTo>
                  <a:lnTo>
                    <a:pt x="0" y="1266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t="-146" b="-14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2069711"/>
              <a:ext cx="1270000" cy="1054100"/>
            </a:xfrm>
            <a:custGeom>
              <a:avLst/>
              <a:gdLst/>
              <a:ahLst/>
              <a:cxnLst/>
              <a:rect l="l" t="t" r="r" b="b"/>
              <a:pathLst>
                <a:path w="1270000" h="1054100">
                  <a:moveTo>
                    <a:pt x="0" y="0"/>
                  </a:moveTo>
                  <a:lnTo>
                    <a:pt x="1270000" y="0"/>
                  </a:lnTo>
                  <a:lnTo>
                    <a:pt x="1270000" y="1054100"/>
                  </a:lnTo>
                  <a:lnTo>
                    <a:pt x="0" y="1054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602" b="-60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5994011"/>
              <a:ext cx="1270000" cy="1133475"/>
            </a:xfrm>
            <a:custGeom>
              <a:avLst/>
              <a:gdLst/>
              <a:ahLst/>
              <a:cxnLst/>
              <a:rect l="l" t="t" r="r" b="b"/>
              <a:pathLst>
                <a:path w="1270000" h="1133475">
                  <a:moveTo>
                    <a:pt x="0" y="0"/>
                  </a:moveTo>
                  <a:lnTo>
                    <a:pt x="1270000" y="0"/>
                  </a:lnTo>
                  <a:lnTo>
                    <a:pt x="1270000" y="1133475"/>
                  </a:lnTo>
                  <a:lnTo>
                    <a:pt x="0" y="1133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79" r="-7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3923911"/>
              <a:ext cx="1270000" cy="1270000"/>
            </a:xfrm>
            <a:custGeom>
              <a:avLst/>
              <a:gdLst/>
              <a:ahLst/>
              <a:cxnLst/>
              <a:rect l="l" t="t" r="r" b="b"/>
              <a:pathLst>
                <a:path w="1270000" h="1270000">
                  <a:moveTo>
                    <a:pt x="0" y="0"/>
                  </a:moveTo>
                  <a:lnTo>
                    <a:pt x="1270000" y="0"/>
                  </a:lnTo>
                  <a:lnTo>
                    <a:pt x="1270000" y="1270000"/>
                  </a:lnTo>
                  <a:lnTo>
                    <a:pt x="0" y="127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536700" y="97829"/>
              <a:ext cx="3319118" cy="10537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{{OCCPER}}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36700" y="2048163"/>
              <a:ext cx="3319118" cy="1132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5"/>
                </a:lnSpc>
              </a:pPr>
              <a:r>
                <a:rPr lang="en-US" sz="3004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{{RENTSQFT}}</a:t>
              </a:r>
            </a:p>
            <a:p>
              <a:pPr algn="ctr">
                <a:lnSpc>
                  <a:spcPts val="2799"/>
                </a:lnSpc>
              </a:pPr>
              <a:r>
                <a:rPr lang="en-US" sz="1999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 Rentable </a:t>
              </a:r>
              <a:r>
                <a:rPr lang="en-US" sz="1999" b="1" dirty="0" err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SqFt</a:t>
              </a:r>
              <a:r>
                <a:rPr lang="en-US" sz="1999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 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36700" y="4023594"/>
              <a:ext cx="3319118" cy="10537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{{UNITS}}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Total Units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36700" y="5970529"/>
              <a:ext cx="3319118" cy="17035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{{RATING}} Rating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{{REVIEWS}} Reviews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72345" y="7941984"/>
            <a:ext cx="16743310" cy="2109863"/>
            <a:chOff x="0" y="0"/>
            <a:chExt cx="22324414" cy="281315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2324414" cy="2813150"/>
              <a:chOff x="0" y="0"/>
              <a:chExt cx="2710431" cy="341548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10431" cy="341548"/>
              </a:xfrm>
              <a:custGeom>
                <a:avLst/>
                <a:gdLst/>
                <a:ahLst/>
                <a:cxnLst/>
                <a:rect l="l" t="t" r="r" b="b"/>
                <a:pathLst>
                  <a:path w="2710431" h="341548">
                    <a:moveTo>
                      <a:pt x="0" y="0"/>
                    </a:moveTo>
                    <a:lnTo>
                      <a:pt x="2710431" y="0"/>
                    </a:lnTo>
                    <a:lnTo>
                      <a:pt x="2710431" y="341548"/>
                    </a:lnTo>
                    <a:lnTo>
                      <a:pt x="0" y="341548"/>
                    </a:lnTo>
                    <a:close/>
                  </a:path>
                </a:pathLst>
              </a:custGeom>
              <a:solidFill>
                <a:srgbClr val="3B52A1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85725"/>
                <a:ext cx="2710431" cy="427273"/>
              </a:xfrm>
              <a:prstGeom prst="rect">
                <a:avLst/>
              </a:prstGeom>
            </p:spPr>
            <p:txBody>
              <a:bodyPr lIns="107689" tIns="107689" rIns="107689" bIns="107689" rtlCol="0" anchor="ctr"/>
              <a:lstStyle/>
              <a:p>
                <a:pPr algn="ctr">
                  <a:lnSpc>
                    <a:spcPts val="3080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5864" y="311159"/>
              <a:ext cx="21112685" cy="4040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12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{{SNAPSHOTDESCRIPTION}}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72345" y="45475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Market &amp; Property Snapshot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086006"/>
              </p:ext>
            </p:extLst>
          </p:nvPr>
        </p:nvGraphicFramePr>
        <p:xfrm>
          <a:off x="195425" y="1651764"/>
          <a:ext cx="17897151" cy="6387336"/>
        </p:xfrm>
        <a:graphic>
          <a:graphicData uri="http://schemas.openxmlformats.org/drawingml/2006/table">
            <a:tbl>
              <a:tblPr/>
              <a:tblGrid>
                <a:gridCol w="2477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6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0291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23103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90658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553523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 AVG</a:t>
                      </a:r>
                      <a:endParaRPr sz="11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</a:t>
                      </a:r>
                      <a:endParaRPr sz="11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APR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MAY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JUN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JUL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AUG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SEP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OCT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NOV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DEC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JAN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FEB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MAR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STORE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CURRENT </a:t>
                      </a:r>
                    </a:p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MANAGEMENT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IMPACT TO N.O.I.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Rental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{{CELL0009}}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{{CELL0018}}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{{CELL0019}}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Bold Italics" panose="020B0604020202020204" charset="0"/>
                        </a:rPr>
                        <a:t>STORE Rate Management Revenue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{{CELL0029}}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{{CELL0030}}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Discounts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{{CELL0039}}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{{CELL0040}}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{{CELL0041}}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{{CELL0042}}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{{CELL0043}}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{{CELL0044}}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Net Rental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{{CELL0045}}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{{CELL0047}}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{{CELL0049}}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{{CELL0059}}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{{CELL0060}}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{{CELL0061}}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Admin Fee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{{CELL0089}}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Late Fee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{{CELL0099}}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{{CELL0109}}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Bold Italics" panose="020B0604020202020204" charset="0"/>
                        </a:rPr>
                        <a:t>Current Tenant Protection Split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{{CELL0119}}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 dirty="0">
                          <a:latin typeface="Avenir Bold Italics" panose="020B0604020202020204" charset="0"/>
                        </a:rPr>
                        <a:t>STORE Tenant Protection Split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{{CELL0129}}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{{CELL0139}}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Other Tenant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Retail Sales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{{CELL0149}}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2196">
                <a:tc>
                  <a:txBody>
                    <a:bodyPr/>
                    <a:lstStyle/>
                    <a:p>
                      <a:r>
                        <a:rPr sz="1100" dirty="0">
                          <a:latin typeface="Avenir Ultra-Bold" panose="020B0604020202020204" charset="0"/>
                        </a:rPr>
                        <a:t>Total Operating Income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{{CELL0157}}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{{CELL0159}}</a:t>
                      </a:r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{{CELL0169}}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3960252"/>
              </p:ext>
            </p:extLst>
          </p:nvPr>
        </p:nvGraphicFramePr>
        <p:xfrm>
          <a:off x="2290811" y="8293847"/>
          <a:ext cx="13706378" cy="1269253"/>
        </p:xfrm>
        <a:graphic>
          <a:graphicData uri="http://schemas.openxmlformats.org/drawingml/2006/table">
            <a:tbl>
              <a:tblPr/>
              <a:tblGrid>
                <a:gridCol w="931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542627">
                <a:tc>
                  <a:txBody>
                    <a:bodyPr/>
                    <a:lstStyle/>
                    <a:p>
                      <a:endParaRPr sz="11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APR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MAY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JUN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JUL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AUG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SEP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OCT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NOV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DEC 2026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JAN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FEB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MAR 2027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313"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Rent ($/SF)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{{CELL0179}}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313">
                <a:tc>
                  <a:txBody>
                    <a:bodyPr/>
                    <a:lstStyle/>
                    <a:p>
                      <a:r>
                        <a:rPr sz="1100">
                          <a:latin typeface="Avenir" panose="020B0604020202020204" charset="0"/>
                        </a:rPr>
                        <a:t>Vacancy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{{CELL0189}}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{{CELL0190}}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{{CELL0191}}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{{CELL0192}}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{{CELL0193}}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{{CELL0194}}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{{CELL0195}}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{{CELL0196}}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{{CELL0197}}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venir" panose="020B0604020202020204" charset="0"/>
                        </a:rPr>
                        <a:t>{{CELL0198}}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772345" y="266700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1-Year Proforma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243605"/>
              </p:ext>
            </p:extLst>
          </p:nvPr>
        </p:nvGraphicFramePr>
        <p:xfrm>
          <a:off x="223113" y="38100"/>
          <a:ext cx="17590179" cy="10608006"/>
        </p:xfrm>
        <a:graphic>
          <a:graphicData uri="http://schemas.openxmlformats.org/drawingml/2006/table">
            <a:tbl>
              <a:tblPr/>
              <a:tblGrid>
                <a:gridCol w="233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5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8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0322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23654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0322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553034"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EXPENSES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 AVG</a:t>
                      </a:r>
                      <a:endParaRPr sz="1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T-12</a:t>
                      </a:r>
                      <a:endParaRPr sz="1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APR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MAY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JUN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JUL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AUG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SEP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OCT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NOV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DEC 2026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JAN 2027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FEB 2027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MAR 2027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STORE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CURRENT </a:t>
                      </a:r>
                    </a:p>
                    <a:p>
                      <a:r>
                        <a:rPr sz="100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MANAGEMENT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IMPACT TO N.O.I.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Advertising &amp; Marketing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Current Payment Processing Fees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{{CELL0219}}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STORE Payment Processing Fees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Fire Prevention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Licenses &amp; Permits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Current Management Fee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STORE Management Fee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{{CELL0249}}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{{CELL0259}}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{{CELL0260}}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 Bold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 Bold" panose="020B0604020202020204" charset="0"/>
                        </a:rPr>
                        <a:t>{{CELL0261}}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Payroll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{{CELL0269}}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{{CELL0278}}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Office Supplies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{{CELL0279}}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Repairs &amp; Maintenance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{{CELL0299}}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Security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{{CELL0319}}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{{CELL0324}}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Retail Products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Telephone &amp; Internet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{{CELL0349}}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Software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{{CELL0359}}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{{CELL0369}}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{{CELL0373}}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Bank Charges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Prof Fees - Legal/</a:t>
                      </a:r>
                      <a:r>
                        <a:rPr sz="1000" dirty="0" err="1">
                          <a:latin typeface="Avenir" panose="020B0604020202020204" charset="0"/>
                        </a:rPr>
                        <a:t>Acctg</a:t>
                      </a:r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{{CELL0379}}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Utilities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{{CELL0399}}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Insurance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{{CELL0409}}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{{CELL0419}}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Property Taxes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{{CELL0429}}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Other Expense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 $ -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r>
                        <a:rPr sz="1000" dirty="0">
                          <a:latin typeface="Avenir Ultra-Bold" panose="020B0604020202020204" charset="0"/>
                        </a:rPr>
                        <a:t>Total Operating Expense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{{CELL0439}}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{{CELL0449}}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{{CELL0454}}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403855">
                <a:tc>
                  <a:txBody>
                    <a:bodyPr/>
                    <a:lstStyle/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sz="1000" dirty="0">
                        <a:latin typeface="Avenir" panose="020B0604020202020204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r>
                        <a:rPr sz="1000" dirty="0">
                          <a:latin typeface="Avenir Ultra-Bold" panose="020B0604020202020204" charset="0"/>
                        </a:rPr>
                        <a:t>Net Operating Income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{{CELL0479}}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{{CELL0480}}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{{CELL0481}}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{{CELL0482}}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{{CELL0483}}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{{CELL0484}}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{{CELL0485}}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{{CELL0486}}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{{CELL0487}}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{{CELL0488}}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Avenir" panose="020B0604020202020204" charset="0"/>
                        </a:rPr>
                        <a:t>{{CELL0489}}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2345" y="479361"/>
            <a:ext cx="16743310" cy="148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123"/>
              </a:lnSpc>
            </a:pPr>
            <a:r>
              <a:rPr lang="en-US" sz="91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Acquisition &amp; Returns Analysis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139736"/>
              </p:ext>
            </p:extLst>
          </p:nvPr>
        </p:nvGraphicFramePr>
        <p:xfrm>
          <a:off x="13832406" y="2217650"/>
          <a:ext cx="3926083" cy="4951968"/>
        </p:xfrm>
        <a:graphic>
          <a:graphicData uri="http://schemas.openxmlformats.org/drawingml/2006/table">
            <a:tbl>
              <a:tblPr/>
              <a:tblGrid>
                <a:gridCol w="2325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287">
                <a:tc gridSpan="2"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Key Metrics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Key Metrics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Purchase Price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{{CELL0490}}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Going-In Cap Rate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{{CELL0491}}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895"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 All-In Interest Rate</a:t>
                      </a:r>
                    </a:p>
                    <a:p>
                      <a:r>
                        <a:rPr dirty="0">
                          <a:latin typeface="Avenir" panose="020B0604020202020204" charset="0"/>
                        </a:rPr>
                        <a:t> (SOFR+{{CELL0492}}bps)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{{CELL0493}}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LTC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{{CELL0494}}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Loan Amount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{{CELL0495}}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Equity Required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{{CELL0496}}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Total CapEx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{{CELL0497}}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NRSF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{{CELL0498}}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Price / SqFt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{{CELL0499}}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287">
                <a:tc>
                  <a:txBody>
                    <a:bodyPr/>
                    <a:lstStyle/>
                    <a:p>
                      <a:r>
                        <a:rPr>
                          <a:latin typeface="Avenir" panose="020B0604020202020204" charset="0"/>
                        </a:rPr>
                        <a:t> Asset Mgmt Fee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{{CELL0500}}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928322"/>
              </p:ext>
            </p:extLst>
          </p:nvPr>
        </p:nvGraphicFramePr>
        <p:xfrm>
          <a:off x="772345" y="4452154"/>
          <a:ext cx="12336160" cy="2710191"/>
        </p:xfrm>
        <a:graphic>
          <a:graphicData uri="http://schemas.openxmlformats.org/drawingml/2006/table">
            <a:tbl>
              <a:tblPr/>
              <a:tblGrid>
                <a:gridCol w="3146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1260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Debt Service Schedule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</a:t>
                      </a:r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1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2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3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4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5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r>
                        <a:t> Beginning Balance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{{CELL0509}}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7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r>
                        <a:t> Annual Debt Service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r>
                        <a:t> Interest Portion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{{CELL0519}}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r>
                        <a:t> Principal Portion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r>
                        <a:t> DSCR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{{CELL0526}}x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{{CELL0527}}x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{{CELL0528}}x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{{CELL0529}}x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{{CELL0530}}x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r>
                        <a:t> Ending Balance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{{CELL0535}}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18483"/>
              </p:ext>
            </p:extLst>
          </p:nvPr>
        </p:nvGraphicFramePr>
        <p:xfrm>
          <a:off x="772345" y="7476673"/>
          <a:ext cx="12336160" cy="2329194"/>
        </p:xfrm>
        <a:graphic>
          <a:graphicData uri="http://schemas.openxmlformats.org/drawingml/2006/table">
            <a:tbl>
              <a:tblPr/>
              <a:tblGrid>
                <a:gridCol w="3170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1381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Cash Flow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1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2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3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4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Year 5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r>
                        <a:rPr dirty="0"/>
                        <a:t> Net Operating Income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835">
                <a:tc>
                  <a:txBody>
                    <a:bodyPr/>
                    <a:lstStyle/>
                    <a:p>
                      <a:r>
                        <a:t> Less: CapEx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{{CELL0549}}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{{CELL0550}}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835">
                <a:tc>
                  <a:txBody>
                    <a:bodyPr/>
                    <a:lstStyle/>
                    <a:p>
                      <a:r>
                        <a:t> Less: Debt Service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r>
                        <a:t> Less: Asset Mgmt Fee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({{CELL0556}}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({{CELL0557}}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({{CELL0558}}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({{CELL0559}}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({{CELL0560}}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r>
                        <a:t> Levered Cash Flow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{{CELL0561}}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{{CELL0562}}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{{CELL0563}}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{{CELL0564}}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{{CELL0565}}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170151"/>
              </p:ext>
            </p:extLst>
          </p:nvPr>
        </p:nvGraphicFramePr>
        <p:xfrm>
          <a:off x="13832406" y="7294859"/>
          <a:ext cx="3926083" cy="1506241"/>
        </p:xfrm>
        <a:graphic>
          <a:graphicData uri="http://schemas.openxmlformats.org/drawingml/2006/table">
            <a:tbl>
              <a:tblPr/>
              <a:tblGrid>
                <a:gridCol w="2775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237">
                <a:tc gridSpan="2">
                  <a:txBody>
                    <a:bodyPr/>
                    <a:lstStyle/>
                    <a:p>
                      <a:pPr algn="ctr"/>
                      <a:r>
                        <a:rPr dirty="0"/>
                        <a:t> </a:t>
                      </a:r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Returns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Returns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237">
                <a:tc>
                  <a:txBody>
                    <a:bodyPr/>
                    <a:lstStyle/>
                    <a:p>
                      <a:r>
                        <a:t> Cash-on-Cash Return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{{CELL0566}}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7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70">
                <a:tc>
                  <a:txBody>
                    <a:bodyPr/>
                    <a:lstStyle/>
                    <a:p>
                      <a:r>
                        <a:t> Yield on Cost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{{CELL0567}} </a:t>
                      </a:r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7" name="Group 7"/>
          <p:cNvGrpSpPr/>
          <p:nvPr/>
        </p:nvGrpSpPr>
        <p:grpSpPr>
          <a:xfrm>
            <a:off x="13832406" y="8970105"/>
            <a:ext cx="3926083" cy="1202595"/>
            <a:chOff x="0" y="0"/>
            <a:chExt cx="966834" cy="2961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66834" cy="296150"/>
            </a:xfrm>
            <a:custGeom>
              <a:avLst/>
              <a:gdLst/>
              <a:ahLst/>
              <a:cxnLst/>
              <a:rect l="l" t="t" r="r" b="b"/>
              <a:pathLst>
                <a:path w="966834" h="296150">
                  <a:moveTo>
                    <a:pt x="0" y="0"/>
                  </a:moveTo>
                  <a:lnTo>
                    <a:pt x="966834" y="0"/>
                  </a:lnTo>
                  <a:lnTo>
                    <a:pt x="966834" y="296150"/>
                  </a:lnTo>
                  <a:lnTo>
                    <a:pt x="0" y="29615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966834" cy="353300"/>
            </a:xfrm>
            <a:prstGeom prst="rect">
              <a:avLst/>
            </a:prstGeom>
          </p:spPr>
          <p:txBody>
            <a:bodyPr lIns="54331" tIns="54331" rIns="54331" bIns="54331" rtlCol="0" anchor="ctr"/>
            <a:lstStyle/>
            <a:p>
              <a:pPr algn="ctr">
                <a:lnSpc>
                  <a:spcPts val="289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058139" y="9123045"/>
            <a:ext cx="3474619" cy="973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Projected returns driven by</a:t>
            </a:r>
          </a:p>
          <a:p>
            <a:pPr algn="l">
              <a:lnSpc>
                <a:spcPts val="2520"/>
              </a:lnSpc>
            </a:pPr>
            <a:r>
              <a:rPr lang="en-US" sz="18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disciplined rate management</a:t>
            </a:r>
          </a:p>
          <a:p>
            <a:pPr algn="l">
              <a:lnSpc>
                <a:spcPts val="2520"/>
              </a:lnSpc>
            </a:pPr>
            <a:r>
              <a:rPr lang="en-US" sz="18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and operational efficiency.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7561170"/>
              </p:ext>
            </p:extLst>
          </p:nvPr>
        </p:nvGraphicFramePr>
        <p:xfrm>
          <a:off x="772345" y="2217650"/>
          <a:ext cx="5804662" cy="1564559"/>
        </p:xfrm>
        <a:graphic>
          <a:graphicData uri="http://schemas.openxmlformats.org/drawingml/2006/table">
            <a:tbl>
              <a:tblPr/>
              <a:tblGrid>
                <a:gridCol w="2696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941">
                <a:tc gridSpan="2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Sources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Sources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941">
                <a:tc>
                  <a:txBody>
                    <a:bodyPr/>
                    <a:lstStyle/>
                    <a:p>
                      <a:r>
                        <a:t> Senior Debt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{{CELL0568}}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539">
                <a:tc>
                  <a:txBody>
                    <a:bodyPr/>
                    <a:lstStyle/>
                    <a:p>
                      <a:r>
                        <a:t> Equity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{{CELL0569}}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138">
                <a:tc>
                  <a:txBody>
                    <a:bodyPr/>
                    <a:lstStyle/>
                    <a:p>
                      <a:r>
                        <a:t> Total Sources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{{CELL0570}}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2026941"/>
              </p:ext>
            </p:extLst>
          </p:nvPr>
        </p:nvGraphicFramePr>
        <p:xfrm>
          <a:off x="7303845" y="2217650"/>
          <a:ext cx="5804661" cy="1948755"/>
        </p:xfrm>
        <a:graphic>
          <a:graphicData uri="http://schemas.openxmlformats.org/drawingml/2006/table">
            <a:tbl>
              <a:tblPr/>
              <a:tblGrid>
                <a:gridCol w="2691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991">
                <a:tc gridSpan="2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Uses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Uses of Capital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991">
                <a:tc>
                  <a:txBody>
                    <a:bodyPr/>
                    <a:lstStyle/>
                    <a:p>
                      <a:r>
                        <a:t> Purchase Price 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{{CELL0571}}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991">
                <a:tc>
                  <a:txBody>
                    <a:bodyPr/>
                    <a:lstStyle/>
                    <a:p>
                      <a:r>
                        <a:t> Closing Costs 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{{CELL0572}}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591">
                <a:tc>
                  <a:txBody>
                    <a:bodyPr/>
                    <a:lstStyle/>
                    <a:p>
                      <a:r>
                        <a:t> Upfront CapEx 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{{CELL0573}}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191">
                <a:tc>
                  <a:txBody>
                    <a:bodyPr/>
                    <a:lstStyle/>
                    <a:p>
                      <a:r>
                        <a:t> Total Uses</a:t>
                      </a:r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56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/>
                        <a:t>{{CELL0574}} </a:t>
                      </a:r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56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607889"/>
              </p:ext>
            </p:extLst>
          </p:nvPr>
        </p:nvGraphicFramePr>
        <p:xfrm>
          <a:off x="772345" y="2095500"/>
          <a:ext cx="12072507" cy="3324644"/>
        </p:xfrm>
        <a:graphic>
          <a:graphicData uri="http://schemas.openxmlformats.org/drawingml/2006/table">
            <a:tbl>
              <a:tblPr/>
              <a:tblGrid>
                <a:gridCol w="314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588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Exit Assumptions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3-Year Hold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5-Year Hold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7-Year Hold</a:t>
                      </a:r>
                      <a:endParaRPr sz="2000" dirty="0">
                        <a:solidFill>
                          <a:schemeClr val="bg1"/>
                        </a:solidFill>
                        <a:latin typeface="Avenir Ultra-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r>
                        <a:rPr sz="2000">
                          <a:latin typeface="Avenir" panose="020B0604020202020204" charset="0"/>
                        </a:rPr>
                        <a:t> Exit Year NOI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{{CELL0578}}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{{CELL0579}}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Forward NOI (exit +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1 </a:t>
                      </a:r>
                      <a:r>
                        <a:rPr sz="2000" dirty="0">
                          <a:latin typeface="Avenir" panose="020B0604020202020204" charset="0"/>
                        </a:rPr>
                        <a:t>yr)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r>
                        <a:rPr sz="2000">
                          <a:latin typeface="Avenir" panose="020B0604020202020204" charset="0"/>
                        </a:rPr>
                        <a:t> Gross Sale Price / SF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{{CELL0585}} / {{CELL0586}}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{{CELL0587}} / {{CELL0588}}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{{CELL0589}} / {{CELL0590}}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>
                          <a:latin typeface="Avenir" panose="020B0604020202020204" charset="0"/>
                        </a:rPr>
                        <a:t> Disposition Costs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({{CELL0591}}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({{CELL0592}}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({{CELL0593}}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>
                          <a:latin typeface="Avenir Bold" panose="020B0604020202020204" charset="0"/>
                        </a:rPr>
                        <a:t> Net Sale Price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{{CELL0594}}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{{CELL0595}}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{{CELL0596}}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Loan Balance at Exit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{{CELL0597}}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{{CELL0598}}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{{CELL0599}}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r>
                        <a:rPr sz="2000">
                          <a:latin typeface="Avenir Bold" panose="020B0604020202020204" charset="0"/>
                        </a:rPr>
                        <a:t> Net Equity Proceeds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{{CELL0600}}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{{CELL0601}}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 Bold" panose="020B0604020202020204" charset="0"/>
                        </a:rPr>
                        <a:t>{{CELL0602}}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248950"/>
              </p:ext>
            </p:extLst>
          </p:nvPr>
        </p:nvGraphicFramePr>
        <p:xfrm>
          <a:off x="13617197" y="2090740"/>
          <a:ext cx="3898458" cy="3052760"/>
        </p:xfrm>
        <a:graphic>
          <a:graphicData uri="http://schemas.openxmlformats.org/drawingml/2006/table">
            <a:tbl>
              <a:tblPr/>
              <a:tblGrid>
                <a:gridCol w="2135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26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595">
                <a:tc gridSpan="2">
                  <a:txBody>
                    <a:bodyPr/>
                    <a:lstStyle/>
                    <a:p>
                      <a:pPr algn="ctr"/>
                      <a:r>
                        <a:rPr sz="2000" dirty="0">
                          <a:solidFill>
                            <a:schemeClr val="bg1"/>
                          </a:solidFill>
                          <a:latin typeface="Avenir Bold" panose="020B0604020202020204" charset="0"/>
                        </a:rPr>
                        <a:t>Returns by Hold Period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Returns by Hold Period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3</a:t>
                      </a:r>
                      <a:r>
                        <a:rPr sz="2000" dirty="0">
                          <a:latin typeface="Avenir" panose="020B0604020202020204" charset="0"/>
                        </a:rPr>
                        <a:t>-Year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{{CELL0604}}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5</a:t>
                      </a:r>
                      <a:r>
                        <a:rPr sz="2000" dirty="0">
                          <a:latin typeface="Avenir" panose="020B0604020202020204" charset="0"/>
                        </a:rPr>
                        <a:t>-Year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{{CELL0606}}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venir" panose="020B0604020202020204" charset="0"/>
                        </a:rPr>
                        <a:t>7-</a:t>
                      </a:r>
                      <a:r>
                        <a:rPr sz="2000" dirty="0">
                          <a:latin typeface="Avenir" panose="020B0604020202020204" charset="0"/>
                        </a:rPr>
                        <a:t>Year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{{CELL0608}}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595">
                <a:tc gridSpan="2"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Ultra-Bold" panose="020B0604020202020204" charset="0"/>
                        </a:rPr>
                        <a:t> Equity Multiple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Equity Multiple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Avenir" panose="020B0604020202020204" charset="0"/>
                        </a:rPr>
                        <a:t>3-Year</a:t>
                      </a:r>
                      <a:endParaRPr sz="2000"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{{CELL0610}}x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5-Year</a:t>
                      </a:r>
                      <a:endParaRPr sz="2000"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{{CELL0612}}x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 </a:t>
                      </a:r>
                      <a:r>
                        <a:rPr lang="en-US" sz="2000" dirty="0">
                          <a:latin typeface="Avenir" panose="020B0604020202020204" charset="0"/>
                        </a:rPr>
                        <a:t>7-Year</a:t>
                      </a:r>
                      <a:endParaRPr sz="2000"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latin typeface="Avenir" panose="020B0604020202020204" charset="0"/>
                        </a:rPr>
                        <a:t>{{CELL0614}}x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567123"/>
              </p:ext>
            </p:extLst>
          </p:nvPr>
        </p:nvGraphicFramePr>
        <p:xfrm>
          <a:off x="10289202" y="5829300"/>
          <a:ext cx="7226451" cy="4145966"/>
        </p:xfrm>
        <a:graphic>
          <a:graphicData uri="http://schemas.openxmlformats.org/drawingml/2006/table">
            <a:tbl>
              <a:tblPr/>
              <a:tblGrid>
                <a:gridCol w="2139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86963">
                <a:tc gridSpan="6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Interest Rate Sensitivity</a:t>
                      </a:r>
                    </a:p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" panose="020B0604020202020204" charset="0"/>
                        </a:rP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Interest Rate Sensitivity</a:t>
                      </a:r>
                    </a:p>
                    <a:p>
                      <a:r>
                        <a:t> 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963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Exit Cap / </a:t>
                      </a:r>
                    </a:p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All-In Rate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5.30%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5.80%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6.30%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6.80%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Avenir Bold" panose="020B0604020202020204" charset="0"/>
                        </a:rPr>
                        <a:t>7.30%</a:t>
                      </a:r>
                      <a:endParaRPr sz="2000" dirty="0">
                        <a:latin typeface="Avenir Bold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5.50%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{{CELL0629}}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{{CELL0639}}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{{CELL0640}}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{{CELL0643}}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{{CELL0645}}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{{CELL0648}}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{{CELL0649}}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590148"/>
              </p:ext>
            </p:extLst>
          </p:nvPr>
        </p:nvGraphicFramePr>
        <p:xfrm>
          <a:off x="772345" y="5600700"/>
          <a:ext cx="8744510" cy="4425156"/>
        </p:xfrm>
        <a:graphic>
          <a:graphicData uri="http://schemas.openxmlformats.org/drawingml/2006/table">
            <a:tbl>
              <a:tblPr/>
              <a:tblGrid>
                <a:gridCol w="1748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6662">
                <a:tc gridSpan="5">
                  <a:txBody>
                    <a:bodyPr/>
                    <a:lstStyle/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 Ultra-Bold" panose="020B0604020202020204" charset="0"/>
                        </a:rPr>
                        <a:t> Cap Rate Sensitivity</a:t>
                      </a:r>
                    </a:p>
                    <a:p>
                      <a:r>
                        <a:rPr sz="2000" dirty="0">
                          <a:solidFill>
                            <a:schemeClr val="bg1"/>
                          </a:solidFill>
                          <a:latin typeface="Avenir" panose="020B0604020202020204" charset="0"/>
                        </a:rPr>
                        <a:t> [Implied Value at Exit (Year {{CELL0650}}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{{CELL_0651}}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{{CELL_0652}}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{{CELL_0653}}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> Cap Rate Sensitivity</a:t>
                      </a:r>
                    </a:p>
                    <a:p>
                      <a:r>
                        <a:t> [Implied Value at Exit (Year {{CELL_0654}}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662"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Exit Rate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Net Proceeds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latin typeface="Avenir Bold" panose="020B0604020202020204" charset="0"/>
                        </a:rPr>
                        <a:t>Equity Proceeds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Equity Multiple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dirty="0">
                          <a:latin typeface="Avenir Bold" panose="020B0604020202020204" charset="0"/>
                        </a:rPr>
                        <a:t>Levered IRR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5.50%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{{CELL0659}}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5.75%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{{CELL0669}}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6.50%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{{CELL0679}}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7.50%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8.00%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{{CELL0686}}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{{CELL0687}}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{{CELL0688}}x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{{CELL0689}}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r>
                        <a:rPr lang="en-US" dirty="0">
                          <a:latin typeface="Avenir" panose="020B0604020202020204" charset="0"/>
                        </a:rPr>
                        <a:t>8.50%</a:t>
                      </a:r>
                      <a:endParaRPr dirty="0">
                        <a:latin typeface="Avenir" panose="020B0604020202020204" charset="0"/>
                      </a:endParaRP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{{CELL0691}}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{{CELL0692}}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{{CELL0693}}x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latin typeface="Avenir" panose="020B0604020202020204" charset="0"/>
                        </a:rPr>
                        <a:t>{{CELL0694}}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72345" y="1714500"/>
            <a:ext cx="5746677" cy="420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Hold Period Comparison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989742" y="5408930"/>
            <a:ext cx="2525911" cy="420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 dirty="0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Sensitivity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2345" y="479361"/>
            <a:ext cx="16743310" cy="148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123"/>
              </a:lnSpc>
            </a:pPr>
            <a:r>
              <a:rPr lang="en-US" sz="91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Exit Return 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2925</Words>
  <Application>Microsoft Office PowerPoint</Application>
  <PresentationFormat>Custom</PresentationFormat>
  <Paragraphs>962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Avenir Bold</vt:lpstr>
      <vt:lpstr>Avenir Bold Italics</vt:lpstr>
      <vt:lpstr>Avenir</vt:lpstr>
      <vt:lpstr>Avenir Ultra-Bold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STORE Acq &amp; Return Analysis_Street Address</dc:title>
  <cp:lastModifiedBy>Alex Burke</cp:lastModifiedBy>
  <cp:revision>144</cp:revision>
  <dcterms:created xsi:type="dcterms:W3CDTF">2006-08-16T00:00:00Z</dcterms:created>
  <dcterms:modified xsi:type="dcterms:W3CDTF">2026-04-02T18:38:58Z</dcterms:modified>
  <dc:identifier>DAHFD7JOwYk</dc:identifier>
</cp:coreProperties>
</file>