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8288000" cy="10287000"/>
  <p:notesSz cx="6858000" cy="9144000"/>
  <p:embeddedFontLst>
    <p:embeddedFont>
      <p:font typeface="Avenir" panose="020B0604020202020204" charset="0"/>
      <p:regular r:id="rId6"/>
    </p:embeddedFont>
    <p:embeddedFont>
      <p:font typeface="Avenir Bold" panose="020B0604020202020204" charset="0"/>
      <p:regular r:id="rId7"/>
      <p:bold r:id="rId8"/>
    </p:embeddedFont>
    <p:embeddedFont>
      <p:font typeface="Avenir Bold Italics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6652" autoAdjust="0"/>
  </p:normalViewPr>
  <p:slideViewPr>
    <p:cSldViewPr>
      <p:cViewPr>
        <p:scale>
          <a:sx n="75" d="100"/>
          <a:sy n="75" d="100"/>
        </p:scale>
        <p:origin x="474" y="2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CF41E3-3208-41AF-B0B6-8692D6A91E93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C1F5D2-53B6-4C4D-A051-22BAC3F6F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82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jpe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52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48402" y="0"/>
            <a:ext cx="13357974" cy="10287000"/>
            <a:chOff x="0" y="0"/>
            <a:chExt cx="17810632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810607" cy="13716000"/>
            </a:xfrm>
            <a:custGeom>
              <a:avLst/>
              <a:gdLst/>
              <a:ahLst/>
              <a:cxnLst/>
              <a:rect l="l" t="t" r="r" b="b"/>
              <a:pathLst>
                <a:path w="17810607" h="13716000">
                  <a:moveTo>
                    <a:pt x="0" y="0"/>
                  </a:moveTo>
                  <a:lnTo>
                    <a:pt x="17810607" y="0"/>
                  </a:lnTo>
                  <a:lnTo>
                    <a:pt x="17810607" y="13716000"/>
                  </a:lnTo>
                  <a:lnTo>
                    <a:pt x="0" y="13716000"/>
                  </a:lnTo>
                  <a:close/>
                </a:path>
              </a:pathLst>
            </a:custGeom>
            <a:blipFill>
              <a:blip r:embed="rId2">
                <a:alphaModFix amt="30000"/>
              </a:blip>
              <a:stretch>
                <a:fillRect l="-7757" r="-775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588131" y="4610100"/>
            <a:ext cx="16671169" cy="159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51"/>
              </a:lnSpc>
            </a:pPr>
            <a:r>
              <a:rPr lang="en-US" sz="13000" b="1" spc="-230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Property Analysis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588131" y="2832802"/>
            <a:ext cx="4522880" cy="1119054"/>
            <a:chOff x="0" y="0"/>
            <a:chExt cx="6030506" cy="149207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030468" cy="1492123"/>
            </a:xfrm>
            <a:custGeom>
              <a:avLst/>
              <a:gdLst/>
              <a:ahLst/>
              <a:cxnLst/>
              <a:rect l="l" t="t" r="r" b="b"/>
              <a:pathLst>
                <a:path w="6030468" h="1492123">
                  <a:moveTo>
                    <a:pt x="0" y="0"/>
                  </a:moveTo>
                  <a:lnTo>
                    <a:pt x="6030468" y="0"/>
                  </a:lnTo>
                  <a:lnTo>
                    <a:pt x="6030468" y="1492123"/>
                  </a:lnTo>
                  <a:lnTo>
                    <a:pt x="0" y="1492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77" b="-7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5789051" y="156162"/>
            <a:ext cx="11578101" cy="10130838"/>
            <a:chOff x="0" y="0"/>
            <a:chExt cx="812800" cy="7112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>
                <a:alpha val="69804"/>
              </a:srgbClr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3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588131" y="9105900"/>
            <a:ext cx="5909634" cy="343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83"/>
              </a:lnSpc>
            </a:pPr>
            <a:r>
              <a:rPr lang="en-US" sz="205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Confidential | {{PUBLISHMONTHYEAR}}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52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851536"/>
            <a:ext cx="18288000" cy="6204936"/>
            <a:chOff x="0" y="0"/>
            <a:chExt cx="2854277" cy="9684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54277" cy="968428"/>
            </a:xfrm>
            <a:custGeom>
              <a:avLst/>
              <a:gdLst/>
              <a:ahLst/>
              <a:cxnLst/>
              <a:rect l="l" t="t" r="r" b="b"/>
              <a:pathLst>
                <a:path w="2854277" h="968428">
                  <a:moveTo>
                    <a:pt x="0" y="0"/>
                  </a:moveTo>
                  <a:lnTo>
                    <a:pt x="2854277" y="0"/>
                  </a:lnTo>
                  <a:lnTo>
                    <a:pt x="2854277" y="968428"/>
                  </a:lnTo>
                  <a:lnTo>
                    <a:pt x="0" y="968428"/>
                  </a:lnTo>
                  <a:close/>
                </a:path>
              </a:pathLst>
            </a:custGeom>
            <a:solidFill>
              <a:srgbClr val="FFFFFF">
                <a:alpha val="9490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854277" cy="10255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3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72344" y="2320566"/>
            <a:ext cx="8601065" cy="5347506"/>
            <a:chOff x="0" y="0"/>
            <a:chExt cx="11468087" cy="713000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68100" cy="7130034"/>
            </a:xfrm>
            <a:custGeom>
              <a:avLst/>
              <a:gdLst/>
              <a:ahLst/>
              <a:cxnLst/>
              <a:rect l="l" t="t" r="r" b="b"/>
              <a:pathLst>
                <a:path w="11468100" h="7130034">
                  <a:moveTo>
                    <a:pt x="0" y="0"/>
                  </a:moveTo>
                  <a:lnTo>
                    <a:pt x="11468100" y="0"/>
                  </a:lnTo>
                  <a:lnTo>
                    <a:pt x="11468100" y="7130034"/>
                  </a:lnTo>
                  <a:lnTo>
                    <a:pt x="0" y="7130034"/>
                  </a:lnTo>
                  <a:close/>
                </a:path>
              </a:pathLst>
            </a:custGeom>
            <a:blipFill>
              <a:blip r:embed="rId2"/>
              <a:stretch>
                <a:fillRect t="-3643" b="-364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Freeform 7"/>
          <p:cNvSpPr/>
          <p:nvPr/>
        </p:nvSpPr>
        <p:spPr>
          <a:xfrm>
            <a:off x="960339" y="8033235"/>
            <a:ext cx="8225085" cy="1591027"/>
          </a:xfrm>
          <a:custGeom>
            <a:avLst/>
            <a:gdLst/>
            <a:ahLst/>
            <a:cxnLst/>
            <a:rect l="l" t="t" r="r" b="b"/>
            <a:pathLst>
              <a:path w="8225085" h="1591027">
                <a:moveTo>
                  <a:pt x="0" y="0"/>
                </a:moveTo>
                <a:lnTo>
                  <a:pt x="8225085" y="0"/>
                </a:lnTo>
                <a:lnTo>
                  <a:pt x="8225085" y="1591027"/>
                </a:lnTo>
                <a:lnTo>
                  <a:pt x="0" y="15910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581190"/>
              </p:ext>
            </p:extLst>
          </p:nvPr>
        </p:nvGraphicFramePr>
        <p:xfrm>
          <a:off x="10198100" y="7569885"/>
          <a:ext cx="7061200" cy="1993901"/>
        </p:xfrm>
        <a:graphic>
          <a:graphicData uri="http://schemas.openxmlformats.org/drawingml/2006/table">
            <a:tbl>
              <a:tblPr/>
              <a:tblGrid>
                <a:gridCol w="2332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5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37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8793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3-Year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{{3YIRR}}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{{3YMUL}}X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315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5-Year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{{5YIRR}}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{{5YMUL}}X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793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7-Year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{{7YIRR}}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{{7YMUL}}X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9"/>
          <p:cNvSpPr txBox="1"/>
          <p:nvPr/>
        </p:nvSpPr>
        <p:spPr>
          <a:xfrm>
            <a:off x="1273921" y="8443010"/>
            <a:ext cx="7538161" cy="151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6"/>
              </a:lnSpc>
            </a:pPr>
            <a:r>
              <a:rPr lang="en-US" sz="4820" b="1" dirty="0">
                <a:solidFill>
                  <a:srgbClr val="6F94CA"/>
                </a:solidFill>
                <a:latin typeface="Avenir Bold"/>
                <a:ea typeface="Avenir Bold"/>
                <a:cs typeface="Avenir Bold"/>
                <a:sym typeface="Avenir Bold"/>
              </a:rPr>
              <a:t>${{ASSETVALUE}} Asset Value Added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92340" y="7100506"/>
            <a:ext cx="5658069" cy="538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2291" b="1" i="1">
                <a:solidFill>
                  <a:srgbClr val="D7DFE5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Location: Primary Market in Carolinas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333168" y="6785515"/>
            <a:ext cx="7417613" cy="530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69"/>
              </a:lnSpc>
            </a:pPr>
            <a:r>
              <a:rPr lang="en-US" sz="2999" b="1" u="sng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Investment Return Profile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72344" y="374590"/>
            <a:ext cx="16743312" cy="1372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680"/>
              </a:lnSpc>
            </a:pPr>
            <a:r>
              <a:rPr lang="en-US" sz="96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Property overview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33168" y="2177739"/>
            <a:ext cx="7417613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69"/>
              </a:lnSpc>
            </a:pPr>
            <a:r>
              <a:rPr lang="en-US" sz="2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{{NOIPERCENT}}% NOI Increase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33168" y="2759535"/>
            <a:ext cx="7417613" cy="542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1"/>
              </a:lnSpc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Execution-led operational repositioning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33168" y="5283346"/>
            <a:ext cx="7417613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69"/>
              </a:lnSpc>
            </a:pPr>
            <a:r>
              <a:rPr lang="en-US" sz="2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{{EXPREDPERC}} Expense Reduction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333168" y="5880954"/>
            <a:ext cx="7417613" cy="542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1"/>
              </a:lnSpc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Fee optimization and disciplined cost controls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333168" y="3514477"/>
            <a:ext cx="7417613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69"/>
              </a:lnSpc>
            </a:pPr>
            <a:r>
              <a:rPr lang="en-US" sz="2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${{REVENUELIFT}}k+ Revenue Lift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333168" y="4093035"/>
            <a:ext cx="7417613" cy="971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1"/>
              </a:lnSpc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Dynamic pricing, tenant protection programs, and fee optimization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52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3193" y="2496017"/>
            <a:ext cx="1118090" cy="1114826"/>
          </a:xfrm>
          <a:custGeom>
            <a:avLst/>
            <a:gdLst/>
            <a:ahLst/>
            <a:cxnLst/>
            <a:rect l="l" t="t" r="r" b="b"/>
            <a:pathLst>
              <a:path w="1118090" h="1114826">
                <a:moveTo>
                  <a:pt x="0" y="0"/>
                </a:moveTo>
                <a:lnTo>
                  <a:pt x="1118091" y="0"/>
                </a:lnTo>
                <a:lnTo>
                  <a:pt x="1118091" y="1114825"/>
                </a:lnTo>
                <a:lnTo>
                  <a:pt x="0" y="11148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353" r="-35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443193" y="4318169"/>
            <a:ext cx="1118090" cy="928015"/>
          </a:xfrm>
          <a:custGeom>
            <a:avLst/>
            <a:gdLst/>
            <a:ahLst/>
            <a:cxnLst/>
            <a:rect l="l" t="t" r="r" b="b"/>
            <a:pathLst>
              <a:path w="1118090" h="928015">
                <a:moveTo>
                  <a:pt x="0" y="0"/>
                </a:moveTo>
                <a:lnTo>
                  <a:pt x="1118091" y="0"/>
                </a:lnTo>
                <a:lnTo>
                  <a:pt x="1118091" y="928015"/>
                </a:lnTo>
                <a:lnTo>
                  <a:pt x="0" y="92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01" b="-10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443193" y="7773068"/>
            <a:ext cx="1118090" cy="997896"/>
          </a:xfrm>
          <a:custGeom>
            <a:avLst/>
            <a:gdLst/>
            <a:ahLst/>
            <a:cxnLst/>
            <a:rect l="l" t="t" r="r" b="b"/>
            <a:pathLst>
              <a:path w="1118090" h="997896">
                <a:moveTo>
                  <a:pt x="0" y="0"/>
                </a:moveTo>
                <a:lnTo>
                  <a:pt x="1118091" y="0"/>
                </a:lnTo>
                <a:lnTo>
                  <a:pt x="1118091" y="997896"/>
                </a:lnTo>
                <a:lnTo>
                  <a:pt x="0" y="9978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79" r="-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443193" y="5950581"/>
            <a:ext cx="1118090" cy="1118090"/>
          </a:xfrm>
          <a:custGeom>
            <a:avLst/>
            <a:gdLst/>
            <a:ahLst/>
            <a:cxnLst/>
            <a:rect l="l" t="t" r="r" b="b"/>
            <a:pathLst>
              <a:path w="1118090" h="1118090">
                <a:moveTo>
                  <a:pt x="0" y="0"/>
                </a:moveTo>
                <a:lnTo>
                  <a:pt x="1118091" y="0"/>
                </a:lnTo>
                <a:lnTo>
                  <a:pt x="1118091" y="1118090"/>
                </a:lnTo>
                <a:lnTo>
                  <a:pt x="0" y="11180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796083" y="2486893"/>
            <a:ext cx="2922107" cy="916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23"/>
              </a:lnSpc>
            </a:pPr>
            <a:r>
              <a:rPr lang="en-US" sz="3521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{{OCCPER}}</a:t>
            </a:r>
          </a:p>
          <a:p>
            <a:pPr algn="ctr">
              <a:lnSpc>
                <a:spcPts val="2949"/>
              </a:lnSpc>
            </a:pPr>
            <a:r>
              <a:rPr lang="en-US" sz="2347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Occupancy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96083" y="4203945"/>
            <a:ext cx="2922107" cy="955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31"/>
              </a:lnSpc>
            </a:pPr>
            <a:r>
              <a:rPr lang="en-US" sz="3526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{{RENTSQFT}}</a:t>
            </a:r>
          </a:p>
          <a:p>
            <a:pPr algn="ctr">
              <a:lnSpc>
                <a:spcPts val="3285"/>
              </a:lnSpc>
            </a:pPr>
            <a:r>
              <a:rPr lang="en-US" sz="2346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Rentable </a:t>
            </a:r>
            <a:r>
              <a:rPr lang="en-US" sz="2346" b="1" dirty="0" err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SqFt</a:t>
            </a:r>
            <a:r>
              <a:rPr lang="en-US" sz="2346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96083" y="5943090"/>
            <a:ext cx="2922107" cy="916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23"/>
              </a:lnSpc>
            </a:pPr>
            <a:r>
              <a:rPr lang="en-US" sz="3521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{{UNITS}} </a:t>
            </a:r>
          </a:p>
          <a:p>
            <a:pPr algn="ctr">
              <a:lnSpc>
                <a:spcPts val="2949"/>
              </a:lnSpc>
            </a:pPr>
            <a:r>
              <a:rPr lang="en-US" sz="2347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Total Units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96083" y="7657145"/>
            <a:ext cx="2922107" cy="1480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23"/>
              </a:lnSpc>
            </a:pPr>
            <a:r>
              <a:rPr lang="en-US" sz="3521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{{RATING}} Rating</a:t>
            </a:r>
          </a:p>
          <a:p>
            <a:pPr algn="ctr">
              <a:lnSpc>
                <a:spcPts val="2949"/>
              </a:lnSpc>
            </a:pPr>
            <a:r>
              <a:rPr lang="en-US" sz="2347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{{REVIEWS}} Reviews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4870590" y="0"/>
            <a:ext cx="13417410" cy="10287000"/>
            <a:chOff x="0" y="0"/>
            <a:chExt cx="2094106" cy="160553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94106" cy="1605531"/>
            </a:xfrm>
            <a:custGeom>
              <a:avLst/>
              <a:gdLst/>
              <a:ahLst/>
              <a:cxnLst/>
              <a:rect l="l" t="t" r="r" b="b"/>
              <a:pathLst>
                <a:path w="2094106" h="1605531">
                  <a:moveTo>
                    <a:pt x="0" y="0"/>
                  </a:moveTo>
                  <a:lnTo>
                    <a:pt x="2094106" y="0"/>
                  </a:lnTo>
                  <a:lnTo>
                    <a:pt x="2094106" y="1605531"/>
                  </a:lnTo>
                  <a:lnTo>
                    <a:pt x="0" y="1605531"/>
                  </a:lnTo>
                  <a:close/>
                </a:path>
              </a:pathLst>
            </a:custGeom>
            <a:solidFill>
              <a:srgbClr val="FFFFFF">
                <a:alpha val="9490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2094106" cy="1662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3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883019" y="0"/>
            <a:ext cx="19308593" cy="1790700"/>
            <a:chOff x="0" y="0"/>
            <a:chExt cx="3013565" cy="27948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13565" cy="279481"/>
            </a:xfrm>
            <a:custGeom>
              <a:avLst/>
              <a:gdLst/>
              <a:ahLst/>
              <a:cxnLst/>
              <a:rect l="l" t="t" r="r" b="b"/>
              <a:pathLst>
                <a:path w="3013565" h="279481">
                  <a:moveTo>
                    <a:pt x="0" y="0"/>
                  </a:moveTo>
                  <a:lnTo>
                    <a:pt x="3013565" y="0"/>
                  </a:lnTo>
                  <a:lnTo>
                    <a:pt x="3013565" y="279481"/>
                  </a:lnTo>
                  <a:lnTo>
                    <a:pt x="0" y="279481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3013565" cy="3366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13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208246" y="7834227"/>
            <a:ext cx="11853010" cy="411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92"/>
              </a:lnSpc>
            </a:pPr>
            <a:r>
              <a:rPr lang="en-US" sz="2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{{SNAPSHOTDESCRIPTION}}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080849" y="1943100"/>
            <a:ext cx="8153400" cy="5435603"/>
            <a:chOff x="0" y="0"/>
            <a:chExt cx="10871200" cy="724747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871200" cy="7247509"/>
            </a:xfrm>
            <a:custGeom>
              <a:avLst/>
              <a:gdLst/>
              <a:ahLst/>
              <a:cxnLst/>
              <a:rect l="l" t="t" r="r" b="b"/>
              <a:pathLst>
                <a:path w="10871200" h="7247509">
                  <a:moveTo>
                    <a:pt x="0" y="0"/>
                  </a:moveTo>
                  <a:lnTo>
                    <a:pt x="10871200" y="0"/>
                  </a:lnTo>
                  <a:lnTo>
                    <a:pt x="10871200" y="7247509"/>
                  </a:lnTo>
                  <a:lnTo>
                    <a:pt x="0" y="7247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89937" y="194310"/>
            <a:ext cx="1636657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680"/>
              </a:lnSpc>
            </a:pPr>
            <a:r>
              <a:rPr lang="en-US" sz="96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 &amp; Property Snapshot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5370443" y="2419817"/>
            <a:ext cx="3372679" cy="2286000"/>
            <a:chOff x="0" y="0"/>
            <a:chExt cx="4496905" cy="3048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496943" cy="3048000"/>
            </a:xfrm>
            <a:custGeom>
              <a:avLst/>
              <a:gdLst/>
              <a:ahLst/>
              <a:cxnLst/>
              <a:rect l="l" t="t" r="r" b="b"/>
              <a:pathLst>
                <a:path w="4496943" h="3048000">
                  <a:moveTo>
                    <a:pt x="0" y="0"/>
                  </a:moveTo>
                  <a:lnTo>
                    <a:pt x="4496943" y="0"/>
                  </a:lnTo>
                  <a:lnTo>
                    <a:pt x="4496943" y="3048000"/>
                  </a:lnTo>
                  <a:lnTo>
                    <a:pt x="0" y="3048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125" r="-12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342277" y="4965906"/>
            <a:ext cx="3429000" cy="2286000"/>
            <a:chOff x="0" y="0"/>
            <a:chExt cx="4572000" cy="30480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572000" cy="3048000"/>
            </a:xfrm>
            <a:custGeom>
              <a:avLst/>
              <a:gdLst/>
              <a:ahLst/>
              <a:cxnLst/>
              <a:rect l="l" t="t" r="r" b="b"/>
              <a:pathLst>
                <a:path w="4572000" h="3048000">
                  <a:moveTo>
                    <a:pt x="0" y="0"/>
                  </a:moveTo>
                  <a:lnTo>
                    <a:pt x="4572000" y="0"/>
                  </a:lnTo>
                  <a:lnTo>
                    <a:pt x="4572000" y="3048000"/>
                  </a:lnTo>
                  <a:lnTo>
                    <a:pt x="0" y="3048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30" r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123</Words>
  <Application>Microsoft Office PowerPoint</Application>
  <PresentationFormat>Custom</PresentationFormat>
  <Paragraphs>31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Avenir</vt:lpstr>
      <vt:lpstr>Calibri</vt:lpstr>
      <vt:lpstr>Arial</vt:lpstr>
      <vt:lpstr>Avenir Bold Italics</vt:lpstr>
      <vt:lpstr>Avenir Bold</vt:lpstr>
      <vt:lpstr>Aptos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STORE Acq  Return Analysis_Carolinas (002).pptx</dc:title>
  <dc:creator>Ashley Reyes</dc:creator>
  <cp:lastModifiedBy>Alex Burke</cp:lastModifiedBy>
  <cp:revision>15</cp:revision>
  <dcterms:created xsi:type="dcterms:W3CDTF">2006-08-16T00:00:00Z</dcterms:created>
  <dcterms:modified xsi:type="dcterms:W3CDTF">2026-03-25T20:48:42Z</dcterms:modified>
  <dc:identifier>DAHEy43R5uY</dc:identifier>
</cp:coreProperties>
</file>