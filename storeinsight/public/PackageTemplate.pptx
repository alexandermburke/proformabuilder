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68" r:id="rId3"/>
    <p:sldId id="258" r:id="rId4"/>
    <p:sldId id="259" r:id="rId5"/>
    <p:sldId id="260" r:id="rId6"/>
    <p:sldId id="261" r:id="rId7"/>
    <p:sldId id="263" r:id="rId8"/>
    <p:sldId id="266" r:id="rId9"/>
  </p:sldIdLst>
  <p:sldSz cx="18288000" cy="10287000"/>
  <p:notesSz cx="6858000" cy="9144000"/>
  <p:embeddedFontLst>
    <p:embeddedFont>
      <p:font typeface="Avenir" panose="020B0604020202020204" charset="0"/>
      <p:regular r:id="rId10"/>
    </p:embeddedFont>
    <p:embeddedFont>
      <p:font typeface="Avenir Bold" panose="020B0604020202020204" charset="0"/>
      <p:regular r:id="rId11"/>
    </p:embeddedFont>
    <p:embeddedFont>
      <p:font typeface="Avenir Bold Italics" panose="020B0604020202020204" charset="0"/>
      <p:regular r:id="rId12"/>
    </p:embeddedFont>
    <p:embeddedFont>
      <p:font typeface="Avenir Italics" panose="020B0604020202020204" charset="0"/>
      <p:regular r:id="rId13"/>
    </p:embeddedFont>
    <p:embeddedFont>
      <p:font typeface="Avenir Ultra-Bold" panose="020B0604020202020204" charset="0"/>
      <p:regular r:id="rId14"/>
    </p:embeddedFont>
    <p:embeddedFont>
      <p:font typeface="Avenir Ultra-Bold Italics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C7041D-F970-1067-39C6-A9ABDE8211F9}" v="272" dt="2026-04-01T23:22:17.759"/>
    <p1510:client id="{C317D250-2A20-3E61-4926-CB387A192C4D}" v="5" dt="2026-04-01T22:59:18.1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rdynne Jarvis" userId="S::jordynne@storestorage.com::3d7c134f-c1fa-4785-8ccc-6b259f188725" providerId="AD" clId="Web-{C317D250-2A20-3E61-4926-CB387A192C4D}"/>
    <pc:docChg chg="modSld">
      <pc:chgData name="Jordynne Jarvis" userId="S::jordynne@storestorage.com::3d7c134f-c1fa-4785-8ccc-6b259f188725" providerId="AD" clId="Web-{C317D250-2A20-3E61-4926-CB387A192C4D}" dt="2026-04-01T22:59:18.155" v="4" actId="1076"/>
      <pc:docMkLst>
        <pc:docMk/>
      </pc:docMkLst>
      <pc:sldChg chg="modSp">
        <pc:chgData name="Jordynne Jarvis" userId="S::jordynne@storestorage.com::3d7c134f-c1fa-4785-8ccc-6b259f188725" providerId="AD" clId="Web-{C317D250-2A20-3E61-4926-CB387A192C4D}" dt="2026-04-01T22:59:18.155" v="4" actId="1076"/>
        <pc:sldMkLst>
          <pc:docMk/>
          <pc:sldMk cId="0" sldId="256"/>
        </pc:sldMkLst>
        <pc:spChg chg="mod">
          <ac:chgData name="Jordynne Jarvis" userId="S::jordynne@storestorage.com::3d7c134f-c1fa-4785-8ccc-6b259f188725" providerId="AD" clId="Web-{C317D250-2A20-3E61-4926-CB387A192C4D}" dt="2026-04-01T22:59:18.155" v="4" actId="1076"/>
          <ac:spMkLst>
            <pc:docMk/>
            <pc:sldMk cId="0" sldId="256"/>
            <ac:spMk id="6" creationId="{00000000-0000-0000-0000-000000000000}"/>
          </ac:spMkLst>
        </pc:spChg>
      </pc:sldChg>
    </pc:docChg>
  </pc:docChgLst>
  <pc:docChgLst>
    <pc:chgData name="Jordynne Jarvis" userId="S::jordynne@storestorage.com::3d7c134f-c1fa-4785-8ccc-6b259f188725" providerId="AD" clId="Web-{B9C7041D-F970-1067-39C6-A9ABDE8211F9}"/>
    <pc:docChg chg="addSld delSld modSld">
      <pc:chgData name="Jordynne Jarvis" userId="S::jordynne@storestorage.com::3d7c134f-c1fa-4785-8ccc-6b259f188725" providerId="AD" clId="Web-{B9C7041D-F970-1067-39C6-A9ABDE8211F9}" dt="2026-04-01T23:22:17.759" v="165" actId="1076"/>
      <pc:docMkLst>
        <pc:docMk/>
      </pc:docMkLst>
      <pc:sldChg chg="modSp">
        <pc:chgData name="Jordynne Jarvis" userId="S::jordynne@storestorage.com::3d7c134f-c1fa-4785-8ccc-6b259f188725" providerId="AD" clId="Web-{B9C7041D-F970-1067-39C6-A9ABDE8211F9}" dt="2026-04-01T23:18:01.813" v="109" actId="14100"/>
        <pc:sldMkLst>
          <pc:docMk/>
          <pc:sldMk cId="0" sldId="256"/>
        </pc:sldMkLst>
        <pc:spChg chg="mod">
          <ac:chgData name="Jordynne Jarvis" userId="S::jordynne@storestorage.com::3d7c134f-c1fa-4785-8ccc-6b259f188725" providerId="AD" clId="Web-{B9C7041D-F970-1067-39C6-A9ABDE8211F9}" dt="2026-04-01T23:17:32.387" v="108" actId="20577"/>
          <ac:spMkLst>
            <pc:docMk/>
            <pc:sldMk cId="0" sldId="256"/>
            <ac:spMk id="4" creationId="{00000000-0000-0000-0000-000000000000}"/>
          </ac:spMkLst>
        </pc:spChg>
        <pc:grpChg chg="mod">
          <ac:chgData name="Jordynne Jarvis" userId="S::jordynne@storestorage.com::3d7c134f-c1fa-4785-8ccc-6b259f188725" providerId="AD" clId="Web-{B9C7041D-F970-1067-39C6-A9ABDE8211F9}" dt="2026-04-01T23:18:01.813" v="109" actId="14100"/>
          <ac:grpSpMkLst>
            <pc:docMk/>
            <pc:sldMk cId="0" sldId="256"/>
            <ac:grpSpMk id="2" creationId="{00000000-0000-0000-0000-000000000000}"/>
          </ac:grpSpMkLst>
        </pc:grpChg>
      </pc:sldChg>
      <pc:sldChg chg="modSp del">
        <pc:chgData name="Jordynne Jarvis" userId="S::jordynne@storestorage.com::3d7c134f-c1fa-4785-8ccc-6b259f188725" providerId="AD" clId="Web-{B9C7041D-F970-1067-39C6-A9ABDE8211F9}" dt="2026-04-01T23:17:02.147" v="100"/>
        <pc:sldMkLst>
          <pc:docMk/>
          <pc:sldMk cId="0" sldId="257"/>
        </pc:sldMkLst>
        <pc:spChg chg="mod">
          <ac:chgData name="Jordynne Jarvis" userId="S::jordynne@storestorage.com::3d7c134f-c1fa-4785-8ccc-6b259f188725" providerId="AD" clId="Web-{B9C7041D-F970-1067-39C6-A9ABDE8211F9}" dt="2026-04-01T23:10:17.196" v="67" actId="20577"/>
          <ac:spMkLst>
            <pc:docMk/>
            <pc:sldMk cId="0" sldId="257"/>
            <ac:spMk id="8" creationId="{00000000-0000-0000-0000-000000000000}"/>
          </ac:spMkLst>
        </pc:spChg>
      </pc:sldChg>
      <pc:sldChg chg="addSp delSp modSp">
        <pc:chgData name="Jordynne Jarvis" userId="S::jordynne@storestorage.com::3d7c134f-c1fa-4785-8ccc-6b259f188725" providerId="AD" clId="Web-{B9C7041D-F970-1067-39C6-A9ABDE8211F9}" dt="2026-04-01T23:16:46.004" v="98"/>
        <pc:sldMkLst>
          <pc:docMk/>
          <pc:sldMk cId="0" sldId="258"/>
        </pc:sldMkLst>
        <pc:grpChg chg="del">
          <ac:chgData name="Jordynne Jarvis" userId="S::jordynne@storestorage.com::3d7c134f-c1fa-4785-8ccc-6b259f188725" providerId="AD" clId="Web-{B9C7041D-F970-1067-39C6-A9ABDE8211F9}" dt="2026-04-01T23:16:46.004" v="98"/>
          <ac:grpSpMkLst>
            <pc:docMk/>
            <pc:sldMk cId="0" sldId="258"/>
            <ac:grpSpMk id="11" creationId="{00000000-0000-0000-0000-000000000000}"/>
          </ac:grpSpMkLst>
        </pc:grpChg>
        <pc:picChg chg="add mod ord">
          <ac:chgData name="Jordynne Jarvis" userId="S::jordynne@storestorage.com::3d7c134f-c1fa-4785-8ccc-6b259f188725" providerId="AD" clId="Web-{B9C7041D-F970-1067-39C6-A9ABDE8211F9}" dt="2026-04-01T23:16:43.738" v="97"/>
          <ac:picMkLst>
            <pc:docMk/>
            <pc:sldMk cId="0" sldId="258"/>
            <ac:picMk id="20" creationId="{A8A37466-8157-44F8-C18C-8B39F53C69D3}"/>
          </ac:picMkLst>
        </pc:picChg>
      </pc:sldChg>
      <pc:sldChg chg="del">
        <pc:chgData name="Jordynne Jarvis" userId="S::jordynne@storestorage.com::3d7c134f-c1fa-4785-8ccc-6b259f188725" providerId="AD" clId="Web-{B9C7041D-F970-1067-39C6-A9ABDE8211F9}" dt="2026-04-01T23:00:23.255" v="0"/>
        <pc:sldMkLst>
          <pc:docMk/>
          <pc:sldMk cId="0" sldId="262"/>
        </pc:sldMkLst>
      </pc:sldChg>
      <pc:sldChg chg="modSp">
        <pc:chgData name="Jordynne Jarvis" userId="S::jordynne@storestorage.com::3d7c134f-c1fa-4785-8ccc-6b259f188725" providerId="AD" clId="Web-{B9C7041D-F970-1067-39C6-A9ABDE8211F9}" dt="2026-04-01T23:09:05.162" v="65"/>
        <pc:sldMkLst>
          <pc:docMk/>
          <pc:sldMk cId="0" sldId="263"/>
        </pc:sldMkLst>
        <pc:graphicFrameChg chg="mod modGraphic">
          <ac:chgData name="Jordynne Jarvis" userId="S::jordynne@storestorage.com::3d7c134f-c1fa-4785-8ccc-6b259f188725" providerId="AD" clId="Web-{B9C7041D-F970-1067-39C6-A9ABDE8211F9}" dt="2026-04-01T23:08:48.255" v="57"/>
          <ac:graphicFrameMkLst>
            <pc:docMk/>
            <pc:sldMk cId="0" sldId="263"/>
            <ac:graphicFrameMk id="2" creationId="{00000000-0000-0000-0000-000000000000}"/>
          </ac:graphicFrameMkLst>
        </pc:graphicFrameChg>
        <pc:graphicFrameChg chg="mod modGraphic">
          <ac:chgData name="Jordynne Jarvis" userId="S::jordynne@storestorage.com::3d7c134f-c1fa-4785-8ccc-6b259f188725" providerId="AD" clId="Web-{B9C7041D-F970-1067-39C6-A9ABDE8211F9}" dt="2026-04-01T23:09:05.162" v="65"/>
          <ac:graphicFrameMkLst>
            <pc:docMk/>
            <pc:sldMk cId="0" sldId="263"/>
            <ac:graphicFrameMk id="5" creationId="{00000000-0000-0000-0000-000000000000}"/>
          </ac:graphicFrameMkLst>
        </pc:graphicFrameChg>
      </pc:sldChg>
      <pc:sldChg chg="del">
        <pc:chgData name="Jordynne Jarvis" userId="S::jordynne@storestorage.com::3d7c134f-c1fa-4785-8ccc-6b259f188725" providerId="AD" clId="Web-{B9C7041D-F970-1067-39C6-A9ABDE8211F9}" dt="2026-04-01T23:02:29.790" v="4"/>
        <pc:sldMkLst>
          <pc:docMk/>
          <pc:sldMk cId="0" sldId="264"/>
        </pc:sldMkLst>
      </pc:sldChg>
      <pc:sldChg chg="new del">
        <pc:chgData name="Jordynne Jarvis" userId="S::jordynne@storestorage.com::3d7c134f-c1fa-4785-8ccc-6b259f188725" providerId="AD" clId="Web-{B9C7041D-F970-1067-39C6-A9ABDE8211F9}" dt="2026-04-01T23:02:21.976" v="3"/>
        <pc:sldMkLst>
          <pc:docMk/>
          <pc:sldMk cId="1407357635" sldId="265"/>
        </pc:sldMkLst>
      </pc:sldChg>
      <pc:sldChg chg="modSp add">
        <pc:chgData name="Jordynne Jarvis" userId="S::jordynne@storestorage.com::3d7c134f-c1fa-4785-8ccc-6b259f188725" providerId="AD" clId="Web-{B9C7041D-F970-1067-39C6-A9ABDE8211F9}" dt="2026-04-01T23:22:17.759" v="165" actId="1076"/>
        <pc:sldMkLst>
          <pc:docMk/>
          <pc:sldMk cId="1633077855" sldId="266"/>
        </pc:sldMkLst>
        <pc:spChg chg="mod">
          <ac:chgData name="Jordynne Jarvis" userId="S::jordynne@storestorage.com::3d7c134f-c1fa-4785-8ccc-6b259f188725" providerId="AD" clId="Web-{B9C7041D-F970-1067-39C6-A9ABDE8211F9}" dt="2026-04-01T23:22:17.759" v="165" actId="1076"/>
          <ac:spMkLst>
            <pc:docMk/>
            <pc:sldMk cId="1633077855" sldId="266"/>
            <ac:spMk id="5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21:56.742" v="161" actId="1076"/>
          <ac:spMkLst>
            <pc:docMk/>
            <pc:sldMk cId="1633077855" sldId="266"/>
            <ac:spMk id="24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21:56.929" v="162" actId="1076"/>
          <ac:spMkLst>
            <pc:docMk/>
            <pc:sldMk cId="1633077855" sldId="266"/>
            <ac:spMk id="25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07:09.641" v="39" actId="20577"/>
          <ac:spMkLst>
            <pc:docMk/>
            <pc:sldMk cId="1633077855" sldId="266"/>
            <ac:spMk id="28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06:36.686" v="25" actId="20577"/>
          <ac:spMkLst>
            <pc:docMk/>
            <pc:sldMk cId="1633077855" sldId="266"/>
            <ac:spMk id="29" creationId="{00000000-0000-0000-0000-000000000000}"/>
          </ac:spMkLst>
        </pc:spChg>
        <pc:spChg chg="mod">
          <ac:chgData name="Jordynne Jarvis" userId="S::jordynne@storestorage.com::3d7c134f-c1fa-4785-8ccc-6b259f188725" providerId="AD" clId="Web-{B9C7041D-F970-1067-39C6-A9ABDE8211F9}" dt="2026-04-01T23:21:08.848" v="156" actId="20577"/>
          <ac:spMkLst>
            <pc:docMk/>
            <pc:sldMk cId="1633077855" sldId="266"/>
            <ac:spMk id="30" creationId="{00000000-0000-0000-0000-000000000000}"/>
          </ac:spMkLst>
        </pc:spChg>
        <pc:graphicFrameChg chg="modGraphic">
          <ac:chgData name="Jordynne Jarvis" userId="S::jordynne@storestorage.com::3d7c134f-c1fa-4785-8ccc-6b259f188725" providerId="AD" clId="Web-{B9C7041D-F970-1067-39C6-A9ABDE8211F9}" dt="2026-04-01T23:06:14.388" v="17"/>
          <ac:graphicFrameMkLst>
            <pc:docMk/>
            <pc:sldMk cId="1633077855" sldId="266"/>
            <ac:graphicFrameMk id="8" creationId="{00000000-0000-0000-0000-000000000000}"/>
          </ac:graphicFrameMkLst>
        </pc:graphicFrameChg>
        <pc:graphicFrameChg chg="mod modGraphic">
          <ac:chgData name="Jordynne Jarvis" userId="S::jordynne@storestorage.com::3d7c134f-c1fa-4785-8ccc-6b259f188725" providerId="AD" clId="Web-{B9C7041D-F970-1067-39C6-A9ABDE8211F9}" dt="2026-04-01T23:07:49.018" v="41"/>
          <ac:graphicFrameMkLst>
            <pc:docMk/>
            <pc:sldMk cId="1633077855" sldId="266"/>
            <ac:graphicFrameMk id="9" creationId="{00000000-0000-0000-0000-000000000000}"/>
          </ac:graphicFrameMkLst>
        </pc:graphicFrameChg>
      </pc:sldChg>
      <pc:sldChg chg="addSp delSp modSp new del">
        <pc:chgData name="Jordynne Jarvis" userId="S::jordynne@storestorage.com::3d7c134f-c1fa-4785-8ccc-6b259f188725" providerId="AD" clId="Web-{B9C7041D-F970-1067-39C6-A9ABDE8211F9}" dt="2026-04-01T23:16:52.568" v="99"/>
        <pc:sldMkLst>
          <pc:docMk/>
          <pc:sldMk cId="1150689235" sldId="267"/>
        </pc:sldMkLst>
        <pc:spChg chg="add mod">
          <ac:chgData name="Jordynne Jarvis" userId="S::jordynne@storestorage.com::3d7c134f-c1fa-4785-8ccc-6b259f188725" providerId="AD" clId="Web-{B9C7041D-F970-1067-39C6-A9ABDE8211F9}" dt="2026-04-01T23:12:25.418" v="70" actId="1076"/>
          <ac:spMkLst>
            <pc:docMk/>
            <pc:sldMk cId="1150689235" sldId="267"/>
            <ac:spMk id="3" creationId="{8AB95A1B-8ECA-8092-CCAA-09902D47208D}"/>
          </ac:spMkLst>
        </pc:spChg>
        <pc:picChg chg="add mod">
          <ac:chgData name="Jordynne Jarvis" userId="S::jordynne@storestorage.com::3d7c134f-c1fa-4785-8ccc-6b259f188725" providerId="AD" clId="Web-{B9C7041D-F970-1067-39C6-A9ABDE8211F9}" dt="2026-04-01T23:13:28.420" v="76" actId="14100"/>
          <ac:picMkLst>
            <pc:docMk/>
            <pc:sldMk cId="1150689235" sldId="267"/>
            <ac:picMk id="4" creationId="{3A0ACDE2-4C6B-F3A5-04E3-8DD846DB302B}"/>
          </ac:picMkLst>
        </pc:picChg>
        <pc:picChg chg="add del mod">
          <ac:chgData name="Jordynne Jarvis" userId="S::jordynne@storestorage.com::3d7c134f-c1fa-4785-8ccc-6b259f188725" providerId="AD" clId="Web-{B9C7041D-F970-1067-39C6-A9ABDE8211F9}" dt="2026-04-01T23:12:35.043" v="73"/>
          <ac:picMkLst>
            <pc:docMk/>
            <pc:sldMk cId="1150689235" sldId="267"/>
            <ac:picMk id="5" creationId="{374F7F82-97B1-5B8A-659D-D0B21E62668C}"/>
          </ac:picMkLst>
        </pc:picChg>
        <pc:picChg chg="add mod">
          <ac:chgData name="Jordynne Jarvis" userId="S::jordynne@storestorage.com::3d7c134f-c1fa-4785-8ccc-6b259f188725" providerId="AD" clId="Web-{B9C7041D-F970-1067-39C6-A9ABDE8211F9}" dt="2026-04-01T23:13:31.138" v="77" actId="1076"/>
          <ac:picMkLst>
            <pc:docMk/>
            <pc:sldMk cId="1150689235" sldId="267"/>
            <ac:picMk id="6" creationId="{BC72D61A-114E-7714-9EDE-C00CF0D6A3B3}"/>
          </ac:picMkLst>
        </pc:picChg>
      </pc:sldChg>
      <pc:sldChg chg="addSp delSp modSp add replId">
        <pc:chgData name="Jordynne Jarvis" userId="S::jordynne@storestorage.com::3d7c134f-c1fa-4785-8ccc-6b259f188725" providerId="AD" clId="Web-{B9C7041D-F970-1067-39C6-A9ABDE8211F9}" dt="2026-04-01T23:15:47.727" v="92"/>
        <pc:sldMkLst>
          <pc:docMk/>
          <pc:sldMk cId="678713263" sldId="268"/>
        </pc:sldMkLst>
        <pc:grpChg chg="del">
          <ac:chgData name="Jordynne Jarvis" userId="S::jordynne@storestorage.com::3d7c134f-c1fa-4785-8ccc-6b259f188725" providerId="AD" clId="Web-{B9C7041D-F970-1067-39C6-A9ABDE8211F9}" dt="2026-04-01T23:15:47.727" v="92"/>
          <ac:grpSpMkLst>
            <pc:docMk/>
            <pc:sldMk cId="678713263" sldId="268"/>
            <ac:grpSpMk id="2" creationId="{EBD3BEED-5379-0C4C-79C2-90783EE5F794}"/>
          </ac:grpSpMkLst>
        </pc:grpChg>
        <pc:picChg chg="add mod ord modCrop">
          <ac:chgData name="Jordynne Jarvis" userId="S::jordynne@storestorage.com::3d7c134f-c1fa-4785-8ccc-6b259f188725" providerId="AD" clId="Web-{B9C7041D-F970-1067-39C6-A9ABDE8211F9}" dt="2026-04-01T23:15:42.976" v="91"/>
          <ac:picMkLst>
            <pc:docMk/>
            <pc:sldMk cId="678713263" sldId="268"/>
            <ac:picMk id="18" creationId="{75843334-D352-F96C-BEE4-9E321D0C292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52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348402" y="0"/>
            <a:ext cx="12948216" cy="10287000"/>
            <a:chOff x="0" y="0"/>
            <a:chExt cx="2069499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069499" cy="1593725"/>
            </a:xfrm>
            <a:custGeom>
              <a:avLst/>
              <a:gdLst/>
              <a:ahLst/>
              <a:cxnLst/>
              <a:rect l="l" t="t" r="r" b="b"/>
              <a:pathLst>
                <a:path w="2069499" h="1593725">
                  <a:moveTo>
                    <a:pt x="0" y="0"/>
                  </a:moveTo>
                  <a:lnTo>
                    <a:pt x="2069499" y="0"/>
                  </a:lnTo>
                  <a:lnTo>
                    <a:pt x="2069499" y="1593725"/>
                  </a:lnTo>
                  <a:lnTo>
                    <a:pt x="0" y="1593725"/>
                  </a:lnTo>
                  <a:close/>
                </a:path>
              </a:pathLst>
            </a:custGeom>
            <a:blipFill>
              <a:blip r:embed="rId2">
                <a:alphaModFix amt="30000"/>
              </a:blip>
              <a:stretch>
                <a:fillRect l="-3556" r="-12031"/>
              </a:stretch>
            </a:blipFill>
          </p:spPr>
        </p:sp>
      </p:grpSp>
      <p:sp>
        <p:nvSpPr>
          <p:cNvPr id="4" name="TextBox 4"/>
          <p:cNvSpPr txBox="1"/>
          <p:nvPr/>
        </p:nvSpPr>
        <p:spPr>
          <a:xfrm>
            <a:off x="588127" y="9182100"/>
            <a:ext cx="5909630" cy="343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883"/>
              </a:lnSpc>
            </a:pPr>
            <a:r>
              <a:rPr lang="en-US" sz="2050" b="1">
                <a:solidFill>
                  <a:srgbClr val="D7DFE5"/>
                </a:solidFill>
                <a:latin typeface="Avenir Bold"/>
                <a:ea typeface="Avenir Bold"/>
                <a:cs typeface="Avenir Bold"/>
                <a:sym typeface="Avenir Bold"/>
              </a:rPr>
              <a:t>Confidential | XXXX 26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88127" y="4057397"/>
            <a:ext cx="16671173" cy="182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351"/>
              </a:lnSpc>
            </a:pPr>
            <a:r>
              <a:rPr lang="en-US" sz="11543" b="1" spc="-230">
                <a:solidFill>
                  <a:srgbClr val="FFFFFF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Acquisition &amp;</a:t>
            </a:r>
          </a:p>
        </p:txBody>
      </p:sp>
      <p:sp>
        <p:nvSpPr>
          <p:cNvPr id="6" name="Freeform 6"/>
          <p:cNvSpPr/>
          <p:nvPr/>
        </p:nvSpPr>
        <p:spPr>
          <a:xfrm>
            <a:off x="588127" y="2718193"/>
            <a:ext cx="4522878" cy="1119051"/>
          </a:xfrm>
          <a:custGeom>
            <a:avLst/>
            <a:gdLst/>
            <a:ahLst/>
            <a:cxnLst/>
            <a:rect l="l" t="t" r="r" b="b"/>
            <a:pathLst>
              <a:path w="4522878" h="1119051">
                <a:moveTo>
                  <a:pt x="0" y="0"/>
                </a:moveTo>
                <a:lnTo>
                  <a:pt x="4522878" y="0"/>
                </a:lnTo>
                <a:lnTo>
                  <a:pt x="4522878" y="1119051"/>
                </a:lnTo>
                <a:lnTo>
                  <a:pt x="0" y="11190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588127" y="5644430"/>
            <a:ext cx="16671173" cy="18280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351"/>
              </a:lnSpc>
            </a:pPr>
            <a:r>
              <a:rPr lang="en-US" sz="11543" b="1" spc="-230">
                <a:solidFill>
                  <a:srgbClr val="FFFFFF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Return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596AB-0FB2-7267-6DDF-51C2F762E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close up of a rope&#10;&#10;AI-generated content may be incorrect.">
            <a:extLst>
              <a:ext uri="{FF2B5EF4-FFF2-40B4-BE49-F238E27FC236}">
                <a16:creationId xmlns:a16="http://schemas.microsoft.com/office/drawing/2014/main" id="{75843334-D352-F96C-BEE4-9E321D0C29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71"/>
          <a:stretch>
            <a:fillRect/>
          </a:stretch>
        </p:blipFill>
        <p:spPr>
          <a:xfrm>
            <a:off x="656137" y="2215140"/>
            <a:ext cx="8590102" cy="5582865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8C007857-D0AC-AFE2-EFCD-3E93F36665DB}"/>
              </a:ext>
            </a:extLst>
          </p:cNvPr>
          <p:cNvGrpSpPr/>
          <p:nvPr/>
        </p:nvGrpSpPr>
        <p:grpSpPr>
          <a:xfrm>
            <a:off x="842775" y="8395959"/>
            <a:ext cx="8225088" cy="1242468"/>
            <a:chOff x="0" y="0"/>
            <a:chExt cx="10966784" cy="1656623"/>
          </a:xfrm>
        </p:grpSpPr>
        <p:grpSp>
          <p:nvGrpSpPr>
            <p:cNvPr id="5" name="Group 5">
              <a:extLst>
                <a:ext uri="{FF2B5EF4-FFF2-40B4-BE49-F238E27FC236}">
                  <a16:creationId xmlns:a16="http://schemas.microsoft.com/office/drawing/2014/main" id="{054953EB-DD22-D36D-BB7E-E9DA2B46414D}"/>
                </a:ext>
              </a:extLst>
            </p:cNvPr>
            <p:cNvGrpSpPr/>
            <p:nvPr/>
          </p:nvGrpSpPr>
          <p:grpSpPr>
            <a:xfrm>
              <a:off x="0" y="0"/>
              <a:ext cx="10966784" cy="1656623"/>
              <a:chOff x="0" y="0"/>
              <a:chExt cx="2156583" cy="325770"/>
            </a:xfrm>
          </p:grpSpPr>
          <p:sp>
            <p:nvSpPr>
              <p:cNvPr id="6" name="Freeform 6">
                <a:extLst>
                  <a:ext uri="{FF2B5EF4-FFF2-40B4-BE49-F238E27FC236}">
                    <a16:creationId xmlns:a16="http://schemas.microsoft.com/office/drawing/2014/main" id="{0C56F3AD-FE87-ED0E-6593-0030AD5B4EEA}"/>
                  </a:ext>
                </a:extLst>
              </p:cNvPr>
              <p:cNvSpPr/>
              <p:nvPr/>
            </p:nvSpPr>
            <p:spPr>
              <a:xfrm>
                <a:off x="0" y="0"/>
                <a:ext cx="2156583" cy="325770"/>
              </a:xfrm>
              <a:custGeom>
                <a:avLst/>
                <a:gdLst/>
                <a:ahLst/>
                <a:cxnLst/>
                <a:rect l="l" t="t" r="r" b="b"/>
                <a:pathLst>
                  <a:path w="2156583" h="325770">
                    <a:moveTo>
                      <a:pt x="0" y="0"/>
                    </a:moveTo>
                    <a:lnTo>
                      <a:pt x="2156583" y="0"/>
                    </a:lnTo>
                    <a:lnTo>
                      <a:pt x="2156583" y="325770"/>
                    </a:lnTo>
                    <a:lnTo>
                      <a:pt x="0" y="325770"/>
                    </a:lnTo>
                    <a:close/>
                  </a:path>
                </a:pathLst>
              </a:custGeom>
              <a:solidFill>
                <a:srgbClr val="3B52A1"/>
              </a:solidFill>
            </p:spPr>
          </p:sp>
          <p:sp>
            <p:nvSpPr>
              <p:cNvPr id="7" name="TextBox 7">
                <a:extLst>
                  <a:ext uri="{FF2B5EF4-FFF2-40B4-BE49-F238E27FC236}">
                    <a16:creationId xmlns:a16="http://schemas.microsoft.com/office/drawing/2014/main" id="{1540A0D0-AD14-3425-DFB3-D646C7B45898}"/>
                  </a:ext>
                </a:extLst>
              </p:cNvPr>
              <p:cNvSpPr txBox="1"/>
              <p:nvPr/>
            </p:nvSpPr>
            <p:spPr>
              <a:xfrm>
                <a:off x="0" y="-85725"/>
                <a:ext cx="2156583" cy="411495"/>
              </a:xfrm>
              <a:prstGeom prst="rect">
                <a:avLst/>
              </a:prstGeom>
            </p:spPr>
            <p:txBody>
              <a:bodyPr lIns="52902" tIns="52902" rIns="52902" bIns="52902" rtlCol="0" anchor="ctr"/>
              <a:lstStyle/>
              <a:p>
                <a:pPr algn="ctr">
                  <a:lnSpc>
                    <a:spcPts val="3079"/>
                  </a:lnSpc>
                </a:pPr>
                <a:endParaRPr/>
              </a:p>
            </p:txBody>
          </p:sp>
        </p:grp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92C9D7C3-90AD-872D-43B4-BFD55B2BF092}"/>
                </a:ext>
              </a:extLst>
            </p:cNvPr>
            <p:cNvSpPr txBox="1"/>
            <p:nvPr/>
          </p:nvSpPr>
          <p:spPr>
            <a:xfrm>
              <a:off x="418113" y="275535"/>
              <a:ext cx="10050884" cy="95273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5905"/>
                </a:lnSpc>
                <a:spcBef>
                  <a:spcPct val="0"/>
                </a:spcBef>
              </a:pPr>
              <a:r>
                <a:rPr lang="en-US" sz="4700" b="1">
                  <a:solidFill>
                    <a:srgbClr val="FFFFFF"/>
                  </a:solidFill>
                  <a:latin typeface="Avenir Ultra-Bold"/>
                  <a:ea typeface="Avenir Ultra-Bold"/>
                  <a:cs typeface="Avenir Ultra-Bold"/>
                  <a:sym typeface="Avenir Ultra-Bold"/>
                </a:rPr>
                <a:t>$X.XM Asset </a:t>
              </a:r>
              <a:r>
                <a:rPr lang="en-US" sz="4400" b="1">
                  <a:solidFill>
                    <a:srgbClr val="FFFFFF"/>
                  </a:solidFill>
                  <a:latin typeface="Avenir Ultra-Bold"/>
                  <a:ea typeface="Avenir Ultra-Bold"/>
                  <a:cs typeface="Avenir Ultra-Bold"/>
                  <a:sym typeface="Avenir Ultra-Bold"/>
                </a:rPr>
                <a:t>Value</a:t>
              </a:r>
              <a:r>
                <a:rPr lang="en-US" sz="4700" b="1">
                  <a:solidFill>
                    <a:srgbClr val="FFFFFF"/>
                  </a:solidFill>
                  <a:latin typeface="Avenir Ultra-Bold"/>
                  <a:ea typeface="Avenir Ultra-Bold"/>
                  <a:cs typeface="Avenir Ultra-Bold"/>
                  <a:sym typeface="Avenir Ultra-Bold"/>
                </a:rPr>
                <a:t> Added</a:t>
              </a:r>
            </a:p>
          </p:txBody>
        </p:sp>
      </p:grp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F0013B94-B7F6-469B-1CBF-A608CB99DF40}"/>
              </a:ext>
            </a:extLst>
          </p:cNvPr>
          <p:cNvGraphicFramePr>
            <a:graphicFrameLocks noGrp="1"/>
          </p:cNvGraphicFramePr>
          <p:nvPr/>
        </p:nvGraphicFramePr>
        <p:xfrm>
          <a:off x="10215604" y="6986174"/>
          <a:ext cx="7182492" cy="2652254"/>
        </p:xfrm>
        <a:graphic>
          <a:graphicData uri="http://schemas.openxmlformats.org/drawingml/2006/table">
            <a:tbl>
              <a:tblPr/>
              <a:tblGrid>
                <a:gridCol w="27833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90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1140">
                <a:tc gridSpan="3"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Investment Return Profile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Investment Return Profile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Investment Return Profile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1140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3-Year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IRR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8834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5-Year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7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IRR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1140"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7-Year Hold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779"/>
                        </a:lnSpc>
                        <a:defRPr/>
                      </a:pPr>
                      <a:r>
                        <a:rPr lang="en-US" sz="27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IRR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50"/>
                        </a:lnSpc>
                        <a:defRPr/>
                      </a:pPr>
                      <a:r>
                        <a:rPr lang="en-US" sz="27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x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10">
            <a:extLst>
              <a:ext uri="{FF2B5EF4-FFF2-40B4-BE49-F238E27FC236}">
                <a16:creationId xmlns:a16="http://schemas.microsoft.com/office/drawing/2014/main" id="{1633D5B9-183C-CBEA-8F3A-A5BD149DAF63}"/>
              </a:ext>
            </a:extLst>
          </p:cNvPr>
          <p:cNvSpPr txBox="1"/>
          <p:nvPr/>
        </p:nvSpPr>
        <p:spPr>
          <a:xfrm>
            <a:off x="654785" y="468526"/>
            <a:ext cx="16743310" cy="156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680"/>
              </a:lnSpc>
            </a:pPr>
            <a:r>
              <a:rPr lang="en-US" sz="96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Value Creation Summary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77346F19-56B3-1CDA-8B54-0F8ECEE820C3}"/>
              </a:ext>
            </a:extLst>
          </p:cNvPr>
          <p:cNvSpPr txBox="1"/>
          <p:nvPr/>
        </p:nvSpPr>
        <p:spPr>
          <a:xfrm>
            <a:off x="10215604" y="2381169"/>
            <a:ext cx="7417611" cy="530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  <a:spcBef>
                <a:spcPct val="0"/>
              </a:spcBef>
            </a:pPr>
            <a:r>
              <a:rPr lang="en-US" sz="2999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% </a:t>
            </a:r>
            <a:r>
              <a:rPr lang="en-US" sz="2999" b="1" strike="noStrike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NOI Increase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7E6F2226-0806-FB22-60C8-239BD424EFD7}"/>
              </a:ext>
            </a:extLst>
          </p:cNvPr>
          <p:cNvSpPr txBox="1"/>
          <p:nvPr/>
        </p:nvSpPr>
        <p:spPr>
          <a:xfrm>
            <a:off x="10215604" y="2953444"/>
            <a:ext cx="7417611" cy="47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2"/>
              </a:lnSpc>
              <a:spcBef>
                <a:spcPct val="0"/>
              </a:spcBef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Ex</a:t>
            </a:r>
            <a:r>
              <a:rPr lang="en-US" sz="2699" u="none" strike="noStrike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ecution-led operational repositioning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A5DBE2A1-0FA6-3ECC-2A7F-B215BAE2C7DF}"/>
              </a:ext>
            </a:extLst>
          </p:cNvPr>
          <p:cNvSpPr txBox="1"/>
          <p:nvPr/>
        </p:nvSpPr>
        <p:spPr>
          <a:xfrm>
            <a:off x="10215604" y="5497315"/>
            <a:ext cx="7417611" cy="530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  <a:spcBef>
                <a:spcPct val="0"/>
              </a:spcBef>
            </a:pPr>
            <a:r>
              <a:rPr lang="en-US" sz="2999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% Expense Reduction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139DBEC-3150-B544-EA88-BAA2B6246890}"/>
              </a:ext>
            </a:extLst>
          </p:cNvPr>
          <p:cNvSpPr txBox="1"/>
          <p:nvPr/>
        </p:nvSpPr>
        <p:spPr>
          <a:xfrm>
            <a:off x="10215604" y="6066350"/>
            <a:ext cx="7417611" cy="47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2"/>
              </a:lnSpc>
              <a:spcBef>
                <a:spcPct val="0"/>
              </a:spcBef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</a:t>
            </a:r>
            <a:r>
              <a:rPr lang="en-US" sz="2699" u="none" strike="noStrike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ee optimization and disciplined cost controls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F8DCEA6C-3227-49B2-C39A-9C5E37FAF6F8}"/>
              </a:ext>
            </a:extLst>
          </p:cNvPr>
          <p:cNvSpPr txBox="1"/>
          <p:nvPr/>
        </p:nvSpPr>
        <p:spPr>
          <a:xfrm>
            <a:off x="10215604" y="3728443"/>
            <a:ext cx="7417611" cy="530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69"/>
              </a:lnSpc>
              <a:spcBef>
                <a:spcPct val="0"/>
              </a:spcBef>
            </a:pPr>
            <a:r>
              <a:rPr lang="en-US" sz="2999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$K+ Revenue Lift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CEF44437-D634-F4BA-EA7B-322EABB42C58}"/>
              </a:ext>
            </a:extLst>
          </p:cNvPr>
          <p:cNvSpPr txBox="1"/>
          <p:nvPr/>
        </p:nvSpPr>
        <p:spPr>
          <a:xfrm>
            <a:off x="10215604" y="4297478"/>
            <a:ext cx="7417611" cy="904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92"/>
              </a:lnSpc>
              <a:spcBef>
                <a:spcPct val="0"/>
              </a:spcBef>
            </a:pPr>
            <a:r>
              <a:rPr lang="en-US" sz="26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Dynamic pricing, tenant protection programs, and fee optimization</a:t>
            </a:r>
          </a:p>
        </p:txBody>
      </p:sp>
    </p:spTree>
    <p:extLst>
      <p:ext uri="{BB962C8B-B14F-4D97-AF65-F5344CB8AC3E}">
        <p14:creationId xmlns:p14="http://schemas.microsoft.com/office/powerpoint/2010/main" val="678713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bridge over water with a city in the background&#10;&#10;AI-generated content may be incorrect.">
            <a:extLst>
              <a:ext uri="{FF2B5EF4-FFF2-40B4-BE49-F238E27FC236}">
                <a16:creationId xmlns:a16="http://schemas.microsoft.com/office/drawing/2014/main" id="{A8A37466-8157-44F8-C18C-8B39F53C6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076" y="2221302"/>
            <a:ext cx="12242243" cy="5364125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1028700" y="2217650"/>
            <a:ext cx="3641864" cy="5345614"/>
            <a:chOff x="0" y="0"/>
            <a:chExt cx="4855818" cy="712748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70000" cy="1266292"/>
            </a:xfrm>
            <a:custGeom>
              <a:avLst/>
              <a:gdLst/>
              <a:ahLst/>
              <a:cxnLst/>
              <a:rect l="l" t="t" r="r" b="b"/>
              <a:pathLst>
                <a:path w="1270000" h="1266292">
                  <a:moveTo>
                    <a:pt x="0" y="0"/>
                  </a:moveTo>
                  <a:lnTo>
                    <a:pt x="1270000" y="0"/>
                  </a:lnTo>
                  <a:lnTo>
                    <a:pt x="1270000" y="1266292"/>
                  </a:lnTo>
                  <a:lnTo>
                    <a:pt x="0" y="1266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t="-146" b="-146"/>
              </a:stretch>
            </a:blipFill>
          </p:spPr>
        </p:sp>
        <p:sp>
          <p:nvSpPr>
            <p:cNvPr id="4" name="Freeform 4"/>
            <p:cNvSpPr/>
            <p:nvPr/>
          </p:nvSpPr>
          <p:spPr>
            <a:xfrm>
              <a:off x="0" y="2069711"/>
              <a:ext cx="1270000" cy="1054100"/>
            </a:xfrm>
            <a:custGeom>
              <a:avLst/>
              <a:gdLst/>
              <a:ahLst/>
              <a:cxnLst/>
              <a:rect l="l" t="t" r="r" b="b"/>
              <a:pathLst>
                <a:path w="1270000" h="1054100">
                  <a:moveTo>
                    <a:pt x="0" y="0"/>
                  </a:moveTo>
                  <a:lnTo>
                    <a:pt x="1270000" y="0"/>
                  </a:lnTo>
                  <a:lnTo>
                    <a:pt x="1270000" y="1054100"/>
                  </a:lnTo>
                  <a:lnTo>
                    <a:pt x="0" y="1054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t="-602" b="-602"/>
              </a:stretch>
            </a:blipFill>
          </p:spPr>
        </p:sp>
        <p:sp>
          <p:nvSpPr>
            <p:cNvPr id="5" name="Freeform 5"/>
            <p:cNvSpPr/>
            <p:nvPr/>
          </p:nvSpPr>
          <p:spPr>
            <a:xfrm>
              <a:off x="0" y="5994011"/>
              <a:ext cx="1270000" cy="1133475"/>
            </a:xfrm>
            <a:custGeom>
              <a:avLst/>
              <a:gdLst/>
              <a:ahLst/>
              <a:cxnLst/>
              <a:rect l="l" t="t" r="r" b="b"/>
              <a:pathLst>
                <a:path w="1270000" h="1133475">
                  <a:moveTo>
                    <a:pt x="0" y="0"/>
                  </a:moveTo>
                  <a:lnTo>
                    <a:pt x="1270000" y="0"/>
                  </a:lnTo>
                  <a:lnTo>
                    <a:pt x="1270000" y="1133475"/>
                  </a:lnTo>
                  <a:lnTo>
                    <a:pt x="0" y="11334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79" r="-79"/>
              </a:stretch>
            </a:blipFill>
          </p:spPr>
        </p:sp>
        <p:sp>
          <p:nvSpPr>
            <p:cNvPr id="6" name="Freeform 6"/>
            <p:cNvSpPr/>
            <p:nvPr/>
          </p:nvSpPr>
          <p:spPr>
            <a:xfrm>
              <a:off x="0" y="3923911"/>
              <a:ext cx="1270000" cy="1270000"/>
            </a:xfrm>
            <a:custGeom>
              <a:avLst/>
              <a:gdLst/>
              <a:ahLst/>
              <a:cxnLst/>
              <a:rect l="l" t="t" r="r" b="b"/>
              <a:pathLst>
                <a:path w="1270000" h="1270000">
                  <a:moveTo>
                    <a:pt x="0" y="0"/>
                  </a:moveTo>
                  <a:lnTo>
                    <a:pt x="1270000" y="0"/>
                  </a:lnTo>
                  <a:lnTo>
                    <a:pt x="1270000" y="1270000"/>
                  </a:lnTo>
                  <a:lnTo>
                    <a:pt x="0" y="1270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TextBox 7"/>
            <p:cNvSpPr txBox="1"/>
            <p:nvPr/>
          </p:nvSpPr>
          <p:spPr>
            <a:xfrm>
              <a:off x="1536700" y="97829"/>
              <a:ext cx="3319118" cy="1106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68"/>
                </a:lnSpc>
              </a:pPr>
              <a:r>
                <a:rPr lang="en-US" sz="3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XX%</a:t>
              </a:r>
            </a:p>
            <a:p>
              <a:pPr algn="ctr">
                <a:lnSpc>
                  <a:spcPts val="2513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536700" y="2048163"/>
              <a:ext cx="3319118" cy="1132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75"/>
                </a:lnSpc>
              </a:pPr>
              <a:r>
                <a:rPr lang="en-US" sz="3004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X,XXX</a:t>
              </a:r>
            </a:p>
            <a:p>
              <a:pPr algn="ctr">
                <a:lnSpc>
                  <a:spcPts val="2799"/>
                </a:lnSpc>
              </a:pPr>
              <a:r>
                <a:rPr lang="en-US" sz="1999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 Rentable SqFt 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536700" y="4023594"/>
              <a:ext cx="3319118" cy="1106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68"/>
                </a:lnSpc>
              </a:pPr>
              <a:r>
                <a:rPr lang="en-US" sz="3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XXX</a:t>
              </a:r>
            </a:p>
            <a:p>
              <a:pPr algn="ctr">
                <a:lnSpc>
                  <a:spcPts val="2513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Total Units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36700" y="5970528"/>
              <a:ext cx="3319118" cy="11064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768"/>
                </a:lnSpc>
              </a:pPr>
              <a:r>
                <a:rPr lang="en-US" sz="3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X.X Rating</a:t>
              </a:r>
            </a:p>
            <a:p>
              <a:pPr algn="ctr">
                <a:lnSpc>
                  <a:spcPts val="2513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XX Reviews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772345" y="7941984"/>
            <a:ext cx="16743310" cy="2109863"/>
            <a:chOff x="0" y="0"/>
            <a:chExt cx="22324414" cy="2813150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22324414" cy="2813150"/>
              <a:chOff x="0" y="0"/>
              <a:chExt cx="2710431" cy="341548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2710431" cy="341548"/>
              </a:xfrm>
              <a:custGeom>
                <a:avLst/>
                <a:gdLst/>
                <a:ahLst/>
                <a:cxnLst/>
                <a:rect l="l" t="t" r="r" b="b"/>
                <a:pathLst>
                  <a:path w="2710431" h="341548">
                    <a:moveTo>
                      <a:pt x="0" y="0"/>
                    </a:moveTo>
                    <a:lnTo>
                      <a:pt x="2710431" y="0"/>
                    </a:lnTo>
                    <a:lnTo>
                      <a:pt x="2710431" y="341548"/>
                    </a:lnTo>
                    <a:lnTo>
                      <a:pt x="0" y="341548"/>
                    </a:lnTo>
                    <a:close/>
                  </a:path>
                </a:pathLst>
              </a:custGeom>
              <a:solidFill>
                <a:srgbClr val="3B52A1"/>
              </a:solidFill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0" y="-85725"/>
                <a:ext cx="2710431" cy="427273"/>
              </a:xfrm>
              <a:prstGeom prst="rect">
                <a:avLst/>
              </a:prstGeom>
            </p:spPr>
            <p:txBody>
              <a:bodyPr lIns="107689" tIns="107689" rIns="107689" bIns="107689" rtlCol="0" anchor="ctr"/>
              <a:lstStyle/>
              <a:p>
                <a:pPr algn="ctr">
                  <a:lnSpc>
                    <a:spcPts val="3080"/>
                  </a:lnSpc>
                </a:pPr>
                <a:endParaRPr/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605864" y="311158"/>
              <a:ext cx="21112685" cy="21336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12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The subject property is a well-positioned asset in a [high-growth / supply-constrained / infill / stabilized] submarket, benefiting from [strong demand drivers — population growth, limited new supply, proximity to retail/employment, etc.].</a:t>
              </a:r>
            </a:p>
            <a:p>
              <a:pPr algn="l">
                <a:lnSpc>
                  <a:spcPts val="2512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marL="0" lvl="0" indent="0" algn="l">
                <a:lnSpc>
                  <a:spcPts val="2512"/>
                </a:lnSpc>
                <a:spcBef>
                  <a:spcPct val="0"/>
                </a:spcBef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STORE Management’s execution is focused on [2–3 key levers — rate optimization, lease-up, tenant protection adoption, expense discipline], positioning the asset to enhance revenue quality, improve operational efficiency, and drive sustained NOI growth.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772345" y="454756"/>
            <a:ext cx="16743310" cy="156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680"/>
              </a:lnSpc>
            </a:pPr>
            <a:r>
              <a:rPr lang="en-US" sz="96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Market &amp; Property Snapshot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195425" y="2310151"/>
          <a:ext cx="17897151" cy="4914902"/>
        </p:xfrm>
        <a:graphic>
          <a:graphicData uri="http://schemas.openxmlformats.org/drawingml/2006/table">
            <a:tbl>
              <a:tblPr/>
              <a:tblGrid>
                <a:gridCol w="24771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8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66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7416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0291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23103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90658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553523"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INCOME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T-12 AVG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T-12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APR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MAY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JUN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JUL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AUG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SEP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OCT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NOV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DEC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JAN 2027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FEB 2027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MAR 2027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STORE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CURRENT </a:t>
                      </a:r>
                      <a:endParaRPr lang="en-US" sz="1100"/>
                    </a:p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MANAGEMENT</a:t>
                      </a:r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IMPACT TO N.O.I.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Rental Income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$62,854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$754,243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$70,502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$71,320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$72,147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$72,983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$73,828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$74,682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$75,545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$76,417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$77,298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$78,189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$79,089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$79,999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$902,000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$939,261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$ (37,262)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 i="1">
                          <a:solidFill>
                            <a:srgbClr val="000000"/>
                          </a:solidFill>
                          <a:latin typeface="Avenir Bold Italics"/>
                          <a:ea typeface="Avenir Bold Italics"/>
                          <a:cs typeface="Avenir Bold Italics"/>
                          <a:sym typeface="Avenir Bold Italics"/>
                        </a:rPr>
                        <a:t>STORE Rate Management Revenue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$3,649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$7,341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$11,075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$12,586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$14,114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$15,660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$17,224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$18,805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$20,405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$120,858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$120,858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Discounts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(4,916)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(4,616)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(4,655)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(4,693)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(4,733)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(4,772)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(4,812)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(4,852)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(4,892)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(4,933)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(4,974)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(5,016)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(57,863)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(57,863)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Net Rental Income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$62,854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$754,243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$65,586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$66,704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$67,493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$71,939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$76,436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$80,984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$83,318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$85,679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$88,066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$90,480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$92,921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$95,389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$964,994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$881,398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$83,596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Admin Fee Income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$1,570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$18,844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$1,160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$13,920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$13,920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Late Fee Income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$1,570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$18,844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$1,758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$1,723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$1,689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$1,655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$1,622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$1,589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$1,557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$1,526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$1,496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$1,466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$1,437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$1,408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$18,925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$18,925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 i="1">
                          <a:solidFill>
                            <a:srgbClr val="000000"/>
                          </a:solidFill>
                          <a:latin typeface="Avenir Ultra-Bold Italics"/>
                          <a:ea typeface="Avenir Ultra-Bold Italics"/>
                          <a:cs typeface="Avenir Ultra-Bold Italics"/>
                          <a:sym typeface="Avenir Ultra-Bold Italics"/>
                        </a:rPr>
                        <a:t>Current Tenant Protection Split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$3,609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$43,308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$3,721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$3,729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$3,736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$3,744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$3,751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$3,759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$3,766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$3,774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$3,781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$3,789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$3,797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$3,804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$45,152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 i="1">
                          <a:solidFill>
                            <a:srgbClr val="000000"/>
                          </a:solidFill>
                          <a:latin typeface="Avenir Ultra-Bold Italics"/>
                          <a:ea typeface="Avenir Ultra-Bold Italics"/>
                          <a:cs typeface="Avenir Ultra-Bold Italics"/>
                          <a:sym typeface="Avenir Ultra-Bold Italics"/>
                        </a:rPr>
                        <a:t>STORE Tenant Protection Split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$3,819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$3,955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$4,092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$4,230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$4,368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$4,507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$4,647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$4,788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$4,930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$5,072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$5,088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i="1">
                          <a:solidFill>
                            <a:srgbClr val="000000"/>
                          </a:solidFill>
                          <a:latin typeface="Avenir Italics"/>
                          <a:ea typeface="Avenir Italics"/>
                          <a:cs typeface="Avenir Italics"/>
                          <a:sym typeface="Avenir Italics"/>
                        </a:rPr>
                        <a:t>$5,104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$54,600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$9,448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Tenant Income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2653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Retail Sales Income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$789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$9,470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$744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$745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$747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$748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$751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$753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$760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$9,026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$9,026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2196"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Total Operating Income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$70,392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$844,708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$73,068</a:t>
                      </a:r>
                      <a:endParaRPr lang="en-US" sz="110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$74,288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$75,180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$79,732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$84,336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$88,992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$91,436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$93,908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$96,407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$98,935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$101,364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$103,821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$1,061,466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$968,421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$93,045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2290813" y="7444126"/>
          <a:ext cx="13706378" cy="1269253"/>
        </p:xfrm>
        <a:graphic>
          <a:graphicData uri="http://schemas.openxmlformats.org/drawingml/2006/table">
            <a:tbl>
              <a:tblPr/>
              <a:tblGrid>
                <a:gridCol w="931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645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542627"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APR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MAY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JUN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JUL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AUG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SEP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OCT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NOV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DEC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JAN 2027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FEB 2027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MAR 2027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313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Rent ($/SF)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$1.16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$1.16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$1.17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$1.18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$1.19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$1.20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$1.21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$1.22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$1.23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$1.24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$1.26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$1.27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313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Vacancy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12.75%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12.46%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12.18%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11.90%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11.61%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11.33%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11.05%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10.76%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10.48%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10.20%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9.92%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  <a:defRPr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9.63%</a:t>
                      </a:r>
                      <a:endParaRPr lang="en-US" sz="1100"/>
                    </a:p>
                  </a:txBody>
                  <a:tcPr marL="76200" marR="76200" marT="76200" marB="76200" anchor="ctr">
                    <a:lnL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F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>
            <a:off x="772345" y="454756"/>
            <a:ext cx="16743310" cy="156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680"/>
              </a:lnSpc>
            </a:pPr>
            <a:r>
              <a:rPr lang="en-US" sz="96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1-Year Proforma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223113" y="637057"/>
          <a:ext cx="17590179" cy="9012888"/>
        </p:xfrm>
        <a:graphic>
          <a:graphicData uri="http://schemas.openxmlformats.org/drawingml/2006/table">
            <a:tbl>
              <a:tblPr/>
              <a:tblGrid>
                <a:gridCol w="2332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5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8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88147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03221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23654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0322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553034"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EXPENSES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T-12 AVG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T-12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APR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MAY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JUN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JUL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AUG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SEP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OCT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NOV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DEC 2026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JAN 2027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FEB 2027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MAR 2027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STORE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CURRENT </a:t>
                      </a:r>
                      <a:endParaRPr lang="en-US" sz="1100"/>
                    </a:p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MANAGEMENT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  <a:defRPr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IMPACT TO N.O.I.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Advertising &amp; Marketing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$1,655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$19,862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$24,000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$24,000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ct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Payment Processing Fees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$2,112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$25,341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$1,644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$1,671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$1,692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$1,794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$1,898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$2,002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$2,057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$2,169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$2,226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$2,281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$2,336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$23,883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ct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Payment Processing Fees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$23,883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Fire Prevention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Licenses &amp; Permits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ct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Management Fee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$3,276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$39,308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$3,279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$3,335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$3,375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$3,597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$3,822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$4,049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$4,166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$4,284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$4,403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$4,524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$4,646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$4,769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$48,250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ct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STORE Management Fee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$2,623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$2,668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$2,700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$2,878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$3,057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$3,239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$3,333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$3,427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$3,523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$3,619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$3,717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$3,816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$38,600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$9,650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Payroll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$4,755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$57,061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$5,905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$70,856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$58,202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(12,654)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Office Supplies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$1,357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$1,357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$1,357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Repairs &amp; Maintenance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$30,725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$30,725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$30,725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Security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$1,440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(1,440)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Retail Products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$2,800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$2,800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$2,800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Telephone &amp; Internet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$5,382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$5,382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$5,382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Software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$1,317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$15,804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$1,850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$22,200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$15,588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(6,612)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Bank Charges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Prof Fees - Legal/Acctg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$845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$845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$845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Utilities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$30,617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$2,551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$30,617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$30,617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Insurance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$15,000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$1,250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$15,000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$15,000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11334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Property Taxes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$9,333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$112,000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$120,000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43263">
                <a:tc>
                  <a:txBody>
                    <a:bodyPr/>
                    <a:lstStyle/>
                    <a:p>
                      <a:pPr algn="l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DED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$ 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F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11334">
                <a:tc>
                  <a:txBody>
                    <a:bodyPr/>
                    <a:lstStyle/>
                    <a:p>
                      <a:pPr algn="ct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Total Operating Expense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$29,675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$356,103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$29,725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$29,770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$29,802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$29,979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$30,159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$30,341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$30,435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$30,529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$30,625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$30,721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$30,819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$30,917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$363,822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$376,649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$12,827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403855"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511334">
                <a:tc>
                  <a:txBody>
                    <a:bodyPr/>
                    <a:lstStyle/>
                    <a:p>
                      <a:pPr algn="ct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Net Operating Income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$40,717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$488,605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$43,342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$44,518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$45,378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$49,752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$54,176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$58,651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$61,001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$63,379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$65,783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$68,214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$70,545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$72,904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$697,644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$591,772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39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$105,871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93C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72345" y="479361"/>
            <a:ext cx="16743310" cy="1482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123"/>
              </a:lnSpc>
            </a:pPr>
            <a:r>
              <a:rPr lang="en-US" sz="91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Acquisition &amp; Returns Analysis</a:t>
            </a:r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3832406" y="2217650"/>
          <a:ext cx="3926083" cy="4535221"/>
        </p:xfrm>
        <a:graphic>
          <a:graphicData uri="http://schemas.openxmlformats.org/drawingml/2006/table">
            <a:tbl>
              <a:tblPr/>
              <a:tblGrid>
                <a:gridCol w="23258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2287"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Key Metrics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Key Metrics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Purchase Price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$14,000,000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Going-In Cap Rate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6.05%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8895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All-In Interest Rate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(SOFR+200bps)</a:t>
                      </a:r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6.30%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LTC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60.0%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Loan Amount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$8,499,000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Equity Required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$5,666,000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Total CapEx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$25,000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NRSF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72,323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2719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Price / SqFt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$193.58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2287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Asset Mgmt Fee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$75,000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772345" y="4452154"/>
          <a:ext cx="12336160" cy="2710191"/>
        </p:xfrm>
        <a:graphic>
          <a:graphicData uri="http://schemas.openxmlformats.org/drawingml/2006/table">
            <a:tbl>
              <a:tblPr/>
              <a:tblGrid>
                <a:gridCol w="31465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79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1260">
                <a:tc>
                  <a:txBody>
                    <a:bodyPr/>
                    <a:lstStyle/>
                    <a:p>
                      <a:pPr algn="l">
                        <a:lnSpc>
                          <a:spcPts val="28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Debt Service Schedule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Year 1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Year 2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Year 3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Year 4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Year 5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260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Beginning Balance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$8,499,000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$8,354,369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$8,200,358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$8,036,360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$7,861,726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7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717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Annual Debt Service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$675,939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$675,939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$675,939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$675,939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$675,939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717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Interest Portion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$531,308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$521,929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$511,941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$501,305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$489,980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717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Principal Portion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$144,631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$154,011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$163,998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$174,634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$185,959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260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DSCR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1.55x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1.68x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1.76x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1.84x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1.94x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260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Ending Balance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$8,354,369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$8,200,358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$8,036,360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$7,861,726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$7,675,767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772345" y="7476673"/>
          <a:ext cx="12336160" cy="2329194"/>
        </p:xfrm>
        <a:graphic>
          <a:graphicData uri="http://schemas.openxmlformats.org/drawingml/2006/table">
            <a:tbl>
              <a:tblPr/>
              <a:tblGrid>
                <a:gridCol w="31705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1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913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Cash Flow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Year 1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Year 2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Year 3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Year 4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Year 5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3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Net Operating Income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8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$1,047,908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8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$1,132,895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8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$1,187,891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8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$1,243,779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8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$1,311,406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835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Less: CapEx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835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Less: Debt Service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($675,939)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($675,939)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($675,939)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($675,939)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($675,939)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3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Less: Asset Mgmt Fee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($75,000)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($75,000)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($75,000)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($75,000)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($75,000)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3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Levered Cash Flow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$296,969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$381,956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$436,951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$492,840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$560,467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358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13832406" y="7094501"/>
          <a:ext cx="3926083" cy="1167144"/>
        </p:xfrm>
        <a:graphic>
          <a:graphicData uri="http://schemas.openxmlformats.org/drawingml/2006/table">
            <a:tbl>
              <a:tblPr/>
              <a:tblGrid>
                <a:gridCol w="2775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2237"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Returns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Returns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237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Cash-on-Cash Return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5.2%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7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670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Yield on Cost</a:t>
                      </a:r>
                      <a:endParaRPr lang="en-US" sz="1100"/>
                    </a:p>
                  </a:txBody>
                  <a:tcPr marL="4181" marR="4181" marT="4181" marB="4181" anchor="b">
                    <a:lnL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7.4% </a:t>
                      </a:r>
                      <a:endParaRPr lang="en-US" sz="1100"/>
                    </a:p>
                  </a:txBody>
                  <a:tcPr marL="4181" marR="4181" marT="4181" marB="4181" anchor="b">
                    <a:lnL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03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94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7" name="Group 7"/>
          <p:cNvGrpSpPr/>
          <p:nvPr/>
        </p:nvGrpSpPr>
        <p:grpSpPr>
          <a:xfrm>
            <a:off x="13832406" y="8603271"/>
            <a:ext cx="3926083" cy="1202595"/>
            <a:chOff x="0" y="0"/>
            <a:chExt cx="966834" cy="29615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66834" cy="296150"/>
            </a:xfrm>
            <a:custGeom>
              <a:avLst/>
              <a:gdLst/>
              <a:ahLst/>
              <a:cxnLst/>
              <a:rect l="l" t="t" r="r" b="b"/>
              <a:pathLst>
                <a:path w="966834" h="296150">
                  <a:moveTo>
                    <a:pt x="0" y="0"/>
                  </a:moveTo>
                  <a:lnTo>
                    <a:pt x="966834" y="0"/>
                  </a:lnTo>
                  <a:lnTo>
                    <a:pt x="966834" y="296150"/>
                  </a:lnTo>
                  <a:lnTo>
                    <a:pt x="0" y="296150"/>
                  </a:lnTo>
                  <a:close/>
                </a:path>
              </a:pathLst>
            </a:custGeom>
            <a:solidFill>
              <a:srgbClr val="3B52A1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57150"/>
              <a:ext cx="966834" cy="353300"/>
            </a:xfrm>
            <a:prstGeom prst="rect">
              <a:avLst/>
            </a:prstGeom>
          </p:spPr>
          <p:txBody>
            <a:bodyPr lIns="54331" tIns="54331" rIns="54331" bIns="54331" rtlCol="0" anchor="ctr"/>
            <a:lstStyle/>
            <a:p>
              <a:pPr algn="ctr">
                <a:lnSpc>
                  <a:spcPts val="289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058139" y="8679741"/>
            <a:ext cx="3474619" cy="9734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Projected returns driven by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disciplined rate management</a:t>
            </a:r>
          </a:p>
          <a:p>
            <a:pPr algn="l">
              <a:lnSpc>
                <a:spcPts val="2520"/>
              </a:lnSpc>
            </a:pPr>
            <a:r>
              <a:rPr lang="en-US" sz="18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and operational efficiency.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772345" y="2217650"/>
          <a:ext cx="5804662" cy="1564559"/>
        </p:xfrm>
        <a:graphic>
          <a:graphicData uri="http://schemas.openxmlformats.org/drawingml/2006/table">
            <a:tbl>
              <a:tblPr/>
              <a:tblGrid>
                <a:gridCol w="26960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6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3941">
                <a:tc gridSpan="2">
                  <a:txBody>
                    <a:bodyPr/>
                    <a:lstStyle/>
                    <a:p>
                      <a:pPr algn="just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Sources of Capital</a:t>
                      </a:r>
                      <a:endParaRPr lang="en-US" sz="1100"/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just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Sources of Capital</a:t>
                      </a:r>
                      <a:endParaRPr lang="en-US" sz="1100"/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94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Senior Debt</a:t>
                      </a:r>
                      <a:endParaRPr lang="en-US" sz="1100"/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$8,499,000 </a:t>
                      </a:r>
                      <a:endParaRPr lang="en-US" sz="1100"/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539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Equity</a:t>
                      </a:r>
                      <a:endParaRPr lang="en-US" sz="1100"/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$5,666,000 </a:t>
                      </a:r>
                      <a:endParaRPr lang="en-US" sz="1100"/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138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Total Sources</a:t>
                      </a:r>
                      <a:endParaRPr lang="en-US" sz="1100"/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$14,165,000 </a:t>
                      </a:r>
                      <a:endParaRPr lang="en-US" sz="1100"/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7303845" y="2217650"/>
          <a:ext cx="5804661" cy="1948755"/>
        </p:xfrm>
        <a:graphic>
          <a:graphicData uri="http://schemas.openxmlformats.org/drawingml/2006/table">
            <a:tbl>
              <a:tblPr/>
              <a:tblGrid>
                <a:gridCol w="26919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2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3991">
                <a:tc gridSpan="2">
                  <a:txBody>
                    <a:bodyPr/>
                    <a:lstStyle/>
                    <a:p>
                      <a:pPr algn="just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Uses of Capital</a:t>
                      </a:r>
                      <a:endParaRPr lang="en-US" sz="1100"/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just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Uses of Capital</a:t>
                      </a:r>
                      <a:endParaRPr lang="en-US" sz="1100"/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991">
                <a:tc>
                  <a:txBody>
                    <a:bodyPr/>
                    <a:lstStyle/>
                    <a:p>
                      <a:pPr algn="just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Purchase Price </a:t>
                      </a:r>
                      <a:endParaRPr lang="en-US" sz="1100"/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$14,000,000 </a:t>
                      </a:r>
                      <a:endParaRPr lang="en-US" sz="1100"/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91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991">
                <a:tc>
                  <a:txBody>
                    <a:bodyPr/>
                    <a:lstStyle/>
                    <a:p>
                      <a:pPr algn="just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Closing Costs </a:t>
                      </a:r>
                      <a:endParaRPr lang="en-US" sz="1100"/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$140,000 </a:t>
                      </a:r>
                      <a:endParaRPr lang="en-US" sz="1100"/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591">
                <a:tc>
                  <a:txBody>
                    <a:bodyPr/>
                    <a:lstStyle/>
                    <a:p>
                      <a:pPr algn="just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Upfront CapEx </a:t>
                      </a:r>
                      <a:endParaRPr lang="en-US" sz="1100"/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$25,000 </a:t>
                      </a:r>
                      <a:endParaRPr lang="en-US" sz="1100"/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191">
                <a:tc>
                  <a:txBody>
                    <a:bodyPr/>
                    <a:lstStyle/>
                    <a:p>
                      <a:pPr algn="just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Total Uses</a:t>
                      </a:r>
                      <a:endParaRPr lang="en-US" sz="1100"/>
                    </a:p>
                  </a:txBody>
                  <a:tcPr marL="3934" marR="3934" marT="3934" marB="3934" anchor="b">
                    <a:lnL w="19174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56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$14,165,000 </a:t>
                      </a:r>
                      <a:endParaRPr lang="en-US" sz="1100"/>
                    </a:p>
                  </a:txBody>
                  <a:tcPr marL="3934" marR="3934" marT="3934" marB="3934" anchor="b">
                    <a:lnL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93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8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56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337520"/>
              </p:ext>
            </p:extLst>
          </p:nvPr>
        </p:nvGraphicFramePr>
        <p:xfrm>
          <a:off x="772345" y="2425966"/>
          <a:ext cx="12072507" cy="3090864"/>
        </p:xfrm>
        <a:graphic>
          <a:graphicData uri="http://schemas.openxmlformats.org/drawingml/2006/table">
            <a:tbl>
              <a:tblPr/>
              <a:tblGrid>
                <a:gridCol w="31413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7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7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77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588">
                <a:tc>
                  <a:txBody>
                    <a:bodyPr/>
                    <a:lstStyle/>
                    <a:p>
                      <a:pPr algn="l">
                        <a:lnSpc>
                          <a:spcPts val="2800"/>
                        </a:lnSpc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</a:rPr>
                        <a:t> </a:t>
                      </a: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Exit Assumptions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3-Year Hold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5-Year Hold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7-Year Hold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588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</a:rPr>
                        <a:t>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Exit Year NOI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$1,187,891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$1,311,406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$1,445,825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588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</a:rPr>
                        <a:t>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Forward NOI (exit + 1 yr)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$1,247,285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$1,376,976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$1,518,116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588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</a:rPr>
                        <a:t>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Gross Sale Price / SF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$19,956,562 / $276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$22,031,619 / $305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$24,289,859 / $336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</a:rPr>
                        <a:t>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Disposition Costs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($399,131)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($440,632)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($485,797)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</a:rPr>
                        <a:t> </a:t>
                      </a: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Sale Price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$19,557,431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$21,590,986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$23,804,062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</a:rPr>
                        <a:t>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Loan Balance at Exit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$8,036,360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$7,675,767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$7,266,888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1128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</a:rPr>
                        <a:t> </a:t>
                      </a: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Equity Proceeds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$11,521,071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$13,915,219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$16,537,174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3617197" y="2425966"/>
          <a:ext cx="3898458" cy="3052760"/>
        </p:xfrm>
        <a:graphic>
          <a:graphicData uri="http://schemas.openxmlformats.org/drawingml/2006/table">
            <a:tbl>
              <a:tblPr/>
              <a:tblGrid>
                <a:gridCol w="21358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26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595"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Returns by Hold Period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Returns by Hold Period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3-Year IRR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31.8%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5-Year IRR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24.9%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7-Year IRR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22.1%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595">
                <a:tc gridSpan="2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Equity Multiple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 Equity Multiple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3-Year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2.23x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5-Year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2.69x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595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7-Year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3.56x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0289202" y="6166644"/>
          <a:ext cx="7226451" cy="3282156"/>
        </p:xfrm>
        <a:graphic>
          <a:graphicData uri="http://schemas.openxmlformats.org/drawingml/2006/table">
            <a:tbl>
              <a:tblPr/>
              <a:tblGrid>
                <a:gridCol w="21399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72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86963">
                <a:tc gridSpan="6"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Interest Rate Sensitivity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</a:t>
                      </a: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Interest Rate Sensitivity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</a:t>
                      </a: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Interest Rate Sensitivity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</a:t>
                      </a: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Interest Rate Sensitivity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</a:t>
                      </a: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Interest Rate Sensitivity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</a:t>
                      </a: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Interest Rate Sensitivity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</a:t>
                      </a: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[Levered IRR (Exit Cap × All-In Rate)]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6963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Exit Cap / </a:t>
                      </a:r>
                      <a:endParaRPr lang="en-US" sz="1100"/>
                    </a:p>
                    <a:p>
                      <a:pPr algn="ctr">
                        <a:lnSpc>
                          <a:spcPts val="2400"/>
                        </a:lnSpc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All-In Rate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5.30%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5.80%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6.30%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6.80%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7.30%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5.50%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30.2%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29.7%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29.3%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28.8%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28.3%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6.00%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27.3%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26.8%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26.3%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25.8%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25.3%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6.50%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24.6%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24.1%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23.6%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23.1%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22.6%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7.00%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22.1%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21.6%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21.0%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20.5%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20.0%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646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7.50%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19.7%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19.2%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18.6%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18.1%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17.5%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5250607"/>
              </p:ext>
            </p:extLst>
          </p:nvPr>
        </p:nvGraphicFramePr>
        <p:xfrm>
          <a:off x="772345" y="6166644"/>
          <a:ext cx="8744510" cy="4425156"/>
        </p:xfrm>
        <a:graphic>
          <a:graphicData uri="http://schemas.openxmlformats.org/drawingml/2006/table">
            <a:tbl>
              <a:tblPr/>
              <a:tblGrid>
                <a:gridCol w="1748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89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6662">
                <a:tc gridSpan="5"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Cap Rate Sensitivity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dirty="0">
                          <a:solidFill>
                            <a:srgbClr val="FFFFFF"/>
                          </a:solidFill>
                          <a:latin typeface="Avenir"/>
                          <a:ea typeface="Avenir Ultra-Bold"/>
                          <a:cs typeface="Avenir Ultra-Bold"/>
                          <a:sym typeface="Avenir Ultra-Bold"/>
                        </a:rPr>
                        <a:t> </a:t>
                      </a: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[Implied Value at Exit (Year 5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Cap Rate Sensitivity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</a:t>
                      </a: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[Implied Value at Exit (Year 5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Cap Rate Sensitivity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</a:t>
                      </a: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[Implied Value at Exit (Year 5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Cap Rate Sensitivity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</a:t>
                      </a: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[Implied Value at Exit (Year 5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Cap Rate Sensitivity</a:t>
                      </a:r>
                      <a:endParaRPr lang="en-US" sz="1100"/>
                    </a:p>
                    <a:p>
                      <a:pPr algn="l">
                        <a:lnSpc>
                          <a:spcPts val="2400"/>
                        </a:lnSpc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Ultra-Bold"/>
                          <a:ea typeface="Avenir Ultra-Bold"/>
                          <a:cs typeface="Avenir Ultra-Bold"/>
                          <a:sym typeface="Avenir Ultra-Bold"/>
                        </a:rPr>
                        <a:t> </a:t>
                      </a: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[Implied Value at Exit (Year 5 NOI)]</a:t>
                      </a:r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6662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Exit Rate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Proceeds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Equity Proceeds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Equity Multiple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Levered IRR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5.50%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$24,535,212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$16,859,444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3.36x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29.3%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5.75%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$23,468,463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$15,792,696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3.17x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27.8%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6.00%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$22,490,611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$14,814,843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3.00x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26.3%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6.50%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$20,760,564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$13,084,796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2.69x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23.6%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7.00%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$19,277,666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$11,601,899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2.43x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21.0%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7.50%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$17,992,488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$10,316,721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2.20x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18.6%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8.00%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$16,867,958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$9,192,191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2.01x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16.3%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479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8.50%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$15,875,725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$8,199,958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1.83x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14.1%</a:t>
                      </a:r>
                      <a:endParaRPr lang="en-US" sz="1100"/>
                    </a:p>
                  </a:txBody>
                  <a:tcPr marL="2884" marR="2884" marT="2884" marB="2884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772345" y="1900821"/>
            <a:ext cx="5746677" cy="420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Hold Period Comparison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72345" y="5642086"/>
            <a:ext cx="2525911" cy="420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Sensitivity 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72345" y="479361"/>
            <a:ext cx="16743310" cy="1482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0123"/>
              </a:lnSpc>
            </a:pPr>
            <a:r>
              <a:rPr lang="en-US" sz="9100" b="1">
                <a:solidFill>
                  <a:srgbClr val="3B52A1"/>
                </a:solidFill>
                <a:latin typeface="Avenir Ultra-Bold"/>
                <a:ea typeface="Avenir Ultra-Bold"/>
                <a:cs typeface="Avenir Ultra-Bold"/>
                <a:sym typeface="Avenir Ultra-Bold"/>
              </a:rPr>
              <a:t>Exit Return Profile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570105"/>
            <a:chOff x="0" y="0"/>
            <a:chExt cx="4689899" cy="4026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689899" cy="402648"/>
            </a:xfrm>
            <a:custGeom>
              <a:avLst/>
              <a:gdLst/>
              <a:ahLst/>
              <a:cxnLst/>
              <a:rect l="l" t="t" r="r" b="b"/>
              <a:pathLst>
                <a:path w="4689899" h="402648">
                  <a:moveTo>
                    <a:pt x="0" y="0"/>
                  </a:moveTo>
                  <a:lnTo>
                    <a:pt x="4689899" y="0"/>
                  </a:lnTo>
                  <a:lnTo>
                    <a:pt x="4689899" y="402648"/>
                  </a:lnTo>
                  <a:lnTo>
                    <a:pt x="0" y="40264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85725"/>
              <a:ext cx="4689899" cy="48837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0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5508560" y="380063"/>
            <a:ext cx="2364281" cy="853111"/>
          </a:xfrm>
          <a:custGeom>
            <a:avLst/>
            <a:gdLst/>
            <a:ahLst/>
            <a:cxnLst/>
            <a:rect l="l" t="t" r="r" b="b"/>
            <a:pathLst>
              <a:path w="2364281" h="853111">
                <a:moveTo>
                  <a:pt x="0" y="0"/>
                </a:moveTo>
                <a:lnTo>
                  <a:pt x="2364280" y="0"/>
                </a:lnTo>
                <a:lnTo>
                  <a:pt x="2364280" y="853111"/>
                </a:lnTo>
                <a:lnTo>
                  <a:pt x="0" y="8531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AutoShape 6"/>
          <p:cNvSpPr/>
          <p:nvPr/>
        </p:nvSpPr>
        <p:spPr>
          <a:xfrm flipV="1">
            <a:off x="4803875" y="2052997"/>
            <a:ext cx="5074850" cy="0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7" name="AutoShape 7"/>
          <p:cNvSpPr/>
          <p:nvPr/>
        </p:nvSpPr>
        <p:spPr>
          <a:xfrm flipV="1">
            <a:off x="530625" y="10050214"/>
            <a:ext cx="12283543" cy="6474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126708"/>
              </p:ext>
            </p:extLst>
          </p:nvPr>
        </p:nvGraphicFramePr>
        <p:xfrm>
          <a:off x="425877" y="3069520"/>
          <a:ext cx="3688808" cy="3026017"/>
        </p:xfrm>
        <a:graphic>
          <a:graphicData uri="http://schemas.openxmlformats.org/drawingml/2006/table">
            <a:tbl>
              <a:tblPr/>
              <a:tblGrid>
                <a:gridCol w="20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0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589">
                <a:tc gridSpan="2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Extra Space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Extra Space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84">
                <a:tc gridSpan="2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5146 Ashley Phosphate Rd. | 0.0 Miles Away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5146 Ashley Phosphate Rd. | 0.0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698">
                <a:tc gridSpan="2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First Floor / A/C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First Floor / A/C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388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</a:t>
                      </a:r>
                      <a:r>
                        <a:rPr lang="en-US" sz="1631" b="1" dirty="0" err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109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092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$1.32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109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$1.15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109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$1.02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675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$1.00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364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1100"/>
                    </a:p>
                  </a:txBody>
                  <a:tcPr marL="0" marR="0" marT="0" marB="0" anchor="b">
                    <a:lnL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$1.12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2460967"/>
              </p:ext>
            </p:extLst>
          </p:nvPr>
        </p:nvGraphicFramePr>
        <p:xfrm>
          <a:off x="12814168" y="3072269"/>
          <a:ext cx="5058672" cy="1815907"/>
        </p:xfrm>
        <a:graphic>
          <a:graphicData uri="http://schemas.openxmlformats.org/drawingml/2006/table">
            <a:tbl>
              <a:tblPr/>
              <a:tblGrid>
                <a:gridCol w="2529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3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1907">
                <a:tc gridSpan="2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Rate Summary</a:t>
                      </a:r>
                      <a:endParaRPr lang="en-US" sz="1100"/>
                    </a:p>
                  </a:txBody>
                  <a:tcPr marL="0" marR="0" marT="0" marB="0" anchor="ctr">
                    <a:lnL w="64736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736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736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Rate Summary</a:t>
                      </a:r>
                      <a:endParaRPr lang="en-US" sz="1100"/>
                    </a:p>
                  </a:txBody>
                  <a:tcPr marL="0" marR="0" marT="0" marB="0" anchor="ctr">
                    <a:lnL w="64736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736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736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270">
                <a:tc>
                  <a:txBody>
                    <a:bodyPr/>
                    <a:lstStyle/>
                    <a:p>
                      <a:pPr algn="ctr">
                        <a:lnSpc>
                          <a:spcPts val="679"/>
                        </a:lnSpc>
                        <a:defRPr/>
                      </a:pPr>
                      <a:r>
                        <a:rPr lang="en-US" sz="135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First Floor</a:t>
                      </a:r>
                      <a:endParaRPr lang="en-US" sz="1100"/>
                    </a:p>
                  </a:txBody>
                  <a:tcPr marL="0" marR="0" marT="0" marB="0" anchor="ctr">
                    <a:lnL w="6667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79"/>
                        </a:lnSpc>
                        <a:defRPr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Climate </a:t>
                      </a:r>
                      <a:r>
                        <a:rPr lang="en-US" sz="135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</a:rPr>
                        <a:t>Controlled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736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4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453">
                <a:tc>
                  <a:txBody>
                    <a:bodyPr/>
                    <a:lstStyle/>
                    <a:p>
                      <a:pPr algn="ctr">
                        <a:lnSpc>
                          <a:spcPts val="1522"/>
                        </a:lnSpc>
                        <a:defRPr/>
                      </a:pPr>
                      <a:r>
                        <a:rPr lang="en-US" sz="1087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Online Rate </a:t>
                      </a:r>
                      <a:endParaRPr lang="en-US" sz="1100"/>
                    </a:p>
                    <a:p>
                      <a:pPr algn="ctr">
                        <a:lnSpc>
                          <a:spcPts val="1141"/>
                        </a:lnSpc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</a:p>
                  </a:txBody>
                  <a:tcPr marL="0" marR="0" marT="0" marB="0" anchor="ctr">
                    <a:lnL w="64736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22"/>
                        </a:lnSpc>
                        <a:defRPr/>
                      </a:pPr>
                      <a:r>
                        <a:rPr lang="en-US" sz="1087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Online Rate </a:t>
                      </a:r>
                      <a:endParaRPr lang="en-US" sz="1100"/>
                    </a:p>
                    <a:p>
                      <a:pPr algn="ctr">
                        <a:lnSpc>
                          <a:spcPts val="1141"/>
                        </a:lnSpc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7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277">
                <a:tc>
                  <a:txBody>
                    <a:bodyPr/>
                    <a:lstStyle/>
                    <a:p>
                      <a:pPr algn="ctr">
                        <a:lnSpc>
                          <a:spcPts val="1019"/>
                        </a:lnSpc>
                        <a:defRPr/>
                      </a:pPr>
                      <a:r>
                        <a:rPr lang="en-US" sz="2038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$0.91</a:t>
                      </a:r>
                      <a:endParaRPr lang="en-US" sz="1100"/>
                    </a:p>
                  </a:txBody>
                  <a:tcPr marL="0" marR="0" marT="0" marB="0" anchor="ctr">
                    <a:lnL w="64736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736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19"/>
                        </a:lnSpc>
                        <a:defRPr/>
                      </a:pPr>
                      <a:r>
                        <a:rPr lang="en-US" sz="2038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$1.20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75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736" cap="flat" cmpd="sng" algn="ctr">
                      <a:solidFill>
                        <a:srgbClr val="6F94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12814168" y="5315718"/>
            <a:ext cx="5058672" cy="4244173"/>
            <a:chOff x="0" y="0"/>
            <a:chExt cx="6744896" cy="5658898"/>
          </a:xfrm>
        </p:grpSpPr>
        <p:grpSp>
          <p:nvGrpSpPr>
            <p:cNvPr id="11" name="Group 11"/>
            <p:cNvGrpSpPr/>
            <p:nvPr/>
          </p:nvGrpSpPr>
          <p:grpSpPr>
            <a:xfrm>
              <a:off x="0" y="0"/>
              <a:ext cx="6744896" cy="5658898"/>
              <a:chOff x="0" y="0"/>
              <a:chExt cx="1297280" cy="1088405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297280" cy="1088405"/>
              </a:xfrm>
              <a:custGeom>
                <a:avLst/>
                <a:gdLst/>
                <a:ahLst/>
                <a:cxnLst/>
                <a:rect l="l" t="t" r="r" b="b"/>
                <a:pathLst>
                  <a:path w="1297280" h="1088405">
                    <a:moveTo>
                      <a:pt x="0" y="0"/>
                    </a:moveTo>
                    <a:lnTo>
                      <a:pt x="1297280" y="0"/>
                    </a:lnTo>
                    <a:lnTo>
                      <a:pt x="1297280" y="1088405"/>
                    </a:lnTo>
                    <a:lnTo>
                      <a:pt x="0" y="1088405"/>
                    </a:lnTo>
                    <a:close/>
                  </a:path>
                </a:pathLst>
              </a:custGeom>
              <a:ln w="47625" cap="sq">
                <a:solidFill>
                  <a:srgbClr val="6F94CA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66675"/>
                <a:ext cx="1297280" cy="115508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100"/>
                  </a:lnSpc>
                </a:pPr>
                <a:endParaRPr/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67022" y="555480"/>
              <a:ext cx="6620168" cy="5043958"/>
              <a:chOff x="0" y="0"/>
              <a:chExt cx="1005643" cy="766208"/>
            </a:xfrm>
          </p:grpSpPr>
          <p:sp>
            <p:nvSpPr>
              <p:cNvPr id="15" name="Freeform 15" descr="The image displays a map with various addresses and locations, including schools, businesses, and recreational areas in a specific area.  AI-generated content may be incorrect."/>
              <p:cNvSpPr/>
              <p:nvPr/>
            </p:nvSpPr>
            <p:spPr>
              <a:xfrm>
                <a:off x="0" y="0"/>
                <a:ext cx="1005643" cy="766208"/>
              </a:xfrm>
              <a:custGeom>
                <a:avLst/>
                <a:gdLst/>
                <a:ahLst/>
                <a:cxnLst/>
                <a:rect l="l" t="t" r="r" b="b"/>
                <a:pathLst>
                  <a:path w="1005643" h="766208">
                    <a:moveTo>
                      <a:pt x="0" y="0"/>
                    </a:moveTo>
                    <a:lnTo>
                      <a:pt x="1005643" y="0"/>
                    </a:lnTo>
                    <a:lnTo>
                      <a:pt x="1005643" y="766208"/>
                    </a:lnTo>
                    <a:lnTo>
                      <a:pt x="0" y="766208"/>
                    </a:lnTo>
                    <a:close/>
                  </a:path>
                </a:pathLst>
              </a:custGeom>
              <a:blipFill>
                <a:blip r:embed="rId3"/>
                <a:stretch>
                  <a:fillRect t="-17849" b="-1784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</p:grpSp>
      </p:grp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12819663" y="5315718"/>
          <a:ext cx="5042461" cy="416610"/>
        </p:xfrm>
        <a:graphic>
          <a:graphicData uri="http://schemas.openxmlformats.org/drawingml/2006/table">
            <a:tbl>
              <a:tblPr/>
              <a:tblGrid>
                <a:gridCol w="13343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53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02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24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6610">
                <a:tc gridSpan="4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Market Area Map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7" name="Table 17"/>
          <p:cNvGraphicFramePr>
            <a:graphicFrameLocks noGrp="1"/>
          </p:cNvGraphicFramePr>
          <p:nvPr/>
        </p:nvGraphicFramePr>
        <p:xfrm>
          <a:off x="431097" y="6538881"/>
          <a:ext cx="3688808" cy="3002236"/>
        </p:xfrm>
        <a:graphic>
          <a:graphicData uri="http://schemas.openxmlformats.org/drawingml/2006/table">
            <a:tbl>
              <a:tblPr/>
              <a:tblGrid>
                <a:gridCol w="20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0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605">
                <a:tc gridSpan="2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Extra Space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Extra Space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91">
                <a:tc gridSpan="2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3781 Ashley Phosphate Rd. | 1.5 Miles Away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3781 Ashley Phosphate Rd. | 1.5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705">
                <a:tc gridSpan="2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First Floor / A/C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First Floor / A/C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399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</a:t>
                      </a:r>
                      <a:r>
                        <a:rPr lang="en-US" sz="1631" b="1" dirty="0" err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104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$1.32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$1.14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$0.39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6120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$1.26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52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1100"/>
                    </a:p>
                  </a:txBody>
                  <a:tcPr marL="0" marR="0" marT="0" marB="0" anchor="b">
                    <a:lnL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$1.03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4549157" y="3069520"/>
          <a:ext cx="3688808" cy="3026894"/>
        </p:xfrm>
        <a:graphic>
          <a:graphicData uri="http://schemas.openxmlformats.org/drawingml/2006/table">
            <a:tbl>
              <a:tblPr/>
              <a:tblGrid>
                <a:gridCol w="20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0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589">
                <a:tc gridSpan="2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U-Haul Storage</a:t>
                      </a:r>
                      <a:endParaRPr lang="en-US" sz="1100" dirty="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UHaul Storage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84">
                <a:tc gridSpan="2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8222 Dorchester Rd. | 0.2 Miles Away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8222 Dorchester Rd. | 0.2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698">
                <a:tc gridSpan="2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Climate Controller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Climate Controller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388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</a:t>
                      </a:r>
                      <a:r>
                        <a:rPr lang="en-US" sz="1631" b="1" dirty="0" err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109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$2.40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092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$2.20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109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$1.59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109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$1.23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675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$1.17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5241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1100"/>
                    </a:p>
                  </a:txBody>
                  <a:tcPr marL="0" marR="0" marT="0" marB="0" anchor="b">
                    <a:lnL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$1.72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9" name="Table 19"/>
          <p:cNvGraphicFramePr>
            <a:graphicFrameLocks noGrp="1"/>
          </p:cNvGraphicFramePr>
          <p:nvPr/>
        </p:nvGraphicFramePr>
        <p:xfrm>
          <a:off x="4549157" y="6537797"/>
          <a:ext cx="3688808" cy="3002236"/>
        </p:xfrm>
        <a:graphic>
          <a:graphicData uri="http://schemas.openxmlformats.org/drawingml/2006/table">
            <a:tbl>
              <a:tblPr/>
              <a:tblGrid>
                <a:gridCol w="20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0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605">
                <a:tc gridSpan="2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CubeSmart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CubeSmart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91">
                <a:tc gridSpan="2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3260 Ashley Phosphate Rd. | 2.1 Miles Away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3260 Ashley Phosphate Rd. | 2.1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705">
                <a:tc gridSpan="2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Climate Controller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Climate Controller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399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</a:t>
                      </a:r>
                      <a:r>
                        <a:rPr lang="en-US" sz="1631" b="1" dirty="0" err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$0.93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104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$0.60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$0.71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$0.83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6120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$0.72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52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1100"/>
                    </a:p>
                  </a:txBody>
                  <a:tcPr marL="0" marR="0" marT="0" marB="0" anchor="b">
                    <a:lnL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$0.76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8674271" y="3069520"/>
          <a:ext cx="3688808" cy="3002236"/>
        </p:xfrm>
        <a:graphic>
          <a:graphicData uri="http://schemas.openxmlformats.org/drawingml/2006/table">
            <a:tbl>
              <a:tblPr/>
              <a:tblGrid>
                <a:gridCol w="20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0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605">
                <a:tc gridSpan="2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Public Storage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Public Storage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91">
                <a:tc gridSpan="2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8470 Dorchester Rd. | 0.3 Miles Away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8470 Dorchester Rd. | 0.3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705">
                <a:tc gridSpan="2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First Floor / A/C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First Floor / A/C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399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</a:t>
                      </a:r>
                      <a:r>
                        <a:rPr lang="en-US" sz="1631" b="1" dirty="0" err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$0.64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104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$1.36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$0.80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$0.95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6120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$0.59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52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1100"/>
                    </a:p>
                  </a:txBody>
                  <a:tcPr marL="0" marR="0" marT="0" marB="0" anchor="b">
                    <a:lnL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$0.87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21" name="Table 21"/>
          <p:cNvGraphicFramePr>
            <a:graphicFrameLocks noGrp="1"/>
          </p:cNvGraphicFramePr>
          <p:nvPr/>
        </p:nvGraphicFramePr>
        <p:xfrm>
          <a:off x="8674271" y="6537797"/>
          <a:ext cx="3688808" cy="3002236"/>
        </p:xfrm>
        <a:graphic>
          <a:graphicData uri="http://schemas.openxmlformats.org/drawingml/2006/table">
            <a:tbl>
              <a:tblPr/>
              <a:tblGrid>
                <a:gridCol w="20578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0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4605">
                <a:tc gridSpan="2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Public Storage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664"/>
                        </a:lnSpc>
                        <a:defRPr/>
                      </a:pPr>
                      <a:r>
                        <a:rPr lang="en-US" sz="1902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Public Storage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91">
                <a:tc gridSpan="2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6654 Dorchester Rd. | 3.4 Miles Away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543"/>
                        </a:lnSpc>
                        <a:defRPr/>
                      </a:pPr>
                      <a:r>
                        <a:rPr lang="en-US" sz="1087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6654 Dorchester Rd. | 3.4 Miles Away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705">
                <a:tc gridSpan="2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First Floor / A/C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475"/>
                        </a:lnSpc>
                        <a:defRPr/>
                      </a:pPr>
                      <a:r>
                        <a:rPr lang="en-US" sz="951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First Floor / A/C</a:t>
                      </a:r>
                      <a:endParaRPr lang="en-US" sz="1100"/>
                    </a:p>
                  </a:txBody>
                  <a:tcPr marL="0" marR="0" marT="0" marB="0" anchor="ctr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399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 Size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$/</a:t>
                      </a:r>
                      <a:r>
                        <a:rPr lang="en-US" sz="1631" b="1" dirty="0" err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94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3104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10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$1.30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$0.77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0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-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6120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$0.81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5253"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AVG</a:t>
                      </a:r>
                      <a:endParaRPr lang="en-US" sz="1100"/>
                    </a:p>
                  </a:txBody>
                  <a:tcPr marL="0" marR="0" marT="0" marB="0" anchor="b">
                    <a:lnL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815"/>
                        </a:lnSpc>
                        <a:defRPr/>
                      </a:pPr>
                      <a:r>
                        <a:rPr lang="en-US" sz="1631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$0.96</a:t>
                      </a:r>
                      <a:endParaRPr lang="en-US" sz="1100" dirty="0"/>
                    </a:p>
                  </a:txBody>
                  <a:tcPr marL="0" marR="0" marT="0" marB="0" anchor="b">
                    <a:lnL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99AC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894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DF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pSp>
        <p:nvGrpSpPr>
          <p:cNvPr id="22" name="Group 22"/>
          <p:cNvGrpSpPr/>
          <p:nvPr/>
        </p:nvGrpSpPr>
        <p:grpSpPr>
          <a:xfrm>
            <a:off x="425807" y="467624"/>
            <a:ext cx="5347556" cy="784695"/>
            <a:chOff x="0" y="238844"/>
            <a:chExt cx="7130074" cy="1046260"/>
          </a:xfrm>
        </p:grpSpPr>
        <p:sp>
          <p:nvSpPr>
            <p:cNvPr id="23" name="AutoShape 23"/>
            <p:cNvSpPr/>
            <p:nvPr/>
          </p:nvSpPr>
          <p:spPr>
            <a:xfrm flipV="1">
              <a:off x="0" y="711570"/>
              <a:ext cx="7125249" cy="0"/>
            </a:xfrm>
            <a:prstGeom prst="line">
              <a:avLst/>
            </a:prstGeom>
            <a:ln w="17263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238844"/>
              <a:ext cx="7065223" cy="3894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91"/>
                </a:lnSpc>
              </a:pPr>
              <a:r>
                <a:rPr lang="en-US" sz="2582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RENTAL COMP REPORT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828140"/>
              <a:ext cx="7130074" cy="45696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2854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XXXX 2026</a:t>
              </a:r>
              <a:endParaRPr lang="en-US" sz="2038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endParaRPr>
            </a:p>
          </p:txBody>
        </p:sp>
      </p:grpSp>
      <p:sp>
        <p:nvSpPr>
          <p:cNvPr id="26" name="AutoShape 26"/>
          <p:cNvSpPr/>
          <p:nvPr/>
        </p:nvSpPr>
        <p:spPr>
          <a:xfrm>
            <a:off x="425876" y="2059470"/>
            <a:ext cx="1086798" cy="6474"/>
          </a:xfrm>
          <a:prstGeom prst="line">
            <a:avLst/>
          </a:prstGeom>
          <a:ln w="9525" cap="flat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Box 27"/>
          <p:cNvSpPr txBox="1"/>
          <p:nvPr/>
        </p:nvSpPr>
        <p:spPr>
          <a:xfrm>
            <a:off x="1820179" y="1733700"/>
            <a:ext cx="2649459" cy="524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05"/>
              </a:lnSpc>
            </a:pPr>
            <a:r>
              <a:rPr lang="en-US" sz="2718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Prepared for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354870" y="1733700"/>
            <a:ext cx="7449323" cy="449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805"/>
              </a:lnSpc>
            </a:pPr>
            <a:r>
              <a:rPr lang="en-US" sz="2700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Subject Property – </a:t>
            </a:r>
            <a:r>
              <a:rPr lang="en-US" sz="2700" b="1">
                <a:solidFill>
                  <a:srgbClr val="000000"/>
                </a:solidFill>
                <a:latin typeface="Avenir Bold"/>
                <a:ea typeface="Avenir"/>
                <a:cs typeface="Avenir"/>
                <a:sym typeface="Avenir Bold"/>
              </a:rPr>
              <a:t>SMD Self Storage</a:t>
            </a:r>
            <a:endParaRPr lang="en-US" sz="2718" b="1">
              <a:solidFill>
                <a:srgbClr val="000000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425807" y="2221376"/>
            <a:ext cx="6949248" cy="449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05"/>
              </a:lnSpc>
            </a:pPr>
            <a:r>
              <a:rPr lang="en-US" sz="2700" b="1" dirty="0" err="1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Overthis</a:t>
            </a:r>
            <a:r>
              <a:rPr lang="en-US" sz="2700" b="1" dirty="0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 Commercial Properties, LLC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502200" y="2320328"/>
            <a:ext cx="7303234" cy="319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664"/>
              </a:lnSpc>
            </a:pPr>
            <a:r>
              <a:rPr lang="en-US" sz="190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1234 Thumb War Ave., </a:t>
            </a:r>
            <a:r>
              <a:rPr lang="en-US" sz="1900" err="1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Compto</a:t>
            </a:r>
            <a:r>
              <a:rPr lang="en-US" sz="190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n</a:t>
            </a:r>
            <a:r>
              <a:rPr lang="en-US" sz="1900" dirty="0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, CA 5697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461889" y="9809408"/>
            <a:ext cx="5360055" cy="3958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854"/>
              </a:lnSpc>
            </a:pPr>
            <a:r>
              <a:rPr lang="en-US" sz="2038">
                <a:solidFill>
                  <a:srgbClr val="000000"/>
                </a:solidFill>
                <a:latin typeface="Avenir"/>
                <a:ea typeface="Avenir"/>
                <a:cs typeface="Avenir"/>
                <a:sym typeface="Avenir"/>
              </a:rPr>
              <a:t>Prepared by </a:t>
            </a:r>
            <a:r>
              <a:rPr lang="en-US" sz="2038" b="1">
                <a:solidFill>
                  <a:srgbClr val="000000"/>
                </a:solidFill>
                <a:latin typeface="Avenir Bold"/>
                <a:ea typeface="Avenir Bold"/>
                <a:cs typeface="Avenir Bold"/>
                <a:sym typeface="Avenir Bold"/>
              </a:rPr>
              <a:t>STORE Management</a:t>
            </a:r>
          </a:p>
        </p:txBody>
      </p:sp>
    </p:spTree>
    <p:extLst>
      <p:ext uri="{BB962C8B-B14F-4D97-AF65-F5344CB8AC3E}">
        <p14:creationId xmlns:p14="http://schemas.microsoft.com/office/powerpoint/2010/main" val="1633077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STORE Acq &amp; Return Analysis_Street Address</dc:title>
  <cp:revision>92</cp:revision>
  <dcterms:created xsi:type="dcterms:W3CDTF">2006-08-16T00:00:00Z</dcterms:created>
  <dcterms:modified xsi:type="dcterms:W3CDTF">2026-04-01T23:22:25Z</dcterms:modified>
  <dc:identifier>DAHFD7JOwYk</dc:identifier>
</cp:coreProperties>
</file>