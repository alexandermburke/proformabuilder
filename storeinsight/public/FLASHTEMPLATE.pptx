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</p:sldIdLst>
  <p:sldSz cx="7772400" cy="10058400"/>
  <p:notesSz cx="6858000" cy="9144000"/>
  <p:embeddedFontLst>
    <p:embeddedFont>
      <p:font typeface="Avenir" panose="020B0604020202020204" charset="0"/>
      <p:regular r:id="rId3"/>
    </p:embeddedFont>
    <p:embeddedFont>
      <p:font typeface="Avenir Bold" panose="020B0604020202020204" charset="0"/>
      <p:regular r:id="rId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D2D2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>
        <p:scale>
          <a:sx n="150" d="100"/>
          <a:sy n="150" d="100"/>
        </p:scale>
        <p:origin x="1122" y="-342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font" Target="fonts/font1.fntdata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font" Target="fonts/font2.fntdata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4/7/2026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jpeg"/><Relationship Id="rId4" Type="http://schemas.openxmlformats.org/officeDocument/2006/relationships/image" Target="../media/image3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596302" y="1054996"/>
            <a:ext cx="6605195" cy="9556"/>
            <a:chOff x="0" y="0"/>
            <a:chExt cx="8806927" cy="1274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806942" cy="12700"/>
            </a:xfrm>
            <a:custGeom>
              <a:avLst/>
              <a:gdLst/>
              <a:ahLst/>
              <a:cxnLst/>
              <a:rect l="l" t="t" r="r" b="b"/>
              <a:pathLst>
                <a:path w="8806942" h="12700">
                  <a:moveTo>
                    <a:pt x="0" y="0"/>
                  </a:moveTo>
                  <a:lnTo>
                    <a:pt x="8806942" y="0"/>
                  </a:lnTo>
                  <a:lnTo>
                    <a:pt x="8806942" y="12700"/>
                  </a:lnTo>
                  <a:lnTo>
                    <a:pt x="0" y="12700"/>
                  </a:lnTo>
                  <a:close/>
                </a:path>
              </a:pathLst>
            </a:custGeom>
            <a:solidFill>
              <a:srgbClr val="1D2A5C"/>
            </a:solidFill>
            <a:ln w="12700">
              <a:solidFill>
                <a:schemeClr val="bg1">
                  <a:lumMod val="85000"/>
                </a:schemeClr>
              </a:solidFill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586151" y="1233696"/>
            <a:ext cx="6620125" cy="422381"/>
            <a:chOff x="0" y="0"/>
            <a:chExt cx="8826833" cy="563174"/>
          </a:xfrm>
        </p:grpSpPr>
        <p:sp>
          <p:nvSpPr>
            <p:cNvPr id="5" name="Freeform 5"/>
            <p:cNvSpPr/>
            <p:nvPr/>
          </p:nvSpPr>
          <p:spPr>
            <a:xfrm>
              <a:off x="6355" y="6350"/>
              <a:ext cx="8814097" cy="550418"/>
            </a:xfrm>
            <a:custGeom>
              <a:avLst/>
              <a:gdLst/>
              <a:ahLst/>
              <a:cxnLst/>
              <a:rect l="l" t="t" r="r" b="b"/>
              <a:pathLst>
                <a:path w="8814097" h="550418">
                  <a:moveTo>
                    <a:pt x="0" y="91821"/>
                  </a:moveTo>
                  <a:cubicBezTo>
                    <a:pt x="0" y="41148"/>
                    <a:pt x="42071" y="0"/>
                    <a:pt x="93802" y="0"/>
                  </a:cubicBezTo>
                  <a:lnTo>
                    <a:pt x="8720295" y="0"/>
                  </a:lnTo>
                  <a:cubicBezTo>
                    <a:pt x="8772153" y="0"/>
                    <a:pt x="8814097" y="41021"/>
                    <a:pt x="8814097" y="91694"/>
                  </a:cubicBezTo>
                  <a:lnTo>
                    <a:pt x="8814097" y="458724"/>
                  </a:lnTo>
                  <a:cubicBezTo>
                    <a:pt x="8814097" y="509397"/>
                    <a:pt x="8772153" y="550418"/>
                    <a:pt x="8720295" y="550418"/>
                  </a:cubicBezTo>
                  <a:lnTo>
                    <a:pt x="93802" y="550418"/>
                  </a:lnTo>
                  <a:cubicBezTo>
                    <a:pt x="42071" y="550418"/>
                    <a:pt x="0" y="509397"/>
                    <a:pt x="0" y="458724"/>
                  </a:cubicBezTo>
                  <a:close/>
                </a:path>
              </a:pathLst>
            </a:custGeom>
            <a:solidFill>
              <a:srgbClr val="3B52A1"/>
            </a:solidFill>
            <a:ln w="12700">
              <a:solidFill>
                <a:schemeClr val="bg1"/>
              </a:solidFill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" name="Freeform 6"/>
            <p:cNvSpPr/>
            <p:nvPr/>
          </p:nvSpPr>
          <p:spPr>
            <a:xfrm>
              <a:off x="0" y="0"/>
              <a:ext cx="8826807" cy="563245"/>
            </a:xfrm>
            <a:custGeom>
              <a:avLst/>
              <a:gdLst/>
              <a:ahLst/>
              <a:cxnLst/>
              <a:rect l="l" t="t" r="r" b="b"/>
              <a:pathLst>
                <a:path w="8826807" h="563245">
                  <a:moveTo>
                    <a:pt x="0" y="98171"/>
                  </a:moveTo>
                  <a:cubicBezTo>
                    <a:pt x="0" y="43815"/>
                    <a:pt x="44995" y="0"/>
                    <a:pt x="100157" y="0"/>
                  </a:cubicBezTo>
                  <a:lnTo>
                    <a:pt x="8726650" y="0"/>
                  </a:lnTo>
                  <a:lnTo>
                    <a:pt x="8726650" y="6350"/>
                  </a:lnTo>
                  <a:lnTo>
                    <a:pt x="8726650" y="0"/>
                  </a:lnTo>
                  <a:cubicBezTo>
                    <a:pt x="8781812" y="0"/>
                    <a:pt x="8826807" y="43815"/>
                    <a:pt x="8826807" y="98171"/>
                  </a:cubicBezTo>
                  <a:lnTo>
                    <a:pt x="8820452" y="98171"/>
                  </a:lnTo>
                  <a:lnTo>
                    <a:pt x="8826807" y="98171"/>
                  </a:lnTo>
                  <a:lnTo>
                    <a:pt x="8826807" y="465074"/>
                  </a:lnTo>
                  <a:lnTo>
                    <a:pt x="8820452" y="465074"/>
                  </a:lnTo>
                  <a:lnTo>
                    <a:pt x="8826807" y="465074"/>
                  </a:lnTo>
                  <a:cubicBezTo>
                    <a:pt x="8826807" y="519430"/>
                    <a:pt x="8781812" y="563245"/>
                    <a:pt x="8726650" y="563245"/>
                  </a:cubicBezTo>
                  <a:lnTo>
                    <a:pt x="8726650" y="556895"/>
                  </a:lnTo>
                  <a:lnTo>
                    <a:pt x="8726650" y="563245"/>
                  </a:lnTo>
                  <a:lnTo>
                    <a:pt x="100157" y="563245"/>
                  </a:lnTo>
                  <a:lnTo>
                    <a:pt x="100157" y="556895"/>
                  </a:lnTo>
                  <a:lnTo>
                    <a:pt x="100157" y="563245"/>
                  </a:lnTo>
                  <a:cubicBezTo>
                    <a:pt x="44995" y="563118"/>
                    <a:pt x="0" y="519430"/>
                    <a:pt x="0" y="465074"/>
                  </a:cubicBezTo>
                  <a:lnTo>
                    <a:pt x="0" y="98171"/>
                  </a:lnTo>
                  <a:lnTo>
                    <a:pt x="6355" y="98171"/>
                  </a:lnTo>
                  <a:lnTo>
                    <a:pt x="0" y="98171"/>
                  </a:lnTo>
                  <a:moveTo>
                    <a:pt x="12710" y="98171"/>
                  </a:moveTo>
                  <a:lnTo>
                    <a:pt x="12710" y="465074"/>
                  </a:lnTo>
                  <a:lnTo>
                    <a:pt x="6355" y="465074"/>
                  </a:lnTo>
                  <a:lnTo>
                    <a:pt x="12710" y="465074"/>
                  </a:lnTo>
                  <a:cubicBezTo>
                    <a:pt x="12710" y="512064"/>
                    <a:pt x="51731" y="550418"/>
                    <a:pt x="100157" y="550418"/>
                  </a:cubicBezTo>
                  <a:lnTo>
                    <a:pt x="8726650" y="550418"/>
                  </a:lnTo>
                  <a:cubicBezTo>
                    <a:pt x="8775076" y="550418"/>
                    <a:pt x="8814097" y="512064"/>
                    <a:pt x="8814097" y="465074"/>
                  </a:cubicBezTo>
                  <a:lnTo>
                    <a:pt x="8814097" y="98171"/>
                  </a:lnTo>
                  <a:cubicBezTo>
                    <a:pt x="8814097" y="51181"/>
                    <a:pt x="8775076" y="12827"/>
                    <a:pt x="8726650" y="12827"/>
                  </a:cubicBezTo>
                  <a:lnTo>
                    <a:pt x="100157" y="12827"/>
                  </a:lnTo>
                  <a:lnTo>
                    <a:pt x="100157" y="6350"/>
                  </a:lnTo>
                  <a:lnTo>
                    <a:pt x="100157" y="12700"/>
                  </a:lnTo>
                  <a:cubicBezTo>
                    <a:pt x="51731" y="12700"/>
                    <a:pt x="12710" y="51054"/>
                    <a:pt x="12710" y="98171"/>
                  </a:cubicBezTo>
                  <a:close/>
                </a:path>
              </a:pathLst>
            </a:custGeom>
            <a:solidFill>
              <a:srgbClr val="007AFF"/>
            </a:solidFill>
            <a:ln w="12700">
              <a:solidFill>
                <a:schemeClr val="bg1"/>
              </a:solidFill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28575"/>
              <a:ext cx="8826833" cy="591749"/>
            </a:xfrm>
            <a:prstGeom prst="rect">
              <a:avLst/>
            </a:prstGeom>
            <a:ln>
              <a:solidFill>
                <a:schemeClr val="bg1"/>
              </a:solidFill>
            </a:ln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444"/>
                </a:lnSpc>
              </a:pPr>
              <a:r>
                <a:rPr lang="en-US" sz="1203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{{FACILITYCODE}} · {{FACILITYSHORTNAME}}</a:t>
              </a:r>
            </a:p>
          </p:txBody>
        </p:sp>
      </p:grpSp>
      <p:graphicFrame>
        <p:nvGraphicFramePr>
          <p:cNvPr id="8" name="Table 8"/>
          <p:cNvGraphicFramePr>
            <a:graphicFrameLocks noGrp="1"/>
          </p:cNvGraphicFramePr>
          <p:nvPr/>
        </p:nvGraphicFramePr>
        <p:xfrm>
          <a:off x="596302" y="3571838"/>
          <a:ext cx="6600102" cy="1042987"/>
        </p:xfrm>
        <a:graphic>
          <a:graphicData uri="http://schemas.openxmlformats.org/drawingml/2006/table">
            <a:tbl>
              <a:tblPr/>
              <a:tblGrid>
                <a:gridCol w="94287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4287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88003"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MTD Rentals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Daily Rentals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Leads (MTD)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Lead Conversion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MTD Vacates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Daily Vacates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 dirty="0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MTD Net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4984"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{{MTDRENTALS}}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{{DAILYRENTALS}}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{{LEADSMTD}}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{{CONV}}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{{MTDVACATES}}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{{DAILYVACATES}}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{{MTDNETRENTALS}}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9" name="Table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60059415"/>
              </p:ext>
            </p:extLst>
          </p:nvPr>
        </p:nvGraphicFramePr>
        <p:xfrm>
          <a:off x="596302" y="4648885"/>
          <a:ext cx="6600102" cy="1313983"/>
        </p:xfrm>
        <a:graphic>
          <a:graphicData uri="http://schemas.openxmlformats.org/drawingml/2006/table">
            <a:tbl>
              <a:tblPr/>
              <a:tblGrid>
                <a:gridCol w="94287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4287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87703"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Total RSF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Occ RSF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RSF Occ %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Occ Units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 dirty="0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Net SqFt Activity (MTD)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 dirty="0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TPP Coverage %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 dirty="0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AR &gt; 30d %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17210"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{{TOTALRSF}}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{{OCCRSF}}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{{RSFOCCPCT}}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{{OCCUNITS}}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{{NETSQFTACTMTD}}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{{COVERAGE}}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{{AROVER30DAYSPCT}}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10" name="Table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13746302"/>
              </p:ext>
            </p:extLst>
          </p:nvPr>
        </p:nvGraphicFramePr>
        <p:xfrm>
          <a:off x="586150" y="8284048"/>
          <a:ext cx="6609972" cy="1204913"/>
        </p:xfrm>
        <a:graphic>
          <a:graphicData uri="http://schemas.openxmlformats.org/drawingml/2006/table">
            <a:tbl>
              <a:tblPr/>
              <a:tblGrid>
                <a:gridCol w="11016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0166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0166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0166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0166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0166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87703"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 dirty="0" err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Proj</a:t>
                      </a:r>
                      <a:r>
                        <a:rPr lang="en-US" sz="902" b="1" dirty="0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. Rent</a:t>
                      </a:r>
                      <a:r>
                        <a:rPr lang="en-US" sz="1100" dirty="0"/>
                        <a:t>¹</a:t>
                      </a:r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 dirty="0" err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Proj</a:t>
                      </a:r>
                      <a:r>
                        <a:rPr lang="en-US" sz="902" b="1" dirty="0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. Rent / SF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 dirty="0">
                          <a:solidFill>
                            <a:srgbClr val="2D2D2D"/>
                          </a:solidFill>
                          <a:latin typeface="Avenir Bold"/>
                          <a:sym typeface="Avenir Bold"/>
                        </a:rPr>
                        <a:t>Sell Rate + Pot. Rent</a:t>
                      </a:r>
                      <a:r>
                        <a:rPr lang="en-US" sz="1100" dirty="0"/>
                        <a:t>²</a:t>
                      </a:r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 dirty="0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Sell Rate / </a:t>
                      </a:r>
                      <a:r>
                        <a:rPr lang="en-US" sz="902" b="1" dirty="0" err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SqFt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 dirty="0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Gross Pot. Rent</a:t>
                      </a:r>
                      <a:r>
                        <a:rPr lang="en-US" sz="1100" dirty="0"/>
                        <a:t>³</a:t>
                      </a:r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 dirty="0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GPR / </a:t>
                      </a:r>
                      <a:r>
                        <a:rPr lang="en-US" sz="902" b="1" dirty="0" err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SqFt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17210">
                <a:tc>
                  <a:txBody>
                    <a:bodyPr/>
                    <a:lstStyle/>
                    <a:p>
                      <a:pPr algn="ctr">
                        <a:lnSpc>
                          <a:spcPts val="1204"/>
                        </a:lnSpc>
                        <a:defRPr/>
                      </a:pPr>
                      <a:r>
                        <a:rPr lang="en-US" sz="1003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{{PROJRENT}}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{{PROJRENTPERSF}}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204"/>
                        </a:lnSpc>
                        <a:defRPr/>
                      </a:pPr>
                      <a:r>
                        <a:rPr lang="en-US" sz="1000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{{EFFPOTRENT}}</a:t>
                      </a:r>
                      <a:endParaRPr lang="en-US" sz="10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204"/>
                        </a:lnSpc>
                        <a:defRPr/>
                      </a:pPr>
                      <a:r>
                        <a:rPr lang="en-US" sz="1100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{{AVGSFVACA}}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000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{{GROSSPOTRENT}}</a:t>
                      </a:r>
                      <a:endParaRPr lang="en-US" sz="10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{{GROSSPOTSFT}}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1" name="TextBox 11"/>
          <p:cNvSpPr txBox="1"/>
          <p:nvPr/>
        </p:nvSpPr>
        <p:spPr>
          <a:xfrm>
            <a:off x="1834478" y="512184"/>
            <a:ext cx="5275580" cy="4286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926"/>
              </a:lnSpc>
            </a:pPr>
            <a:r>
              <a:rPr lang="en-US" sz="1605" b="1">
                <a:solidFill>
                  <a:srgbClr val="4A4A4A"/>
                </a:solidFill>
                <a:latin typeface="Avenir Bold"/>
                <a:ea typeface="Avenir Bold"/>
                <a:cs typeface="Avenir Bold"/>
                <a:sym typeface="Avenir Bold"/>
              </a:rPr>
              <a:t>Daily Flash Report</a:t>
            </a:r>
          </a:p>
          <a:p>
            <a:pPr algn="r">
              <a:lnSpc>
                <a:spcPts val="1203"/>
              </a:lnSpc>
            </a:pPr>
            <a:r>
              <a:rPr lang="en-US" sz="1003">
                <a:solidFill>
                  <a:srgbClr val="2D2D2D"/>
                </a:solidFill>
                <a:latin typeface="Avenir"/>
                <a:ea typeface="Avenir"/>
                <a:cs typeface="Avenir"/>
                <a:sym typeface="Avenir"/>
              </a:rPr>
              <a:t>{{FACILITYSHORTNAME}}  ·  As of {{ASOFDATE}}</a:t>
            </a:r>
          </a:p>
        </p:txBody>
      </p:sp>
      <p:sp>
        <p:nvSpPr>
          <p:cNvPr id="12" name="Freeform 12"/>
          <p:cNvSpPr/>
          <p:nvPr/>
        </p:nvSpPr>
        <p:spPr>
          <a:xfrm>
            <a:off x="596302" y="160084"/>
            <a:ext cx="2168529" cy="780670"/>
          </a:xfrm>
          <a:custGeom>
            <a:avLst/>
            <a:gdLst/>
            <a:ahLst/>
            <a:cxnLst/>
            <a:rect l="l" t="t" r="r" b="b"/>
            <a:pathLst>
              <a:path w="2168529" h="780670">
                <a:moveTo>
                  <a:pt x="0" y="0"/>
                </a:moveTo>
                <a:lnTo>
                  <a:pt x="2168529" y="0"/>
                </a:lnTo>
                <a:lnTo>
                  <a:pt x="2168529" y="780670"/>
                </a:lnTo>
                <a:lnTo>
                  <a:pt x="0" y="78067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3" name="Freeform 13"/>
          <p:cNvSpPr/>
          <p:nvPr/>
        </p:nvSpPr>
        <p:spPr>
          <a:xfrm>
            <a:off x="596302" y="1722752"/>
            <a:ext cx="6609973" cy="1782411"/>
          </a:xfrm>
          <a:custGeom>
            <a:avLst/>
            <a:gdLst/>
            <a:ahLst/>
            <a:cxnLst/>
            <a:rect l="l" t="t" r="r" b="b"/>
            <a:pathLst>
              <a:path w="6609973" h="1782411">
                <a:moveTo>
                  <a:pt x="0" y="0"/>
                </a:moveTo>
                <a:lnTo>
                  <a:pt x="6609974" y="0"/>
                </a:lnTo>
                <a:lnTo>
                  <a:pt x="6609974" y="1782411"/>
                </a:lnTo>
                <a:lnTo>
                  <a:pt x="0" y="178241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1530" t="-79816" r="-1458" b="-74643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4" name="Freeform 14"/>
          <p:cNvSpPr/>
          <p:nvPr/>
        </p:nvSpPr>
        <p:spPr>
          <a:xfrm>
            <a:off x="586150" y="6093984"/>
            <a:ext cx="3223850" cy="2160932"/>
          </a:xfrm>
          <a:custGeom>
            <a:avLst/>
            <a:gdLst/>
            <a:ahLst/>
            <a:cxnLst/>
            <a:rect l="l" t="t" r="r" b="b"/>
            <a:pathLst>
              <a:path w="3229035" h="2058878">
                <a:moveTo>
                  <a:pt x="0" y="0"/>
                </a:moveTo>
                <a:lnTo>
                  <a:pt x="3229036" y="0"/>
                </a:lnTo>
                <a:lnTo>
                  <a:pt x="3229036" y="2058879"/>
                </a:lnTo>
                <a:lnTo>
                  <a:pt x="0" y="205887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2349" t="-13384" r="-6093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5" name="Freeform 15"/>
          <p:cNvSpPr/>
          <p:nvPr/>
        </p:nvSpPr>
        <p:spPr>
          <a:xfrm>
            <a:off x="3962401" y="6093985"/>
            <a:ext cx="3233722" cy="2160932"/>
          </a:xfrm>
          <a:custGeom>
            <a:avLst/>
            <a:gdLst/>
            <a:ahLst/>
            <a:cxnLst/>
            <a:rect l="l" t="t" r="r" b="b"/>
            <a:pathLst>
              <a:path w="3229035" h="2058878">
                <a:moveTo>
                  <a:pt x="0" y="0"/>
                </a:moveTo>
                <a:lnTo>
                  <a:pt x="3229035" y="0"/>
                </a:lnTo>
                <a:lnTo>
                  <a:pt x="3229035" y="2058879"/>
                </a:lnTo>
                <a:lnTo>
                  <a:pt x="0" y="205887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4227" t="-13384" r="-4227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6" name="TextBox 16"/>
          <p:cNvSpPr txBox="1"/>
          <p:nvPr/>
        </p:nvSpPr>
        <p:spPr>
          <a:xfrm>
            <a:off x="108001" y="9817023"/>
            <a:ext cx="2254200" cy="12125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963"/>
              </a:lnSpc>
            </a:pPr>
            <a:r>
              <a:rPr lang="en-US" sz="802" dirty="0">
                <a:solidFill>
                  <a:srgbClr val="2D2D2D"/>
                </a:solidFill>
                <a:latin typeface="Avenir"/>
                <a:ea typeface="Avenir"/>
                <a:cs typeface="Avenir"/>
                <a:sym typeface="Avenir"/>
              </a:rPr>
              <a:t>STORE Managed since {{FACILITYOPENDATE}}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580499" y="5963233"/>
            <a:ext cx="1238901" cy="12125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963"/>
              </a:lnSpc>
            </a:pPr>
            <a:r>
              <a:rPr lang="en-US" sz="802" dirty="0">
                <a:solidFill>
                  <a:srgbClr val="2D2D2D"/>
                </a:solidFill>
                <a:latin typeface="Avenir"/>
                <a:ea typeface="Avenir"/>
                <a:cs typeface="Avenir"/>
                <a:sym typeface="Avenir"/>
              </a:rPr>
              <a:t>Net </a:t>
            </a:r>
            <a:r>
              <a:rPr lang="en-US" sz="802">
                <a:solidFill>
                  <a:srgbClr val="2D2D2D"/>
                </a:solidFill>
                <a:latin typeface="Avenir"/>
                <a:ea typeface="Avenir"/>
                <a:cs typeface="Avenir"/>
                <a:sym typeface="Avenir"/>
              </a:rPr>
              <a:t>Rental Income</a:t>
            </a:r>
            <a:endParaRPr lang="en-US" sz="802" dirty="0">
              <a:solidFill>
                <a:srgbClr val="2D2D2D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8" name="TextBox 18"/>
          <p:cNvSpPr txBox="1"/>
          <p:nvPr/>
        </p:nvSpPr>
        <p:spPr>
          <a:xfrm>
            <a:off x="5029200" y="5965032"/>
            <a:ext cx="1238901" cy="12125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963"/>
              </a:lnSpc>
            </a:pPr>
            <a:r>
              <a:rPr lang="en-US" sz="802" dirty="0">
                <a:solidFill>
                  <a:srgbClr val="2D2D2D"/>
                </a:solidFill>
                <a:latin typeface="Avenir"/>
                <a:ea typeface="Avenir"/>
                <a:cs typeface="Avenir"/>
                <a:sym typeface="Avenir"/>
              </a:rPr>
              <a:t>Occupancy / RSF</a:t>
            </a:r>
          </a:p>
        </p:txBody>
      </p:sp>
      <p:sp>
        <p:nvSpPr>
          <p:cNvPr id="19" name="TextBox 16">
            <a:extLst>
              <a:ext uri="{FF2B5EF4-FFF2-40B4-BE49-F238E27FC236}">
                <a16:creationId xmlns:a16="http://schemas.microsoft.com/office/drawing/2014/main" id="{4302E7E9-F453-4B4E-1E4F-2C5DF336E1A6}"/>
              </a:ext>
            </a:extLst>
          </p:cNvPr>
          <p:cNvSpPr txBox="1"/>
          <p:nvPr/>
        </p:nvSpPr>
        <p:spPr>
          <a:xfrm>
            <a:off x="3962401" y="9558940"/>
            <a:ext cx="3948112" cy="38927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963"/>
              </a:lnSpc>
            </a:pPr>
            <a:r>
              <a:rPr lang="en-US" sz="700" i="1" dirty="0">
                <a:solidFill>
                  <a:srgbClr val="2D2D2D"/>
                </a:solidFill>
                <a:latin typeface="Avenir"/>
                <a:ea typeface="Avenir"/>
                <a:cs typeface="Avenir"/>
                <a:sym typeface="Avenir"/>
              </a:rPr>
              <a:t>Total income from occupied space at in-place rents, including approved rate increases </a:t>
            </a:r>
            <a:r>
              <a:rPr lang="en-US" sz="1000" dirty="0">
                <a:solidFill>
                  <a:srgbClr val="2D2D2D"/>
                </a:solidFill>
                <a:latin typeface="Avenir" panose="020B0604020202020204" charset="0"/>
              </a:rPr>
              <a:t>¹</a:t>
            </a:r>
          </a:p>
          <a:p>
            <a:pPr>
              <a:lnSpc>
                <a:spcPts val="963"/>
              </a:lnSpc>
            </a:pPr>
            <a:r>
              <a:rPr lang="en-US" sz="700" i="1" dirty="0">
                <a:solidFill>
                  <a:srgbClr val="2D2D2D"/>
                </a:solidFill>
                <a:latin typeface="Avenir"/>
                <a:sym typeface="Avenir"/>
              </a:rPr>
              <a:t>Total income if all vacant spaces were leased at the sell (current) rate plus </a:t>
            </a:r>
            <a:r>
              <a:rPr lang="en-US" sz="700" i="1" dirty="0" err="1">
                <a:solidFill>
                  <a:srgbClr val="2D2D2D"/>
                </a:solidFill>
                <a:latin typeface="Avenir"/>
                <a:sym typeface="Avenir"/>
              </a:rPr>
              <a:t>proj</a:t>
            </a:r>
            <a:r>
              <a:rPr lang="en-US" sz="700" i="1" dirty="0">
                <a:solidFill>
                  <a:srgbClr val="2D2D2D"/>
                </a:solidFill>
                <a:latin typeface="Avenir"/>
                <a:sym typeface="Avenir"/>
              </a:rPr>
              <a:t>. rent </a:t>
            </a:r>
            <a:r>
              <a:rPr lang="en-US" sz="1000" dirty="0">
                <a:solidFill>
                  <a:srgbClr val="2D2D2D"/>
                </a:solidFill>
                <a:latin typeface="Avenir" panose="020B0604020202020204" charset="0"/>
              </a:rPr>
              <a:t>²</a:t>
            </a:r>
          </a:p>
          <a:p>
            <a:pPr>
              <a:lnSpc>
                <a:spcPts val="963"/>
              </a:lnSpc>
            </a:pPr>
            <a:r>
              <a:rPr lang="en-US" sz="700" i="1" dirty="0">
                <a:solidFill>
                  <a:srgbClr val="2D2D2D"/>
                </a:solidFill>
                <a:latin typeface="Avenir"/>
                <a:ea typeface="Avenir"/>
                <a:cs typeface="Avenir"/>
                <a:sym typeface="Avenir"/>
              </a:rPr>
              <a:t>Projected total income assuming 100% occupancy at the set (target) rental rates </a:t>
            </a:r>
            <a:r>
              <a:rPr lang="en-US" sz="1000" dirty="0">
                <a:solidFill>
                  <a:srgbClr val="2D2D2D"/>
                </a:solidFill>
                <a:latin typeface="Avenir" panose="020B0604020202020204" charset="0"/>
              </a:rPr>
              <a:t>³</a:t>
            </a:r>
            <a:endParaRPr lang="en-US" sz="1000" dirty="0">
              <a:solidFill>
                <a:srgbClr val="2D2D2D"/>
              </a:solidFill>
              <a:latin typeface="Avenir" panose="020B0604020202020204" charset="0"/>
              <a:ea typeface="Avenir"/>
              <a:cs typeface="Avenir"/>
              <a:sym typeface="Avenir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122</TotalTime>
  <Words>204</Words>
  <Application>Microsoft Office PowerPoint</Application>
  <PresentationFormat>Custom</PresentationFormat>
  <Paragraphs>49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Calibri</vt:lpstr>
      <vt:lpstr>Avenir Bold</vt:lpstr>
      <vt:lpstr>Arial</vt:lpstr>
      <vt:lpstr>Avenir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Flash Report Template</dc:title>
  <cp:lastModifiedBy>Alex Burke</cp:lastModifiedBy>
  <cp:revision>81</cp:revision>
  <dcterms:created xsi:type="dcterms:W3CDTF">2006-08-16T00:00:00Z</dcterms:created>
  <dcterms:modified xsi:type="dcterms:W3CDTF">2026-04-07T21:58:43Z</dcterms:modified>
  <dc:identifier>DAG4_bah0d8</dc:identifier>
</cp:coreProperties>
</file>