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772400" cy="10058400"/>
  <p:notesSz cx="6858000" cy="9144000"/>
  <p:embeddedFontLst>
    <p:embeddedFont>
      <p:font typeface="Arimo" charset="1" panose="020B0604020202020204"/>
      <p:regular r:id="rId7"/>
    </p:embeddedFont>
    <p:embeddedFont>
      <p:font typeface="Arimo Bold" charset="1" panose="020B07040202020202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6302" y="1054996"/>
            <a:ext cx="6605195" cy="9556"/>
            <a:chOff x="0" y="0"/>
            <a:chExt cx="8806927" cy="127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06942" cy="12700"/>
            </a:xfrm>
            <a:custGeom>
              <a:avLst/>
              <a:gdLst/>
              <a:ahLst/>
              <a:cxnLst/>
              <a:rect r="r" b="b" t="t" l="l"/>
              <a:pathLst>
                <a:path h="12700" w="8806942">
                  <a:moveTo>
                    <a:pt x="0" y="0"/>
                  </a:moveTo>
                  <a:lnTo>
                    <a:pt x="8806942" y="0"/>
                  </a:lnTo>
                  <a:lnTo>
                    <a:pt x="88069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7C7C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91524" y="1233696"/>
            <a:ext cx="6614751" cy="422381"/>
            <a:chOff x="0" y="0"/>
            <a:chExt cx="8819669" cy="5631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" y="6350"/>
              <a:ext cx="8806942" cy="550418"/>
            </a:xfrm>
            <a:custGeom>
              <a:avLst/>
              <a:gdLst/>
              <a:ahLst/>
              <a:cxnLst/>
              <a:rect r="r" b="b" t="t" l="l"/>
              <a:pathLst>
                <a:path h="550418" w="8806942">
                  <a:moveTo>
                    <a:pt x="0" y="91821"/>
                  </a:moveTo>
                  <a:cubicBezTo>
                    <a:pt x="0" y="41148"/>
                    <a:pt x="42037" y="0"/>
                    <a:pt x="93726" y="0"/>
                  </a:cubicBezTo>
                  <a:lnTo>
                    <a:pt x="8713216" y="0"/>
                  </a:lnTo>
                  <a:cubicBezTo>
                    <a:pt x="8765032" y="0"/>
                    <a:pt x="8806942" y="41021"/>
                    <a:pt x="8806942" y="91694"/>
                  </a:cubicBezTo>
                  <a:lnTo>
                    <a:pt x="8806942" y="458724"/>
                  </a:lnTo>
                  <a:cubicBezTo>
                    <a:pt x="8806942" y="509397"/>
                    <a:pt x="8765032" y="550418"/>
                    <a:pt x="8713216" y="550418"/>
                  </a:cubicBezTo>
                  <a:lnTo>
                    <a:pt x="93726" y="550418"/>
                  </a:lnTo>
                  <a:cubicBezTo>
                    <a:pt x="42037" y="550418"/>
                    <a:pt x="0" y="509397"/>
                    <a:pt x="0" y="458724"/>
                  </a:cubicBezTo>
                  <a:close/>
                </a:path>
              </a:pathLst>
            </a:custGeom>
            <a:solidFill>
              <a:srgbClr val="3B52A1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819642" cy="563245"/>
            </a:xfrm>
            <a:custGeom>
              <a:avLst/>
              <a:gdLst/>
              <a:ahLst/>
              <a:cxnLst/>
              <a:rect r="r" b="b" t="t" l="l"/>
              <a:pathLst>
                <a:path h="563245" w="8819642">
                  <a:moveTo>
                    <a:pt x="0" y="98171"/>
                  </a:moveTo>
                  <a:cubicBezTo>
                    <a:pt x="0" y="43815"/>
                    <a:pt x="44958" y="0"/>
                    <a:pt x="100076" y="0"/>
                  </a:cubicBezTo>
                  <a:lnTo>
                    <a:pt x="8719566" y="0"/>
                  </a:lnTo>
                  <a:lnTo>
                    <a:pt x="8719566" y="6350"/>
                  </a:lnTo>
                  <a:lnTo>
                    <a:pt x="8719566" y="0"/>
                  </a:lnTo>
                  <a:cubicBezTo>
                    <a:pt x="8774684" y="0"/>
                    <a:pt x="8819642" y="43815"/>
                    <a:pt x="8819642" y="98171"/>
                  </a:cubicBezTo>
                  <a:lnTo>
                    <a:pt x="8813292" y="98171"/>
                  </a:lnTo>
                  <a:lnTo>
                    <a:pt x="8819642" y="98171"/>
                  </a:lnTo>
                  <a:lnTo>
                    <a:pt x="8819642" y="465074"/>
                  </a:lnTo>
                  <a:lnTo>
                    <a:pt x="8813292" y="465074"/>
                  </a:lnTo>
                  <a:lnTo>
                    <a:pt x="8819642" y="465074"/>
                  </a:lnTo>
                  <a:cubicBezTo>
                    <a:pt x="8819642" y="519430"/>
                    <a:pt x="8774684" y="563245"/>
                    <a:pt x="8719566" y="563245"/>
                  </a:cubicBezTo>
                  <a:lnTo>
                    <a:pt x="8719566" y="556895"/>
                  </a:lnTo>
                  <a:lnTo>
                    <a:pt x="8719566" y="563245"/>
                  </a:lnTo>
                  <a:lnTo>
                    <a:pt x="100076" y="563245"/>
                  </a:lnTo>
                  <a:lnTo>
                    <a:pt x="100076" y="556895"/>
                  </a:lnTo>
                  <a:lnTo>
                    <a:pt x="100076" y="563245"/>
                  </a:lnTo>
                  <a:cubicBezTo>
                    <a:pt x="44958" y="563118"/>
                    <a:pt x="0" y="519430"/>
                    <a:pt x="0" y="465074"/>
                  </a:cubicBezTo>
                  <a:lnTo>
                    <a:pt x="0" y="98171"/>
                  </a:lnTo>
                  <a:lnTo>
                    <a:pt x="6350" y="98171"/>
                  </a:lnTo>
                  <a:lnTo>
                    <a:pt x="0" y="98171"/>
                  </a:lnTo>
                  <a:moveTo>
                    <a:pt x="12700" y="98171"/>
                  </a:moveTo>
                  <a:lnTo>
                    <a:pt x="12700" y="465074"/>
                  </a:lnTo>
                  <a:lnTo>
                    <a:pt x="6350" y="465074"/>
                  </a:lnTo>
                  <a:lnTo>
                    <a:pt x="12700" y="465074"/>
                  </a:lnTo>
                  <a:cubicBezTo>
                    <a:pt x="12700" y="512064"/>
                    <a:pt x="51689" y="550418"/>
                    <a:pt x="100076" y="550418"/>
                  </a:cubicBezTo>
                  <a:lnTo>
                    <a:pt x="8719566" y="550418"/>
                  </a:lnTo>
                  <a:cubicBezTo>
                    <a:pt x="8767953" y="550418"/>
                    <a:pt x="8806942" y="512064"/>
                    <a:pt x="8806942" y="465074"/>
                  </a:cubicBezTo>
                  <a:lnTo>
                    <a:pt x="8806942" y="98171"/>
                  </a:lnTo>
                  <a:cubicBezTo>
                    <a:pt x="8806942" y="51181"/>
                    <a:pt x="8767953" y="12827"/>
                    <a:pt x="8719566" y="12827"/>
                  </a:cubicBezTo>
                  <a:lnTo>
                    <a:pt x="100076" y="12827"/>
                  </a:lnTo>
                  <a:lnTo>
                    <a:pt x="100076" y="6350"/>
                  </a:lnTo>
                  <a:lnTo>
                    <a:pt x="100076" y="12700"/>
                  </a:lnTo>
                  <a:cubicBezTo>
                    <a:pt x="51689" y="12700"/>
                    <a:pt x="12700" y="51054"/>
                    <a:pt x="12700" y="98171"/>
                  </a:cubicBezTo>
                  <a:close/>
                </a:path>
              </a:pathLst>
            </a:custGeom>
            <a:solidFill>
              <a:srgbClr val="007A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8819669" cy="582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44"/>
                </a:lnSpc>
              </a:pPr>
              <a:r>
                <a:rPr lang="en-US" sz="120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Flash Report · {{FACILITY_CODE}} · {{FACILITY_SHORT_NAME}}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596302" y="1743038"/>
          <a:ext cx="6600099" cy="815456"/>
        </p:xfrm>
        <a:graphic>
          <a:graphicData uri="http://schemas.openxmlformats.org/drawingml/2006/table">
            <a:tbl>
              <a:tblPr/>
              <a:tblGrid>
                <a:gridCol w="942871"/>
                <a:gridCol w="942871"/>
                <a:gridCol w="942871"/>
                <a:gridCol w="942871"/>
                <a:gridCol w="942871"/>
                <a:gridCol w="942871"/>
                <a:gridCol w="942876"/>
              </a:tblGrid>
              <a:tr h="4077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MTD Rentals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Daily Rentals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Daily Res.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RYTBMI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MTD Vacates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Daily Vacates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MTD Net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7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{{MTD_RENTALS}}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{{DAILY_RENTALS}}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{{DAILY_RES}}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{{RYTBMI}}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{{MTD_VACATES}}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{{DAILY_VACATES}}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{{MTD_NET_RENTALS}}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596302" y="2660426"/>
          <a:ext cx="6600099" cy="815456"/>
        </p:xfrm>
        <a:graphic>
          <a:graphicData uri="http://schemas.openxmlformats.org/drawingml/2006/table">
            <a:tbl>
              <a:tblPr/>
              <a:tblGrid>
                <a:gridCol w="942871"/>
                <a:gridCol w="942871"/>
                <a:gridCol w="942871"/>
                <a:gridCol w="942871"/>
                <a:gridCol w="942871"/>
                <a:gridCol w="942871"/>
                <a:gridCol w="942876"/>
              </a:tblGrid>
              <a:tr h="4077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Total RSF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Occ RSF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RSF Occ 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MoM Occ Δ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Occ Units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PM Occ Units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AR &gt; 30d 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7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{{TOTAL_RSF}}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{{OCC_RSF}}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{{RSF_OCC_PCT}}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{{MOM_OCC_GROWTH_PCT}}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{{OCC_UNITS}}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{{PM_OCC_UNITS}}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{{AR_OVER_30_DAYS_PCT}}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0" id="10"/>
          <p:cNvGrpSpPr/>
          <p:nvPr/>
        </p:nvGrpSpPr>
        <p:grpSpPr>
          <a:xfrm rot="0">
            <a:off x="591524" y="3848253"/>
            <a:ext cx="3174546" cy="2761721"/>
            <a:chOff x="0" y="0"/>
            <a:chExt cx="4232727" cy="36822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4219956" cy="3669538"/>
            </a:xfrm>
            <a:custGeom>
              <a:avLst/>
              <a:gdLst/>
              <a:ahLst/>
              <a:cxnLst/>
              <a:rect r="r" b="b" t="t" l="l"/>
              <a:pathLst>
                <a:path h="3669538" w="4219956">
                  <a:moveTo>
                    <a:pt x="0" y="611632"/>
                  </a:moveTo>
                  <a:cubicBezTo>
                    <a:pt x="0" y="273812"/>
                    <a:pt x="273939" y="0"/>
                    <a:pt x="611886" y="0"/>
                  </a:cubicBezTo>
                  <a:lnTo>
                    <a:pt x="3608070" y="0"/>
                  </a:lnTo>
                  <a:cubicBezTo>
                    <a:pt x="3946017" y="0"/>
                    <a:pt x="4219956" y="273812"/>
                    <a:pt x="4219956" y="611632"/>
                  </a:cubicBezTo>
                  <a:lnTo>
                    <a:pt x="4219956" y="3057906"/>
                  </a:lnTo>
                  <a:cubicBezTo>
                    <a:pt x="4219956" y="3395726"/>
                    <a:pt x="3946017" y="3669538"/>
                    <a:pt x="3608070" y="3669538"/>
                  </a:cubicBezTo>
                  <a:lnTo>
                    <a:pt x="611886" y="3669538"/>
                  </a:lnTo>
                  <a:cubicBezTo>
                    <a:pt x="273939" y="3669538"/>
                    <a:pt x="0" y="3395726"/>
                    <a:pt x="0" y="3057906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32656" cy="3682238"/>
            </a:xfrm>
            <a:custGeom>
              <a:avLst/>
              <a:gdLst/>
              <a:ahLst/>
              <a:cxnLst/>
              <a:rect r="r" b="b" t="t" l="l"/>
              <a:pathLst>
                <a:path h="3682238" w="4232656">
                  <a:moveTo>
                    <a:pt x="0" y="617982"/>
                  </a:moveTo>
                  <a:cubicBezTo>
                    <a:pt x="0" y="276733"/>
                    <a:pt x="276860" y="0"/>
                    <a:pt x="618236" y="0"/>
                  </a:cubicBezTo>
                  <a:lnTo>
                    <a:pt x="3614420" y="0"/>
                  </a:lnTo>
                  <a:lnTo>
                    <a:pt x="3614420" y="6350"/>
                  </a:lnTo>
                  <a:lnTo>
                    <a:pt x="3614420" y="0"/>
                  </a:lnTo>
                  <a:lnTo>
                    <a:pt x="3614420" y="6350"/>
                  </a:lnTo>
                  <a:lnTo>
                    <a:pt x="3614420" y="0"/>
                  </a:lnTo>
                  <a:cubicBezTo>
                    <a:pt x="3955923" y="0"/>
                    <a:pt x="4232656" y="276733"/>
                    <a:pt x="4232656" y="617982"/>
                  </a:cubicBezTo>
                  <a:lnTo>
                    <a:pt x="4226306" y="617982"/>
                  </a:lnTo>
                  <a:lnTo>
                    <a:pt x="4232656" y="617982"/>
                  </a:lnTo>
                  <a:lnTo>
                    <a:pt x="4232656" y="3064256"/>
                  </a:lnTo>
                  <a:lnTo>
                    <a:pt x="4226306" y="3064256"/>
                  </a:lnTo>
                  <a:lnTo>
                    <a:pt x="4232656" y="3064256"/>
                  </a:lnTo>
                  <a:cubicBezTo>
                    <a:pt x="4232656" y="3405505"/>
                    <a:pt x="3955796" y="3682238"/>
                    <a:pt x="3614420" y="3682238"/>
                  </a:cubicBezTo>
                  <a:lnTo>
                    <a:pt x="3614420" y="3675888"/>
                  </a:lnTo>
                  <a:lnTo>
                    <a:pt x="3614420" y="3682238"/>
                  </a:lnTo>
                  <a:lnTo>
                    <a:pt x="618236" y="3682238"/>
                  </a:lnTo>
                  <a:lnTo>
                    <a:pt x="618236" y="3675888"/>
                  </a:lnTo>
                  <a:lnTo>
                    <a:pt x="618236" y="3682238"/>
                  </a:lnTo>
                  <a:cubicBezTo>
                    <a:pt x="276860" y="3682238"/>
                    <a:pt x="0" y="3405632"/>
                    <a:pt x="0" y="3064256"/>
                  </a:cubicBezTo>
                  <a:lnTo>
                    <a:pt x="0" y="617982"/>
                  </a:lnTo>
                  <a:lnTo>
                    <a:pt x="6350" y="617982"/>
                  </a:lnTo>
                  <a:lnTo>
                    <a:pt x="0" y="617982"/>
                  </a:lnTo>
                  <a:moveTo>
                    <a:pt x="12700" y="617982"/>
                  </a:moveTo>
                  <a:lnTo>
                    <a:pt x="12700" y="3064256"/>
                  </a:lnTo>
                  <a:lnTo>
                    <a:pt x="6350" y="3064256"/>
                  </a:lnTo>
                  <a:lnTo>
                    <a:pt x="12700" y="3064256"/>
                  </a:lnTo>
                  <a:cubicBezTo>
                    <a:pt x="12700" y="3398520"/>
                    <a:pt x="283845" y="3669538"/>
                    <a:pt x="618236" y="3669538"/>
                  </a:cubicBezTo>
                  <a:lnTo>
                    <a:pt x="3614420" y="3669538"/>
                  </a:lnTo>
                  <a:cubicBezTo>
                    <a:pt x="3948811" y="3669538"/>
                    <a:pt x="4219956" y="3398520"/>
                    <a:pt x="4219956" y="3064256"/>
                  </a:cubicBezTo>
                  <a:lnTo>
                    <a:pt x="4219956" y="617982"/>
                  </a:lnTo>
                  <a:cubicBezTo>
                    <a:pt x="4219956" y="283718"/>
                    <a:pt x="3948938" y="12700"/>
                    <a:pt x="3614420" y="12700"/>
                  </a:cubicBezTo>
                  <a:lnTo>
                    <a:pt x="618236" y="12700"/>
                  </a:lnTo>
                  <a:lnTo>
                    <a:pt x="618236" y="6350"/>
                  </a:lnTo>
                  <a:lnTo>
                    <a:pt x="618236" y="12700"/>
                  </a:lnTo>
                  <a:cubicBezTo>
                    <a:pt x="283845" y="12700"/>
                    <a:pt x="12700" y="283718"/>
                    <a:pt x="12700" y="617982"/>
                  </a:cubicBezTo>
                  <a:close/>
                </a:path>
              </a:pathLst>
            </a:custGeom>
            <a:solidFill>
              <a:srgbClr val="C7C7CC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4232727" cy="37013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324"/>
                </a:lnSpc>
              </a:pPr>
              <a:r>
                <a:rPr lang="en-US" sz="1103" b="true">
                  <a:solidFill>
                    <a:srgbClr val="2C2C2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Rentals by Month</a:t>
              </a:r>
            </a:p>
            <a:p>
              <a:pPr algn="l">
                <a:lnSpc>
                  <a:spcPts val="1083"/>
                </a:lnSpc>
              </a:pPr>
              <a:r>
                <a:rPr lang="en-US" sz="902">
                  <a:solidFill>
                    <a:srgbClr val="8E8E93"/>
                  </a:solidFill>
                  <a:latin typeface="Arimo"/>
                  <a:ea typeface="Arimo"/>
                  <a:cs typeface="Arimo"/>
                  <a:sym typeface="Arimo"/>
                </a:rPr>
                <a:t>Series token: {{RENTALS_BY_MONTH_SERIES}}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31730" y="3848253"/>
            <a:ext cx="3174546" cy="2761721"/>
            <a:chOff x="0" y="0"/>
            <a:chExt cx="4232727" cy="368229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" y="6350"/>
              <a:ext cx="4219956" cy="3669538"/>
            </a:xfrm>
            <a:custGeom>
              <a:avLst/>
              <a:gdLst/>
              <a:ahLst/>
              <a:cxnLst/>
              <a:rect r="r" b="b" t="t" l="l"/>
              <a:pathLst>
                <a:path h="3669538" w="4219956">
                  <a:moveTo>
                    <a:pt x="0" y="611632"/>
                  </a:moveTo>
                  <a:cubicBezTo>
                    <a:pt x="0" y="273812"/>
                    <a:pt x="273939" y="0"/>
                    <a:pt x="611886" y="0"/>
                  </a:cubicBezTo>
                  <a:lnTo>
                    <a:pt x="3608070" y="0"/>
                  </a:lnTo>
                  <a:cubicBezTo>
                    <a:pt x="3946017" y="0"/>
                    <a:pt x="4219956" y="273812"/>
                    <a:pt x="4219956" y="611632"/>
                  </a:cubicBezTo>
                  <a:lnTo>
                    <a:pt x="4219956" y="3057906"/>
                  </a:lnTo>
                  <a:cubicBezTo>
                    <a:pt x="4219956" y="3395726"/>
                    <a:pt x="3946017" y="3669538"/>
                    <a:pt x="3608070" y="3669538"/>
                  </a:cubicBezTo>
                  <a:lnTo>
                    <a:pt x="611886" y="3669538"/>
                  </a:lnTo>
                  <a:cubicBezTo>
                    <a:pt x="273939" y="3669538"/>
                    <a:pt x="0" y="3395726"/>
                    <a:pt x="0" y="3057906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32656" cy="3682238"/>
            </a:xfrm>
            <a:custGeom>
              <a:avLst/>
              <a:gdLst/>
              <a:ahLst/>
              <a:cxnLst/>
              <a:rect r="r" b="b" t="t" l="l"/>
              <a:pathLst>
                <a:path h="3682238" w="4232656">
                  <a:moveTo>
                    <a:pt x="0" y="617982"/>
                  </a:moveTo>
                  <a:cubicBezTo>
                    <a:pt x="0" y="276733"/>
                    <a:pt x="276860" y="0"/>
                    <a:pt x="618236" y="0"/>
                  </a:cubicBezTo>
                  <a:lnTo>
                    <a:pt x="3614420" y="0"/>
                  </a:lnTo>
                  <a:lnTo>
                    <a:pt x="3614420" y="6350"/>
                  </a:lnTo>
                  <a:lnTo>
                    <a:pt x="3614420" y="0"/>
                  </a:lnTo>
                  <a:lnTo>
                    <a:pt x="3614420" y="6350"/>
                  </a:lnTo>
                  <a:lnTo>
                    <a:pt x="3614420" y="0"/>
                  </a:lnTo>
                  <a:cubicBezTo>
                    <a:pt x="3955923" y="0"/>
                    <a:pt x="4232656" y="276733"/>
                    <a:pt x="4232656" y="617982"/>
                  </a:cubicBezTo>
                  <a:lnTo>
                    <a:pt x="4226306" y="617982"/>
                  </a:lnTo>
                  <a:lnTo>
                    <a:pt x="4232656" y="617982"/>
                  </a:lnTo>
                  <a:lnTo>
                    <a:pt x="4232656" y="3064256"/>
                  </a:lnTo>
                  <a:lnTo>
                    <a:pt x="4226306" y="3064256"/>
                  </a:lnTo>
                  <a:lnTo>
                    <a:pt x="4232656" y="3064256"/>
                  </a:lnTo>
                  <a:cubicBezTo>
                    <a:pt x="4232656" y="3405505"/>
                    <a:pt x="3955796" y="3682238"/>
                    <a:pt x="3614420" y="3682238"/>
                  </a:cubicBezTo>
                  <a:lnTo>
                    <a:pt x="3614420" y="3675888"/>
                  </a:lnTo>
                  <a:lnTo>
                    <a:pt x="3614420" y="3682238"/>
                  </a:lnTo>
                  <a:lnTo>
                    <a:pt x="618236" y="3682238"/>
                  </a:lnTo>
                  <a:lnTo>
                    <a:pt x="618236" y="3675888"/>
                  </a:lnTo>
                  <a:lnTo>
                    <a:pt x="618236" y="3682238"/>
                  </a:lnTo>
                  <a:cubicBezTo>
                    <a:pt x="276860" y="3682238"/>
                    <a:pt x="0" y="3405632"/>
                    <a:pt x="0" y="3064256"/>
                  </a:cubicBezTo>
                  <a:lnTo>
                    <a:pt x="0" y="617982"/>
                  </a:lnTo>
                  <a:lnTo>
                    <a:pt x="6350" y="617982"/>
                  </a:lnTo>
                  <a:lnTo>
                    <a:pt x="0" y="617982"/>
                  </a:lnTo>
                  <a:moveTo>
                    <a:pt x="12700" y="617982"/>
                  </a:moveTo>
                  <a:lnTo>
                    <a:pt x="12700" y="3064256"/>
                  </a:lnTo>
                  <a:lnTo>
                    <a:pt x="6350" y="3064256"/>
                  </a:lnTo>
                  <a:lnTo>
                    <a:pt x="12700" y="3064256"/>
                  </a:lnTo>
                  <a:cubicBezTo>
                    <a:pt x="12700" y="3398520"/>
                    <a:pt x="283845" y="3669538"/>
                    <a:pt x="618236" y="3669538"/>
                  </a:cubicBezTo>
                  <a:lnTo>
                    <a:pt x="3614420" y="3669538"/>
                  </a:lnTo>
                  <a:cubicBezTo>
                    <a:pt x="3948811" y="3669538"/>
                    <a:pt x="4219956" y="3398520"/>
                    <a:pt x="4219956" y="3064256"/>
                  </a:cubicBezTo>
                  <a:lnTo>
                    <a:pt x="4219956" y="617982"/>
                  </a:lnTo>
                  <a:cubicBezTo>
                    <a:pt x="4219956" y="283718"/>
                    <a:pt x="3948938" y="12700"/>
                    <a:pt x="3614420" y="12700"/>
                  </a:cubicBezTo>
                  <a:lnTo>
                    <a:pt x="618236" y="12700"/>
                  </a:lnTo>
                  <a:lnTo>
                    <a:pt x="618236" y="6350"/>
                  </a:lnTo>
                  <a:lnTo>
                    <a:pt x="618236" y="12700"/>
                  </a:lnTo>
                  <a:cubicBezTo>
                    <a:pt x="283845" y="12700"/>
                    <a:pt x="12700" y="283718"/>
                    <a:pt x="12700" y="617982"/>
                  </a:cubicBezTo>
                  <a:close/>
                </a:path>
              </a:pathLst>
            </a:custGeom>
            <a:solidFill>
              <a:srgbClr val="C7C7CC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4232727" cy="37013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324"/>
                </a:lnSpc>
              </a:pPr>
              <a:r>
                <a:rPr lang="en-US" sz="1103" b="true">
                  <a:solidFill>
                    <a:srgbClr val="2C2C2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Vacates by Month</a:t>
              </a:r>
            </a:p>
            <a:p>
              <a:pPr algn="l">
                <a:lnSpc>
                  <a:spcPts val="1083"/>
                </a:lnSpc>
              </a:pPr>
              <a:r>
                <a:rPr lang="en-US" sz="902">
                  <a:solidFill>
                    <a:srgbClr val="8E8E93"/>
                  </a:solidFill>
                  <a:latin typeface="Arimo"/>
                  <a:ea typeface="Arimo"/>
                  <a:cs typeface="Arimo"/>
                  <a:sym typeface="Arimo"/>
                </a:rPr>
                <a:t>Series token: {{VACATES_BY_MONTH_SERIES}}</a:t>
              </a:r>
            </a:p>
          </p:txBody>
        </p:sp>
      </p:grpSp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586151" y="6781423"/>
          <a:ext cx="6600099" cy="815456"/>
        </p:xfrm>
        <a:graphic>
          <a:graphicData uri="http://schemas.openxmlformats.org/drawingml/2006/table">
            <a:tbl>
              <a:tblPr/>
              <a:tblGrid>
                <a:gridCol w="942871"/>
                <a:gridCol w="942871"/>
                <a:gridCol w="942871"/>
                <a:gridCol w="942871"/>
                <a:gridCol w="942871"/>
                <a:gridCol w="942871"/>
                <a:gridCol w="942876"/>
              </a:tblGrid>
              <a:tr h="4077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Proj. Rent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Proj. Rent / SF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Proj. Rent MoM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Gross Pot. Rent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GPR / SF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GPR MoM%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Econ Occ.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7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{{PROJ_RENT}}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{{PROJ_RENT_PER_SF}}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{{PROJ_RENT_MOM_PCT}}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{{GROSS_POT_RENT}}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{{GPR_PER_SF}}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{{GPR_MOM_PCT}}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{{ECON_OCC_PCT}}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9" id="19"/>
          <p:cNvGrpSpPr/>
          <p:nvPr/>
        </p:nvGrpSpPr>
        <p:grpSpPr>
          <a:xfrm rot="0">
            <a:off x="596302" y="7682605"/>
            <a:ext cx="3174546" cy="2211288"/>
            <a:chOff x="0" y="0"/>
            <a:chExt cx="4232727" cy="294838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" y="6350"/>
              <a:ext cx="4220083" cy="2935732"/>
            </a:xfrm>
            <a:custGeom>
              <a:avLst/>
              <a:gdLst/>
              <a:ahLst/>
              <a:cxnLst/>
              <a:rect r="r" b="b" t="t" l="l"/>
              <a:pathLst>
                <a:path h="2935732" w="4220083">
                  <a:moveTo>
                    <a:pt x="0" y="489331"/>
                  </a:moveTo>
                  <a:cubicBezTo>
                    <a:pt x="0" y="219075"/>
                    <a:pt x="219329" y="0"/>
                    <a:pt x="489966" y="0"/>
                  </a:cubicBezTo>
                  <a:lnTo>
                    <a:pt x="3730117" y="0"/>
                  </a:lnTo>
                  <a:cubicBezTo>
                    <a:pt x="4000754" y="0"/>
                    <a:pt x="4220083" y="219075"/>
                    <a:pt x="4220083" y="489331"/>
                  </a:cubicBezTo>
                  <a:lnTo>
                    <a:pt x="4220083" y="2446401"/>
                  </a:lnTo>
                  <a:cubicBezTo>
                    <a:pt x="4220083" y="2716657"/>
                    <a:pt x="4000754" y="2935732"/>
                    <a:pt x="3730117" y="2935732"/>
                  </a:cubicBezTo>
                  <a:lnTo>
                    <a:pt x="489966" y="2935732"/>
                  </a:lnTo>
                  <a:cubicBezTo>
                    <a:pt x="219329" y="2935605"/>
                    <a:pt x="0" y="2716657"/>
                    <a:pt x="0" y="244640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32783" cy="2948432"/>
            </a:xfrm>
            <a:custGeom>
              <a:avLst/>
              <a:gdLst/>
              <a:ahLst/>
              <a:cxnLst/>
              <a:rect r="r" b="b" t="t" l="l"/>
              <a:pathLst>
                <a:path h="2948432" w="4232783">
                  <a:moveTo>
                    <a:pt x="0" y="495681"/>
                  </a:moveTo>
                  <a:cubicBezTo>
                    <a:pt x="0" y="221869"/>
                    <a:pt x="222250" y="0"/>
                    <a:pt x="496316" y="0"/>
                  </a:cubicBezTo>
                  <a:lnTo>
                    <a:pt x="3736467" y="0"/>
                  </a:lnTo>
                  <a:lnTo>
                    <a:pt x="3736467" y="6350"/>
                  </a:lnTo>
                  <a:lnTo>
                    <a:pt x="3736467" y="0"/>
                  </a:lnTo>
                  <a:cubicBezTo>
                    <a:pt x="4010533" y="0"/>
                    <a:pt x="4232783" y="221869"/>
                    <a:pt x="4232783" y="495681"/>
                  </a:cubicBezTo>
                  <a:lnTo>
                    <a:pt x="4226433" y="495681"/>
                  </a:lnTo>
                  <a:lnTo>
                    <a:pt x="4232783" y="495681"/>
                  </a:lnTo>
                  <a:lnTo>
                    <a:pt x="4232783" y="2452751"/>
                  </a:lnTo>
                  <a:lnTo>
                    <a:pt x="4226433" y="2452751"/>
                  </a:lnTo>
                  <a:lnTo>
                    <a:pt x="4232783" y="2452751"/>
                  </a:lnTo>
                  <a:cubicBezTo>
                    <a:pt x="4232783" y="2726563"/>
                    <a:pt x="4010533" y="2948432"/>
                    <a:pt x="3736467" y="2948432"/>
                  </a:cubicBezTo>
                  <a:lnTo>
                    <a:pt x="3736467" y="2942082"/>
                  </a:lnTo>
                  <a:lnTo>
                    <a:pt x="3736467" y="2948432"/>
                  </a:lnTo>
                  <a:lnTo>
                    <a:pt x="496316" y="2948432"/>
                  </a:lnTo>
                  <a:lnTo>
                    <a:pt x="496316" y="2942082"/>
                  </a:lnTo>
                  <a:lnTo>
                    <a:pt x="496316" y="2948432"/>
                  </a:lnTo>
                  <a:cubicBezTo>
                    <a:pt x="222250" y="2948432"/>
                    <a:pt x="0" y="2726436"/>
                    <a:pt x="0" y="2452751"/>
                  </a:cubicBezTo>
                  <a:lnTo>
                    <a:pt x="0" y="495681"/>
                  </a:lnTo>
                  <a:lnTo>
                    <a:pt x="6350" y="495681"/>
                  </a:lnTo>
                  <a:lnTo>
                    <a:pt x="0" y="495681"/>
                  </a:lnTo>
                  <a:moveTo>
                    <a:pt x="12700" y="495681"/>
                  </a:moveTo>
                  <a:lnTo>
                    <a:pt x="12700" y="2452751"/>
                  </a:lnTo>
                  <a:lnTo>
                    <a:pt x="6350" y="2452751"/>
                  </a:lnTo>
                  <a:lnTo>
                    <a:pt x="12700" y="2452751"/>
                  </a:lnTo>
                  <a:cubicBezTo>
                    <a:pt x="12700" y="2719451"/>
                    <a:pt x="229235" y="2935605"/>
                    <a:pt x="496316" y="2935605"/>
                  </a:cubicBezTo>
                  <a:lnTo>
                    <a:pt x="3736467" y="2935605"/>
                  </a:lnTo>
                  <a:cubicBezTo>
                    <a:pt x="4003548" y="2935605"/>
                    <a:pt x="4220083" y="2719451"/>
                    <a:pt x="4220083" y="2452751"/>
                  </a:cubicBezTo>
                  <a:lnTo>
                    <a:pt x="4220083" y="495681"/>
                  </a:lnTo>
                  <a:cubicBezTo>
                    <a:pt x="4220083" y="228981"/>
                    <a:pt x="4003548" y="12827"/>
                    <a:pt x="3736467" y="12827"/>
                  </a:cubicBezTo>
                  <a:lnTo>
                    <a:pt x="496316" y="12827"/>
                  </a:lnTo>
                  <a:lnTo>
                    <a:pt x="496316" y="6350"/>
                  </a:lnTo>
                  <a:lnTo>
                    <a:pt x="496316" y="12700"/>
                  </a:lnTo>
                  <a:cubicBezTo>
                    <a:pt x="229235" y="12700"/>
                    <a:pt x="12700" y="228981"/>
                    <a:pt x="12700" y="495681"/>
                  </a:cubicBezTo>
                  <a:close/>
                </a:path>
              </a:pathLst>
            </a:custGeom>
            <a:solidFill>
              <a:srgbClr val="C7C7CC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4232727" cy="29674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324"/>
                </a:lnSpc>
              </a:pPr>
              <a:r>
                <a:rPr lang="en-US" sz="1103" b="true">
                  <a:solidFill>
                    <a:srgbClr val="2C2C2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RSF Occupancy by Month</a:t>
              </a:r>
            </a:p>
            <a:p>
              <a:pPr algn="l">
                <a:lnSpc>
                  <a:spcPts val="1083"/>
                </a:lnSpc>
              </a:pPr>
              <a:r>
                <a:rPr lang="en-US" sz="902">
                  <a:solidFill>
                    <a:srgbClr val="8E8E93"/>
                  </a:solidFill>
                  <a:latin typeface="Arimo"/>
                  <a:ea typeface="Arimo"/>
                  <a:cs typeface="Arimo"/>
                  <a:sym typeface="Arimo"/>
                </a:rPr>
                <a:t>Series token: {{RSF_OCCUPANCY_BY_MONTH_SERIES}}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011704" y="7682605"/>
            <a:ext cx="3174546" cy="2211288"/>
            <a:chOff x="0" y="0"/>
            <a:chExt cx="4232727" cy="29483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" y="6350"/>
              <a:ext cx="4220083" cy="2935732"/>
            </a:xfrm>
            <a:custGeom>
              <a:avLst/>
              <a:gdLst/>
              <a:ahLst/>
              <a:cxnLst/>
              <a:rect r="r" b="b" t="t" l="l"/>
              <a:pathLst>
                <a:path h="2935732" w="4220083">
                  <a:moveTo>
                    <a:pt x="0" y="489331"/>
                  </a:moveTo>
                  <a:cubicBezTo>
                    <a:pt x="0" y="219075"/>
                    <a:pt x="219329" y="0"/>
                    <a:pt x="489966" y="0"/>
                  </a:cubicBezTo>
                  <a:lnTo>
                    <a:pt x="3730117" y="0"/>
                  </a:lnTo>
                  <a:cubicBezTo>
                    <a:pt x="4000754" y="0"/>
                    <a:pt x="4220083" y="219075"/>
                    <a:pt x="4220083" y="489331"/>
                  </a:cubicBezTo>
                  <a:lnTo>
                    <a:pt x="4220083" y="2446401"/>
                  </a:lnTo>
                  <a:cubicBezTo>
                    <a:pt x="4220083" y="2716657"/>
                    <a:pt x="4000754" y="2935732"/>
                    <a:pt x="3730117" y="2935732"/>
                  </a:cubicBezTo>
                  <a:lnTo>
                    <a:pt x="489966" y="2935732"/>
                  </a:lnTo>
                  <a:cubicBezTo>
                    <a:pt x="219329" y="2935605"/>
                    <a:pt x="0" y="2716657"/>
                    <a:pt x="0" y="244640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32783" cy="2948432"/>
            </a:xfrm>
            <a:custGeom>
              <a:avLst/>
              <a:gdLst/>
              <a:ahLst/>
              <a:cxnLst/>
              <a:rect r="r" b="b" t="t" l="l"/>
              <a:pathLst>
                <a:path h="2948432" w="4232783">
                  <a:moveTo>
                    <a:pt x="0" y="495681"/>
                  </a:moveTo>
                  <a:cubicBezTo>
                    <a:pt x="0" y="221869"/>
                    <a:pt x="222250" y="0"/>
                    <a:pt x="496316" y="0"/>
                  </a:cubicBezTo>
                  <a:lnTo>
                    <a:pt x="3736467" y="0"/>
                  </a:lnTo>
                  <a:lnTo>
                    <a:pt x="3736467" y="6350"/>
                  </a:lnTo>
                  <a:lnTo>
                    <a:pt x="3736467" y="0"/>
                  </a:lnTo>
                  <a:cubicBezTo>
                    <a:pt x="4010533" y="0"/>
                    <a:pt x="4232783" y="221869"/>
                    <a:pt x="4232783" y="495681"/>
                  </a:cubicBezTo>
                  <a:lnTo>
                    <a:pt x="4226433" y="495681"/>
                  </a:lnTo>
                  <a:lnTo>
                    <a:pt x="4232783" y="495681"/>
                  </a:lnTo>
                  <a:lnTo>
                    <a:pt x="4232783" y="2452751"/>
                  </a:lnTo>
                  <a:lnTo>
                    <a:pt x="4226433" y="2452751"/>
                  </a:lnTo>
                  <a:lnTo>
                    <a:pt x="4232783" y="2452751"/>
                  </a:lnTo>
                  <a:cubicBezTo>
                    <a:pt x="4232783" y="2726563"/>
                    <a:pt x="4010533" y="2948432"/>
                    <a:pt x="3736467" y="2948432"/>
                  </a:cubicBezTo>
                  <a:lnTo>
                    <a:pt x="3736467" y="2942082"/>
                  </a:lnTo>
                  <a:lnTo>
                    <a:pt x="3736467" y="2948432"/>
                  </a:lnTo>
                  <a:lnTo>
                    <a:pt x="496316" y="2948432"/>
                  </a:lnTo>
                  <a:lnTo>
                    <a:pt x="496316" y="2942082"/>
                  </a:lnTo>
                  <a:lnTo>
                    <a:pt x="496316" y="2948432"/>
                  </a:lnTo>
                  <a:cubicBezTo>
                    <a:pt x="222250" y="2948432"/>
                    <a:pt x="0" y="2726436"/>
                    <a:pt x="0" y="2452751"/>
                  </a:cubicBezTo>
                  <a:lnTo>
                    <a:pt x="0" y="495681"/>
                  </a:lnTo>
                  <a:lnTo>
                    <a:pt x="6350" y="495681"/>
                  </a:lnTo>
                  <a:lnTo>
                    <a:pt x="0" y="495681"/>
                  </a:lnTo>
                  <a:moveTo>
                    <a:pt x="12700" y="495681"/>
                  </a:moveTo>
                  <a:lnTo>
                    <a:pt x="12700" y="2452751"/>
                  </a:lnTo>
                  <a:lnTo>
                    <a:pt x="6350" y="2452751"/>
                  </a:lnTo>
                  <a:lnTo>
                    <a:pt x="12700" y="2452751"/>
                  </a:lnTo>
                  <a:cubicBezTo>
                    <a:pt x="12700" y="2719451"/>
                    <a:pt x="229235" y="2935605"/>
                    <a:pt x="496316" y="2935605"/>
                  </a:cubicBezTo>
                  <a:lnTo>
                    <a:pt x="3736467" y="2935605"/>
                  </a:lnTo>
                  <a:cubicBezTo>
                    <a:pt x="4003548" y="2935605"/>
                    <a:pt x="4220083" y="2719451"/>
                    <a:pt x="4220083" y="2452751"/>
                  </a:cubicBezTo>
                  <a:lnTo>
                    <a:pt x="4220083" y="495681"/>
                  </a:lnTo>
                  <a:cubicBezTo>
                    <a:pt x="4220083" y="228981"/>
                    <a:pt x="4003548" y="12827"/>
                    <a:pt x="3736467" y="12827"/>
                  </a:cubicBezTo>
                  <a:lnTo>
                    <a:pt x="496316" y="12827"/>
                  </a:lnTo>
                  <a:lnTo>
                    <a:pt x="496316" y="6350"/>
                  </a:lnTo>
                  <a:lnTo>
                    <a:pt x="496316" y="12700"/>
                  </a:lnTo>
                  <a:cubicBezTo>
                    <a:pt x="229235" y="12700"/>
                    <a:pt x="12700" y="228981"/>
                    <a:pt x="12700" y="495681"/>
                  </a:cubicBezTo>
                  <a:close/>
                </a:path>
              </a:pathLst>
            </a:custGeom>
            <a:solidFill>
              <a:srgbClr val="C7C7CC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232727" cy="29674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324"/>
                </a:lnSpc>
              </a:pPr>
              <a:r>
                <a:rPr lang="en-US" sz="1103" b="true">
                  <a:solidFill>
                    <a:srgbClr val="2C2C2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Projected Rental Revenue by Month</a:t>
              </a:r>
            </a:p>
            <a:p>
              <a:pPr algn="l">
                <a:lnSpc>
                  <a:spcPts val="1083"/>
                </a:lnSpc>
              </a:pPr>
              <a:r>
                <a:rPr lang="en-US" sz="902">
                  <a:solidFill>
                    <a:srgbClr val="8E8E93"/>
                  </a:solidFill>
                  <a:latin typeface="Arimo"/>
                  <a:ea typeface="Arimo"/>
                  <a:cs typeface="Arimo"/>
                  <a:sym typeface="Arimo"/>
                </a:rPr>
                <a:t>Series token: {{PROJECTED_RENTAL_REVENUE_SERIES}}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834478" y="531234"/>
            <a:ext cx="5275580" cy="386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26"/>
              </a:lnSpc>
            </a:pPr>
            <a:r>
              <a:rPr lang="en-US" sz="1605" b="true">
                <a:solidFill>
                  <a:srgbClr val="2C2C2E"/>
                </a:solidFill>
                <a:latin typeface="Arimo Bold"/>
                <a:ea typeface="Arimo Bold"/>
                <a:cs typeface="Arimo Bold"/>
                <a:sym typeface="Arimo Bold"/>
              </a:rPr>
              <a:t>Daily Flash Report</a:t>
            </a:r>
          </a:p>
          <a:p>
            <a:pPr algn="r">
              <a:lnSpc>
                <a:spcPts val="1203"/>
              </a:lnSpc>
            </a:pPr>
            <a:r>
              <a:rPr lang="en-US" sz="1003">
                <a:solidFill>
                  <a:srgbClr val="8E8E93"/>
                </a:solidFill>
                <a:latin typeface="Arimo"/>
                <a:ea typeface="Arimo"/>
                <a:cs typeface="Arimo"/>
                <a:sym typeface="Arimo"/>
              </a:rPr>
              <a:t>{{PROPERTY_DISPLAY_NAME}}  ·  As of {{AS_OF_DATE}}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87742" y="9485294"/>
            <a:ext cx="6422315" cy="193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3"/>
              </a:lnSpc>
            </a:pPr>
            <a:r>
              <a:rPr lang="en-US" sz="802">
                <a:solidFill>
                  <a:srgbClr val="8E8E93"/>
                </a:solidFill>
                <a:latin typeface="Arimo"/>
                <a:ea typeface="Arimo"/>
                <a:cs typeface="Arimo"/>
                <a:sym typeface="Arimo"/>
              </a:rPr>
              <a:t>*Facility opened on {{FACILITY_OPEN_DATE}}.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596302" y="188601"/>
            <a:ext cx="2168529" cy="780670"/>
          </a:xfrm>
          <a:custGeom>
            <a:avLst/>
            <a:gdLst/>
            <a:ahLst/>
            <a:cxnLst/>
            <a:rect r="r" b="b" t="t" l="l"/>
            <a:pathLst>
              <a:path h="780670" w="2168529">
                <a:moveTo>
                  <a:pt x="0" y="0"/>
                </a:moveTo>
                <a:lnTo>
                  <a:pt x="2168529" y="0"/>
                </a:lnTo>
                <a:lnTo>
                  <a:pt x="2168529" y="780670"/>
                </a:lnTo>
                <a:lnTo>
                  <a:pt x="0" y="7806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DAG4_bah0d8</dc:identifier>
  <dcterms:modified xsi:type="dcterms:W3CDTF">2011-08-01T06:04:30Z</dcterms:modified>
  <cp:revision>1</cp:revision>
  <dc:title>FlashReportTemplate.pptx</dc:title>
</cp:coreProperties>
</file>