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200" d="100"/>
          <a:sy n="200" d="100"/>
        </p:scale>
        <p:origin x="-102" y="-45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746302"/>
              </p:ext>
            </p:extLst>
          </p:nvPr>
        </p:nvGraphicFramePr>
        <p:xfrm>
          <a:off x="586150" y="8284048"/>
          <a:ext cx="6609972" cy="1204913"/>
        </p:xfrm>
        <a:graphic>
          <a:graphicData uri="http://schemas.openxmlformats.org/drawingml/2006/table">
            <a:tbl>
              <a:tblPr/>
              <a:tblGrid>
                <a:gridCol w="1101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 / SF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 + Pot. Rent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Gross Pot. Rent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2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62401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736648" y="6019800"/>
            <a:ext cx="930352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Net Rental Income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181600" y="6019800"/>
            <a:ext cx="930352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Overall Occupancy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4302E7E9-F453-4B4E-1E4F-2C5DF336E1A6}"/>
              </a:ext>
            </a:extLst>
          </p:cNvPr>
          <p:cNvSpPr txBox="1"/>
          <p:nvPr/>
        </p:nvSpPr>
        <p:spPr>
          <a:xfrm>
            <a:off x="3962401" y="9558940"/>
            <a:ext cx="3948112" cy="3892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income from occupied space at in-place rents, including approved </a:t>
            </a:r>
            <a:r>
              <a:rPr lang="en-US" sz="700" i="1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rate increases </a:t>
            </a:r>
            <a:r>
              <a:rPr lang="en-US" sz="1000" i="1">
                <a:solidFill>
                  <a:srgbClr val="2D2D2D"/>
                </a:solidFill>
              </a:rPr>
              <a:t>¹</a:t>
            </a:r>
            <a:endParaRPr lang="en-US" sz="1000" i="1" dirty="0">
              <a:solidFill>
                <a:srgbClr val="2D2D2D"/>
              </a:solidFill>
            </a:endParaRP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Total income if all vacant spaces were leased at the sell (current) rate plus </a:t>
            </a:r>
            <a:r>
              <a:rPr lang="en-US" sz="700" i="1" dirty="0" err="1">
                <a:solidFill>
                  <a:srgbClr val="2D2D2D"/>
                </a:solidFill>
                <a:latin typeface="Avenir"/>
                <a:sym typeface="Avenir"/>
              </a:rPr>
              <a:t>proj</a:t>
            </a: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. rent </a:t>
            </a:r>
            <a:r>
              <a:rPr lang="en-US" sz="1000" i="1" dirty="0">
                <a:solidFill>
                  <a:srgbClr val="2D2D2D"/>
                </a:solidFill>
              </a:rPr>
              <a:t>²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Projected total income assuming 100% occupancy at the set (target) rental rates </a:t>
            </a:r>
            <a:r>
              <a:rPr lang="en-US" sz="1000" i="1" dirty="0">
                <a:solidFill>
                  <a:srgbClr val="2D2D2D"/>
                </a:solidFill>
              </a:rPr>
              <a:t>³</a:t>
            </a:r>
            <a:endParaRPr lang="en-US" sz="1000" i="1" dirty="0">
              <a:solidFill>
                <a:srgbClr val="2D2D2D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203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Avenir</vt:lpstr>
      <vt:lpstr>Calibri</vt:lpstr>
      <vt:lpstr>Arial</vt:lpstr>
      <vt:lpstr>Avenir 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66</cp:revision>
  <dcterms:created xsi:type="dcterms:W3CDTF">2006-08-16T00:00:00Z</dcterms:created>
  <dcterms:modified xsi:type="dcterms:W3CDTF">2026-01-15T22:03:09Z</dcterms:modified>
  <dc:identifier>DAG4_bah0d8</dc:identifier>
</cp:coreProperties>
</file>