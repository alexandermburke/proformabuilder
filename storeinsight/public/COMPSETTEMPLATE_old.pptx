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7881600" cy="11887200"/>
  <p:notesSz cx="6858000" cy="9144000"/>
  <p:embeddedFontLst>
    <p:embeddedFont>
      <p:font typeface="Avenir" panose="020B0604020202020204" charset="0"/>
      <p:regular r:id="rId3"/>
    </p:embeddedFont>
    <p:embeddedFont>
      <p:font typeface="Avenir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3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72" y="-2142"/>
      </p:cViewPr>
      <p:guideLst>
        <p:guide orient="horz" pos="2553"/>
        <p:guide pos="5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517776"/>
            <a:ext cx="13817600" cy="17373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4592782"/>
            <a:ext cx="11379200" cy="207125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112" y="5208156"/>
            <a:ext cx="13817600" cy="1609725"/>
          </a:xfrm>
        </p:spPr>
        <p:txBody>
          <a:bodyPr anchor="t"/>
          <a:lstStyle>
            <a:lvl1pPr algn="l">
              <a:defRPr sz="711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4112" y="3435208"/>
            <a:ext cx="13817600" cy="1772948"/>
          </a:xfrm>
        </p:spPr>
        <p:txBody>
          <a:bodyPr anchor="b"/>
          <a:lstStyle>
            <a:lvl1pPr marL="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1891147"/>
            <a:ext cx="7179733" cy="5348865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63468" y="1891147"/>
            <a:ext cx="7179733" cy="5348865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814225"/>
            <a:ext cx="7182556" cy="75608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2570307"/>
            <a:ext cx="7182556" cy="4669704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57823" y="1814225"/>
            <a:ext cx="7185378" cy="75608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57823" y="2570307"/>
            <a:ext cx="7185378" cy="4669704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322695"/>
            <a:ext cx="5348112" cy="1373332"/>
          </a:xfrm>
        </p:spPr>
        <p:txBody>
          <a:bodyPr anchor="b"/>
          <a:lstStyle>
            <a:lvl1pPr algn="l">
              <a:defRPr sz="355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5644" y="322697"/>
            <a:ext cx="9087556" cy="6917315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1696029"/>
            <a:ext cx="5348112" cy="5543984"/>
          </a:xfrm>
        </p:spPr>
        <p:txBody>
          <a:bodyPr/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6290" y="5673437"/>
            <a:ext cx="9753600" cy="669781"/>
          </a:xfrm>
        </p:spPr>
        <p:txBody>
          <a:bodyPr anchor="b"/>
          <a:lstStyle>
            <a:lvl1pPr algn="l">
              <a:defRPr sz="355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186290" y="724189"/>
            <a:ext cx="9753600" cy="4862945"/>
          </a:xfrm>
        </p:spPr>
        <p:txBody>
          <a:bodyPr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86290" y="6343217"/>
            <a:ext cx="9753600" cy="951201"/>
          </a:xfrm>
        </p:spPr>
        <p:txBody>
          <a:bodyPr/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324574"/>
            <a:ext cx="3657600" cy="69154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1" y="324574"/>
            <a:ext cx="10701867" cy="69154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324572"/>
            <a:ext cx="14630400" cy="1350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891147"/>
            <a:ext cx="14630400" cy="534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801" y="7512052"/>
            <a:ext cx="3793067" cy="431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54135" y="7512052"/>
            <a:ext cx="5147733" cy="431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50134" y="7512052"/>
            <a:ext cx="3793067" cy="431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625620" rtl="0" eaLnBrk="1" latinLnBrk="0" hangingPunct="1"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1625620" rtl="0" eaLnBrk="1" latinLnBrk="0" hangingPunct="1">
        <a:spcBef>
          <a:spcPct val="20000"/>
        </a:spcBef>
        <a:buFont typeface="Arial" pitchFamily="34" charset="0"/>
        <a:buChar char="•"/>
        <a:defRPr sz="5689" kern="1200">
          <a:solidFill>
            <a:schemeClr val="tx1"/>
          </a:solidFill>
          <a:latin typeface="+mn-lt"/>
          <a:ea typeface="+mn-ea"/>
          <a:cs typeface="+mn-cs"/>
        </a:defRPr>
      </a:lvl1pPr>
      <a:lvl2pPr marL="1320817" indent="-508006" algn="l" defTabSz="1625620" rtl="0" eaLnBrk="1" latinLnBrk="0" hangingPunct="1">
        <a:spcBef>
          <a:spcPct val="20000"/>
        </a:spcBef>
        <a:buFont typeface="Arial" pitchFamily="34" charset="0"/>
        <a:buChar char="–"/>
        <a:defRPr sz="4978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spcBef>
          <a:spcPct val="20000"/>
        </a:spcBef>
        <a:buFont typeface="Arial" pitchFamily="34" charset="0"/>
        <a:buChar char="–"/>
        <a:defRPr sz="3556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spcBef>
          <a:spcPct val="20000"/>
        </a:spcBef>
        <a:buFont typeface="Arial" pitchFamily="34" charset="0"/>
        <a:buChar char="»"/>
        <a:defRPr sz="3556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24708"/>
            <a:ext cx="17881600" cy="2053508"/>
            <a:chOff x="0" y="0"/>
            <a:chExt cx="3506196" cy="4026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06196" cy="402648"/>
            </a:xfrm>
            <a:custGeom>
              <a:avLst/>
              <a:gdLst/>
              <a:ahLst/>
              <a:cxnLst/>
              <a:rect l="l" t="t" r="r" b="b"/>
              <a:pathLst>
                <a:path w="3506196" h="402648">
                  <a:moveTo>
                    <a:pt x="0" y="0"/>
                  </a:moveTo>
                  <a:lnTo>
                    <a:pt x="3506196" y="0"/>
                  </a:lnTo>
                  <a:lnTo>
                    <a:pt x="3506196" y="402648"/>
                  </a:lnTo>
                  <a:lnTo>
                    <a:pt x="0" y="40264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3506196" cy="488373"/>
            </a:xfrm>
            <a:prstGeom prst="rect">
              <a:avLst/>
            </a:prstGeom>
          </p:spPr>
          <p:txBody>
            <a:bodyPr lIns="90311" tIns="90311" rIns="90311" bIns="90311" rtlCol="0" anchor="ctr"/>
            <a:lstStyle/>
            <a:p>
              <a:pPr algn="ctr">
                <a:lnSpc>
                  <a:spcPts val="4978"/>
                </a:lnSpc>
              </a:pPr>
              <a:endParaRPr sz="3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5163926" y="437267"/>
            <a:ext cx="2311740" cy="834153"/>
          </a:xfrm>
          <a:custGeom>
            <a:avLst/>
            <a:gdLst/>
            <a:ahLst/>
            <a:cxnLst/>
            <a:rect l="l" t="t" r="r" b="b"/>
            <a:pathLst>
              <a:path w="1300354" h="469211">
                <a:moveTo>
                  <a:pt x="0" y="0"/>
                </a:moveTo>
                <a:lnTo>
                  <a:pt x="1300354" y="0"/>
                </a:lnTo>
                <a:lnTo>
                  <a:pt x="1300354" y="469211"/>
                </a:lnTo>
                <a:lnTo>
                  <a:pt x="0" y="469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3200"/>
          </a:p>
        </p:txBody>
      </p:sp>
      <p:sp>
        <p:nvSpPr>
          <p:cNvPr id="6" name="AutoShape 6"/>
          <p:cNvSpPr/>
          <p:nvPr/>
        </p:nvSpPr>
        <p:spPr>
          <a:xfrm>
            <a:off x="4697124" y="2133600"/>
            <a:ext cx="5213573" cy="0"/>
          </a:xfrm>
          <a:prstGeom prst="line">
            <a:avLst/>
          </a:prstGeom>
          <a:ln w="9525" cap="flat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3200"/>
          </a:p>
        </p:txBody>
      </p:sp>
      <p:sp>
        <p:nvSpPr>
          <p:cNvPr id="7" name="AutoShape 7"/>
          <p:cNvSpPr/>
          <p:nvPr/>
        </p:nvSpPr>
        <p:spPr>
          <a:xfrm>
            <a:off x="518836" y="11658600"/>
            <a:ext cx="11078587" cy="0"/>
          </a:xfrm>
          <a:prstGeom prst="line">
            <a:avLst/>
          </a:prstGeom>
          <a:ln w="9525" cap="flat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3200"/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458257"/>
              </p:ext>
            </p:extLst>
          </p:nvPr>
        </p:nvGraphicFramePr>
        <p:xfrm>
          <a:off x="416414" y="2971800"/>
          <a:ext cx="3329909" cy="4195211"/>
        </p:xfrm>
        <a:graphic>
          <a:graphicData uri="http://schemas.openxmlformats.org/drawingml/2006/table">
            <a:tbl>
              <a:tblPr/>
              <a:tblGrid>
                <a:gridCol w="1742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{{PROPONENAME}}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{{PROPONENAME}}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{{PP1FIRSTFLOORORAC}}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{{PP1X100}}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{{PP1X150}}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{{PP1X200}}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 dirty="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{{PP1XAVG}}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70937"/>
              </p:ext>
            </p:extLst>
          </p:nvPr>
        </p:nvGraphicFramePr>
        <p:xfrm>
          <a:off x="12529409" y="3200400"/>
          <a:ext cx="4946256" cy="2353832"/>
        </p:xfrm>
        <a:graphic>
          <a:graphicData uri="http://schemas.openxmlformats.org/drawingml/2006/table">
            <a:tbl>
              <a:tblPr/>
              <a:tblGrid>
                <a:gridCol w="2588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4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Rate Summary</a:t>
                      </a:r>
                      <a:endParaRPr lang="en-US" sz="2000" dirty="0"/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Rate Summary</a:t>
                      </a:r>
                      <a:endParaRPr lang="en-US" sz="1100"/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561">
                <a:tc>
                  <a:txBody>
                    <a:bodyPr/>
                    <a:lstStyle/>
                    <a:p>
                      <a:pPr algn="ctr">
                        <a:lnSpc>
                          <a:spcPts val="5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First Floor</a:t>
                      </a:r>
                      <a:endParaRPr lang="en-US" sz="2000"/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Climate Controlled</a:t>
                      </a:r>
                      <a:endParaRPr lang="en-US" sz="20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Online Rate </a:t>
                      </a:r>
                      <a:endParaRPr lang="en-US" sz="2000" dirty="0"/>
                    </a:p>
                    <a:p>
                      <a:pPr algn="ctr">
                        <a:lnSpc>
                          <a:spcPts val="840"/>
                        </a:lnSpc>
                      </a:pPr>
                      <a:endParaRPr lang="en-US" sz="1100" dirty="0">
                        <a:solidFill>
                          <a:srgbClr val="000000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algn="ctr">
                        <a:lnSpc>
                          <a:spcPts val="840"/>
                        </a:lnSpc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($/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SqFt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Online Rate </a:t>
                      </a:r>
                      <a:endParaRPr lang="en-US" sz="2000" dirty="0"/>
                    </a:p>
                    <a:p>
                      <a:pPr algn="ctr">
                        <a:lnSpc>
                          <a:spcPts val="840"/>
                        </a:lnSpc>
                      </a:pPr>
                      <a:endParaRPr lang="en-US" sz="1100" dirty="0">
                        <a:solidFill>
                          <a:srgbClr val="000000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algn="ctr">
                        <a:lnSpc>
                          <a:spcPts val="840"/>
                        </a:lnSpc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($/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SqFt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619">
                <a:tc>
                  <a:txBody>
                    <a:bodyPr/>
                    <a:lstStyle/>
                    <a:p>
                      <a:pPr algn="ctr">
                        <a:lnSpc>
                          <a:spcPts val="75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{{MRSFIRST}}</a:t>
                      </a:r>
                      <a:endParaRPr lang="en-US" sz="2000" dirty="0"/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5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{{MRSCC}}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12529408" y="5943600"/>
            <a:ext cx="4946258" cy="5105400"/>
            <a:chOff x="0" y="0"/>
            <a:chExt cx="3709693" cy="416314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3709693" cy="4163148"/>
              <a:chOff x="0" y="0"/>
              <a:chExt cx="969854" cy="108840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69854" cy="1088405"/>
              </a:xfrm>
              <a:custGeom>
                <a:avLst/>
                <a:gdLst/>
                <a:ahLst/>
                <a:cxnLst/>
                <a:rect l="l" t="t" r="r" b="b"/>
                <a:pathLst>
                  <a:path w="969854" h="1088405">
                    <a:moveTo>
                      <a:pt x="0" y="0"/>
                    </a:moveTo>
                    <a:lnTo>
                      <a:pt x="969854" y="0"/>
                    </a:lnTo>
                    <a:lnTo>
                      <a:pt x="969854" y="1088405"/>
                    </a:lnTo>
                    <a:lnTo>
                      <a:pt x="0" y="1088405"/>
                    </a:lnTo>
                    <a:close/>
                  </a:path>
                </a:pathLst>
              </a:custGeom>
              <a:ln w="47625" cap="sq">
                <a:solidFill>
                  <a:srgbClr val="6F94C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32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66675"/>
                <a:ext cx="969854" cy="1155080"/>
              </a:xfrm>
              <a:prstGeom prst="rect">
                <a:avLst/>
              </a:prstGeom>
            </p:spPr>
            <p:txBody>
              <a:bodyPr lIns="90311" tIns="90311" rIns="90311" bIns="90311" rtlCol="0" anchor="ctr"/>
              <a:lstStyle/>
              <a:p>
                <a:pPr algn="ctr">
                  <a:lnSpc>
                    <a:spcPts val="3733"/>
                  </a:lnSpc>
                </a:pPr>
                <a:endParaRPr sz="3200"/>
              </a:p>
            </p:txBody>
          </p:sp>
        </p:grpSp>
      </p:grpSp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029078"/>
              </p:ext>
            </p:extLst>
          </p:nvPr>
        </p:nvGraphicFramePr>
        <p:xfrm>
          <a:off x="12600345" y="6019800"/>
          <a:ext cx="4805490" cy="420738"/>
        </p:xfrm>
        <a:graphic>
          <a:graphicData uri="http://schemas.openxmlformats.org/drawingml/2006/table">
            <a:tbl>
              <a:tblPr/>
              <a:tblGrid>
                <a:gridCol w="1256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5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738">
                <a:tc gridSpan="4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Area Map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Area Map</a:t>
                      </a:r>
                      <a:endParaRPr lang="en-US" sz="11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Area Map</a:t>
                      </a:r>
                      <a:endParaRPr lang="en-US" sz="11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Area Map</a:t>
                      </a:r>
                      <a:endParaRPr lang="en-US" sz="11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744404"/>
              </p:ext>
            </p:extLst>
          </p:nvPr>
        </p:nvGraphicFramePr>
        <p:xfrm>
          <a:off x="421517" y="7315200"/>
          <a:ext cx="3368770" cy="4195211"/>
        </p:xfrm>
        <a:graphic>
          <a:graphicData uri="http://schemas.openxmlformats.org/drawingml/2006/table">
            <a:tbl>
              <a:tblPr/>
              <a:tblGrid>
                <a:gridCol w="1774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{{PROPFOURNAME}}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{{PROPFOURNAME}}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{{PP4FIRSTFLOORORAC}}</a:t>
                      </a:r>
                      <a:endParaRPr lang="en-US" sz="20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{{PP4X100}}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{{PP4X150}}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{{PP4X200}}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 dirty="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{{PP4XAVG}}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337386"/>
              </p:ext>
            </p:extLst>
          </p:nvPr>
        </p:nvGraphicFramePr>
        <p:xfrm>
          <a:off x="4448065" y="2971800"/>
          <a:ext cx="3398292" cy="4195211"/>
        </p:xfrm>
        <a:graphic>
          <a:graphicData uri="http://schemas.openxmlformats.org/drawingml/2006/table">
            <a:tbl>
              <a:tblPr/>
              <a:tblGrid>
                <a:gridCol w="180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{{PROPTWONAME}}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{{PROPTWONAME}}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{{PP2FIRSTFLOORORAC}}</a:t>
                      </a:r>
                      <a:endParaRPr lang="en-US" sz="20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</a:t>
                      </a:r>
                      <a:r>
                        <a:rPr lang="en-US" sz="2100" b="1" dirty="0" err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sqft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{{PP2X25}}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{{PP2X50}}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{{PP2X100}}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{{PP2X150}}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{{PP2X200}}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{{PP2XAVG}}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990"/>
              </p:ext>
            </p:extLst>
          </p:nvPr>
        </p:nvGraphicFramePr>
        <p:xfrm>
          <a:off x="4448064" y="7315200"/>
          <a:ext cx="3388608" cy="4195211"/>
        </p:xfrm>
        <a:graphic>
          <a:graphicData uri="http://schemas.openxmlformats.org/drawingml/2006/table">
            <a:tbl>
              <a:tblPr/>
              <a:tblGrid>
                <a:gridCol w="1793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{{PROPFIVENAME}}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{{PROPFIVENAME}}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{{PP5FIRSTFLOORORAC}}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{{PP5X50}}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{{PP5X100}}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{{PP5X150}}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{{PP5X200}}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{{PP5XAVG}}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922937"/>
              </p:ext>
            </p:extLst>
          </p:nvPr>
        </p:nvGraphicFramePr>
        <p:xfrm>
          <a:off x="8481511" y="2971800"/>
          <a:ext cx="3428287" cy="4195211"/>
        </p:xfrm>
        <a:graphic>
          <a:graphicData uri="http://schemas.openxmlformats.org/drawingml/2006/table">
            <a:tbl>
              <a:tblPr/>
              <a:tblGrid>
                <a:gridCol w="1833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{{PROPTHREENAME}}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{{PROPTHREENAME}}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{{PP3FIRSTFLOORORAC}}</a:t>
                      </a:r>
                      <a:endParaRPr lang="en-US" sz="20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{{PP3X100}}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{{PP3X150}}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{{PP3X200}}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 dirty="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{{PP3XAVG}}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9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676160"/>
              </p:ext>
            </p:extLst>
          </p:nvPr>
        </p:nvGraphicFramePr>
        <p:xfrm>
          <a:off x="8481509" y="7310989"/>
          <a:ext cx="3428287" cy="4195211"/>
        </p:xfrm>
        <a:graphic>
          <a:graphicData uri="http://schemas.openxmlformats.org/drawingml/2006/table">
            <a:tbl>
              <a:tblPr/>
              <a:tblGrid>
                <a:gridCol w="180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{{PROPSIXNAME}}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{{PROPSIXNAME}}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{{PP6FIRSTFLOORORAC}}</a:t>
                      </a:r>
                      <a:endParaRPr lang="en-US" sz="20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{{PP6X100}}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{{PP6X150}}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{{PP6X200}}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 dirty="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{{PP6XAVG}}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0" name="Group 20"/>
          <p:cNvGrpSpPr/>
          <p:nvPr/>
        </p:nvGrpSpPr>
        <p:grpSpPr>
          <a:xfrm>
            <a:off x="416346" y="319226"/>
            <a:ext cx="5225182" cy="1128574"/>
            <a:chOff x="0" y="85725"/>
            <a:chExt cx="3918887" cy="846430"/>
          </a:xfrm>
        </p:grpSpPr>
        <p:sp>
          <p:nvSpPr>
            <p:cNvPr id="21" name="AutoShape 21"/>
            <p:cNvSpPr/>
            <p:nvPr/>
          </p:nvSpPr>
          <p:spPr>
            <a:xfrm flipV="1">
              <a:off x="0" y="523489"/>
              <a:ext cx="3918887" cy="0"/>
            </a:xfrm>
            <a:prstGeom prst="line">
              <a:avLst/>
            </a:prstGeom>
            <a:ln w="127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85725"/>
              <a:ext cx="3918887" cy="201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9"/>
                </a:lnSpc>
              </a:pPr>
              <a:r>
                <a:rPr lang="en-US" sz="3378" b="1" dirty="0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RENTAL COMP REPORT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602690"/>
              <a:ext cx="3918887" cy="329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33"/>
                </a:lnSpc>
              </a:pPr>
              <a:r>
                <a:rPr lang="en-US" sz="2667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{{MONTHYEAR}}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416414" y="2125134"/>
            <a:ext cx="1062647" cy="8466"/>
          </a:xfrm>
          <a:prstGeom prst="line">
            <a:avLst/>
          </a:prstGeom>
          <a:ln w="9525" cap="flat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3200"/>
          </a:p>
        </p:txBody>
      </p:sp>
      <p:sp>
        <p:nvSpPr>
          <p:cNvPr id="25" name="TextBox 25"/>
          <p:cNvSpPr txBox="1"/>
          <p:nvPr/>
        </p:nvSpPr>
        <p:spPr>
          <a:xfrm>
            <a:off x="1779732" y="1752600"/>
            <a:ext cx="2612592" cy="5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sz="3556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Prepared for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24762" y="1900788"/>
            <a:ext cx="7345666" cy="5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78"/>
              </a:lnSpc>
            </a:pPr>
            <a:r>
              <a:rPr lang="en-US" sz="3556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Subject Property – </a:t>
            </a:r>
            <a:r>
              <a:rPr lang="en-US" sz="3556" b="1" dirty="0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{{SUBPROP}}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6347" y="2286000"/>
            <a:ext cx="6852549" cy="5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sz="3556" b="1" dirty="0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{{PREPCOMP}}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68820" y="2514600"/>
            <a:ext cx="7201609" cy="41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84"/>
              </a:lnSpc>
            </a:pPr>
            <a:r>
              <a:rPr lang="en-US" sz="2489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{{ADDRESS}}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84958" y="11353800"/>
            <a:ext cx="5285468" cy="43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3"/>
              </a:lnSpc>
            </a:pPr>
            <a:r>
              <a:rPr lang="en-US" sz="2667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Prepared by </a:t>
            </a:r>
            <a:r>
              <a:rPr lang="en-US" sz="2667" b="1" dirty="0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STORE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362</Words>
  <Application>Microsoft Office PowerPoint</Application>
  <PresentationFormat>Custom</PresentationFormat>
  <Paragraphs>127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Avenir</vt:lpstr>
      <vt:lpstr>Avenir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Comp Set Template - Wenworth</dc:title>
  <cp:lastModifiedBy>Alex Burke</cp:lastModifiedBy>
  <cp:revision>12</cp:revision>
  <dcterms:created xsi:type="dcterms:W3CDTF">2006-08-16T00:00:00Z</dcterms:created>
  <dcterms:modified xsi:type="dcterms:W3CDTF">2026-02-25T17:46:50Z</dcterms:modified>
  <dc:identifier>DAHBgTZPmEE</dc:identifier>
</cp:coreProperties>
</file>