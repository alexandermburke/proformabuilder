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8288000" cy="10287000"/>
  <p:notesSz cx="6858000" cy="9144000"/>
  <p:embeddedFontLst>
    <p:embeddedFont>
      <p:font typeface="Arial Bold" panose="020B0704020202020204" pitchFamily="34" charset="0"/>
      <p:regular r:id="rId16"/>
      <p:bold r:id="rId17"/>
    </p:embeddedFont>
    <p:embeddedFont>
      <p:font typeface="Arial Italics" panose="020B0604020202020204" charset="0"/>
      <p:regular r:id="rId18"/>
    </p:embeddedFont>
    <p:embeddedFont>
      <p:font typeface="Avenir" panose="020B0604020202020204" charset="0"/>
      <p:regular r:id="rId19"/>
    </p:embeddedFont>
    <p:embeddedFont>
      <p:font typeface="Avenir Bold" panose="020B0604020202020204" charset="0"/>
      <p:regular r:id="rId20"/>
    </p:embeddedFont>
    <p:embeddedFont>
      <p:font typeface="Avenir Bold Italics" panose="020B0604020202020204" charset="0"/>
      <p:regular r:id="rId21"/>
    </p:embeddedFont>
    <p:embeddedFont>
      <p:font typeface="Avenir Italics" panose="020B0604020202020204" charset="0"/>
      <p:regular r:id="rId22"/>
    </p:embeddedFont>
    <p:embeddedFont>
      <p:font typeface="Avenir Medium" panose="020B0604020202020204" charset="0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99" autoAdjust="0"/>
    <p:restoredTop sz="94622" autoAdjust="0"/>
  </p:normalViewPr>
  <p:slideViewPr>
    <p:cSldViewPr>
      <p:cViewPr varScale="1">
        <p:scale>
          <a:sx n="79" d="100"/>
          <a:sy n="79" d="100"/>
        </p:scale>
        <p:origin x="324" y="96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02.01.2026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svg"/><Relationship Id="rId5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6350" y="0"/>
            <a:ext cx="18314400" cy="9463800"/>
            <a:chOff x="0" y="0"/>
            <a:chExt cx="24419200" cy="126184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419179" cy="12618339"/>
            </a:xfrm>
            <a:custGeom>
              <a:avLst/>
              <a:gdLst/>
              <a:ahLst/>
              <a:cxnLst/>
              <a:rect l="l" t="t" r="r" b="b"/>
              <a:pathLst>
                <a:path w="24419179" h="12618339">
                  <a:moveTo>
                    <a:pt x="0" y="0"/>
                  </a:moveTo>
                  <a:lnTo>
                    <a:pt x="24419179" y="0"/>
                  </a:lnTo>
                  <a:lnTo>
                    <a:pt x="24419179" y="12618339"/>
                  </a:lnTo>
                  <a:lnTo>
                    <a:pt x="0" y="1261833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2339" b="-4493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19550" y="0"/>
            <a:ext cx="18314400" cy="10287000"/>
            <a:chOff x="0" y="0"/>
            <a:chExt cx="244192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419179" cy="13716000"/>
            </a:xfrm>
            <a:custGeom>
              <a:avLst/>
              <a:gdLst/>
              <a:ahLst/>
              <a:cxnLst/>
              <a:rect l="l" t="t" r="r" b="b"/>
              <a:pathLst>
                <a:path w="24419179" h="13716000">
                  <a:moveTo>
                    <a:pt x="0" y="0"/>
                  </a:moveTo>
                  <a:lnTo>
                    <a:pt x="24419179" y="0"/>
                  </a:lnTo>
                  <a:lnTo>
                    <a:pt x="24419179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6" name="Table 6"/>
          <p:cNvGraphicFramePr>
            <a:graphicFrameLocks noGrp="1"/>
          </p:cNvGraphicFramePr>
          <p:nvPr/>
        </p:nvGraphicFramePr>
        <p:xfrm>
          <a:off x="3173076" y="4460988"/>
          <a:ext cx="6553200" cy="1524000"/>
        </p:xfrm>
        <a:graphic>
          <a:graphicData uri="http://schemas.openxmlformats.org/drawingml/2006/table">
            <a:tbl>
              <a:tblPr/>
              <a:tblGrid>
                <a:gridCol w="655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ADDRESS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{{ADDRESS}}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7" name="Table 7"/>
          <p:cNvGraphicFramePr>
            <a:graphicFrameLocks noGrp="1"/>
          </p:cNvGraphicFramePr>
          <p:nvPr/>
        </p:nvGraphicFramePr>
        <p:xfrm>
          <a:off x="11001226" y="4454412"/>
          <a:ext cx="4089400" cy="1524000"/>
        </p:xfrm>
        <a:graphic>
          <a:graphicData uri="http://schemas.openxmlformats.org/drawingml/2006/table">
            <a:tbl>
              <a:tblPr/>
              <a:tblGrid>
                <a:gridCol w="4089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OWNERS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{{OWNERGROUP}}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4745342" y="6596238"/>
          <a:ext cx="2844800" cy="2224634"/>
        </p:xfrm>
        <a:graphic>
          <a:graphicData uri="http://schemas.openxmlformats.org/drawingml/2006/table">
            <a:tbl>
              <a:tblPr/>
              <a:tblGrid>
                <a:gridCol w="2844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153247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MANAGEMENT </a:t>
                      </a:r>
                      <a:endParaRPr lang="en-US" sz="110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ACQUIRED DATE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387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{{ACQUIREDDATE}}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/>
        </p:nvGraphicFramePr>
        <p:xfrm>
          <a:off x="8360100" y="6520468"/>
          <a:ext cx="1701800" cy="2288731"/>
        </p:xfrm>
        <a:graphic>
          <a:graphicData uri="http://schemas.openxmlformats.org/drawingml/2006/table">
            <a:tbl>
              <a:tblPr/>
              <a:tblGrid>
                <a:gridCol w="170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17473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</a:t>
                      </a:r>
                      <a:endParaRPr lang="en-US" sz="110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UNITS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25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{{TOTALUNITS}}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aphicFrame>
        <p:nvGraphicFramePr>
          <p:cNvPr id="10" name="Table 10"/>
          <p:cNvGraphicFramePr>
            <a:graphicFrameLocks noGrp="1"/>
          </p:cNvGraphicFramePr>
          <p:nvPr/>
        </p:nvGraphicFramePr>
        <p:xfrm>
          <a:off x="10978358" y="6521326"/>
          <a:ext cx="2540000" cy="2288779"/>
        </p:xfrm>
        <a:graphic>
          <a:graphicData uri="http://schemas.openxmlformats.org/drawingml/2006/table">
            <a:tbl>
              <a:tblPr/>
              <a:tblGrid>
                <a:gridCol w="254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217521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RENTABLE </a:t>
                      </a:r>
                      <a:endParaRPr lang="en-US" sz="1100"/>
                    </a:p>
                    <a:p>
                      <a:pPr algn="l">
                        <a:lnSpc>
                          <a:spcPts val="3311"/>
                        </a:lnSpc>
                      </a:pPr>
                      <a:r>
                        <a:rPr lang="en-US" sz="24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SQUARE FEET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7125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{{RENTABLESQFT}}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1" name="Group 11"/>
          <p:cNvGrpSpPr/>
          <p:nvPr/>
        </p:nvGrpSpPr>
        <p:grpSpPr>
          <a:xfrm>
            <a:off x="0" y="2366950"/>
            <a:ext cx="18288000" cy="1882800"/>
            <a:chOff x="0" y="0"/>
            <a:chExt cx="24384000" cy="25104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24384000" cy="2510409"/>
            </a:xfrm>
            <a:custGeom>
              <a:avLst/>
              <a:gdLst/>
              <a:ahLst/>
              <a:cxnLst/>
              <a:rect l="l" t="t" r="r" b="b"/>
              <a:pathLst>
                <a:path w="24384000" h="2510409">
                  <a:moveTo>
                    <a:pt x="0" y="0"/>
                  </a:moveTo>
                  <a:lnTo>
                    <a:pt x="24384000" y="0"/>
                  </a:lnTo>
                  <a:lnTo>
                    <a:pt x="24384000" y="2510409"/>
                  </a:lnTo>
                  <a:lnTo>
                    <a:pt x="0" y="2510409"/>
                  </a:lnTo>
                  <a:close/>
                </a:path>
              </a:pathLst>
            </a:custGeom>
            <a:solidFill>
              <a:srgbClr val="FFFFFF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8763100"/>
            <a:ext cx="18288000" cy="1524000"/>
            <a:chOff x="0" y="0"/>
            <a:chExt cx="24384000" cy="2032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4384000" cy="2032000"/>
            </a:xfrm>
            <a:custGeom>
              <a:avLst/>
              <a:gdLst/>
              <a:ahLst/>
              <a:cxnLst/>
              <a:rect l="l" t="t" r="r" b="b"/>
              <a:pathLst>
                <a:path w="24384000" h="2032000">
                  <a:moveTo>
                    <a:pt x="0" y="0"/>
                  </a:moveTo>
                  <a:lnTo>
                    <a:pt x="24384000" y="0"/>
                  </a:lnTo>
                  <a:lnTo>
                    <a:pt x="24384000" y="2032000"/>
                  </a:lnTo>
                  <a:lnTo>
                    <a:pt x="0" y="20320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" name="Group 15"/>
          <p:cNvGrpSpPr>
            <a:grpSpLocks noChangeAspect="1"/>
          </p:cNvGrpSpPr>
          <p:nvPr/>
        </p:nvGrpSpPr>
        <p:grpSpPr>
          <a:xfrm>
            <a:off x="6876100" y="2641000"/>
            <a:ext cx="3983898" cy="1435000"/>
            <a:chOff x="0" y="0"/>
            <a:chExt cx="5311864" cy="191333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5311902" cy="1913382"/>
            </a:xfrm>
            <a:custGeom>
              <a:avLst/>
              <a:gdLst/>
              <a:ahLst/>
              <a:cxnLst/>
              <a:rect l="l" t="t" r="r" b="b"/>
              <a:pathLst>
                <a:path w="5311902" h="1913382">
                  <a:moveTo>
                    <a:pt x="0" y="0"/>
                  </a:moveTo>
                  <a:lnTo>
                    <a:pt x="5311902" y="0"/>
                  </a:lnTo>
                  <a:lnTo>
                    <a:pt x="5311902" y="1913382"/>
                  </a:lnTo>
                  <a:lnTo>
                    <a:pt x="0" y="191338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" r="-1" b="2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-9525" y="276225"/>
            <a:ext cx="7195650" cy="1747650"/>
            <a:chOff x="0" y="0"/>
            <a:chExt cx="9594200" cy="2330200"/>
          </a:xfrm>
        </p:grpSpPr>
        <p:sp>
          <p:nvSpPr>
            <p:cNvPr id="18" name="Freeform 18"/>
            <p:cNvSpPr/>
            <p:nvPr/>
          </p:nvSpPr>
          <p:spPr>
            <a:xfrm>
              <a:off x="12700" y="12700"/>
              <a:ext cx="9568815" cy="2304796"/>
            </a:xfrm>
            <a:custGeom>
              <a:avLst/>
              <a:gdLst/>
              <a:ahLst/>
              <a:cxnLst/>
              <a:rect l="l" t="t" r="r" b="b"/>
              <a:pathLst>
                <a:path w="9568815" h="2304796">
                  <a:moveTo>
                    <a:pt x="0" y="0"/>
                  </a:moveTo>
                  <a:lnTo>
                    <a:pt x="9568815" y="0"/>
                  </a:lnTo>
                  <a:lnTo>
                    <a:pt x="9568815" y="2304796"/>
                  </a:lnTo>
                  <a:lnTo>
                    <a:pt x="0" y="2304796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9594215" cy="2330196"/>
            </a:xfrm>
            <a:custGeom>
              <a:avLst/>
              <a:gdLst/>
              <a:ahLst/>
              <a:cxnLst/>
              <a:rect l="l" t="t" r="r" b="b"/>
              <a:pathLst>
                <a:path w="9594215" h="2330196">
                  <a:moveTo>
                    <a:pt x="12700" y="0"/>
                  </a:moveTo>
                  <a:lnTo>
                    <a:pt x="9581515" y="0"/>
                  </a:lnTo>
                  <a:cubicBezTo>
                    <a:pt x="9588500" y="0"/>
                    <a:pt x="9594215" y="5715"/>
                    <a:pt x="9594215" y="12700"/>
                  </a:cubicBezTo>
                  <a:lnTo>
                    <a:pt x="9594215" y="2317496"/>
                  </a:lnTo>
                  <a:cubicBezTo>
                    <a:pt x="9594215" y="2324481"/>
                    <a:pt x="9588500" y="2330196"/>
                    <a:pt x="9581515" y="2330196"/>
                  </a:cubicBezTo>
                  <a:lnTo>
                    <a:pt x="12700" y="2330196"/>
                  </a:lnTo>
                  <a:cubicBezTo>
                    <a:pt x="5715" y="2330196"/>
                    <a:pt x="0" y="2324481"/>
                    <a:pt x="0" y="2317496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2317496"/>
                  </a:lnTo>
                  <a:lnTo>
                    <a:pt x="12700" y="2317496"/>
                  </a:lnTo>
                  <a:lnTo>
                    <a:pt x="12700" y="2304796"/>
                  </a:lnTo>
                  <a:lnTo>
                    <a:pt x="9581515" y="2304796"/>
                  </a:lnTo>
                  <a:lnTo>
                    <a:pt x="9581515" y="2317496"/>
                  </a:lnTo>
                  <a:lnTo>
                    <a:pt x="9568815" y="2317496"/>
                  </a:lnTo>
                  <a:lnTo>
                    <a:pt x="9568815" y="12700"/>
                  </a:lnTo>
                  <a:lnTo>
                    <a:pt x="9581515" y="12700"/>
                  </a:lnTo>
                  <a:lnTo>
                    <a:pt x="9581515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-60975" y="342200"/>
            <a:ext cx="6993750" cy="803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6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OWNER SUMMARY REPORT</a:t>
            </a:r>
          </a:p>
        </p:txBody>
      </p:sp>
      <p:sp>
        <p:nvSpPr>
          <p:cNvPr id="21" name="AutoShape 21"/>
          <p:cNvSpPr/>
          <p:nvPr/>
        </p:nvSpPr>
        <p:spPr>
          <a:xfrm rot="10772046">
            <a:off x="471994" y="1127275"/>
            <a:ext cx="6382711" cy="0"/>
          </a:xfrm>
          <a:prstGeom prst="line">
            <a:avLst/>
          </a:prstGeom>
          <a:ln w="19050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Box 22"/>
          <p:cNvSpPr txBox="1"/>
          <p:nvPr/>
        </p:nvSpPr>
        <p:spPr>
          <a:xfrm>
            <a:off x="-19550" y="1154227"/>
            <a:ext cx="6993750" cy="6031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6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{{CURRENTDATE}}</a:t>
            </a:r>
          </a:p>
        </p:txBody>
      </p:sp>
      <p:grpSp>
        <p:nvGrpSpPr>
          <p:cNvPr id="23" name="Group 23"/>
          <p:cNvGrpSpPr>
            <a:grpSpLocks noChangeAspect="1"/>
          </p:cNvGrpSpPr>
          <p:nvPr/>
        </p:nvGrpSpPr>
        <p:grpSpPr>
          <a:xfrm>
            <a:off x="15114100" y="9009900"/>
            <a:ext cx="2809752" cy="954002"/>
            <a:chOff x="0" y="0"/>
            <a:chExt cx="3746336" cy="1272003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3746373" cy="1272032"/>
            </a:xfrm>
            <a:custGeom>
              <a:avLst/>
              <a:gdLst/>
              <a:ahLst/>
              <a:cxnLst/>
              <a:rect l="l" t="t" r="r" b="b"/>
              <a:pathLst>
                <a:path w="3746373" h="1272032">
                  <a:moveTo>
                    <a:pt x="0" y="0"/>
                  </a:moveTo>
                  <a:lnTo>
                    <a:pt x="3746373" y="0"/>
                  </a:lnTo>
                  <a:lnTo>
                    <a:pt x="3746373" y="1272032"/>
                  </a:lnTo>
                  <a:lnTo>
                    <a:pt x="0" y="127203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b="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10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 b="-1851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2158140" y="2280200"/>
            <a:ext cx="2624400" cy="787200"/>
            <a:chOff x="0" y="0"/>
            <a:chExt cx="3499200" cy="1049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3499231" cy="1049655"/>
            </a:xfrm>
            <a:custGeom>
              <a:avLst/>
              <a:gdLst/>
              <a:ahLst/>
              <a:cxnLst/>
              <a:rect l="l" t="t" r="r" b="b"/>
              <a:pathLst>
                <a:path w="3499231" h="1049655">
                  <a:moveTo>
                    <a:pt x="0" y="0"/>
                  </a:moveTo>
                  <a:lnTo>
                    <a:pt x="3499231" y="0"/>
                  </a:lnTo>
                  <a:lnTo>
                    <a:pt x="3499231" y="1049655"/>
                  </a:lnTo>
                  <a:lnTo>
                    <a:pt x="0" y="1049655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57150"/>
              <a:ext cx="3499200" cy="11067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FINANCIAL</a:t>
              </a:r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2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-100" y="0"/>
            <a:ext cx="18288000" cy="1615200"/>
            <a:chOff x="0" y="0"/>
            <a:chExt cx="24384000" cy="21536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4384000" cy="2153539"/>
            </a:xfrm>
            <a:custGeom>
              <a:avLst/>
              <a:gdLst/>
              <a:ahLst/>
              <a:cxnLst/>
              <a:rect l="l" t="t" r="r" b="b"/>
              <a:pathLst>
                <a:path w="24384000" h="2153539">
                  <a:moveTo>
                    <a:pt x="0" y="0"/>
                  </a:moveTo>
                  <a:lnTo>
                    <a:pt x="24384000" y="0"/>
                  </a:lnTo>
                  <a:lnTo>
                    <a:pt x="24384000" y="2153539"/>
                  </a:lnTo>
                  <a:lnTo>
                    <a:pt x="0" y="2153539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95250"/>
              <a:ext cx="24384000" cy="2248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2047871" y="3436299"/>
            <a:ext cx="3334289" cy="1664850"/>
            <a:chOff x="0" y="0"/>
            <a:chExt cx="878167" cy="438479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878167" cy="438479"/>
            </a:xfrm>
            <a:custGeom>
              <a:avLst/>
              <a:gdLst/>
              <a:ahLst/>
              <a:cxnLst/>
              <a:rect l="l" t="t" r="r" b="b"/>
              <a:pathLst>
                <a:path w="878167" h="438479">
                  <a:moveTo>
                    <a:pt x="0" y="0"/>
                  </a:moveTo>
                  <a:lnTo>
                    <a:pt x="878167" y="0"/>
                  </a:lnTo>
                  <a:lnTo>
                    <a:pt x="87816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47625"/>
              <a:ext cx="87816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2047871" y="4488445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Rental Income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2143793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{{TOTALRENTALINCOME}}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5677425" y="3431512"/>
            <a:ext cx="3310650" cy="1664850"/>
            <a:chOff x="0" y="0"/>
            <a:chExt cx="871941" cy="438479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TextBox 2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29" name="Group 29"/>
          <p:cNvGrpSpPr/>
          <p:nvPr/>
        </p:nvGrpSpPr>
        <p:grpSpPr>
          <a:xfrm>
            <a:off x="9206163" y="3431488"/>
            <a:ext cx="3448050" cy="1664850"/>
            <a:chOff x="0" y="0"/>
            <a:chExt cx="908128" cy="438479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TextBox 31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5742147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{{TOTALINCOME}}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5677425" y="4488445"/>
            <a:ext cx="3269567" cy="4698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Income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9350025" y="3798525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{{TOTALEXPENSES}}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9283350" y="4488445"/>
            <a:ext cx="326956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Expenses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12873288" y="3431488"/>
            <a:ext cx="3448050" cy="1664850"/>
            <a:chOff x="0" y="0"/>
            <a:chExt cx="908128" cy="43847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13006638" y="3798525"/>
            <a:ext cx="3181207" cy="581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{{NETINCOME}}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2962530" y="4488445"/>
            <a:ext cx="326956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 Income</a:t>
            </a:r>
          </a:p>
        </p:txBody>
      </p:sp>
      <p:grpSp>
        <p:nvGrpSpPr>
          <p:cNvPr id="41" name="Group 41"/>
          <p:cNvGrpSpPr/>
          <p:nvPr/>
        </p:nvGrpSpPr>
        <p:grpSpPr>
          <a:xfrm>
            <a:off x="2158140" y="5767899"/>
            <a:ext cx="2624400" cy="787200"/>
            <a:chOff x="0" y="0"/>
            <a:chExt cx="3499200" cy="1049600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3499231" cy="1049655"/>
            </a:xfrm>
            <a:custGeom>
              <a:avLst/>
              <a:gdLst/>
              <a:ahLst/>
              <a:cxnLst/>
              <a:rect l="l" t="t" r="r" b="b"/>
              <a:pathLst>
                <a:path w="3499231" h="1049655">
                  <a:moveTo>
                    <a:pt x="0" y="0"/>
                  </a:moveTo>
                  <a:lnTo>
                    <a:pt x="3499231" y="0"/>
                  </a:lnTo>
                  <a:lnTo>
                    <a:pt x="3499231" y="1049655"/>
                  </a:lnTo>
                  <a:lnTo>
                    <a:pt x="0" y="1049655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57150"/>
              <a:ext cx="3499200" cy="11067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OCCUPANCY</a:t>
              </a:r>
            </a:p>
          </p:txBody>
        </p:sp>
      </p:grpSp>
      <p:grpSp>
        <p:nvGrpSpPr>
          <p:cNvPr id="44" name="Group 44"/>
          <p:cNvGrpSpPr/>
          <p:nvPr/>
        </p:nvGrpSpPr>
        <p:grpSpPr>
          <a:xfrm>
            <a:off x="2047871" y="6912625"/>
            <a:ext cx="3334289" cy="1664850"/>
            <a:chOff x="0" y="0"/>
            <a:chExt cx="878167" cy="438479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878167" cy="438479"/>
            </a:xfrm>
            <a:custGeom>
              <a:avLst/>
              <a:gdLst/>
              <a:ahLst/>
              <a:cxnLst/>
              <a:rect l="l" t="t" r="r" b="b"/>
              <a:pathLst>
                <a:path w="878167" h="438479">
                  <a:moveTo>
                    <a:pt x="0" y="0"/>
                  </a:moveTo>
                  <a:lnTo>
                    <a:pt x="878167" y="0"/>
                  </a:lnTo>
                  <a:lnTo>
                    <a:pt x="87816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TextBox 46"/>
            <p:cNvSpPr txBox="1"/>
            <p:nvPr/>
          </p:nvSpPr>
          <p:spPr>
            <a:xfrm>
              <a:off x="0" y="-47625"/>
              <a:ext cx="87816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2124412" y="7240899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{{OCCUPIEDAREASQFT}}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2047871" y="7974324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Occupied Area</a:t>
            </a:r>
          </a:p>
        </p:txBody>
      </p:sp>
      <p:grpSp>
        <p:nvGrpSpPr>
          <p:cNvPr id="49" name="Group 49"/>
          <p:cNvGrpSpPr/>
          <p:nvPr/>
        </p:nvGrpSpPr>
        <p:grpSpPr>
          <a:xfrm>
            <a:off x="5677425" y="6915638"/>
            <a:ext cx="3310650" cy="1664850"/>
            <a:chOff x="0" y="0"/>
            <a:chExt cx="871941" cy="438479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2" name="TextBox 52"/>
          <p:cNvSpPr txBox="1"/>
          <p:nvPr/>
        </p:nvSpPr>
        <p:spPr>
          <a:xfrm>
            <a:off x="5742147" y="7240899"/>
            <a:ext cx="3181207" cy="1114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{{OCCUPANCYBYUNITS}}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5665606" y="7972912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Occupancy by units</a:t>
            </a:r>
          </a:p>
        </p:txBody>
      </p:sp>
      <p:grpSp>
        <p:nvGrpSpPr>
          <p:cNvPr id="54" name="Group 54"/>
          <p:cNvGrpSpPr/>
          <p:nvPr/>
        </p:nvGrpSpPr>
        <p:grpSpPr>
          <a:xfrm>
            <a:off x="9206163" y="6915638"/>
            <a:ext cx="3448050" cy="1664850"/>
            <a:chOff x="0" y="0"/>
            <a:chExt cx="908128" cy="438479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908128" cy="438479"/>
            </a:xfrm>
            <a:custGeom>
              <a:avLst/>
              <a:gdLst/>
              <a:ahLst/>
              <a:cxnLst/>
              <a:rect l="l" t="t" r="r" b="b"/>
              <a:pathLst>
                <a:path w="908128" h="438479">
                  <a:moveTo>
                    <a:pt x="0" y="0"/>
                  </a:moveTo>
                  <a:lnTo>
                    <a:pt x="908128" y="0"/>
                  </a:lnTo>
                  <a:lnTo>
                    <a:pt x="908128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TextBox 56"/>
            <p:cNvSpPr txBox="1"/>
            <p:nvPr/>
          </p:nvSpPr>
          <p:spPr>
            <a:xfrm>
              <a:off x="0" y="-47625"/>
              <a:ext cx="908128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7" name="TextBox 57"/>
          <p:cNvSpPr txBox="1"/>
          <p:nvPr/>
        </p:nvSpPr>
        <p:spPr>
          <a:xfrm>
            <a:off x="9327530" y="7240899"/>
            <a:ext cx="3181207" cy="1114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200"/>
              </a:lnSpc>
              <a:spcBef>
                <a:spcPct val="0"/>
              </a:spcBef>
            </a:pPr>
            <a:r>
              <a:rPr lang="en-US" sz="3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{{OCCUPIEDAREAPERCENT}}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9263044" y="7972887"/>
            <a:ext cx="333428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Occupancy by area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3"/>
          <p:cNvGrpSpPr/>
          <p:nvPr/>
        </p:nvGrpSpPr>
        <p:grpSpPr>
          <a:xfrm>
            <a:off x="-100" y="0"/>
            <a:ext cx="18288000" cy="1615200"/>
            <a:chOff x="0" y="0"/>
            <a:chExt cx="24384000" cy="21536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384000" cy="2153539"/>
            </a:xfrm>
            <a:custGeom>
              <a:avLst/>
              <a:gdLst/>
              <a:ahLst/>
              <a:cxnLst/>
              <a:rect l="l" t="t" r="r" b="b"/>
              <a:pathLst>
                <a:path w="24384000" h="2153539">
                  <a:moveTo>
                    <a:pt x="0" y="0"/>
                  </a:moveTo>
                  <a:lnTo>
                    <a:pt x="24384000" y="0"/>
                  </a:lnTo>
                  <a:lnTo>
                    <a:pt x="24384000" y="2153539"/>
                  </a:lnTo>
                  <a:lnTo>
                    <a:pt x="0" y="2153539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95250"/>
              <a:ext cx="24384000" cy="2248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Data</a:t>
              </a:r>
            </a:p>
          </p:txBody>
        </p:sp>
      </p:grpSp>
      <p:graphicFrame>
        <p:nvGraphicFramePr>
          <p:cNvPr id="6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7645639"/>
              </p:ext>
            </p:extLst>
          </p:nvPr>
        </p:nvGraphicFramePr>
        <p:xfrm>
          <a:off x="1447801" y="6975320"/>
          <a:ext cx="14884398" cy="2861204"/>
        </p:xfrm>
        <a:graphic>
          <a:graphicData uri="http://schemas.openxmlformats.org/drawingml/2006/table">
            <a:tbl>
              <a:tblPr/>
              <a:tblGrid>
                <a:gridCol w="213011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1540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2041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2729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3104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1589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7595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7049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743279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Professional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{{PROFYTDVARPER}}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Repairs &amp; Maintenance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Retail Products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{{RETACM}}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{{RETAPTD}}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{{RETAVAR}}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{{RETPRODYTD}}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{{RETAYTDBUD}}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{{RETAYTDVARPER}}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Security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{{SECYTDBUD}}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{{SECYTDVARPER}}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Software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{{SOFTYTDVARPER}}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Supplies - Building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{{SUPYTDVARPER}}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Telephone &amp; Internet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{{INTERYTDVARPER}}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Utilities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{{UTILYTDVAR}}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{{UTILYTDVARPER}}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PROPERTY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{{TOTALPROPYTDVAR}}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{{TOTALPROPYTDVARPER}}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45500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OTHER EXPENSES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{{TOTOTHEXPCM}}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{{TOTOTHEXPYTDVARPER}}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{{TOTEXPCM}}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{{TOTEXPYTDVARPER}}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Interest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Medium"/>
                          <a:ea typeface="Avenir Medium"/>
                          <a:cs typeface="Avenir Medium"/>
                          <a:sym typeface="Avenir Medium"/>
                        </a:rPr>
                        <a:t>{{INTINCYTDVARPER}}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9642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NET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{{NETINCCM}}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400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{{NETINCYTDVARPER}}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7" name="Table 2">
            <a:extLst>
              <a:ext uri="{FF2B5EF4-FFF2-40B4-BE49-F238E27FC236}">
                <a16:creationId xmlns:a16="http://schemas.microsoft.com/office/drawing/2014/main" id="{EA1496D4-075B-62CD-E859-BB7489AE8E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2254225"/>
              </p:ext>
            </p:extLst>
          </p:nvPr>
        </p:nvGraphicFramePr>
        <p:xfrm>
          <a:off x="1447800" y="1943101"/>
          <a:ext cx="14884399" cy="4724391"/>
        </p:xfrm>
        <a:graphic>
          <a:graphicData uri="http://schemas.openxmlformats.org/drawingml/2006/table">
            <a:tbl>
              <a:tblPr/>
              <a:tblGrid>
                <a:gridCol w="212287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1067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188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319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5445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542467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1888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5738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567405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1742913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12675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{{CURRENTMONTH}}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PTD Budget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Variance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% Var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YTD Actual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YTD Budget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Variance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399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% Var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Rental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{{RENTINCYTDVARPER}}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Discounts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{{DISCYTDVARPER}}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RENTAL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{{TOTRENINCVAR}}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{{TOTRENINCYTDVARPER}}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Tenant Income - Admin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{{ADMFECM}}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{{ADMFEEYTDVARPER}}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Tenant Income - Late Fees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{{LATFEEYTDVARPER}}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Tenant Income – Insurance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Tenant Income – Other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{{OTHERYTDVARPER}}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Retail Sales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{{RETSALYTDVARPER}}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Secure Payment Processing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79"/>
                        </a:lnSpc>
                        <a:defRPr/>
                      </a:pPr>
                      <a:r>
                        <a:rPr lang="en-US" sz="999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{{SECPPYTDVARPER}}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TOTAL INCOME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{{TOTALINCYTDVARPER}}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E2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PROPERTY EXPENSES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Advertising &amp; Marketing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{{ADVERYTDVARPER}}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Auction Expenses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{{AUCTYTDVARPER}}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CAM Charges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{{CAMYTDVARPER}}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Credit Card Merchant Fees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{{CCMYTDVARPER}}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Dues &amp; Subscriptions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{{DUESYTDVARPER}}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Fire Prevention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{{FIREYTDVARPER}}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Insurance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{{INSURYTDVARPER}}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Licenses &amp; Permits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{{PERMYTDVARPER}}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Management Fees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{{MGMTYTDVARPER}}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Management Fees - Staff Costs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{{MGMTSTFYTDVARPER}}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05078">
                <a:tc>
                  <a:txBody>
                    <a:bodyPr/>
                    <a:lstStyle/>
                    <a:p>
                      <a:pPr algn="l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Office Supplies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{{OFFSUPCM}}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{{OFFSUPPTD}}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{{OFFSUPVARPER}}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{{OFFSUPYTD}}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{{OFFSUPYTDBUD}}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{{OFFSUPYTDVAR}}</a:t>
                      </a:r>
                      <a:endParaRPr lang="en-US" sz="110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380"/>
                        </a:lnSpc>
                        <a:defRPr/>
                      </a:pPr>
                      <a:r>
                        <a:rPr lang="en-US" sz="1000" b="1" dirty="0">
                          <a:solidFill>
                            <a:srgbClr val="000000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{{OFFSUPYTDVARPER}}</a:t>
                      </a:r>
                      <a:endParaRPr lang="en-US" sz="1100" dirty="0"/>
                    </a:p>
                  </a:txBody>
                  <a:tcPr marL="0" marR="0" marT="0" marB="0" anchor="ctr">
                    <a:lnL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6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10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 b="-1851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13150" y="-142875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</a:p>
          </p:txBody>
        </p:sp>
      </p:grpSp>
      <p:sp>
        <p:nvSpPr>
          <p:cNvPr id="9" name="AutoShape 9"/>
          <p:cNvSpPr/>
          <p:nvPr/>
        </p:nvSpPr>
        <p:spPr>
          <a:xfrm rot="14726">
            <a:off x="453322" y="4411025"/>
            <a:ext cx="17018256" cy="0"/>
          </a:xfrm>
          <a:prstGeom prst="line">
            <a:avLst/>
          </a:prstGeom>
          <a:ln w="19050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4085298" y="4718850"/>
            <a:ext cx="2324100" cy="1318500"/>
            <a:chOff x="0" y="0"/>
            <a:chExt cx="3098800" cy="1758000"/>
          </a:xfrm>
        </p:grpSpPr>
        <p:sp>
          <p:nvSpPr>
            <p:cNvPr id="11" name="Freeform 11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12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3-MONTH</a:t>
              </a:r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4085378" y="6391348"/>
            <a:ext cx="2324100" cy="1318500"/>
            <a:chOff x="0" y="0"/>
            <a:chExt cx="3098800" cy="1758000"/>
          </a:xfrm>
        </p:grpSpPr>
        <p:sp>
          <p:nvSpPr>
            <p:cNvPr id="15" name="Freeform 15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9A9A9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16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9A9A9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6-MONTH</a:t>
              </a:r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5334500" y="3748326"/>
            <a:ext cx="3700200" cy="653180"/>
            <a:chOff x="0" y="0"/>
            <a:chExt cx="4933600" cy="870906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4933600" cy="870906"/>
            </a:xfrm>
            <a:custGeom>
              <a:avLst/>
              <a:gdLst/>
              <a:ahLst/>
              <a:cxnLst/>
              <a:rect l="l" t="t" r="r" b="b"/>
              <a:pathLst>
                <a:path w="4933600" h="870906">
                  <a:moveTo>
                    <a:pt x="0" y="0"/>
                  </a:moveTo>
                  <a:lnTo>
                    <a:pt x="4933600" y="0"/>
                  </a:lnTo>
                  <a:lnTo>
                    <a:pt x="4933600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-47625"/>
              <a:ext cx="4933600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{{MOVIPER}} {{INCORDEC1}} vs. {{PREVMON}}</a:t>
              </a:r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848700" y="1951450"/>
            <a:ext cx="3294600" cy="1645800"/>
            <a:chOff x="0" y="0"/>
            <a:chExt cx="4392800" cy="21944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4392803" cy="2194433"/>
            </a:xfrm>
            <a:custGeom>
              <a:avLst/>
              <a:gdLst/>
              <a:ahLst/>
              <a:cxnLst/>
              <a:rect l="l" t="t" r="r" b="b"/>
              <a:pathLst>
                <a:path w="4392803" h="2194433">
                  <a:moveTo>
                    <a:pt x="0" y="0"/>
                  </a:moveTo>
                  <a:lnTo>
                    <a:pt x="4392803" y="0"/>
                  </a:lnTo>
                  <a:lnTo>
                    <a:pt x="4392803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TextBox 23"/>
            <p:cNvSpPr txBox="1"/>
            <p:nvPr/>
          </p:nvSpPr>
          <p:spPr>
            <a:xfrm>
              <a:off x="0" y="-85725"/>
              <a:ext cx="43928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{{CURRENTMONTH}}</a:t>
              </a:r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8991600" y="3716881"/>
            <a:ext cx="3812223" cy="688899"/>
            <a:chOff x="-57467" y="-47626"/>
            <a:chExt cx="5082963" cy="918532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5025496" cy="870906"/>
            </a:xfrm>
            <a:custGeom>
              <a:avLst/>
              <a:gdLst/>
              <a:ahLst/>
              <a:cxnLst/>
              <a:rect l="l" t="t" r="r" b="b"/>
              <a:pathLst>
                <a:path w="5025496" h="870906">
                  <a:moveTo>
                    <a:pt x="0" y="0"/>
                  </a:moveTo>
                  <a:lnTo>
                    <a:pt x="5025496" y="0"/>
                  </a:lnTo>
                  <a:lnTo>
                    <a:pt x="5025496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TextBox 26"/>
            <p:cNvSpPr txBox="1"/>
            <p:nvPr/>
          </p:nvSpPr>
          <p:spPr>
            <a:xfrm>
              <a:off x="-57467" y="-47626"/>
              <a:ext cx="5025495" cy="918531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{{MOVOPER}} {{INCORDEC2}} vs. {{PREVMON}}</a:t>
              </a:r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2646575" y="3720550"/>
            <a:ext cx="3495700" cy="694694"/>
            <a:chOff x="0" y="-55351"/>
            <a:chExt cx="4933600" cy="926257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4933600" cy="870906"/>
            </a:xfrm>
            <a:custGeom>
              <a:avLst/>
              <a:gdLst/>
              <a:ahLst/>
              <a:cxnLst/>
              <a:rect l="l" t="t" r="r" b="b"/>
              <a:pathLst>
                <a:path w="4933600" h="870906">
                  <a:moveTo>
                    <a:pt x="0" y="0"/>
                  </a:moveTo>
                  <a:lnTo>
                    <a:pt x="4933600" y="0"/>
                  </a:lnTo>
                  <a:lnTo>
                    <a:pt x="4933600" y="870906"/>
                  </a:lnTo>
                  <a:lnTo>
                    <a:pt x="0" y="870906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TextBox 29"/>
            <p:cNvSpPr txBox="1"/>
            <p:nvPr/>
          </p:nvSpPr>
          <p:spPr>
            <a:xfrm>
              <a:off x="0" y="-55351"/>
              <a:ext cx="4933600" cy="918530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ctr">
                <a:lnSpc>
                  <a:spcPts val="2400"/>
                </a:lnSpc>
              </a:pPr>
              <a:r>
                <a:rPr lang="en-US" sz="2000" b="1" dirty="0">
                  <a:solidFill>
                    <a:srgbClr val="3B52A1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{{MOVN}} {{INCORDEC3}} vs. {{PREVMON}}</a:t>
              </a:r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TextBox 32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33" name="Group 3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3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4</a:t>
              </a:r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155301" y="8982351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Trailing number includes current month.</a:t>
            </a:r>
          </a:p>
        </p:txBody>
      </p:sp>
      <p:grpSp>
        <p:nvGrpSpPr>
          <p:cNvPr id="37" name="Group 37"/>
          <p:cNvGrpSpPr/>
          <p:nvPr/>
        </p:nvGrpSpPr>
        <p:grpSpPr>
          <a:xfrm>
            <a:off x="4085378" y="8067748"/>
            <a:ext cx="2324100" cy="1318500"/>
            <a:chOff x="0" y="0"/>
            <a:chExt cx="3098800" cy="1758000"/>
          </a:xfrm>
        </p:grpSpPr>
        <p:sp>
          <p:nvSpPr>
            <p:cNvPr id="38" name="Freeform 38"/>
            <p:cNvSpPr/>
            <p:nvPr/>
          </p:nvSpPr>
          <p:spPr>
            <a:xfrm>
              <a:off x="25400" y="25400"/>
              <a:ext cx="3048000" cy="1707261"/>
            </a:xfrm>
            <a:custGeom>
              <a:avLst/>
              <a:gdLst/>
              <a:ahLst/>
              <a:cxnLst/>
              <a:rect l="l" t="t" r="r" b="b"/>
              <a:pathLst>
                <a:path w="3048000" h="1707261">
                  <a:moveTo>
                    <a:pt x="0" y="0"/>
                  </a:moveTo>
                  <a:lnTo>
                    <a:pt x="3048000" y="0"/>
                  </a:lnTo>
                  <a:lnTo>
                    <a:pt x="3048000" y="1707261"/>
                  </a:lnTo>
                  <a:lnTo>
                    <a:pt x="0" y="1707261"/>
                  </a:lnTo>
                  <a:close/>
                </a:path>
              </a:pathLst>
            </a:custGeom>
            <a:solidFill>
              <a:srgbClr val="504B4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9"/>
            <p:cNvSpPr/>
            <p:nvPr/>
          </p:nvSpPr>
          <p:spPr>
            <a:xfrm>
              <a:off x="0" y="0"/>
              <a:ext cx="3098800" cy="1758061"/>
            </a:xfrm>
            <a:custGeom>
              <a:avLst/>
              <a:gdLst/>
              <a:ahLst/>
              <a:cxnLst/>
              <a:rect l="l" t="t" r="r" b="b"/>
              <a:pathLst>
                <a:path w="3098800" h="1758061">
                  <a:moveTo>
                    <a:pt x="25400" y="0"/>
                  </a:moveTo>
                  <a:lnTo>
                    <a:pt x="3073400" y="0"/>
                  </a:lnTo>
                  <a:cubicBezTo>
                    <a:pt x="3087370" y="0"/>
                    <a:pt x="3098800" y="11430"/>
                    <a:pt x="3098800" y="25400"/>
                  </a:cubicBezTo>
                  <a:lnTo>
                    <a:pt x="3098800" y="1732661"/>
                  </a:lnTo>
                  <a:cubicBezTo>
                    <a:pt x="3098800" y="1746631"/>
                    <a:pt x="3087370" y="1758061"/>
                    <a:pt x="3073400" y="1758061"/>
                  </a:cubicBezTo>
                  <a:lnTo>
                    <a:pt x="25400" y="1758061"/>
                  </a:lnTo>
                  <a:cubicBezTo>
                    <a:pt x="11430" y="1758061"/>
                    <a:pt x="0" y="1746631"/>
                    <a:pt x="0" y="1732661"/>
                  </a:cubicBezTo>
                  <a:lnTo>
                    <a:pt x="0" y="25400"/>
                  </a:lnTo>
                  <a:cubicBezTo>
                    <a:pt x="0" y="11430"/>
                    <a:pt x="11430" y="0"/>
                    <a:pt x="25400" y="0"/>
                  </a:cubicBezTo>
                  <a:moveTo>
                    <a:pt x="25400" y="50800"/>
                  </a:moveTo>
                  <a:lnTo>
                    <a:pt x="25400" y="25400"/>
                  </a:lnTo>
                  <a:lnTo>
                    <a:pt x="50800" y="25400"/>
                  </a:lnTo>
                  <a:lnTo>
                    <a:pt x="50800" y="1732661"/>
                  </a:lnTo>
                  <a:lnTo>
                    <a:pt x="25400" y="1732661"/>
                  </a:lnTo>
                  <a:lnTo>
                    <a:pt x="25400" y="1707261"/>
                  </a:lnTo>
                  <a:lnTo>
                    <a:pt x="3073400" y="1707261"/>
                  </a:lnTo>
                  <a:lnTo>
                    <a:pt x="3073400" y="1732661"/>
                  </a:lnTo>
                  <a:lnTo>
                    <a:pt x="3048000" y="1732661"/>
                  </a:lnTo>
                  <a:lnTo>
                    <a:pt x="3048000" y="25400"/>
                  </a:lnTo>
                  <a:lnTo>
                    <a:pt x="3073400" y="25400"/>
                  </a:lnTo>
                  <a:lnTo>
                    <a:pt x="3073400" y="50800"/>
                  </a:lnTo>
                  <a:lnTo>
                    <a:pt x="25400" y="50800"/>
                  </a:lnTo>
                  <a:close/>
                </a:path>
              </a:pathLst>
            </a:custGeom>
            <a:solidFill>
              <a:srgbClr val="504B4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57150"/>
              <a:ext cx="3098800" cy="18151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359"/>
                </a:lnSpc>
              </a:pPr>
              <a:r>
                <a:rPr lang="en-US" sz="2799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TRAILING 12-MONTH</a:t>
              </a: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5541936" y="1951450"/>
            <a:ext cx="3310650" cy="1664850"/>
            <a:chOff x="0" y="0"/>
            <a:chExt cx="871941" cy="438479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5606657" y="212523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{{MOVEINS}}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5562477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grpSp>
        <p:nvGrpSpPr>
          <p:cNvPr id="46" name="Group 46"/>
          <p:cNvGrpSpPr/>
          <p:nvPr/>
        </p:nvGrpSpPr>
        <p:grpSpPr>
          <a:xfrm>
            <a:off x="9188027" y="1963175"/>
            <a:ext cx="3310650" cy="1664850"/>
            <a:chOff x="0" y="0"/>
            <a:chExt cx="871941" cy="438479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9" name="TextBox 49"/>
          <p:cNvSpPr txBox="1"/>
          <p:nvPr/>
        </p:nvSpPr>
        <p:spPr>
          <a:xfrm>
            <a:off x="9252749" y="209423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{{MOVEOUTS}}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232445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grpSp>
        <p:nvGrpSpPr>
          <p:cNvPr id="51" name="Group 51"/>
          <p:cNvGrpSpPr/>
          <p:nvPr/>
        </p:nvGrpSpPr>
        <p:grpSpPr>
          <a:xfrm>
            <a:off x="12739100" y="1932400"/>
            <a:ext cx="3310650" cy="1664850"/>
            <a:chOff x="0" y="0"/>
            <a:chExt cx="871941" cy="438479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5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4" name="TextBox 54"/>
          <p:cNvSpPr txBox="1"/>
          <p:nvPr/>
        </p:nvSpPr>
        <p:spPr>
          <a:xfrm>
            <a:off x="12803822" y="2075188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{{NETMOVE}}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2761326" y="2833926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grpSp>
        <p:nvGrpSpPr>
          <p:cNvPr id="56" name="Group 56"/>
          <p:cNvGrpSpPr/>
          <p:nvPr/>
        </p:nvGrpSpPr>
        <p:grpSpPr>
          <a:xfrm>
            <a:off x="6883049" y="4790611"/>
            <a:ext cx="2274101" cy="1331239"/>
            <a:chOff x="0" y="0"/>
            <a:chExt cx="598940" cy="350614"/>
          </a:xfrm>
        </p:grpSpPr>
        <p:sp>
          <p:nvSpPr>
            <p:cNvPr id="57" name="Freeform 5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TextBox 5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9" name="TextBox 59"/>
          <p:cNvSpPr txBox="1"/>
          <p:nvPr/>
        </p:nvSpPr>
        <p:spPr>
          <a:xfrm>
            <a:off x="6409478" y="5458433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6369870" y="4895850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{{MOVEINSTRL3}}</a:t>
            </a:r>
          </a:p>
        </p:txBody>
      </p:sp>
      <p:grpSp>
        <p:nvGrpSpPr>
          <p:cNvPr id="61" name="Group 61"/>
          <p:cNvGrpSpPr/>
          <p:nvPr/>
        </p:nvGrpSpPr>
        <p:grpSpPr>
          <a:xfrm>
            <a:off x="9551077" y="4758822"/>
            <a:ext cx="2274101" cy="1331239"/>
            <a:chOff x="0" y="0"/>
            <a:chExt cx="598940" cy="350614"/>
          </a:xfrm>
        </p:grpSpPr>
        <p:sp>
          <p:nvSpPr>
            <p:cNvPr id="62" name="Freeform 62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TextBox 63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64" name="TextBox 64"/>
          <p:cNvSpPr txBox="1"/>
          <p:nvPr/>
        </p:nvSpPr>
        <p:spPr>
          <a:xfrm>
            <a:off x="9034700" y="487841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{{MOVEOUTSTRL3}}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9068893" y="5458433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grpSp>
        <p:nvGrpSpPr>
          <p:cNvPr id="66" name="Group 66"/>
          <p:cNvGrpSpPr/>
          <p:nvPr/>
        </p:nvGrpSpPr>
        <p:grpSpPr>
          <a:xfrm>
            <a:off x="12215703" y="4758822"/>
            <a:ext cx="2274101" cy="1331239"/>
            <a:chOff x="0" y="0"/>
            <a:chExt cx="598940" cy="350614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TextBox 6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69" name="TextBox 69"/>
          <p:cNvSpPr txBox="1"/>
          <p:nvPr/>
        </p:nvSpPr>
        <p:spPr>
          <a:xfrm>
            <a:off x="11736993" y="54600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sp>
        <p:nvSpPr>
          <p:cNvPr id="70" name="TextBox 70"/>
          <p:cNvSpPr txBox="1"/>
          <p:nvPr/>
        </p:nvSpPr>
        <p:spPr>
          <a:xfrm>
            <a:off x="11781223" y="487841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{{NETTRL3}}</a:t>
            </a:r>
          </a:p>
        </p:txBody>
      </p:sp>
      <p:grpSp>
        <p:nvGrpSpPr>
          <p:cNvPr id="71" name="Group 71"/>
          <p:cNvGrpSpPr/>
          <p:nvPr/>
        </p:nvGrpSpPr>
        <p:grpSpPr>
          <a:xfrm>
            <a:off x="6883049" y="6326636"/>
            <a:ext cx="2274101" cy="1331239"/>
            <a:chOff x="0" y="0"/>
            <a:chExt cx="598940" cy="350614"/>
          </a:xfrm>
        </p:grpSpPr>
        <p:sp>
          <p:nvSpPr>
            <p:cNvPr id="72" name="Freeform 72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3" name="TextBox 73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74" name="Group 74"/>
          <p:cNvGrpSpPr/>
          <p:nvPr/>
        </p:nvGrpSpPr>
        <p:grpSpPr>
          <a:xfrm>
            <a:off x="9582100" y="6326636"/>
            <a:ext cx="2274101" cy="1331239"/>
            <a:chOff x="0" y="0"/>
            <a:chExt cx="598940" cy="350614"/>
          </a:xfrm>
        </p:grpSpPr>
        <p:sp>
          <p:nvSpPr>
            <p:cNvPr id="75" name="Freeform 75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TextBox 76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77" name="Group 77"/>
          <p:cNvGrpSpPr/>
          <p:nvPr/>
        </p:nvGrpSpPr>
        <p:grpSpPr>
          <a:xfrm>
            <a:off x="12215703" y="6320514"/>
            <a:ext cx="2274101" cy="1331239"/>
            <a:chOff x="0" y="0"/>
            <a:chExt cx="598940" cy="350614"/>
          </a:xfrm>
        </p:grpSpPr>
        <p:sp>
          <p:nvSpPr>
            <p:cNvPr id="78" name="Freeform 78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9A9A9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TextBox 79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0" name="TextBox 80"/>
          <p:cNvSpPr txBox="1"/>
          <p:nvPr/>
        </p:nvSpPr>
        <p:spPr>
          <a:xfrm>
            <a:off x="6444971" y="6496348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{{MOVEINSTRL6}}</a:t>
            </a:r>
          </a:p>
        </p:txBody>
      </p:sp>
      <p:sp>
        <p:nvSpPr>
          <p:cNvPr id="81" name="TextBox 81"/>
          <p:cNvSpPr txBox="1"/>
          <p:nvPr/>
        </p:nvSpPr>
        <p:spPr>
          <a:xfrm>
            <a:off x="6325690" y="7020830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82" name="TextBox 82"/>
          <p:cNvSpPr txBox="1"/>
          <p:nvPr/>
        </p:nvSpPr>
        <p:spPr>
          <a:xfrm>
            <a:off x="9143900" y="6490226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{{MOVEOUTSTRL6}}</a:t>
            </a:r>
          </a:p>
        </p:txBody>
      </p:sp>
      <p:sp>
        <p:nvSpPr>
          <p:cNvPr id="83" name="TextBox 83"/>
          <p:cNvSpPr txBox="1"/>
          <p:nvPr/>
        </p:nvSpPr>
        <p:spPr>
          <a:xfrm>
            <a:off x="9099720" y="69553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sp>
        <p:nvSpPr>
          <p:cNvPr id="84" name="TextBox 84"/>
          <p:cNvSpPr txBox="1"/>
          <p:nvPr/>
        </p:nvSpPr>
        <p:spPr>
          <a:xfrm>
            <a:off x="11717970" y="695534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9A9A9A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sp>
        <p:nvSpPr>
          <p:cNvPr id="85" name="TextBox 85"/>
          <p:cNvSpPr txBox="1"/>
          <p:nvPr/>
        </p:nvSpPr>
        <p:spPr>
          <a:xfrm>
            <a:off x="11717970" y="6490226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9A9A9A"/>
                </a:solidFill>
                <a:latin typeface="Avenir Bold"/>
                <a:ea typeface="Avenir Bold"/>
                <a:cs typeface="Avenir Bold"/>
                <a:sym typeface="Avenir Bold"/>
              </a:rPr>
              <a:t>{{NETTRL6}}</a:t>
            </a:r>
          </a:p>
        </p:txBody>
      </p:sp>
      <p:grpSp>
        <p:nvGrpSpPr>
          <p:cNvPr id="86" name="Group 86"/>
          <p:cNvGrpSpPr/>
          <p:nvPr/>
        </p:nvGrpSpPr>
        <p:grpSpPr>
          <a:xfrm>
            <a:off x="6883049" y="8061378"/>
            <a:ext cx="2274101" cy="1331239"/>
            <a:chOff x="0" y="0"/>
            <a:chExt cx="598940" cy="350614"/>
          </a:xfrm>
        </p:grpSpPr>
        <p:sp>
          <p:nvSpPr>
            <p:cNvPr id="87" name="Freeform 87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TextBox 88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89" name="Group 89"/>
          <p:cNvGrpSpPr/>
          <p:nvPr/>
        </p:nvGrpSpPr>
        <p:grpSpPr>
          <a:xfrm>
            <a:off x="9582100" y="8076975"/>
            <a:ext cx="2274101" cy="1331239"/>
            <a:chOff x="0" y="0"/>
            <a:chExt cx="598940" cy="350614"/>
          </a:xfrm>
        </p:grpSpPr>
        <p:sp>
          <p:nvSpPr>
            <p:cNvPr id="90" name="Freeform 90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TextBox 91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92" name="Group 92"/>
          <p:cNvGrpSpPr/>
          <p:nvPr/>
        </p:nvGrpSpPr>
        <p:grpSpPr>
          <a:xfrm>
            <a:off x="12215907" y="8041112"/>
            <a:ext cx="2274101" cy="1331239"/>
            <a:chOff x="0" y="0"/>
            <a:chExt cx="598940" cy="350614"/>
          </a:xfrm>
        </p:grpSpPr>
        <p:sp>
          <p:nvSpPr>
            <p:cNvPr id="93" name="Freeform 93"/>
            <p:cNvSpPr/>
            <p:nvPr/>
          </p:nvSpPr>
          <p:spPr>
            <a:xfrm>
              <a:off x="0" y="0"/>
              <a:ext cx="598940" cy="350614"/>
            </a:xfrm>
            <a:custGeom>
              <a:avLst/>
              <a:gdLst/>
              <a:ahLst/>
              <a:cxnLst/>
              <a:rect l="l" t="t" r="r" b="b"/>
              <a:pathLst>
                <a:path w="598940" h="350614">
                  <a:moveTo>
                    <a:pt x="0" y="0"/>
                  </a:moveTo>
                  <a:lnTo>
                    <a:pt x="598940" y="0"/>
                  </a:lnTo>
                  <a:lnTo>
                    <a:pt x="598940" y="350614"/>
                  </a:lnTo>
                  <a:lnTo>
                    <a:pt x="0" y="350614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504B4E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4" name="TextBox 94"/>
            <p:cNvSpPr txBox="1"/>
            <p:nvPr/>
          </p:nvSpPr>
          <p:spPr>
            <a:xfrm>
              <a:off x="0" y="-47625"/>
              <a:ext cx="598940" cy="39823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5" name="TextBox 95"/>
          <p:cNvSpPr txBox="1"/>
          <p:nvPr/>
        </p:nvSpPr>
        <p:spPr>
          <a:xfrm>
            <a:off x="6517856" y="815317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{{MOVEINSTRL12}}</a:t>
            </a:r>
          </a:p>
        </p:txBody>
      </p:sp>
      <p:sp>
        <p:nvSpPr>
          <p:cNvPr id="96" name="TextBox 96"/>
          <p:cNvSpPr txBox="1"/>
          <p:nvPr/>
        </p:nvSpPr>
        <p:spPr>
          <a:xfrm>
            <a:off x="6281510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Move-ins</a:t>
            </a:r>
          </a:p>
        </p:txBody>
      </p:sp>
      <p:sp>
        <p:nvSpPr>
          <p:cNvPr id="97" name="TextBox 97"/>
          <p:cNvSpPr txBox="1"/>
          <p:nvPr/>
        </p:nvSpPr>
        <p:spPr>
          <a:xfrm>
            <a:off x="9128547" y="8153175"/>
            <a:ext cx="3181207" cy="953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{{MOVEOUTSTRL12}}</a:t>
            </a:r>
          </a:p>
        </p:txBody>
      </p:sp>
      <p:sp>
        <p:nvSpPr>
          <p:cNvPr id="98" name="TextBox 98"/>
          <p:cNvSpPr txBox="1"/>
          <p:nvPr/>
        </p:nvSpPr>
        <p:spPr>
          <a:xfrm>
            <a:off x="9068893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Move-outs</a:t>
            </a:r>
          </a:p>
        </p:txBody>
      </p:sp>
      <p:sp>
        <p:nvSpPr>
          <p:cNvPr id="99" name="TextBox 99"/>
          <p:cNvSpPr txBox="1"/>
          <p:nvPr/>
        </p:nvSpPr>
        <p:spPr>
          <a:xfrm>
            <a:off x="11762150" y="8153175"/>
            <a:ext cx="3181207" cy="4959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640"/>
              </a:lnSpc>
              <a:spcBef>
                <a:spcPct val="0"/>
              </a:spcBef>
            </a:pPr>
            <a:r>
              <a:rPr lang="en-US" sz="2600" b="1">
                <a:solidFill>
                  <a:srgbClr val="504B4E"/>
                </a:solidFill>
                <a:latin typeface="Avenir Bold"/>
                <a:ea typeface="Avenir Bold"/>
                <a:cs typeface="Avenir Bold"/>
                <a:sym typeface="Avenir Bold"/>
              </a:rPr>
              <a:t>{{NETTRL12}}</a:t>
            </a:r>
          </a:p>
        </p:txBody>
      </p:sp>
      <p:sp>
        <p:nvSpPr>
          <p:cNvPr id="100" name="TextBox 100"/>
          <p:cNvSpPr txBox="1"/>
          <p:nvPr/>
        </p:nvSpPr>
        <p:spPr>
          <a:xfrm>
            <a:off x="11718174" y="8715758"/>
            <a:ext cx="3269567" cy="453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359"/>
              </a:lnSpc>
              <a:spcBef>
                <a:spcPct val="0"/>
              </a:spcBef>
            </a:pPr>
            <a:r>
              <a:rPr lang="en-US" sz="2400">
                <a:solidFill>
                  <a:srgbClr val="504B4E"/>
                </a:solidFill>
                <a:latin typeface="Avenir"/>
                <a:ea typeface="Avenir"/>
                <a:cs typeface="Avenir"/>
                <a:sym typeface="Avenir"/>
              </a:rPr>
              <a:t>Net</a:t>
            </a:r>
          </a:p>
        </p:txBody>
      </p:sp>
      <p:grpSp>
        <p:nvGrpSpPr>
          <p:cNvPr id="104" name="Group 8">
            <a:extLst>
              <a:ext uri="{FF2B5EF4-FFF2-40B4-BE49-F238E27FC236}">
                <a16:creationId xmlns:a16="http://schemas.microsoft.com/office/drawing/2014/main" id="{EE292075-059A-6F08-DE48-4A8DDBBA0B11}"/>
              </a:ext>
            </a:extLst>
          </p:cNvPr>
          <p:cNvGrpSpPr/>
          <p:nvPr/>
        </p:nvGrpSpPr>
        <p:grpSpPr>
          <a:xfrm>
            <a:off x="0" y="-123300"/>
            <a:ext cx="18288000" cy="1609200"/>
            <a:chOff x="0" y="0"/>
            <a:chExt cx="24384000" cy="2145600"/>
          </a:xfrm>
        </p:grpSpPr>
        <p:sp>
          <p:nvSpPr>
            <p:cNvPr id="105" name="Freeform 9">
              <a:extLst>
                <a:ext uri="{FF2B5EF4-FFF2-40B4-BE49-F238E27FC236}">
                  <a16:creationId xmlns:a16="http://schemas.microsoft.com/office/drawing/2014/main" id="{113FD3DC-1311-0C31-50E9-18F8169BD813}"/>
                </a:ext>
              </a:extLst>
            </p:cNvPr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6" name="TextBox 10">
              <a:extLst>
                <a:ext uri="{FF2B5EF4-FFF2-40B4-BE49-F238E27FC236}">
                  <a16:creationId xmlns:a16="http://schemas.microsoft.com/office/drawing/2014/main" id="{8269F3FC-56DA-1FF6-AB8F-11D27ECBE60E}"/>
                </a:ext>
              </a:extLst>
            </p:cNvPr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9478834"/>
            <a:ext cx="18288000" cy="823200"/>
            <a:chOff x="0" y="0"/>
            <a:chExt cx="24384000" cy="1097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4788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5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{{CURRENTMONTH}} Performance</a:t>
              </a:r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155301" y="9080201"/>
            <a:ext cx="5817150" cy="3590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Definitions in rate management report.</a:t>
            </a:r>
          </a:p>
          <a:p>
            <a:pPr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Blank fields are due to missing historical data from seller</a:t>
            </a:r>
          </a:p>
        </p:txBody>
      </p:sp>
      <p:graphicFrame>
        <p:nvGraphicFramePr>
          <p:cNvPr id="13" name="Table 13"/>
          <p:cNvGraphicFramePr>
            <a:graphicFrameLocks noGrp="1"/>
          </p:cNvGraphicFramePr>
          <p:nvPr/>
        </p:nvGraphicFramePr>
        <p:xfrm>
          <a:off x="1576076" y="1609188"/>
          <a:ext cx="1625600" cy="762000"/>
        </p:xfrm>
        <a:graphic>
          <a:graphicData uri="http://schemas.openxmlformats.org/drawingml/2006/table">
            <a:tbl>
              <a:tblPr/>
              <a:tblGrid>
                <a:gridCol w="1625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SUMMARY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4" name="Table 14"/>
          <p:cNvGraphicFramePr>
            <a:graphicFrameLocks noGrp="1"/>
          </p:cNvGraphicFramePr>
          <p:nvPr/>
        </p:nvGraphicFramePr>
        <p:xfrm>
          <a:off x="10431576" y="1609212"/>
          <a:ext cx="2971800" cy="762000"/>
        </p:xfrm>
        <a:graphic>
          <a:graphicData uri="http://schemas.openxmlformats.org/drawingml/2006/table">
            <a:tbl>
              <a:tblPr/>
              <a:tblGrid>
                <a:gridCol w="29718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2000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3B52A1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RATE MANAGEMENT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5" name="Table 15"/>
          <p:cNvGraphicFramePr>
            <a:graphicFrameLocks noGrp="1"/>
          </p:cNvGraphicFramePr>
          <p:nvPr/>
        </p:nvGraphicFramePr>
        <p:xfrm>
          <a:off x="1576100" y="2673900"/>
          <a:ext cx="7215330" cy="5765800"/>
        </p:xfrm>
        <a:graphic>
          <a:graphicData uri="http://schemas.openxmlformats.org/drawingml/2006/table">
            <a:tbl>
              <a:tblPr/>
              <a:tblGrid>
                <a:gridCol w="32498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0659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5588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91365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KPI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Current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Last Month Value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0603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SqFt Occupancy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{{SFTOC}}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{{SFTOCLM}}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853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MTD MoveIns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{{MTDMI}}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{{MTDMILM}}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0271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$/SqFt MoveIns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{{DSFTMI}}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{{DSFTMILM}}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081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MTD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{{MTDMOLM}}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18750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$/SqFt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{{DSFTMOLM}}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91470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% Occ Units LOR &gt; 6 Months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{{PERLOR}}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{{PERLORLM}}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634737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Avg LOR of MoveOuts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{{AVGLOR}}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{{AVGLORLM}}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666804"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% MoveIns with Promo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{{PROMO}}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83"/>
                        </a:lnSpc>
                        <a:defRPr/>
                      </a:pPr>
                      <a:r>
                        <a:rPr lang="en-US" sz="18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{{PROMOLM}}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A9A9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16" name="Table 16">
            <a:extLst>
              <a:ext uri="{FF2B5EF4-FFF2-40B4-BE49-F238E27FC236}">
                <a16:creationId xmlns:a16="http://schemas.microsoft.com/office/drawing/2014/main" id="{B0A64135-733F-DD9F-55A5-FE1E0DB14F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8127330"/>
              </p:ext>
            </p:extLst>
          </p:nvPr>
        </p:nvGraphicFramePr>
        <p:xfrm>
          <a:off x="10431600" y="2673888"/>
          <a:ext cx="6616700" cy="4520753"/>
        </p:xfrm>
        <a:graphic>
          <a:graphicData uri="http://schemas.openxmlformats.org/drawingml/2006/table">
            <a:tbl>
              <a:tblPr/>
              <a:tblGrid>
                <a:gridCol w="461446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022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874770">
                <a:tc gridSpan="2"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{{NEXTMONTH}} ECRI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{{CURRENTMONTH}} In-place Rent Escalations</a:t>
                      </a:r>
                      <a:endParaRPr lang="en-US" sz="1100"/>
                    </a:p>
                    <a:p>
                      <a:pPr algn="ctr">
                        <a:lnSpc>
                          <a:spcPts val="2160"/>
                        </a:lnSpc>
                      </a:pPr>
                      <a:r>
                        <a:rPr lang="en-US" sz="18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(4-6 months since last increase)</a:t>
                      </a:r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567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Number of rent increase letters sent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{{NUMREN}}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5756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square footage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{{TOTSFT}}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43640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Base rental rate; prior </a:t>
                      </a: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 ECRI </a:t>
                      </a: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($/sq ft)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{{BASERENPR}}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12829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Total $ increase with ECRI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{{TOTINCESC}}</a:t>
                      </a:r>
                      <a:endParaRPr lang="en-US" sz="110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28190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New rental rate, </a:t>
                      </a: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after ECRI </a:t>
                      </a: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($/sq ft)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{{NEWRENRT}}</a:t>
                      </a:r>
                      <a:endParaRPr lang="en-US" sz="1100"/>
                    </a:p>
                  </a:txBody>
                  <a:tcPr marL="0" marR="0" marT="0" marB="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659001"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Average percent increase per unit</a:t>
                      </a:r>
                      <a:endParaRPr lang="en-US" sz="110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160"/>
                        </a:lnSpc>
                        <a:defRPr/>
                      </a:pPr>
                      <a:r>
                        <a:rPr lang="en-US" sz="18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{{AVGPERINC}}</a:t>
                      </a:r>
                      <a:endParaRPr lang="en-US" sz="1100" dirty="0"/>
                    </a:p>
                  </a:txBody>
                  <a:tcPr marL="0" marR="0" marT="0" marB="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609200"/>
            <a:chOff x="0" y="0"/>
            <a:chExt cx="24384000" cy="2145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 Rate Management | Current Sell Rate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6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6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25" y="9078975"/>
            <a:ext cx="62995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Sell Rates are only available for vacant spaces</a:t>
            </a:r>
          </a:p>
        </p:txBody>
      </p:sp>
      <p:sp>
        <p:nvSpPr>
          <p:cNvPr id="17" name="TextBox 17"/>
          <p:cNvSpPr txBox="1"/>
          <p:nvPr/>
        </p:nvSpPr>
        <p:spPr>
          <a:xfrm rot="-5400000">
            <a:off x="-226538" y="3591213"/>
            <a:ext cx="2477550" cy="74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FLOOR 1 UNITS</a:t>
            </a:r>
          </a:p>
        </p:txBody>
      </p:sp>
      <p:sp>
        <p:nvSpPr>
          <p:cNvPr id="18" name="TextBox 18"/>
          <p:cNvSpPr txBox="1"/>
          <p:nvPr/>
        </p:nvSpPr>
        <p:spPr>
          <a:xfrm rot="-5400000">
            <a:off x="-226538" y="7275612"/>
            <a:ext cx="2477550" cy="744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400"/>
              </a:lnSpc>
            </a:pPr>
            <a:r>
              <a:rPr lang="en-US" sz="20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ELEVATOR UNITS</a:t>
            </a:r>
          </a:p>
        </p:txBody>
      </p:sp>
      <p:graphicFrame>
        <p:nvGraphicFramePr>
          <p:cNvPr id="15" name="Table 15">
            <a:extLst>
              <a:ext uri="{FF2B5EF4-FFF2-40B4-BE49-F238E27FC236}">
                <a16:creationId xmlns:a16="http://schemas.microsoft.com/office/drawing/2014/main" id="{17A8EDAA-88E6-7EC6-B554-90D1F9E9AD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1053856"/>
              </p:ext>
            </p:extLst>
          </p:nvPr>
        </p:nvGraphicFramePr>
        <p:xfrm>
          <a:off x="1536700" y="1836587"/>
          <a:ext cx="15214600" cy="3581399"/>
        </p:xfrm>
        <a:graphic>
          <a:graphicData uri="http://schemas.openxmlformats.org/drawingml/2006/table">
            <a:tbl>
              <a:tblPr/>
              <a:tblGrid>
                <a:gridCol w="35184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5884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3313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3041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61563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Current Sell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Sell Rate</a:t>
                      </a:r>
                      <a:endParaRPr lang="en-US" sz="1100" dirty="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($/sq ft)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Set Rate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{{15X5WEBPR}}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8548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graphicFrame>
        <p:nvGraphicFramePr>
          <p:cNvPr id="16" name="Table 16">
            <a:extLst>
              <a:ext uri="{FF2B5EF4-FFF2-40B4-BE49-F238E27FC236}">
                <a16:creationId xmlns:a16="http://schemas.microsoft.com/office/drawing/2014/main" id="{812591FC-A107-0045-FB42-A84E5C161E5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56638204"/>
              </p:ext>
            </p:extLst>
          </p:nvPr>
        </p:nvGraphicFramePr>
        <p:xfrm>
          <a:off x="1536700" y="5709003"/>
          <a:ext cx="15240001" cy="3200402"/>
        </p:xfrm>
        <a:graphic>
          <a:graphicData uri="http://schemas.openxmlformats.org/drawingml/2006/table">
            <a:tbl>
              <a:tblPr/>
              <a:tblGrid>
                <a:gridCol w="32767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84469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161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40245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863600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Current Sell Rate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Sell Rate</a:t>
                      </a:r>
                      <a:endParaRPr lang="en-US" sz="1100" dirty="0"/>
                    </a:p>
                    <a:p>
                      <a:pPr algn="ctr">
                        <a:lnSpc>
                          <a:spcPts val="2208"/>
                        </a:lnSpc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($/sq ft)</a:t>
                      </a:r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Set Rate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5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{{5X5WEBPREV}}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10 x 20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{{10X20WEBPREV}}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9467"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20 x 15</a:t>
                      </a:r>
                      <a:endParaRPr lang="en-US" sz="110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{{20X15WEBPREVRT}}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5CAE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208"/>
                        </a:lnSpc>
                        <a:defRPr/>
                      </a:pPr>
                      <a:r>
                        <a:rPr lang="en-US" sz="16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{{20X15WEBPREV}}</a:t>
                      </a:r>
                      <a:endParaRPr lang="en-US" sz="1100" dirty="0"/>
                    </a:p>
                  </a:txBody>
                  <a:tcPr marL="28575" marR="28575" marT="28575" marB="28575" anchor="ctr">
                    <a:lnL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3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1" name="Group 2">
            <a:extLst>
              <a:ext uri="{FF2B5EF4-FFF2-40B4-BE49-F238E27FC236}">
                <a16:creationId xmlns:a16="http://schemas.microsoft.com/office/drawing/2014/main" id="{3669D1BF-BECF-E7EF-2E9E-6B288DC837BF}"/>
              </a:ext>
            </a:extLst>
          </p:cNvPr>
          <p:cNvGrpSpPr>
            <a:grpSpLocks noChangeAspect="1"/>
          </p:cNvGrpSpPr>
          <p:nvPr/>
        </p:nvGrpSpPr>
        <p:grpSpPr>
          <a:xfrm>
            <a:off x="-5425" y="18016"/>
            <a:ext cx="18288000" cy="10287000"/>
            <a:chOff x="0" y="0"/>
            <a:chExt cx="24384000" cy="13716000"/>
          </a:xfrm>
        </p:grpSpPr>
        <p:sp>
          <p:nvSpPr>
            <p:cNvPr id="102" name="Freeform 3">
              <a:extLst>
                <a:ext uri="{FF2B5EF4-FFF2-40B4-BE49-F238E27FC236}">
                  <a16:creationId xmlns:a16="http://schemas.microsoft.com/office/drawing/2014/main" id="{62DAD2DE-0406-3378-AC0B-42EAC107D98D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 b="-1851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3" name="Group 4">
            <a:extLst>
              <a:ext uri="{FF2B5EF4-FFF2-40B4-BE49-F238E27FC236}">
                <a16:creationId xmlns:a16="http://schemas.microsoft.com/office/drawing/2014/main" id="{9C0188C5-1867-CBB8-DE77-604BAC47A7A5}"/>
              </a:ext>
            </a:extLst>
          </p:cNvPr>
          <p:cNvGrpSpPr/>
          <p:nvPr/>
        </p:nvGrpSpPr>
        <p:grpSpPr>
          <a:xfrm>
            <a:off x="0" y="-38100"/>
            <a:ext cx="18288000" cy="10287000"/>
            <a:chOff x="0" y="0"/>
            <a:chExt cx="24384000" cy="13716000"/>
          </a:xfrm>
        </p:grpSpPr>
        <p:sp>
          <p:nvSpPr>
            <p:cNvPr id="104" name="Freeform 5">
              <a:extLst>
                <a:ext uri="{FF2B5EF4-FFF2-40B4-BE49-F238E27FC236}">
                  <a16:creationId xmlns:a16="http://schemas.microsoft.com/office/drawing/2014/main" id="{7623B9DD-1846-F7E0-3EE7-1866D6B005C7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" name="Group 2"/>
          <p:cNvGrpSpPr/>
          <p:nvPr/>
        </p:nvGrpSpPr>
        <p:grpSpPr>
          <a:xfrm>
            <a:off x="0" y="-38100"/>
            <a:ext cx="18288000" cy="1609200"/>
            <a:chOff x="0" y="0"/>
            <a:chExt cx="24384000" cy="21456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2145538"/>
            </a:xfrm>
            <a:custGeom>
              <a:avLst/>
              <a:gdLst/>
              <a:ahLst/>
              <a:cxnLst/>
              <a:rect l="l" t="t" r="r" b="b"/>
              <a:pathLst>
                <a:path w="24384000" h="2145538">
                  <a:moveTo>
                    <a:pt x="0" y="0"/>
                  </a:moveTo>
                  <a:lnTo>
                    <a:pt x="24384000" y="0"/>
                  </a:lnTo>
                  <a:lnTo>
                    <a:pt x="24384000" y="2145538"/>
                  </a:lnTo>
                  <a:lnTo>
                    <a:pt x="0" y="214553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95250"/>
              <a:ext cx="24384000" cy="22408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>
                <a:lnSpc>
                  <a:spcPts val="5999"/>
                </a:lnSpc>
              </a:pPr>
              <a:r>
                <a:rPr lang="en-US" sz="4999" dirty="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{{CURRENTMONTH}} Operational Snapshot </a:t>
              </a:r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TextBox 13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7</a:t>
              </a:r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91443" y="9105175"/>
            <a:ext cx="100093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Additional information can be found in the daily flash report.</a:t>
            </a:r>
          </a:p>
        </p:txBody>
      </p:sp>
      <p:grpSp>
        <p:nvGrpSpPr>
          <p:cNvPr id="16" name="Group 41">
            <a:extLst>
              <a:ext uri="{FF2B5EF4-FFF2-40B4-BE49-F238E27FC236}">
                <a16:creationId xmlns:a16="http://schemas.microsoft.com/office/drawing/2014/main" id="{7DFB2AB5-375E-C1C4-B80A-61E3C207CFBD}"/>
              </a:ext>
            </a:extLst>
          </p:cNvPr>
          <p:cNvGrpSpPr/>
          <p:nvPr/>
        </p:nvGrpSpPr>
        <p:grpSpPr>
          <a:xfrm>
            <a:off x="3852150" y="2095500"/>
            <a:ext cx="3310650" cy="1664850"/>
            <a:chOff x="0" y="0"/>
            <a:chExt cx="871941" cy="438479"/>
          </a:xfrm>
        </p:grpSpPr>
        <p:sp>
          <p:nvSpPr>
            <p:cNvPr id="17" name="Freeform 42">
              <a:extLst>
                <a:ext uri="{FF2B5EF4-FFF2-40B4-BE49-F238E27FC236}">
                  <a16:creationId xmlns:a16="http://schemas.microsoft.com/office/drawing/2014/main" id="{EA03B3A0-4F28-8517-12D7-929F93E1C6DE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43">
              <a:extLst>
                <a:ext uri="{FF2B5EF4-FFF2-40B4-BE49-F238E27FC236}">
                  <a16:creationId xmlns:a16="http://schemas.microsoft.com/office/drawing/2014/main" id="{BA50E27C-5D12-7098-659C-2F3974E9F765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2" name="TextBox 44">
            <a:extLst>
              <a:ext uri="{FF2B5EF4-FFF2-40B4-BE49-F238E27FC236}">
                <a16:creationId xmlns:a16="http://schemas.microsoft.com/office/drawing/2014/main" id="{C287B4B5-E27A-95EE-15C7-28349203BFBD}"/>
              </a:ext>
            </a:extLst>
          </p:cNvPr>
          <p:cNvSpPr txBox="1"/>
          <p:nvPr/>
        </p:nvSpPr>
        <p:spPr>
          <a:xfrm>
            <a:off x="392835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{{MTDRENTALS}}</a:t>
            </a:r>
          </a:p>
        </p:txBody>
      </p:sp>
      <p:sp>
        <p:nvSpPr>
          <p:cNvPr id="33" name="TextBox 45">
            <a:extLst>
              <a:ext uri="{FF2B5EF4-FFF2-40B4-BE49-F238E27FC236}">
                <a16:creationId xmlns:a16="http://schemas.microsoft.com/office/drawing/2014/main" id="{9711E967-15B6-CD0C-2AC2-9CB7DC7D67CE}"/>
              </a:ext>
            </a:extLst>
          </p:cNvPr>
          <p:cNvSpPr txBox="1"/>
          <p:nvPr/>
        </p:nvSpPr>
        <p:spPr>
          <a:xfrm>
            <a:off x="3852150" y="2981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Rentals</a:t>
            </a:r>
          </a:p>
        </p:txBody>
      </p:sp>
      <p:grpSp>
        <p:nvGrpSpPr>
          <p:cNvPr id="46" name="Group 41">
            <a:extLst>
              <a:ext uri="{FF2B5EF4-FFF2-40B4-BE49-F238E27FC236}">
                <a16:creationId xmlns:a16="http://schemas.microsoft.com/office/drawing/2014/main" id="{EFEFABE1-C600-38CC-194D-0378FCCF6476}"/>
              </a:ext>
            </a:extLst>
          </p:cNvPr>
          <p:cNvGrpSpPr/>
          <p:nvPr/>
        </p:nvGrpSpPr>
        <p:grpSpPr>
          <a:xfrm>
            <a:off x="7315200" y="2095500"/>
            <a:ext cx="3310650" cy="1664850"/>
            <a:chOff x="0" y="0"/>
            <a:chExt cx="871941" cy="438479"/>
          </a:xfrm>
        </p:grpSpPr>
        <p:sp>
          <p:nvSpPr>
            <p:cNvPr id="47" name="Freeform 42">
              <a:extLst>
                <a:ext uri="{FF2B5EF4-FFF2-40B4-BE49-F238E27FC236}">
                  <a16:creationId xmlns:a16="http://schemas.microsoft.com/office/drawing/2014/main" id="{C7E010AD-67F0-DB79-4FAB-C3293D1D20CB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TextBox 43">
              <a:extLst>
                <a:ext uri="{FF2B5EF4-FFF2-40B4-BE49-F238E27FC236}">
                  <a16:creationId xmlns:a16="http://schemas.microsoft.com/office/drawing/2014/main" id="{90FDDEBF-5E60-FECF-D5C5-CD896F71690C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9" name="TextBox 44">
            <a:extLst>
              <a:ext uri="{FF2B5EF4-FFF2-40B4-BE49-F238E27FC236}">
                <a16:creationId xmlns:a16="http://schemas.microsoft.com/office/drawing/2014/main" id="{4BB2B5A3-D35C-6334-37AD-5EE2ED8BB57A}"/>
              </a:ext>
            </a:extLst>
          </p:cNvPr>
          <p:cNvSpPr txBox="1"/>
          <p:nvPr/>
        </p:nvSpPr>
        <p:spPr>
          <a:xfrm>
            <a:off x="739140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{{MTDVACATES}}</a:t>
            </a:r>
          </a:p>
        </p:txBody>
      </p:sp>
      <p:sp>
        <p:nvSpPr>
          <p:cNvPr id="50" name="TextBox 45">
            <a:extLst>
              <a:ext uri="{FF2B5EF4-FFF2-40B4-BE49-F238E27FC236}">
                <a16:creationId xmlns:a16="http://schemas.microsoft.com/office/drawing/2014/main" id="{E947CF11-6478-526B-BBD9-DEA14896B0A5}"/>
              </a:ext>
            </a:extLst>
          </p:cNvPr>
          <p:cNvSpPr txBox="1"/>
          <p:nvPr/>
        </p:nvSpPr>
        <p:spPr>
          <a:xfrm>
            <a:off x="7315200" y="2981325"/>
            <a:ext cx="3269567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Vacates</a:t>
            </a:r>
          </a:p>
        </p:txBody>
      </p:sp>
      <p:grpSp>
        <p:nvGrpSpPr>
          <p:cNvPr id="51" name="Group 41">
            <a:extLst>
              <a:ext uri="{FF2B5EF4-FFF2-40B4-BE49-F238E27FC236}">
                <a16:creationId xmlns:a16="http://schemas.microsoft.com/office/drawing/2014/main" id="{05B9E614-D59C-40C8-9F4C-E974E1D81485}"/>
              </a:ext>
            </a:extLst>
          </p:cNvPr>
          <p:cNvGrpSpPr/>
          <p:nvPr/>
        </p:nvGrpSpPr>
        <p:grpSpPr>
          <a:xfrm>
            <a:off x="10820400" y="2095500"/>
            <a:ext cx="3310650" cy="1664850"/>
            <a:chOff x="0" y="0"/>
            <a:chExt cx="871941" cy="438479"/>
          </a:xfrm>
        </p:grpSpPr>
        <p:sp>
          <p:nvSpPr>
            <p:cNvPr id="52" name="Freeform 42">
              <a:extLst>
                <a:ext uri="{FF2B5EF4-FFF2-40B4-BE49-F238E27FC236}">
                  <a16:creationId xmlns:a16="http://schemas.microsoft.com/office/drawing/2014/main" id="{D382B21C-317D-C115-FCA6-5CBD756100BB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TextBox 43">
              <a:extLst>
                <a:ext uri="{FF2B5EF4-FFF2-40B4-BE49-F238E27FC236}">
                  <a16:creationId xmlns:a16="http://schemas.microsoft.com/office/drawing/2014/main" id="{FD7006A7-4484-9849-2D02-E0FECA00F050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54" name="TextBox 44">
            <a:extLst>
              <a:ext uri="{FF2B5EF4-FFF2-40B4-BE49-F238E27FC236}">
                <a16:creationId xmlns:a16="http://schemas.microsoft.com/office/drawing/2014/main" id="{B7B3BBE5-CAF3-C9F1-D2A9-53FEB02F50C5}"/>
              </a:ext>
            </a:extLst>
          </p:cNvPr>
          <p:cNvSpPr txBox="1"/>
          <p:nvPr/>
        </p:nvSpPr>
        <p:spPr>
          <a:xfrm>
            <a:off x="10896600" y="21678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{{MTDNETRENTALS}}</a:t>
            </a:r>
          </a:p>
        </p:txBody>
      </p:sp>
      <p:sp>
        <p:nvSpPr>
          <p:cNvPr id="55" name="TextBox 45">
            <a:extLst>
              <a:ext uri="{FF2B5EF4-FFF2-40B4-BE49-F238E27FC236}">
                <a16:creationId xmlns:a16="http://schemas.microsoft.com/office/drawing/2014/main" id="{9C28B3A7-9D35-D1C8-509C-FC32497E31E0}"/>
              </a:ext>
            </a:extLst>
          </p:cNvPr>
          <p:cNvSpPr txBox="1"/>
          <p:nvPr/>
        </p:nvSpPr>
        <p:spPr>
          <a:xfrm>
            <a:off x="10820400" y="2981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Net</a:t>
            </a:r>
          </a:p>
        </p:txBody>
      </p:sp>
      <p:grpSp>
        <p:nvGrpSpPr>
          <p:cNvPr id="76" name="Group 41">
            <a:extLst>
              <a:ext uri="{FF2B5EF4-FFF2-40B4-BE49-F238E27FC236}">
                <a16:creationId xmlns:a16="http://schemas.microsoft.com/office/drawing/2014/main" id="{B145205C-F1A3-7397-D900-432548B13003}"/>
              </a:ext>
            </a:extLst>
          </p:cNvPr>
          <p:cNvGrpSpPr/>
          <p:nvPr/>
        </p:nvGrpSpPr>
        <p:grpSpPr>
          <a:xfrm>
            <a:off x="5585557" y="3924300"/>
            <a:ext cx="3310650" cy="1664850"/>
            <a:chOff x="0" y="0"/>
            <a:chExt cx="871941" cy="438479"/>
          </a:xfrm>
        </p:grpSpPr>
        <p:sp>
          <p:nvSpPr>
            <p:cNvPr id="77" name="Freeform 42">
              <a:extLst>
                <a:ext uri="{FF2B5EF4-FFF2-40B4-BE49-F238E27FC236}">
                  <a16:creationId xmlns:a16="http://schemas.microsoft.com/office/drawing/2014/main" id="{282D1D12-C5E6-316A-33BE-FD77D90C0A93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TextBox 43">
              <a:extLst>
                <a:ext uri="{FF2B5EF4-FFF2-40B4-BE49-F238E27FC236}">
                  <a16:creationId xmlns:a16="http://schemas.microsoft.com/office/drawing/2014/main" id="{90EC3831-7541-8ABC-8715-78FB148716AA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79" name="TextBox 44">
            <a:extLst>
              <a:ext uri="{FF2B5EF4-FFF2-40B4-BE49-F238E27FC236}">
                <a16:creationId xmlns:a16="http://schemas.microsoft.com/office/drawing/2014/main" id="{96785DB2-C3F3-F75D-8DE6-C162AB3A9A28}"/>
              </a:ext>
            </a:extLst>
          </p:cNvPr>
          <p:cNvSpPr txBox="1"/>
          <p:nvPr/>
        </p:nvSpPr>
        <p:spPr>
          <a:xfrm>
            <a:off x="5661757" y="3996663"/>
            <a:ext cx="3181207" cy="5934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{{PROJRENT}}</a:t>
            </a:r>
          </a:p>
        </p:txBody>
      </p:sp>
      <p:sp>
        <p:nvSpPr>
          <p:cNvPr id="80" name="TextBox 45">
            <a:extLst>
              <a:ext uri="{FF2B5EF4-FFF2-40B4-BE49-F238E27FC236}">
                <a16:creationId xmlns:a16="http://schemas.microsoft.com/office/drawing/2014/main" id="{9AD64C21-DD1B-0C03-CA2E-8BC0F6BAF7DC}"/>
              </a:ext>
            </a:extLst>
          </p:cNvPr>
          <p:cNvSpPr txBox="1"/>
          <p:nvPr/>
        </p:nvSpPr>
        <p:spPr>
          <a:xfrm>
            <a:off x="5585557" y="48101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Projected Rent</a:t>
            </a:r>
          </a:p>
        </p:txBody>
      </p:sp>
      <p:grpSp>
        <p:nvGrpSpPr>
          <p:cNvPr id="81" name="Group 41">
            <a:extLst>
              <a:ext uri="{FF2B5EF4-FFF2-40B4-BE49-F238E27FC236}">
                <a16:creationId xmlns:a16="http://schemas.microsoft.com/office/drawing/2014/main" id="{A8B17132-26AB-4386-9931-9F9E9EFA4E4B}"/>
              </a:ext>
            </a:extLst>
          </p:cNvPr>
          <p:cNvGrpSpPr/>
          <p:nvPr/>
        </p:nvGrpSpPr>
        <p:grpSpPr>
          <a:xfrm>
            <a:off x="9109950" y="3924300"/>
            <a:ext cx="3310650" cy="1664850"/>
            <a:chOff x="0" y="0"/>
            <a:chExt cx="871941" cy="438479"/>
          </a:xfrm>
        </p:grpSpPr>
        <p:sp>
          <p:nvSpPr>
            <p:cNvPr id="82" name="Freeform 42">
              <a:extLst>
                <a:ext uri="{FF2B5EF4-FFF2-40B4-BE49-F238E27FC236}">
                  <a16:creationId xmlns:a16="http://schemas.microsoft.com/office/drawing/2014/main" id="{7B080420-AA1B-E73F-1AAC-0DEF51E8B94E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TextBox 43">
              <a:extLst>
                <a:ext uri="{FF2B5EF4-FFF2-40B4-BE49-F238E27FC236}">
                  <a16:creationId xmlns:a16="http://schemas.microsoft.com/office/drawing/2014/main" id="{A0E891B5-E360-0705-A1DA-EB73B0478221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4" name="TextBox 44">
            <a:extLst>
              <a:ext uri="{FF2B5EF4-FFF2-40B4-BE49-F238E27FC236}">
                <a16:creationId xmlns:a16="http://schemas.microsoft.com/office/drawing/2014/main" id="{0EC5E9F7-863C-DE5B-D71D-7E0632316569}"/>
              </a:ext>
            </a:extLst>
          </p:cNvPr>
          <p:cNvSpPr txBox="1"/>
          <p:nvPr/>
        </p:nvSpPr>
        <p:spPr>
          <a:xfrm>
            <a:off x="9186150" y="39966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{{PROJRENTPERSF}}</a:t>
            </a:r>
          </a:p>
        </p:txBody>
      </p:sp>
      <p:sp>
        <p:nvSpPr>
          <p:cNvPr id="85" name="TextBox 45">
            <a:extLst>
              <a:ext uri="{FF2B5EF4-FFF2-40B4-BE49-F238E27FC236}">
                <a16:creationId xmlns:a16="http://schemas.microsoft.com/office/drawing/2014/main" id="{D64049D5-8E8A-C7F3-44C8-5165D72D8E91}"/>
              </a:ext>
            </a:extLst>
          </p:cNvPr>
          <p:cNvSpPr txBox="1"/>
          <p:nvPr/>
        </p:nvSpPr>
        <p:spPr>
          <a:xfrm>
            <a:off x="9109950" y="48101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Projected Rent/SF</a:t>
            </a:r>
          </a:p>
        </p:txBody>
      </p:sp>
      <p:grpSp>
        <p:nvGrpSpPr>
          <p:cNvPr id="86" name="Group 41">
            <a:extLst>
              <a:ext uri="{FF2B5EF4-FFF2-40B4-BE49-F238E27FC236}">
                <a16:creationId xmlns:a16="http://schemas.microsoft.com/office/drawing/2014/main" id="{A194E09A-672B-2566-2FEF-76B25DA68195}"/>
              </a:ext>
            </a:extLst>
          </p:cNvPr>
          <p:cNvGrpSpPr/>
          <p:nvPr/>
        </p:nvGrpSpPr>
        <p:grpSpPr>
          <a:xfrm>
            <a:off x="5585557" y="5753100"/>
            <a:ext cx="3310650" cy="1664850"/>
            <a:chOff x="0" y="0"/>
            <a:chExt cx="871941" cy="438479"/>
          </a:xfrm>
        </p:grpSpPr>
        <p:sp>
          <p:nvSpPr>
            <p:cNvPr id="87" name="Freeform 42">
              <a:extLst>
                <a:ext uri="{FF2B5EF4-FFF2-40B4-BE49-F238E27FC236}">
                  <a16:creationId xmlns:a16="http://schemas.microsoft.com/office/drawing/2014/main" id="{83F4823C-CB9F-2299-905B-FFCE65A1C5B4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TextBox 43">
              <a:extLst>
                <a:ext uri="{FF2B5EF4-FFF2-40B4-BE49-F238E27FC236}">
                  <a16:creationId xmlns:a16="http://schemas.microsoft.com/office/drawing/2014/main" id="{B685CAA6-A831-9BC5-749C-7B54048059BE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89" name="TextBox 44">
            <a:extLst>
              <a:ext uri="{FF2B5EF4-FFF2-40B4-BE49-F238E27FC236}">
                <a16:creationId xmlns:a16="http://schemas.microsoft.com/office/drawing/2014/main" id="{B63650AF-EADA-6832-7C25-802DF507A2B8}"/>
              </a:ext>
            </a:extLst>
          </p:cNvPr>
          <p:cNvSpPr txBox="1"/>
          <p:nvPr/>
        </p:nvSpPr>
        <p:spPr>
          <a:xfrm>
            <a:off x="5661757" y="58254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{{EFFPOTRENT}}</a:t>
            </a:r>
          </a:p>
        </p:txBody>
      </p:sp>
      <p:sp>
        <p:nvSpPr>
          <p:cNvPr id="90" name="TextBox 45">
            <a:extLst>
              <a:ext uri="{FF2B5EF4-FFF2-40B4-BE49-F238E27FC236}">
                <a16:creationId xmlns:a16="http://schemas.microsoft.com/office/drawing/2014/main" id="{5710F870-E13D-FA29-B9C8-001C04CF19C7}"/>
              </a:ext>
            </a:extLst>
          </p:cNvPr>
          <p:cNvSpPr txBox="1"/>
          <p:nvPr/>
        </p:nvSpPr>
        <p:spPr>
          <a:xfrm>
            <a:off x="5585557" y="66389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Sell Rate Pot. Rent</a:t>
            </a:r>
          </a:p>
        </p:txBody>
      </p:sp>
      <p:grpSp>
        <p:nvGrpSpPr>
          <p:cNvPr id="91" name="Group 41">
            <a:extLst>
              <a:ext uri="{FF2B5EF4-FFF2-40B4-BE49-F238E27FC236}">
                <a16:creationId xmlns:a16="http://schemas.microsoft.com/office/drawing/2014/main" id="{09450ECB-CD00-7D46-7A37-1F8918A66617}"/>
              </a:ext>
            </a:extLst>
          </p:cNvPr>
          <p:cNvGrpSpPr/>
          <p:nvPr/>
        </p:nvGrpSpPr>
        <p:grpSpPr>
          <a:xfrm>
            <a:off x="9090757" y="5753100"/>
            <a:ext cx="3310650" cy="1664850"/>
            <a:chOff x="0" y="0"/>
            <a:chExt cx="871941" cy="438479"/>
          </a:xfrm>
        </p:grpSpPr>
        <p:sp>
          <p:nvSpPr>
            <p:cNvPr id="92" name="Freeform 42">
              <a:extLst>
                <a:ext uri="{FF2B5EF4-FFF2-40B4-BE49-F238E27FC236}">
                  <a16:creationId xmlns:a16="http://schemas.microsoft.com/office/drawing/2014/main" id="{55882327-D0FD-4E3E-6D18-F9ABA78E25CA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3" name="TextBox 43">
              <a:extLst>
                <a:ext uri="{FF2B5EF4-FFF2-40B4-BE49-F238E27FC236}">
                  <a16:creationId xmlns:a16="http://schemas.microsoft.com/office/drawing/2014/main" id="{13402C5B-CE31-9205-C539-4F2AB05D1106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4" name="TextBox 44">
            <a:extLst>
              <a:ext uri="{FF2B5EF4-FFF2-40B4-BE49-F238E27FC236}">
                <a16:creationId xmlns:a16="http://schemas.microsoft.com/office/drawing/2014/main" id="{5C0E170E-3640-1A76-EA6E-C86ACC4E07FA}"/>
              </a:ext>
            </a:extLst>
          </p:cNvPr>
          <p:cNvSpPr txBox="1"/>
          <p:nvPr/>
        </p:nvSpPr>
        <p:spPr>
          <a:xfrm>
            <a:off x="9166957" y="58254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{{AVGSFVACA}}</a:t>
            </a:r>
          </a:p>
        </p:txBody>
      </p:sp>
      <p:sp>
        <p:nvSpPr>
          <p:cNvPr id="95" name="TextBox 45">
            <a:extLst>
              <a:ext uri="{FF2B5EF4-FFF2-40B4-BE49-F238E27FC236}">
                <a16:creationId xmlns:a16="http://schemas.microsoft.com/office/drawing/2014/main" id="{C5886E1E-4AE8-98E7-0055-886791ABD92C}"/>
              </a:ext>
            </a:extLst>
          </p:cNvPr>
          <p:cNvSpPr txBox="1"/>
          <p:nvPr/>
        </p:nvSpPr>
        <p:spPr>
          <a:xfrm>
            <a:off x="9090757" y="6638925"/>
            <a:ext cx="3269567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Sell Rate/SF</a:t>
            </a:r>
          </a:p>
        </p:txBody>
      </p:sp>
      <p:grpSp>
        <p:nvGrpSpPr>
          <p:cNvPr id="96" name="Group 41">
            <a:extLst>
              <a:ext uri="{FF2B5EF4-FFF2-40B4-BE49-F238E27FC236}">
                <a16:creationId xmlns:a16="http://schemas.microsoft.com/office/drawing/2014/main" id="{F795C424-A623-3F60-28FE-BE1120DF67A8}"/>
              </a:ext>
            </a:extLst>
          </p:cNvPr>
          <p:cNvGrpSpPr/>
          <p:nvPr/>
        </p:nvGrpSpPr>
        <p:grpSpPr>
          <a:xfrm>
            <a:off x="5592590" y="7517250"/>
            <a:ext cx="3310650" cy="1664850"/>
            <a:chOff x="0" y="0"/>
            <a:chExt cx="871941" cy="438479"/>
          </a:xfrm>
        </p:grpSpPr>
        <p:sp>
          <p:nvSpPr>
            <p:cNvPr id="97" name="Freeform 42">
              <a:extLst>
                <a:ext uri="{FF2B5EF4-FFF2-40B4-BE49-F238E27FC236}">
                  <a16:creationId xmlns:a16="http://schemas.microsoft.com/office/drawing/2014/main" id="{ABDF11F4-BD05-7E49-438D-380E76D9172D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8" name="TextBox 43">
              <a:extLst>
                <a:ext uri="{FF2B5EF4-FFF2-40B4-BE49-F238E27FC236}">
                  <a16:creationId xmlns:a16="http://schemas.microsoft.com/office/drawing/2014/main" id="{34C9B84F-F1AA-FC35-8913-6E63E29F7DFE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99" name="TextBox 44">
            <a:extLst>
              <a:ext uri="{FF2B5EF4-FFF2-40B4-BE49-F238E27FC236}">
                <a16:creationId xmlns:a16="http://schemas.microsoft.com/office/drawing/2014/main" id="{CF69C673-9587-85AA-26B9-51CF533DC558}"/>
              </a:ext>
            </a:extLst>
          </p:cNvPr>
          <p:cNvSpPr txBox="1"/>
          <p:nvPr/>
        </p:nvSpPr>
        <p:spPr>
          <a:xfrm>
            <a:off x="5668790" y="758961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{{GROSSPOTRENT}}</a:t>
            </a:r>
          </a:p>
        </p:txBody>
      </p:sp>
      <p:sp>
        <p:nvSpPr>
          <p:cNvPr id="100" name="TextBox 45">
            <a:extLst>
              <a:ext uri="{FF2B5EF4-FFF2-40B4-BE49-F238E27FC236}">
                <a16:creationId xmlns:a16="http://schemas.microsoft.com/office/drawing/2014/main" id="{5F2F2D86-BB5A-879B-7F18-4B1B2D65AF81}"/>
              </a:ext>
            </a:extLst>
          </p:cNvPr>
          <p:cNvSpPr txBox="1"/>
          <p:nvPr/>
        </p:nvSpPr>
        <p:spPr>
          <a:xfrm>
            <a:off x="5645833" y="832687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Gross Pot. Rent</a:t>
            </a:r>
          </a:p>
        </p:txBody>
      </p:sp>
      <p:grpSp>
        <p:nvGrpSpPr>
          <p:cNvPr id="31" name="Group 41">
            <a:extLst>
              <a:ext uri="{FF2B5EF4-FFF2-40B4-BE49-F238E27FC236}">
                <a16:creationId xmlns:a16="http://schemas.microsoft.com/office/drawing/2014/main" id="{060D5E75-B929-A033-7191-AEF1F8DC089A}"/>
              </a:ext>
            </a:extLst>
          </p:cNvPr>
          <p:cNvGrpSpPr/>
          <p:nvPr/>
        </p:nvGrpSpPr>
        <p:grpSpPr>
          <a:xfrm>
            <a:off x="9097790" y="7505700"/>
            <a:ext cx="3310650" cy="1664850"/>
            <a:chOff x="0" y="0"/>
            <a:chExt cx="871941" cy="438479"/>
          </a:xfrm>
        </p:grpSpPr>
        <p:sp>
          <p:nvSpPr>
            <p:cNvPr id="34" name="Freeform 42">
              <a:extLst>
                <a:ext uri="{FF2B5EF4-FFF2-40B4-BE49-F238E27FC236}">
                  <a16:creationId xmlns:a16="http://schemas.microsoft.com/office/drawing/2014/main" id="{AA5625FB-0E2B-54F1-60A2-F16D4CC0C7BF}"/>
                </a:ext>
              </a:extLst>
            </p:cNvPr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TextBox 43">
              <a:extLst>
                <a:ext uri="{FF2B5EF4-FFF2-40B4-BE49-F238E27FC236}">
                  <a16:creationId xmlns:a16="http://schemas.microsoft.com/office/drawing/2014/main" id="{1EF9CE0F-9B35-81FE-5A59-1A1202BBB31B}"/>
                </a:ext>
              </a:extLst>
            </p:cNvPr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6" name="TextBox 44">
            <a:extLst>
              <a:ext uri="{FF2B5EF4-FFF2-40B4-BE49-F238E27FC236}">
                <a16:creationId xmlns:a16="http://schemas.microsoft.com/office/drawing/2014/main" id="{7935DE11-C001-9551-AB88-0327E75F7C19}"/>
              </a:ext>
            </a:extLst>
          </p:cNvPr>
          <p:cNvSpPr txBox="1"/>
          <p:nvPr/>
        </p:nvSpPr>
        <p:spPr>
          <a:xfrm>
            <a:off x="9173990" y="7578063"/>
            <a:ext cx="3181207" cy="12346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{{GROSSPOTRENTRATE}}</a:t>
            </a:r>
          </a:p>
        </p:txBody>
      </p:sp>
      <p:sp>
        <p:nvSpPr>
          <p:cNvPr id="37" name="TextBox 45">
            <a:extLst>
              <a:ext uri="{FF2B5EF4-FFF2-40B4-BE49-F238E27FC236}">
                <a16:creationId xmlns:a16="http://schemas.microsoft.com/office/drawing/2014/main" id="{5FE6E428-1D09-9981-DF53-4997A6D3EEB6}"/>
              </a:ext>
            </a:extLst>
          </p:cNvPr>
          <p:cNvSpPr txBox="1"/>
          <p:nvPr/>
        </p:nvSpPr>
        <p:spPr>
          <a:xfrm>
            <a:off x="9151033" y="8315325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GPR Rate/SF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-10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1" b="-18519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100" y="450"/>
            <a:ext cx="18288000" cy="10287000"/>
            <a:chOff x="0" y="0"/>
            <a:chExt cx="24384000" cy="13716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FFFFFF">
                <a:alpha val="6862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venir"/>
                  <a:ea typeface="Avenir"/>
                  <a:cs typeface="Avenir"/>
                  <a:sym typeface="Avenir"/>
                </a:rPr>
                <a:t>8</a:t>
              </a:r>
            </a:p>
          </p:txBody>
        </p:sp>
      </p:grpSp>
      <p:sp>
        <p:nvSpPr>
          <p:cNvPr id="9" name="AutoShape 9"/>
          <p:cNvSpPr/>
          <p:nvPr/>
        </p:nvSpPr>
        <p:spPr>
          <a:xfrm rot="14726">
            <a:off x="439672" y="5134425"/>
            <a:ext cx="17018256" cy="0"/>
          </a:xfrm>
          <a:prstGeom prst="line">
            <a:avLst/>
          </a:prstGeom>
          <a:ln w="19050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3525075" y="2983476"/>
            <a:ext cx="5346799" cy="1645800"/>
            <a:chOff x="0" y="0"/>
            <a:chExt cx="4392800" cy="21944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4392803" cy="2194433"/>
            </a:xfrm>
            <a:custGeom>
              <a:avLst/>
              <a:gdLst/>
              <a:ahLst/>
              <a:cxnLst/>
              <a:rect l="l" t="t" r="r" b="b"/>
              <a:pathLst>
                <a:path w="4392803" h="2194433">
                  <a:moveTo>
                    <a:pt x="0" y="0"/>
                  </a:moveTo>
                  <a:lnTo>
                    <a:pt x="4392803" y="0"/>
                  </a:lnTo>
                  <a:lnTo>
                    <a:pt x="4392803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85725"/>
              <a:ext cx="43928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 dirty="0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{{CURRENTMONTH}}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8</a:t>
              </a:r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91325" y="8929075"/>
            <a:ext cx="8780550" cy="1795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 dirty="0">
                <a:solidFill>
                  <a:srgbClr val="595959"/>
                </a:solidFill>
                <a:latin typeface="Arial Italics"/>
                <a:ea typeface="Arial Italics"/>
                <a:cs typeface="Arial Italics"/>
                <a:sym typeface="Arial Italics"/>
              </a:rPr>
              <a:t>TPP excludes parking spaces and wine storage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-100" y="0"/>
            <a:ext cx="18288000" cy="1688076"/>
            <a:chOff x="0" y="0"/>
            <a:chExt cx="24384000" cy="225076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24384000" cy="2250704"/>
            </a:xfrm>
            <a:custGeom>
              <a:avLst/>
              <a:gdLst/>
              <a:ahLst/>
              <a:cxnLst/>
              <a:rect l="l" t="t" r="r" b="b"/>
              <a:pathLst>
                <a:path w="24384000" h="2250704">
                  <a:moveTo>
                    <a:pt x="0" y="0"/>
                  </a:moveTo>
                  <a:lnTo>
                    <a:pt x="24384000" y="0"/>
                  </a:lnTo>
                  <a:lnTo>
                    <a:pt x="24384000" y="2250704"/>
                  </a:lnTo>
                  <a:lnTo>
                    <a:pt x="0" y="2250704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95250"/>
              <a:ext cx="24384000" cy="2346018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5999"/>
                </a:lnSpc>
              </a:pPr>
              <a:r>
                <a:rPr lang="en-US" sz="4999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Tenant Protection Capture Rate</a:t>
              </a:r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3525114" y="5633600"/>
            <a:ext cx="5380200" cy="1645800"/>
            <a:chOff x="0" y="0"/>
            <a:chExt cx="7173600" cy="2194400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7173595" cy="2194433"/>
            </a:xfrm>
            <a:custGeom>
              <a:avLst/>
              <a:gdLst/>
              <a:ahLst/>
              <a:cxnLst/>
              <a:rect l="l" t="t" r="r" b="b"/>
              <a:pathLst>
                <a:path w="7173595" h="2194433">
                  <a:moveTo>
                    <a:pt x="0" y="0"/>
                  </a:moveTo>
                  <a:lnTo>
                    <a:pt x="7173595" y="0"/>
                  </a:lnTo>
                  <a:lnTo>
                    <a:pt x="7173595" y="2194433"/>
                  </a:lnTo>
                  <a:lnTo>
                    <a:pt x="0" y="2194433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85725"/>
              <a:ext cx="7173600" cy="22801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4800"/>
                </a:lnSpc>
              </a:pPr>
              <a:r>
                <a:rPr lang="en-US" sz="4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OVERALL</a:t>
              </a:r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9144000" y="2964426"/>
            <a:ext cx="5093900" cy="1664850"/>
            <a:chOff x="0" y="0"/>
            <a:chExt cx="871941" cy="438479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TextBox 33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10134600" y="3127637"/>
            <a:ext cx="3181207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{{INSURPER}}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0141633" y="3870577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Protected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9144000" y="5614550"/>
            <a:ext cx="5029178" cy="1664850"/>
            <a:chOff x="0" y="0"/>
            <a:chExt cx="1324557" cy="438479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324557" cy="438479"/>
            </a:xfrm>
            <a:custGeom>
              <a:avLst/>
              <a:gdLst/>
              <a:ahLst/>
              <a:cxnLst/>
              <a:rect l="l" t="t" r="r" b="b"/>
              <a:pathLst>
                <a:path w="1324557" h="438479">
                  <a:moveTo>
                    <a:pt x="0" y="0"/>
                  </a:moveTo>
                  <a:lnTo>
                    <a:pt x="1324557" y="0"/>
                  </a:lnTo>
                  <a:lnTo>
                    <a:pt x="1324557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TextBox 38"/>
            <p:cNvSpPr txBox="1"/>
            <p:nvPr/>
          </p:nvSpPr>
          <p:spPr>
            <a:xfrm>
              <a:off x="0" y="-47625"/>
              <a:ext cx="1324557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39" name="TextBox 39"/>
          <p:cNvSpPr txBox="1"/>
          <p:nvPr/>
        </p:nvSpPr>
        <p:spPr>
          <a:xfrm>
            <a:off x="9865163" y="6030719"/>
            <a:ext cx="3586853" cy="689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5039"/>
              </a:lnSpc>
              <a:spcBef>
                <a:spcPct val="0"/>
              </a:spcBef>
            </a:pPr>
            <a:r>
              <a:rPr lang="en-US" sz="35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{{OVERALLPER}}</a:t>
            </a:r>
          </a:p>
        </p:txBody>
      </p:sp>
      <p:sp>
        <p:nvSpPr>
          <p:cNvPr id="40" name="TextBox 35">
            <a:extLst>
              <a:ext uri="{FF2B5EF4-FFF2-40B4-BE49-F238E27FC236}">
                <a16:creationId xmlns:a16="http://schemas.microsoft.com/office/drawing/2014/main" id="{92A0F015-363D-9D1A-81BE-2E4881924FBD}"/>
              </a:ext>
            </a:extLst>
          </p:cNvPr>
          <p:cNvSpPr txBox="1"/>
          <p:nvPr/>
        </p:nvSpPr>
        <p:spPr>
          <a:xfrm>
            <a:off x="9703247" y="6655104"/>
            <a:ext cx="3910684" cy="49782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Protected Percentage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878725" y="4843175"/>
            <a:ext cx="16518450" cy="4337250"/>
            <a:chOff x="0" y="0"/>
            <a:chExt cx="22024600" cy="5783000"/>
          </a:xfrm>
        </p:grpSpPr>
        <p:sp>
          <p:nvSpPr>
            <p:cNvPr id="3" name="Freeform 3"/>
            <p:cNvSpPr/>
            <p:nvPr/>
          </p:nvSpPr>
          <p:spPr>
            <a:xfrm>
              <a:off x="12700" y="12700"/>
              <a:ext cx="21999194" cy="5757545"/>
            </a:xfrm>
            <a:custGeom>
              <a:avLst/>
              <a:gdLst/>
              <a:ahLst/>
              <a:cxnLst/>
              <a:rect l="l" t="t" r="r" b="b"/>
              <a:pathLst>
                <a:path w="21999194" h="5757545">
                  <a:moveTo>
                    <a:pt x="0" y="0"/>
                  </a:moveTo>
                  <a:lnTo>
                    <a:pt x="21999194" y="0"/>
                  </a:lnTo>
                  <a:lnTo>
                    <a:pt x="21999194" y="5757545"/>
                  </a:lnTo>
                  <a:lnTo>
                    <a:pt x="0" y="5757545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Freeform 4"/>
            <p:cNvSpPr/>
            <p:nvPr/>
          </p:nvSpPr>
          <p:spPr>
            <a:xfrm>
              <a:off x="0" y="0"/>
              <a:ext cx="22024594" cy="5782945"/>
            </a:xfrm>
            <a:custGeom>
              <a:avLst/>
              <a:gdLst/>
              <a:ahLst/>
              <a:cxnLst/>
              <a:rect l="l" t="t" r="r" b="b"/>
              <a:pathLst>
                <a:path w="22024594" h="5782945">
                  <a:moveTo>
                    <a:pt x="12700" y="0"/>
                  </a:moveTo>
                  <a:lnTo>
                    <a:pt x="22011894" y="0"/>
                  </a:lnTo>
                  <a:cubicBezTo>
                    <a:pt x="22018879" y="0"/>
                    <a:pt x="22024594" y="5715"/>
                    <a:pt x="22024594" y="12700"/>
                  </a:cubicBezTo>
                  <a:lnTo>
                    <a:pt x="22024594" y="5770245"/>
                  </a:lnTo>
                  <a:cubicBezTo>
                    <a:pt x="22024594" y="5777230"/>
                    <a:pt x="22018879" y="5782945"/>
                    <a:pt x="22011894" y="5782945"/>
                  </a:cubicBezTo>
                  <a:lnTo>
                    <a:pt x="12700" y="5782945"/>
                  </a:lnTo>
                  <a:cubicBezTo>
                    <a:pt x="5715" y="5782945"/>
                    <a:pt x="0" y="5777230"/>
                    <a:pt x="0" y="5770245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5770245"/>
                  </a:lnTo>
                  <a:lnTo>
                    <a:pt x="12700" y="5770245"/>
                  </a:lnTo>
                  <a:lnTo>
                    <a:pt x="12700" y="5757545"/>
                  </a:lnTo>
                  <a:lnTo>
                    <a:pt x="22011894" y="5757545"/>
                  </a:lnTo>
                  <a:lnTo>
                    <a:pt x="22011894" y="5770245"/>
                  </a:lnTo>
                  <a:lnTo>
                    <a:pt x="21999194" y="5770245"/>
                  </a:lnTo>
                  <a:lnTo>
                    <a:pt x="21999194" y="12700"/>
                  </a:lnTo>
                  <a:lnTo>
                    <a:pt x="22011894" y="12700"/>
                  </a:lnTo>
                  <a:lnTo>
                    <a:pt x="22011894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16944916" y="9326434"/>
            <a:ext cx="1097400" cy="787200"/>
            <a:chOff x="0" y="0"/>
            <a:chExt cx="1463200" cy="10496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7" name="TextBox 7"/>
            <p:cNvSpPr txBox="1"/>
            <p:nvPr/>
          </p:nvSpPr>
          <p:spPr>
            <a:xfrm>
              <a:off x="0" y="-9525"/>
              <a:ext cx="1463200" cy="10591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95959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</a:p>
          </p:txBody>
        </p:sp>
      </p:grpSp>
      <p:graphicFrame>
        <p:nvGraphicFramePr>
          <p:cNvPr id="8" name="Table 8"/>
          <p:cNvGraphicFramePr>
            <a:graphicFrameLocks noGrp="1"/>
          </p:cNvGraphicFramePr>
          <p:nvPr/>
        </p:nvGraphicFramePr>
        <p:xfrm>
          <a:off x="888250" y="1639850"/>
          <a:ext cx="9652000" cy="2143124"/>
        </p:xfrm>
        <a:graphic>
          <a:graphicData uri="http://schemas.openxmlformats.org/drawingml/2006/table">
            <a:tbl>
              <a:tblPr/>
              <a:tblGrid>
                <a:gridCol w="282234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954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9342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1679"/>
                        </a:lnSpc>
                        <a:defRPr/>
                      </a:pP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Month-to-date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FFFFFF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Year-to-date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Budget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{{REPCM}}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{{REPYTDBUD}}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Actual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{{REPPTD}}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5781">
                <a:tc>
                  <a:txBody>
                    <a:bodyPr/>
                    <a:lstStyle/>
                    <a:p>
                      <a:pPr algn="l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Variance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{{REPVAR}}</a:t>
                      </a:r>
                      <a:endParaRPr lang="en-US" sz="1100"/>
                    </a:p>
                  </a:txBody>
                  <a:tcPr marL="80000" marR="80000" marT="80000" marB="80000" anchor="ctr">
                    <a:lnL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4762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{{REPYTDVAR}}</a:t>
                      </a:r>
                      <a:endParaRPr lang="en-US" sz="1100"/>
                    </a:p>
                  </a:txBody>
                  <a:tcPr marL="80000" marR="80000" marT="80000" marB="80000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graphicFrame>
        <p:nvGraphicFramePr>
          <p:cNvPr id="9" name="Table 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9302595"/>
              </p:ext>
            </p:extLst>
          </p:nvPr>
        </p:nvGraphicFramePr>
        <p:xfrm>
          <a:off x="1143100" y="5143500"/>
          <a:ext cx="6553100" cy="3124200"/>
        </p:xfrm>
        <a:graphic>
          <a:graphicData uri="http://schemas.openxmlformats.org/drawingml/2006/table">
            <a:tbl>
              <a:tblPr/>
              <a:tblGrid>
                <a:gridCol w="65531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763342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595959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REPAIR LOG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60858">
                <a:tc>
                  <a:txBody>
                    <a:bodyPr/>
                    <a:lstStyle/>
                    <a:p>
                      <a:pPr algn="l">
                        <a:lnSpc>
                          <a:spcPts val="2779"/>
                        </a:lnSpc>
                        <a:defRPr/>
                      </a:pPr>
                      <a:r>
                        <a:rPr lang="en-US" sz="2000" b="1" dirty="0">
                          <a:solidFill>
                            <a:srgbClr val="6F94CA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DATE: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{{REPAIRDATE}}</a:t>
                      </a:r>
                      <a:endParaRPr lang="en-US" sz="1100" dirty="0"/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b="1" dirty="0">
                          <a:solidFill>
                            <a:srgbClr val="6F94CA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DESCRIPTION OF EXPENSES: </a:t>
                      </a:r>
                      <a:r>
                        <a:rPr lang="en-US" sz="2000" b="1" dirty="0">
                          <a:solidFill>
                            <a:srgbClr val="000000"/>
                          </a:solidFill>
                          <a:latin typeface="Avenir"/>
                          <a:ea typeface="Avenir Bold"/>
                          <a:cs typeface="Avenir Bold"/>
                          <a:sym typeface="Avenir"/>
                        </a:rPr>
                        <a:t>{{REPAIRDESCRIP}}</a:t>
                      </a:r>
                      <a:endParaRPr lang="en-US" sz="2000" dirty="0">
                        <a:solidFill>
                          <a:srgbClr val="000000"/>
                        </a:solidFill>
                        <a:latin typeface="Avenir"/>
                        <a:ea typeface="Avenir"/>
                        <a:cs typeface="Avenir"/>
                        <a:sym typeface="Avenir"/>
                      </a:endParaRPr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dirty="0">
                          <a:solidFill>
                            <a:srgbClr val="6F94C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COST: 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{{REPAIRCOST}}</a:t>
                      </a:r>
                    </a:p>
                    <a:p>
                      <a:pPr algn="l">
                        <a:lnSpc>
                          <a:spcPts val="2779"/>
                        </a:lnSpc>
                      </a:pPr>
                      <a:r>
                        <a:rPr lang="en-US" sz="2000" dirty="0">
                          <a:solidFill>
                            <a:srgbClr val="6F94CA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STATUS:</a:t>
                      </a:r>
                      <a:r>
                        <a:rPr lang="en-US" sz="2000" dirty="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 {{REPAIRSTATUS}}</a:t>
                      </a:r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grpSp>
        <p:nvGrpSpPr>
          <p:cNvPr id="10" name="Group 10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9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714825" y="276625"/>
            <a:ext cx="16858350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47"/>
              </a:lnSpc>
            </a:pPr>
            <a:r>
              <a:rPr lang="en-US" sz="503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Repair and Maintenance Budget Variance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0913625" y="1630625"/>
            <a:ext cx="6483450" cy="2701050"/>
            <a:chOff x="0" y="0"/>
            <a:chExt cx="8644600" cy="3601400"/>
          </a:xfrm>
        </p:grpSpPr>
        <p:sp>
          <p:nvSpPr>
            <p:cNvPr id="18" name="Freeform 18"/>
            <p:cNvSpPr/>
            <p:nvPr/>
          </p:nvSpPr>
          <p:spPr>
            <a:xfrm>
              <a:off x="12700" y="12700"/>
              <a:ext cx="8619236" cy="3575939"/>
            </a:xfrm>
            <a:custGeom>
              <a:avLst/>
              <a:gdLst/>
              <a:ahLst/>
              <a:cxnLst/>
              <a:rect l="l" t="t" r="r" b="b"/>
              <a:pathLst>
                <a:path w="8619236" h="3575939">
                  <a:moveTo>
                    <a:pt x="0" y="0"/>
                  </a:moveTo>
                  <a:lnTo>
                    <a:pt x="8619236" y="0"/>
                  </a:lnTo>
                  <a:lnTo>
                    <a:pt x="8619236" y="3575939"/>
                  </a:lnTo>
                  <a:lnTo>
                    <a:pt x="0" y="3575939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19"/>
            <p:cNvSpPr/>
            <p:nvPr/>
          </p:nvSpPr>
          <p:spPr>
            <a:xfrm>
              <a:off x="0" y="0"/>
              <a:ext cx="8644636" cy="3601339"/>
            </a:xfrm>
            <a:custGeom>
              <a:avLst/>
              <a:gdLst/>
              <a:ahLst/>
              <a:cxnLst/>
              <a:rect l="l" t="t" r="r" b="b"/>
              <a:pathLst>
                <a:path w="8644636" h="3601339">
                  <a:moveTo>
                    <a:pt x="12700" y="0"/>
                  </a:moveTo>
                  <a:lnTo>
                    <a:pt x="8631936" y="0"/>
                  </a:lnTo>
                  <a:cubicBezTo>
                    <a:pt x="8638921" y="0"/>
                    <a:pt x="8644636" y="5715"/>
                    <a:pt x="8644636" y="12700"/>
                  </a:cubicBezTo>
                  <a:lnTo>
                    <a:pt x="8644636" y="3588639"/>
                  </a:lnTo>
                  <a:cubicBezTo>
                    <a:pt x="8644636" y="3595624"/>
                    <a:pt x="8638921" y="3601339"/>
                    <a:pt x="8631936" y="3601339"/>
                  </a:cubicBezTo>
                  <a:lnTo>
                    <a:pt x="12700" y="3601339"/>
                  </a:lnTo>
                  <a:cubicBezTo>
                    <a:pt x="5715" y="3601339"/>
                    <a:pt x="0" y="3595624"/>
                    <a:pt x="0" y="3588639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3588639"/>
                  </a:lnTo>
                  <a:lnTo>
                    <a:pt x="12700" y="3588639"/>
                  </a:lnTo>
                  <a:lnTo>
                    <a:pt x="12700" y="3575939"/>
                  </a:lnTo>
                  <a:lnTo>
                    <a:pt x="8631936" y="3575939"/>
                  </a:lnTo>
                  <a:lnTo>
                    <a:pt x="8631936" y="3588639"/>
                  </a:lnTo>
                  <a:lnTo>
                    <a:pt x="8619236" y="3588639"/>
                  </a:lnTo>
                  <a:lnTo>
                    <a:pt x="8619236" y="12700"/>
                  </a:lnTo>
                  <a:lnTo>
                    <a:pt x="8631936" y="12700"/>
                  </a:lnTo>
                  <a:lnTo>
                    <a:pt x="8631936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graphicFrame>
        <p:nvGraphicFramePr>
          <p:cNvPr id="20" name="Table 20"/>
          <p:cNvGraphicFramePr>
            <a:graphicFrameLocks noGrp="1"/>
          </p:cNvGraphicFramePr>
          <p:nvPr/>
        </p:nvGraphicFramePr>
        <p:xfrm>
          <a:off x="11098800" y="1708350"/>
          <a:ext cx="5816600" cy="1319668"/>
        </p:xfrm>
        <a:graphic>
          <a:graphicData uri="http://schemas.openxmlformats.org/drawingml/2006/table">
            <a:tbl>
              <a:tblPr/>
              <a:tblGrid>
                <a:gridCol w="5816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552028">
                <a:tc>
                  <a:txBody>
                    <a:bodyPr/>
                    <a:lstStyle/>
                    <a:p>
                      <a:pPr algn="l">
                        <a:lnSpc>
                          <a:spcPts val="3311"/>
                        </a:lnSpc>
                        <a:defRPr/>
                      </a:pPr>
                      <a:r>
                        <a:rPr lang="en-US" sz="2400">
                          <a:solidFill>
                            <a:srgbClr val="595959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MANAGEMENT NOTES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3372">
                <a:tc>
                  <a:txBody>
                    <a:bodyPr/>
                    <a:lstStyle/>
                    <a:p>
                      <a:pPr algn="l">
                        <a:lnSpc>
                          <a:spcPts val="2760"/>
                        </a:lnSpc>
                        <a:defRPr/>
                      </a:pPr>
                      <a:r>
                        <a:rPr lang="en-US" sz="2000">
                          <a:solidFill>
                            <a:srgbClr val="000000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N/A</a:t>
                      </a:r>
                      <a:endParaRPr lang="en-US" sz="1100"/>
                    </a:p>
                  </a:txBody>
                  <a:tcPr marL="91425" marR="91425" marT="91425" marB="91425" anchor="ctr">
                    <a:lnL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9E9E9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1809" r="-9799" b="-3227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0" y="-4500"/>
            <a:ext cx="18288000" cy="10296000"/>
            <a:chOff x="0" y="0"/>
            <a:chExt cx="243840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384000" cy="13727937"/>
            </a:xfrm>
            <a:custGeom>
              <a:avLst/>
              <a:gdLst/>
              <a:ahLst/>
              <a:cxnLst/>
              <a:rect l="l" t="t" r="r" b="b"/>
              <a:pathLst>
                <a:path w="24384000" h="13727937">
                  <a:moveTo>
                    <a:pt x="0" y="0"/>
                  </a:moveTo>
                  <a:lnTo>
                    <a:pt x="24384000" y="0"/>
                  </a:lnTo>
                  <a:lnTo>
                    <a:pt x="24384000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3B52A1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43000" y="1407150"/>
            <a:ext cx="15564000" cy="7377675"/>
            <a:chOff x="0" y="0"/>
            <a:chExt cx="20752000" cy="98369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0752054" cy="9836912"/>
            </a:xfrm>
            <a:custGeom>
              <a:avLst/>
              <a:gdLst/>
              <a:ahLst/>
              <a:cxnLst/>
              <a:rect l="l" t="t" r="r" b="b"/>
              <a:pathLst>
                <a:path w="20752054" h="9836912">
                  <a:moveTo>
                    <a:pt x="0" y="0"/>
                  </a:moveTo>
                  <a:lnTo>
                    <a:pt x="20752054" y="0"/>
                  </a:lnTo>
                  <a:lnTo>
                    <a:pt x="20752054" y="9836912"/>
                  </a:lnTo>
                  <a:lnTo>
                    <a:pt x="0" y="9836912"/>
                  </a:lnTo>
                  <a:close/>
                </a:path>
              </a:pathLst>
            </a:custGeom>
            <a:solidFill>
              <a:srgbClr val="EEEEE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TextBox 8"/>
          <p:cNvSpPr txBox="1"/>
          <p:nvPr/>
        </p:nvSpPr>
        <p:spPr>
          <a:xfrm>
            <a:off x="714825" y="296475"/>
            <a:ext cx="16858350" cy="8572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047"/>
              </a:lnSpc>
            </a:pPr>
            <a:r>
              <a:rPr lang="en-US" sz="503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Delinquent Rent</a:t>
            </a:r>
          </a:p>
        </p:txBody>
      </p:sp>
      <p:grpSp>
        <p:nvGrpSpPr>
          <p:cNvPr id="9" name="Group 9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FFFFFF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May 2025</a:t>
              </a:r>
            </a:p>
          </p:txBody>
        </p:sp>
      </p:grpSp>
      <p:graphicFrame>
        <p:nvGraphicFramePr>
          <p:cNvPr id="12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934395"/>
              </p:ext>
            </p:extLst>
          </p:nvPr>
        </p:nvGraphicFramePr>
        <p:xfrm>
          <a:off x="2184250" y="3238500"/>
          <a:ext cx="14655800" cy="3022601"/>
        </p:xfrm>
        <a:graphic>
          <a:graphicData uri="http://schemas.openxmlformats.org/drawingml/2006/table">
            <a:tbl>
              <a:tblPr/>
              <a:tblGrid>
                <a:gridCol w="331338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78080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40828">
                <a:tc gridSpan="4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rial Bold"/>
                          <a:ea typeface="Arial Bold"/>
                          <a:cs typeface="Arial Bold"/>
                          <a:sym typeface="Arial Bold"/>
                        </a:rPr>
                        <a:t>DELINQUENT RENT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828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Days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Percent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Units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b="1">
                          <a:solidFill>
                            <a:srgbClr val="FFFFFF"/>
                          </a:solidFill>
                          <a:latin typeface="Avenir Bold"/>
                          <a:ea typeface="Avenir Bold"/>
                          <a:cs typeface="Avenir Bold"/>
                          <a:sym typeface="Avenir Bold"/>
                        </a:rPr>
                        <a:t>Dollars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3B52A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B52A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1-30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{{DELINDOL30}}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31-60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{{DELINDOL60}}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EEE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80315"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61+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{{DELINPER61}}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{{DELINUNIT61}}</a:t>
                      </a:r>
                      <a:endParaRPr lang="en-US" sz="110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2400"/>
                        </a:lnSpc>
                        <a:defRPr/>
                      </a:pPr>
                      <a:r>
                        <a:rPr lang="en-US" sz="2000" dirty="0">
                          <a:solidFill>
                            <a:srgbClr val="2D2D2D"/>
                          </a:solidFill>
                          <a:latin typeface="Avenir"/>
                          <a:ea typeface="Avenir"/>
                          <a:cs typeface="Avenir"/>
                          <a:sym typeface="Avenir"/>
                        </a:rPr>
                        <a:t>{{DELINDOL61}}</a:t>
                      </a:r>
                      <a:endParaRPr lang="en-US" sz="1100" dirty="0"/>
                    </a:p>
                  </a:txBody>
                  <a:tcPr marL="79328" marR="79328" marT="79328" marB="79328" anchor="ctr">
                    <a:lnL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13" name="Group 13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504B4E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91425" y="9038375"/>
            <a:ext cx="5817150" cy="3900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 i="1">
                <a:solidFill>
                  <a:srgbClr val="FFFFFF"/>
                </a:solidFill>
                <a:latin typeface="Arial Italics"/>
                <a:ea typeface="Arial Italics"/>
                <a:cs typeface="Arial Italics"/>
                <a:sym typeface="Arial Italics"/>
              </a:rPr>
              <a:t>Percent is total delinquent rent against total rental income.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0" y="9463800"/>
            <a:ext cx="18288000" cy="823200"/>
            <a:chOff x="0" y="0"/>
            <a:chExt cx="24384000" cy="10976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24384000" cy="1097661"/>
            </a:xfrm>
            <a:custGeom>
              <a:avLst/>
              <a:gdLst/>
              <a:ahLst/>
              <a:cxnLst/>
              <a:rect l="l" t="t" r="r" b="b"/>
              <a:pathLst>
                <a:path w="24384000" h="1097661">
                  <a:moveTo>
                    <a:pt x="0" y="0"/>
                  </a:moveTo>
                  <a:lnTo>
                    <a:pt x="24384000" y="0"/>
                  </a:lnTo>
                  <a:lnTo>
                    <a:pt x="24384000" y="1097661"/>
                  </a:lnTo>
                  <a:lnTo>
                    <a:pt x="0" y="1097661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0" y="-47625"/>
              <a:ext cx="24384000" cy="11452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2640"/>
                </a:lnSpc>
              </a:pPr>
              <a:r>
                <a:rPr lang="en-US" sz="22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Owner Summary Report | {{CURRENTDATE}}</a:t>
              </a:r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6920116" y="9481784"/>
            <a:ext cx="1097400" cy="787200"/>
            <a:chOff x="0" y="0"/>
            <a:chExt cx="1463200" cy="104960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463200" cy="1049600"/>
            </a:xfrm>
            <a:custGeom>
              <a:avLst/>
              <a:gdLst/>
              <a:ahLst/>
              <a:cxnLst/>
              <a:rect l="l" t="t" r="r" b="b"/>
              <a:pathLst>
                <a:path w="1463200" h="1049600">
                  <a:moveTo>
                    <a:pt x="0" y="0"/>
                  </a:moveTo>
                  <a:lnTo>
                    <a:pt x="1463200" y="0"/>
                  </a:lnTo>
                  <a:lnTo>
                    <a:pt x="1463200" y="1049600"/>
                  </a:lnTo>
                  <a:lnTo>
                    <a:pt x="0" y="104960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463200" cy="1097225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algn="r">
                <a:lnSpc>
                  <a:spcPts val="2400"/>
                </a:lnSpc>
              </a:pPr>
              <a:r>
                <a:rPr lang="en-US" sz="2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10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-47700" y="0"/>
            <a:ext cx="18383400" cy="10296000"/>
            <a:chOff x="0" y="0"/>
            <a:chExt cx="24511200" cy="137280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24511254" cy="13727937"/>
            </a:xfrm>
            <a:custGeom>
              <a:avLst/>
              <a:gdLst/>
              <a:ahLst/>
              <a:cxnLst/>
              <a:rect l="l" t="t" r="r" b="b"/>
              <a:pathLst>
                <a:path w="24511254" h="13727937">
                  <a:moveTo>
                    <a:pt x="0" y="0"/>
                  </a:moveTo>
                  <a:lnTo>
                    <a:pt x="24511254" y="0"/>
                  </a:lnTo>
                  <a:lnTo>
                    <a:pt x="24511254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FFFFFF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0" y="0"/>
            <a:ext cx="18335700" cy="1681647"/>
            <a:chOff x="0" y="0"/>
            <a:chExt cx="24447600" cy="224219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24447601" cy="2242208"/>
            </a:xfrm>
            <a:custGeom>
              <a:avLst/>
              <a:gdLst/>
              <a:ahLst/>
              <a:cxnLst/>
              <a:rect l="l" t="t" r="r" b="b"/>
              <a:pathLst>
                <a:path w="24447601" h="2242208">
                  <a:moveTo>
                    <a:pt x="0" y="0"/>
                  </a:moveTo>
                  <a:lnTo>
                    <a:pt x="24447601" y="0"/>
                  </a:lnTo>
                  <a:lnTo>
                    <a:pt x="24447601" y="2242208"/>
                  </a:lnTo>
                  <a:lnTo>
                    <a:pt x="0" y="224220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104775"/>
              <a:ext cx="24447600" cy="2346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6000"/>
                </a:lnSpc>
              </a:pPr>
              <a:r>
                <a:rPr lang="en-US" sz="5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Marketing &amp; Digital Performance |</a:t>
              </a:r>
            </a:p>
          </p:txBody>
        </p:sp>
      </p:grpSp>
      <p:sp>
        <p:nvSpPr>
          <p:cNvPr id="9" name="AutoShape 9"/>
          <p:cNvSpPr/>
          <p:nvPr/>
        </p:nvSpPr>
        <p:spPr>
          <a:xfrm>
            <a:off x="1028700" y="5741971"/>
            <a:ext cx="16230600" cy="0"/>
          </a:xfrm>
          <a:prstGeom prst="line">
            <a:avLst/>
          </a:prstGeom>
          <a:ln w="47625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5564811" y="3212999"/>
            <a:ext cx="3310650" cy="1645800"/>
            <a:chOff x="0" y="0"/>
            <a:chExt cx="871941" cy="43346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323347" y="3203474"/>
            <a:ext cx="3310650" cy="1655325"/>
            <a:chOff x="0" y="0"/>
            <a:chExt cx="871941" cy="43597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1941" cy="435970"/>
            </a:xfrm>
            <a:custGeom>
              <a:avLst/>
              <a:gdLst/>
              <a:ahLst/>
              <a:cxnLst/>
              <a:rect l="l" t="t" r="r" b="b"/>
              <a:pathLst>
                <a:path w="871941" h="435970">
                  <a:moveTo>
                    <a:pt x="0" y="0"/>
                  </a:moveTo>
                  <a:lnTo>
                    <a:pt x="871941" y="0"/>
                  </a:lnTo>
                  <a:lnTo>
                    <a:pt x="871941" y="435970"/>
                  </a:lnTo>
                  <a:lnTo>
                    <a:pt x="0" y="43597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871941" cy="4835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081884" y="3212999"/>
            <a:ext cx="3310650" cy="1664850"/>
            <a:chOff x="0" y="0"/>
            <a:chExt cx="871941" cy="438479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71941" cy="438479"/>
            </a:xfrm>
            <a:custGeom>
              <a:avLst/>
              <a:gdLst/>
              <a:ahLst/>
              <a:cxnLst/>
              <a:rect l="l" t="t" r="r" b="b"/>
              <a:pathLst>
                <a:path w="871941" h="438479">
                  <a:moveTo>
                    <a:pt x="0" y="0"/>
                  </a:moveTo>
                  <a:lnTo>
                    <a:pt x="871941" y="0"/>
                  </a:lnTo>
                  <a:lnTo>
                    <a:pt x="871941" y="438479"/>
                  </a:lnTo>
                  <a:lnTo>
                    <a:pt x="0" y="438479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871941" cy="486104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5690520" y="6458484"/>
            <a:ext cx="3227939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XXX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895466" y="6399677"/>
            <a:ext cx="6979995" cy="2858623"/>
            <a:chOff x="0" y="0"/>
            <a:chExt cx="1838353" cy="752888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838353" cy="752888"/>
            </a:xfrm>
            <a:custGeom>
              <a:avLst/>
              <a:gdLst/>
              <a:ahLst/>
              <a:cxnLst/>
              <a:rect l="l" t="t" r="r" b="b"/>
              <a:pathLst>
                <a:path w="1838353" h="752888">
                  <a:moveTo>
                    <a:pt x="0" y="0"/>
                  </a:moveTo>
                  <a:lnTo>
                    <a:pt x="1838353" y="0"/>
                  </a:lnTo>
                  <a:lnTo>
                    <a:pt x="1838353" y="752888"/>
                  </a:lnTo>
                  <a:lnTo>
                    <a:pt x="0" y="7528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TextBox 22"/>
            <p:cNvSpPr txBox="1"/>
            <p:nvPr/>
          </p:nvSpPr>
          <p:spPr>
            <a:xfrm>
              <a:off x="0" y="-47625"/>
              <a:ext cx="1838353" cy="8005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9412539" y="6399677"/>
            <a:ext cx="6979995" cy="2858623"/>
            <a:chOff x="0" y="0"/>
            <a:chExt cx="1838353" cy="752888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838353" cy="752888"/>
            </a:xfrm>
            <a:custGeom>
              <a:avLst/>
              <a:gdLst/>
              <a:ahLst/>
              <a:cxnLst/>
              <a:rect l="l" t="t" r="r" b="b"/>
              <a:pathLst>
                <a:path w="1838353" h="752888">
                  <a:moveTo>
                    <a:pt x="0" y="0"/>
                  </a:moveTo>
                  <a:lnTo>
                    <a:pt x="1838353" y="0"/>
                  </a:lnTo>
                  <a:lnTo>
                    <a:pt x="1838353" y="752888"/>
                  </a:lnTo>
                  <a:lnTo>
                    <a:pt x="0" y="75288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TextBox 25"/>
            <p:cNvSpPr txBox="1"/>
            <p:nvPr/>
          </p:nvSpPr>
          <p:spPr>
            <a:xfrm>
              <a:off x="0" y="-47625"/>
              <a:ext cx="1838353" cy="80051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5585353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Clicks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9336317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Conversions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3102425" y="4119150"/>
            <a:ext cx="3269567" cy="4978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 dirty="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Cost/Conversion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2792074" y="6617234"/>
            <a:ext cx="5186779" cy="604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479"/>
              </a:lnSpc>
              <a:spcBef>
                <a:spcPct val="0"/>
              </a:spcBef>
            </a:pPr>
            <a:r>
              <a:rPr lang="en-US" sz="31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Google Rank Tracker (MoM)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10309146" y="6590247"/>
            <a:ext cx="5186779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Keyword Search Grid (MoM)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2345717" y="8206814"/>
            <a:ext cx="2410148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Avg Google Position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5891164" y="8206814"/>
            <a:ext cx="1755749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Position Change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2135098" y="7374963"/>
            <a:ext cx="2831387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{{GOOPOS}}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5390052" y="7374963"/>
            <a:ext cx="2709483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{{POSCHG}}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10450931" y="8111564"/>
            <a:ext cx="2108145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Avg Map Rank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3868669" y="8206814"/>
            <a:ext cx="1737079" cy="692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99"/>
              </a:lnSpc>
            </a:pPr>
            <a:r>
              <a:rPr lang="en-US" sz="2499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Position Change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0159665" y="7374963"/>
            <a:ext cx="2690677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{{KEYMAP}}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13405437" y="7374963"/>
            <a:ext cx="2568232" cy="1460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{{KEYPOS}}</a:t>
            </a:r>
          </a:p>
          <a:p>
            <a:pPr algn="ctr">
              <a:lnSpc>
                <a:spcPts val="5599"/>
              </a:lnSpc>
            </a:pPr>
            <a:endParaRPr lang="en-US" sz="3999" b="1">
              <a:solidFill>
                <a:srgbClr val="FFFFFF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11505003" y="8918014"/>
            <a:ext cx="2909590" cy="2692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0"/>
              </a:lnSpc>
            </a:pPr>
            <a:r>
              <a:rPr lang="en-US" sz="1400" b="1" i="1">
                <a:solidFill>
                  <a:srgbClr val="FFFFFF"/>
                </a:solidFill>
                <a:latin typeface="Avenir Bold Italics"/>
                <a:ea typeface="Avenir Bold Italics"/>
                <a:cs typeface="Avenir Bold Italics"/>
                <a:sym typeface="Avenir Bold Italics"/>
              </a:rPr>
              <a:t>*Results for “self storage near me”</a:t>
            </a:r>
          </a:p>
        </p:txBody>
      </p:sp>
      <p:grpSp>
        <p:nvGrpSpPr>
          <p:cNvPr id="40" name="Group 40"/>
          <p:cNvGrpSpPr/>
          <p:nvPr/>
        </p:nvGrpSpPr>
        <p:grpSpPr>
          <a:xfrm>
            <a:off x="1895466" y="3212999"/>
            <a:ext cx="3310650" cy="1645800"/>
            <a:chOff x="0" y="0"/>
            <a:chExt cx="871941" cy="433462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2" name="TextBox 42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43" name="TextBox 43"/>
          <p:cNvSpPr txBox="1"/>
          <p:nvPr/>
        </p:nvSpPr>
        <p:spPr>
          <a:xfrm>
            <a:off x="1916008" y="4100100"/>
            <a:ext cx="3269567" cy="5619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4199"/>
              </a:lnSpc>
              <a:spcBef>
                <a:spcPct val="0"/>
              </a:spcBef>
            </a:pPr>
            <a:r>
              <a:rPr lang="en-US" sz="29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Impressions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895466" y="3382619"/>
            <a:ext cx="3290108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{{GOOIMPRES}}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5" name="TextBox 45"/>
          <p:cNvSpPr txBox="1"/>
          <p:nvPr/>
        </p:nvSpPr>
        <p:spPr>
          <a:xfrm>
            <a:off x="5585353" y="3382619"/>
            <a:ext cx="3261745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{{GOOCLICKS}}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6" name="TextBox 46"/>
          <p:cNvSpPr txBox="1"/>
          <p:nvPr/>
        </p:nvSpPr>
        <p:spPr>
          <a:xfrm>
            <a:off x="9336317" y="3382619"/>
            <a:ext cx="3269567" cy="2100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{{GOOCONV}}</a:t>
            </a:r>
          </a:p>
          <a:p>
            <a:pPr algn="ctr">
              <a:lnSpc>
                <a:spcPts val="5599"/>
              </a:lnSpc>
            </a:pPr>
            <a:endParaRPr lang="en-US" sz="3999" b="1" dirty="0">
              <a:solidFill>
                <a:srgbClr val="3B52A1"/>
              </a:solidFill>
              <a:latin typeface="Avenir Bold"/>
              <a:ea typeface="Avenir Bold"/>
              <a:cs typeface="Avenir Bold"/>
              <a:sym typeface="Avenir Bold"/>
            </a:endParaRPr>
          </a:p>
        </p:txBody>
      </p:sp>
      <p:sp>
        <p:nvSpPr>
          <p:cNvPr id="47" name="TextBox 47"/>
          <p:cNvSpPr txBox="1"/>
          <p:nvPr/>
        </p:nvSpPr>
        <p:spPr>
          <a:xfrm>
            <a:off x="13091197" y="3382619"/>
            <a:ext cx="3280795" cy="13819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 dirty="0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{{GOOCOSCON}}</a:t>
            </a:r>
          </a:p>
        </p:txBody>
      </p:sp>
      <p:grpSp>
        <p:nvGrpSpPr>
          <p:cNvPr id="48" name="Group 48"/>
          <p:cNvGrpSpPr>
            <a:grpSpLocks noChangeAspect="1"/>
          </p:cNvGrpSpPr>
          <p:nvPr/>
        </p:nvGrpSpPr>
        <p:grpSpPr>
          <a:xfrm>
            <a:off x="10286915" y="536822"/>
            <a:ext cx="608042" cy="608002"/>
            <a:chOff x="0" y="0"/>
            <a:chExt cx="810723" cy="810669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810768" cy="810641"/>
            </a:xfrm>
            <a:custGeom>
              <a:avLst/>
              <a:gdLst/>
              <a:ahLst/>
              <a:cxnLst/>
              <a:rect l="l" t="t" r="r" b="b"/>
              <a:pathLst>
                <a:path w="810768" h="810641">
                  <a:moveTo>
                    <a:pt x="0" y="0"/>
                  </a:moveTo>
                  <a:lnTo>
                    <a:pt x="810768" y="0"/>
                  </a:lnTo>
                  <a:lnTo>
                    <a:pt x="810768" y="810641"/>
                  </a:lnTo>
                  <a:lnTo>
                    <a:pt x="0" y="810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3" r="5" b="-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8288000" cy="10287000"/>
          </a:xfrm>
          <a:custGeom>
            <a:avLst/>
            <a:gdLst/>
            <a:ahLst/>
            <a:cxnLst/>
            <a:rect l="l" t="t" r="r" b="b"/>
            <a:pathLst>
              <a:path w="18288000" h="10287000">
                <a:moveTo>
                  <a:pt x="0" y="0"/>
                </a:moveTo>
                <a:lnTo>
                  <a:pt x="18288000" y="0"/>
                </a:lnTo>
                <a:lnTo>
                  <a:pt x="18288000" y="10287000"/>
                </a:lnTo>
                <a:lnTo>
                  <a:pt x="0" y="102870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>
            <a:grpSpLocks noChangeAspect="1"/>
          </p:cNvGrpSpPr>
          <p:nvPr/>
        </p:nvGrpSpPr>
        <p:grpSpPr>
          <a:xfrm>
            <a:off x="0" y="0"/>
            <a:ext cx="18478500" cy="10287000"/>
            <a:chOff x="0" y="0"/>
            <a:chExt cx="24638000" cy="137160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4638000" cy="13716000"/>
            </a:xfrm>
            <a:custGeom>
              <a:avLst/>
              <a:gdLst/>
              <a:ahLst/>
              <a:cxnLst/>
              <a:rect l="l" t="t" r="r" b="b"/>
              <a:pathLst>
                <a:path w="24638000" h="13716000">
                  <a:moveTo>
                    <a:pt x="0" y="0"/>
                  </a:moveTo>
                  <a:lnTo>
                    <a:pt x="24638000" y="0"/>
                  </a:lnTo>
                  <a:lnTo>
                    <a:pt x="24638000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619" r="620" b="-19753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" name="Group 5"/>
          <p:cNvGrpSpPr/>
          <p:nvPr/>
        </p:nvGrpSpPr>
        <p:grpSpPr>
          <a:xfrm>
            <a:off x="-47700" y="0"/>
            <a:ext cx="18383400" cy="10296000"/>
            <a:chOff x="0" y="0"/>
            <a:chExt cx="24511200" cy="137280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24511254" cy="13727937"/>
            </a:xfrm>
            <a:custGeom>
              <a:avLst/>
              <a:gdLst/>
              <a:ahLst/>
              <a:cxnLst/>
              <a:rect l="l" t="t" r="r" b="b"/>
              <a:pathLst>
                <a:path w="24511254" h="13727937">
                  <a:moveTo>
                    <a:pt x="0" y="0"/>
                  </a:moveTo>
                  <a:lnTo>
                    <a:pt x="24511254" y="0"/>
                  </a:lnTo>
                  <a:lnTo>
                    <a:pt x="24511254" y="13727937"/>
                  </a:lnTo>
                  <a:lnTo>
                    <a:pt x="0" y="13727937"/>
                  </a:lnTo>
                  <a:close/>
                </a:path>
              </a:pathLst>
            </a:custGeom>
            <a:solidFill>
              <a:srgbClr val="FFFFFF">
                <a:alpha val="4627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1028700" y="6405406"/>
            <a:ext cx="16230600" cy="2852894"/>
            <a:chOff x="0" y="0"/>
            <a:chExt cx="21640800" cy="3803858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1640771" cy="3803856"/>
            </a:xfrm>
            <a:custGeom>
              <a:avLst/>
              <a:gdLst/>
              <a:ahLst/>
              <a:cxnLst/>
              <a:rect l="l" t="t" r="r" b="b"/>
              <a:pathLst>
                <a:path w="21640771" h="3803856">
                  <a:moveTo>
                    <a:pt x="0" y="0"/>
                  </a:moveTo>
                  <a:lnTo>
                    <a:pt x="21640771" y="0"/>
                  </a:lnTo>
                  <a:lnTo>
                    <a:pt x="21640771" y="3803856"/>
                  </a:lnTo>
                  <a:lnTo>
                    <a:pt x="0" y="3803856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" name="AutoShape 9"/>
          <p:cNvSpPr/>
          <p:nvPr/>
        </p:nvSpPr>
        <p:spPr>
          <a:xfrm>
            <a:off x="8097885" y="856518"/>
            <a:ext cx="19050" cy="19050"/>
          </a:xfrm>
          <a:prstGeom prst="line">
            <a:avLst/>
          </a:prstGeom>
          <a:ln w="9525" cap="rnd">
            <a:solidFill>
              <a:srgbClr val="595959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10" name="Group 10"/>
          <p:cNvGrpSpPr/>
          <p:nvPr/>
        </p:nvGrpSpPr>
        <p:grpSpPr>
          <a:xfrm>
            <a:off x="9346074" y="3180693"/>
            <a:ext cx="3341918" cy="1645800"/>
            <a:chOff x="0" y="0"/>
            <a:chExt cx="880176" cy="433462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880176" cy="433462"/>
            </a:xfrm>
            <a:custGeom>
              <a:avLst/>
              <a:gdLst/>
              <a:ahLst/>
              <a:cxnLst/>
              <a:rect l="l" t="t" r="r" b="b"/>
              <a:pathLst>
                <a:path w="880176" h="433462">
                  <a:moveTo>
                    <a:pt x="0" y="0"/>
                  </a:moveTo>
                  <a:lnTo>
                    <a:pt x="880176" y="0"/>
                  </a:lnTo>
                  <a:lnTo>
                    <a:pt x="880176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Box 12"/>
            <p:cNvSpPr txBox="1"/>
            <p:nvPr/>
          </p:nvSpPr>
          <p:spPr>
            <a:xfrm>
              <a:off x="0" y="-47625"/>
              <a:ext cx="880176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768052" y="3180693"/>
            <a:ext cx="3310650" cy="1645800"/>
            <a:chOff x="0" y="0"/>
            <a:chExt cx="871941" cy="433462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871941" cy="433462"/>
            </a:xfrm>
            <a:custGeom>
              <a:avLst/>
              <a:gdLst/>
              <a:ahLst/>
              <a:cxnLst/>
              <a:rect l="l" t="t" r="r" b="b"/>
              <a:pathLst>
                <a:path w="871941" h="433462">
                  <a:moveTo>
                    <a:pt x="0" y="0"/>
                  </a:moveTo>
                  <a:lnTo>
                    <a:pt x="871941" y="0"/>
                  </a:lnTo>
                  <a:lnTo>
                    <a:pt x="871941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TextBox 15"/>
            <p:cNvSpPr txBox="1"/>
            <p:nvPr/>
          </p:nvSpPr>
          <p:spPr>
            <a:xfrm>
              <a:off x="0" y="-47625"/>
              <a:ext cx="871941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3183291" y="3180693"/>
            <a:ext cx="3336657" cy="1645800"/>
            <a:chOff x="0" y="0"/>
            <a:chExt cx="878790" cy="433462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878790" cy="433462"/>
            </a:xfrm>
            <a:custGeom>
              <a:avLst/>
              <a:gdLst/>
              <a:ahLst/>
              <a:cxnLst/>
              <a:rect l="l" t="t" r="r" b="b"/>
              <a:pathLst>
                <a:path w="878790" h="433462">
                  <a:moveTo>
                    <a:pt x="0" y="0"/>
                  </a:moveTo>
                  <a:lnTo>
                    <a:pt x="878790" y="0"/>
                  </a:lnTo>
                  <a:lnTo>
                    <a:pt x="878790" y="433462"/>
                  </a:lnTo>
                  <a:lnTo>
                    <a:pt x="0" y="43346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TextBox 18"/>
            <p:cNvSpPr txBox="1"/>
            <p:nvPr/>
          </p:nvSpPr>
          <p:spPr>
            <a:xfrm>
              <a:off x="0" y="-47625"/>
              <a:ext cx="878790" cy="48108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5574002" y="3180693"/>
            <a:ext cx="3310650" cy="1636994"/>
            <a:chOff x="0" y="0"/>
            <a:chExt cx="871941" cy="43114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871941" cy="431142"/>
            </a:xfrm>
            <a:custGeom>
              <a:avLst/>
              <a:gdLst/>
              <a:ahLst/>
              <a:cxnLst/>
              <a:rect l="l" t="t" r="r" b="b"/>
              <a:pathLst>
                <a:path w="871941" h="431142">
                  <a:moveTo>
                    <a:pt x="0" y="0"/>
                  </a:moveTo>
                  <a:lnTo>
                    <a:pt x="871941" y="0"/>
                  </a:lnTo>
                  <a:lnTo>
                    <a:pt x="871941" y="431142"/>
                  </a:lnTo>
                  <a:lnTo>
                    <a:pt x="0" y="431142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sq">
              <a:solidFill>
                <a:srgbClr val="3B52A1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47625"/>
              <a:ext cx="871941" cy="47876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400"/>
                </a:lnSpc>
              </a:pPr>
              <a:endParaRPr/>
            </a:p>
          </p:txBody>
        </p:sp>
      </p:grpSp>
      <p:sp>
        <p:nvSpPr>
          <p:cNvPr id="22" name="Freeform 22"/>
          <p:cNvSpPr/>
          <p:nvPr/>
        </p:nvSpPr>
        <p:spPr>
          <a:xfrm>
            <a:off x="13646729" y="3460501"/>
            <a:ext cx="2280270" cy="463883"/>
          </a:xfrm>
          <a:custGeom>
            <a:avLst/>
            <a:gdLst/>
            <a:ahLst/>
            <a:cxnLst/>
            <a:rect l="l" t="t" r="r" b="b"/>
            <a:pathLst>
              <a:path w="2280270" h="463883">
                <a:moveTo>
                  <a:pt x="0" y="0"/>
                </a:moveTo>
                <a:lnTo>
                  <a:pt x="2280270" y="0"/>
                </a:lnTo>
                <a:lnTo>
                  <a:pt x="2280270" y="463883"/>
                </a:lnTo>
                <a:lnTo>
                  <a:pt x="0" y="463883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r="-5679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23" name="TextBox 23"/>
          <p:cNvSpPr txBox="1"/>
          <p:nvPr/>
        </p:nvSpPr>
        <p:spPr>
          <a:xfrm>
            <a:off x="6588539" y="6603983"/>
            <a:ext cx="5301422" cy="50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599"/>
              </a:lnSpc>
            </a:pPr>
            <a:r>
              <a:rPr lang="en-US" sz="2999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 NOVEMBER’S TOP REVIEWS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9382249" y="4077193"/>
            <a:ext cx="3269567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MoM Change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13145191" y="3973136"/>
            <a:ext cx="333665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4.9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946504" y="4077193"/>
            <a:ext cx="2565645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MTD Reviews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768052" y="4077193"/>
            <a:ext cx="3310650" cy="4794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500"/>
              </a:lnSpc>
              <a:spcBef>
                <a:spcPct val="0"/>
              </a:spcBef>
            </a:pPr>
            <a:r>
              <a:rPr lang="en-US" sz="2500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Total GBP Reviews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1509601" y="7536257"/>
            <a:ext cx="4734223" cy="1044575"/>
            <a:chOff x="0" y="0"/>
            <a:chExt cx="6312297" cy="1392767"/>
          </a:xfrm>
        </p:grpSpPr>
        <p:sp>
          <p:nvSpPr>
            <p:cNvPr id="29" name="TextBox 29"/>
            <p:cNvSpPr txBox="1"/>
            <p:nvPr/>
          </p:nvSpPr>
          <p:spPr>
            <a:xfrm>
              <a:off x="0" y="-85725"/>
              <a:ext cx="6312297" cy="14784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Hannah Pedersen</a:t>
              </a:r>
            </a:p>
            <a:p>
              <a:pPr algn="l">
                <a:lnSpc>
                  <a:spcPts val="3079"/>
                </a:lnSpc>
              </a:pPr>
              <a:endParaRPr lang="en-US" sz="20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ctr">
                <a:lnSpc>
                  <a:spcPts val="2800"/>
                </a:lnSpc>
              </a:pPr>
              <a:r>
                <a:rPr lang="en-US" sz="2000" b="1" i="1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</a:t>
              </a:r>
              <a:r>
                <a:rPr lang="en-US" sz="2000" i="1">
                  <a:solidFill>
                    <a:srgbClr val="FFFFFF"/>
                  </a:solidFill>
                  <a:latin typeface="Avenir Italics"/>
                  <a:ea typeface="Avenir Italics"/>
                  <a:cs typeface="Avenir Italics"/>
                  <a:sym typeface="Avenir Italics"/>
                </a:rPr>
                <a:t>Great service, easy, safe, great location”</a:t>
              </a:r>
            </a:p>
          </p:txBody>
        </p:sp>
        <p:sp>
          <p:nvSpPr>
            <p:cNvPr id="30" name="Freeform 30"/>
            <p:cNvSpPr/>
            <p:nvPr/>
          </p:nvSpPr>
          <p:spPr>
            <a:xfrm>
              <a:off x="0" y="487561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5"/>
                  </a:lnTo>
                  <a:lnTo>
                    <a:pt x="0" y="3160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1" name="Group 31"/>
          <p:cNvGrpSpPr/>
          <p:nvPr/>
        </p:nvGrpSpPr>
        <p:grpSpPr>
          <a:xfrm>
            <a:off x="6977248" y="7536257"/>
            <a:ext cx="4534275" cy="1044575"/>
            <a:chOff x="0" y="0"/>
            <a:chExt cx="6045700" cy="1392767"/>
          </a:xfrm>
        </p:grpSpPr>
        <p:sp>
          <p:nvSpPr>
            <p:cNvPr id="32" name="TextBox 32"/>
            <p:cNvSpPr txBox="1"/>
            <p:nvPr/>
          </p:nvSpPr>
          <p:spPr>
            <a:xfrm>
              <a:off x="9232" y="-85725"/>
              <a:ext cx="6036469" cy="14784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Livier Delgadillo</a:t>
              </a:r>
            </a:p>
            <a:p>
              <a:pPr algn="l">
                <a:lnSpc>
                  <a:spcPts val="3079"/>
                </a:lnSpc>
              </a:pPr>
              <a:endParaRPr lang="en-US" sz="20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ctr">
                <a:lnSpc>
                  <a:spcPts val="2800"/>
                </a:lnSpc>
              </a:pPr>
              <a:r>
                <a:rPr lang="en-US" sz="2000" b="1" i="1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</a:t>
              </a:r>
              <a:r>
                <a:rPr lang="en-US" sz="2000" i="1">
                  <a:solidFill>
                    <a:srgbClr val="FFFFFF"/>
                  </a:solidFill>
                  <a:latin typeface="Avenir Italics"/>
                  <a:ea typeface="Avenir Italics"/>
                  <a:cs typeface="Avenir Italics"/>
                  <a:sym typeface="Avenir Italics"/>
                </a:rPr>
                <a:t>Great customer service from Andrew!”</a:t>
              </a:r>
            </a:p>
          </p:txBody>
        </p:sp>
        <p:sp>
          <p:nvSpPr>
            <p:cNvPr id="33" name="Freeform 33"/>
            <p:cNvSpPr/>
            <p:nvPr/>
          </p:nvSpPr>
          <p:spPr>
            <a:xfrm>
              <a:off x="0" y="512961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5"/>
                  </a:lnTo>
                  <a:lnTo>
                    <a:pt x="0" y="3160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2244949" y="7183832"/>
            <a:ext cx="4734223" cy="1749425"/>
            <a:chOff x="0" y="0"/>
            <a:chExt cx="6312297" cy="2332567"/>
          </a:xfrm>
        </p:grpSpPr>
        <p:sp>
          <p:nvSpPr>
            <p:cNvPr id="35" name="TextBox 35"/>
            <p:cNvSpPr txBox="1"/>
            <p:nvPr/>
          </p:nvSpPr>
          <p:spPr>
            <a:xfrm>
              <a:off x="0" y="-85725"/>
              <a:ext cx="6312297" cy="2418292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800"/>
                </a:lnSpc>
              </a:pPr>
              <a:r>
                <a:rPr lang="en-US" sz="2000" b="1">
                  <a:solidFill>
                    <a:srgbClr val="FFFFFF"/>
                  </a:solidFill>
                  <a:latin typeface="Avenir Bold"/>
                  <a:ea typeface="Avenir Bold"/>
                  <a:cs typeface="Avenir Bold"/>
                  <a:sym typeface="Avenir Bold"/>
                </a:rPr>
                <a:t>Koko Tzavaras</a:t>
              </a:r>
            </a:p>
            <a:p>
              <a:pPr algn="l">
                <a:lnSpc>
                  <a:spcPts val="3079"/>
                </a:lnSpc>
              </a:pPr>
              <a:endParaRPr lang="en-US" sz="20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endParaRPr>
            </a:p>
            <a:p>
              <a:pPr algn="l">
                <a:lnSpc>
                  <a:spcPts val="2800"/>
                </a:lnSpc>
              </a:pPr>
              <a:r>
                <a:rPr lang="en-US" sz="2000" b="1" i="1">
                  <a:solidFill>
                    <a:srgbClr val="FFFFFF"/>
                  </a:solidFill>
                  <a:latin typeface="Avenir Bold Italics"/>
                  <a:ea typeface="Avenir Bold Italics"/>
                  <a:cs typeface="Avenir Bold Italics"/>
                  <a:sym typeface="Avenir Bold Italics"/>
                </a:rPr>
                <a:t>“</a:t>
              </a:r>
              <a:r>
                <a:rPr lang="en-US" sz="2000" i="1">
                  <a:solidFill>
                    <a:srgbClr val="FFFFFF"/>
                  </a:solidFill>
                  <a:latin typeface="Avenir Italics"/>
                  <a:ea typeface="Avenir Italics"/>
                  <a:cs typeface="Avenir Italics"/>
                  <a:sym typeface="Avenir Italics"/>
                </a:rPr>
                <a:t>Outstanding, helpful staff, beautiful facility, and excellent location! This is my second time being a client! Thank you!”</a:t>
              </a:r>
            </a:p>
          </p:txBody>
        </p:sp>
        <p:sp>
          <p:nvSpPr>
            <p:cNvPr id="36" name="Freeform 36"/>
            <p:cNvSpPr/>
            <p:nvPr/>
          </p:nvSpPr>
          <p:spPr>
            <a:xfrm>
              <a:off x="0" y="469900"/>
              <a:ext cx="1641789" cy="316044"/>
            </a:xfrm>
            <a:custGeom>
              <a:avLst/>
              <a:gdLst/>
              <a:ahLst/>
              <a:cxnLst/>
              <a:rect l="l" t="t" r="r" b="b"/>
              <a:pathLst>
                <a:path w="1641789" h="316044">
                  <a:moveTo>
                    <a:pt x="0" y="0"/>
                  </a:moveTo>
                  <a:lnTo>
                    <a:pt x="1641789" y="0"/>
                  </a:lnTo>
                  <a:lnTo>
                    <a:pt x="1641789" y="316044"/>
                  </a:lnTo>
                  <a:lnTo>
                    <a:pt x="0" y="31604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2972279" y="3238417"/>
            <a:ext cx="902196" cy="755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161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7078936" y="3198436"/>
            <a:ext cx="300782" cy="755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1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0697498" y="3207243"/>
            <a:ext cx="639068" cy="755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599"/>
              </a:lnSpc>
            </a:pPr>
            <a:r>
              <a:rPr lang="en-US" sz="3999" b="1">
                <a:solidFill>
                  <a:srgbClr val="3B52A1"/>
                </a:solidFill>
                <a:latin typeface="Avenir Bold"/>
                <a:ea typeface="Avenir Bold"/>
                <a:cs typeface="Avenir Bold"/>
                <a:sym typeface="Avenir Bold"/>
              </a:rPr>
              <a:t>+1</a:t>
            </a:r>
          </a:p>
        </p:txBody>
      </p:sp>
      <p:sp>
        <p:nvSpPr>
          <p:cNvPr id="40" name="AutoShape 40"/>
          <p:cNvSpPr/>
          <p:nvPr/>
        </p:nvSpPr>
        <p:spPr>
          <a:xfrm>
            <a:off x="1028700" y="5741971"/>
            <a:ext cx="16230600" cy="0"/>
          </a:xfrm>
          <a:prstGeom prst="line">
            <a:avLst/>
          </a:prstGeom>
          <a:ln w="47625" cap="rnd">
            <a:solidFill>
              <a:srgbClr val="3B52A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41" name="Group 41"/>
          <p:cNvGrpSpPr/>
          <p:nvPr/>
        </p:nvGrpSpPr>
        <p:grpSpPr>
          <a:xfrm>
            <a:off x="0" y="0"/>
            <a:ext cx="18335700" cy="1681647"/>
            <a:chOff x="0" y="0"/>
            <a:chExt cx="24447600" cy="2242196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24447601" cy="2242208"/>
            </a:xfrm>
            <a:custGeom>
              <a:avLst/>
              <a:gdLst/>
              <a:ahLst/>
              <a:cxnLst/>
              <a:rect l="l" t="t" r="r" b="b"/>
              <a:pathLst>
                <a:path w="24447601" h="2242208">
                  <a:moveTo>
                    <a:pt x="0" y="0"/>
                  </a:moveTo>
                  <a:lnTo>
                    <a:pt x="24447601" y="0"/>
                  </a:lnTo>
                  <a:lnTo>
                    <a:pt x="24447601" y="2242208"/>
                  </a:lnTo>
                  <a:lnTo>
                    <a:pt x="0" y="2242208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TextBox 43"/>
            <p:cNvSpPr txBox="1"/>
            <p:nvPr/>
          </p:nvSpPr>
          <p:spPr>
            <a:xfrm>
              <a:off x="0" y="-104775"/>
              <a:ext cx="24447600" cy="23469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l">
                <a:lnSpc>
                  <a:spcPts val="6000"/>
                </a:lnSpc>
              </a:pPr>
              <a:r>
                <a:rPr lang="en-US" sz="5000">
                  <a:solidFill>
                    <a:srgbClr val="FFFFFF"/>
                  </a:solidFill>
                  <a:latin typeface="Avenir"/>
                  <a:ea typeface="Avenir"/>
                  <a:cs typeface="Avenir"/>
                  <a:sym typeface="Avenir"/>
                </a:rPr>
                <a:t>  </a:t>
              </a:r>
            </a:p>
          </p:txBody>
        </p:sp>
      </p:grpSp>
      <p:sp>
        <p:nvSpPr>
          <p:cNvPr id="44" name="TextBox 44"/>
          <p:cNvSpPr txBox="1"/>
          <p:nvPr/>
        </p:nvSpPr>
        <p:spPr>
          <a:xfrm>
            <a:off x="400950" y="355048"/>
            <a:ext cx="16858350" cy="8667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6000"/>
              </a:lnSpc>
            </a:pPr>
            <a:r>
              <a:rPr lang="en-US" sz="500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Customer Experience | </a:t>
            </a:r>
          </a:p>
        </p:txBody>
      </p:sp>
      <p:grpSp>
        <p:nvGrpSpPr>
          <p:cNvPr id="45" name="Group 45"/>
          <p:cNvGrpSpPr>
            <a:grpSpLocks noChangeAspect="1"/>
          </p:cNvGrpSpPr>
          <p:nvPr/>
        </p:nvGrpSpPr>
        <p:grpSpPr>
          <a:xfrm>
            <a:off x="7075697" y="536822"/>
            <a:ext cx="608042" cy="608002"/>
            <a:chOff x="0" y="0"/>
            <a:chExt cx="810723" cy="810669"/>
          </a:xfrm>
        </p:grpSpPr>
        <p:sp>
          <p:nvSpPr>
            <p:cNvPr id="46" name="Freeform 46"/>
            <p:cNvSpPr/>
            <p:nvPr/>
          </p:nvSpPr>
          <p:spPr>
            <a:xfrm>
              <a:off x="0" y="0"/>
              <a:ext cx="810768" cy="810641"/>
            </a:xfrm>
            <a:custGeom>
              <a:avLst/>
              <a:gdLst/>
              <a:ahLst/>
              <a:cxnLst/>
              <a:rect l="l" t="t" r="r" b="b"/>
              <a:pathLst>
                <a:path w="810768" h="810641">
                  <a:moveTo>
                    <a:pt x="0" y="0"/>
                  </a:moveTo>
                  <a:lnTo>
                    <a:pt x="810768" y="0"/>
                  </a:lnTo>
                  <a:lnTo>
                    <a:pt x="810768" y="810641"/>
                  </a:lnTo>
                  <a:lnTo>
                    <a:pt x="0" y="81064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t="-3" r="5" b="-6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7" name="TextBox 47"/>
          <p:cNvSpPr txBox="1"/>
          <p:nvPr/>
        </p:nvSpPr>
        <p:spPr>
          <a:xfrm>
            <a:off x="13183291" y="4347786"/>
            <a:ext cx="3336657" cy="4699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499"/>
              </a:lnSpc>
              <a:spcBef>
                <a:spcPct val="0"/>
              </a:spcBef>
            </a:pPr>
            <a:r>
              <a:rPr lang="en-US" sz="2499">
                <a:solidFill>
                  <a:srgbClr val="3B52A1"/>
                </a:solidFill>
                <a:latin typeface="Avenir"/>
                <a:ea typeface="Avenir"/>
                <a:cs typeface="Avenir"/>
                <a:sym typeface="Avenir"/>
              </a:rPr>
              <a:t>Google Rating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671800" y="0"/>
            <a:ext cx="6616200" cy="10287000"/>
            <a:chOff x="0" y="0"/>
            <a:chExt cx="88216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821547" cy="13716000"/>
            </a:xfrm>
            <a:custGeom>
              <a:avLst/>
              <a:gdLst/>
              <a:ahLst/>
              <a:cxnLst/>
              <a:rect l="l" t="t" r="r" b="b"/>
              <a:pathLst>
                <a:path w="8821547" h="13716000">
                  <a:moveTo>
                    <a:pt x="0" y="0"/>
                  </a:moveTo>
                  <a:lnTo>
                    <a:pt x="8821547" y="0"/>
                  </a:lnTo>
                  <a:lnTo>
                    <a:pt x="8821547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3B52A1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" name="TextBox 4"/>
          <p:cNvSpPr txBox="1"/>
          <p:nvPr/>
        </p:nvSpPr>
        <p:spPr>
          <a:xfrm>
            <a:off x="12650975" y="6892850"/>
            <a:ext cx="4957950" cy="2213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2111 E. Highland Avenue</a:t>
            </a: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Suite 360</a:t>
            </a: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Phoenix, AZ 85016</a:t>
            </a:r>
          </a:p>
          <a:p>
            <a:pPr algn="ctr">
              <a:lnSpc>
                <a:spcPts val="2879"/>
              </a:lnSpc>
            </a:pPr>
            <a:endParaRPr lang="en-US" sz="2400" dirty="0">
              <a:solidFill>
                <a:srgbClr val="FFFFFF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ctr">
              <a:lnSpc>
                <a:spcPts val="2879"/>
              </a:lnSpc>
            </a:pPr>
            <a:endParaRPr lang="en-US" sz="2400" dirty="0">
              <a:solidFill>
                <a:srgbClr val="FFFFFF"/>
              </a:solidFill>
              <a:latin typeface="Avenir"/>
              <a:ea typeface="Avenir"/>
              <a:cs typeface="Avenir"/>
              <a:sym typeface="Avenir"/>
            </a:endParaRPr>
          </a:p>
          <a:p>
            <a:pPr algn="ctr">
              <a:lnSpc>
                <a:spcPts val="2879"/>
              </a:lnSpc>
            </a:pPr>
            <a:r>
              <a:rPr lang="en-US" sz="2400" dirty="0">
                <a:solidFill>
                  <a:srgbClr val="FFFFFF"/>
                </a:solidFill>
                <a:latin typeface="Avenir"/>
                <a:ea typeface="Avenir"/>
                <a:cs typeface="Avenir"/>
                <a:sym typeface="Avenir"/>
              </a:rPr>
              <a:t>www.STOREstorage.com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2059525" y="449750"/>
            <a:ext cx="5739750" cy="10766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OWNER SUMMARY REPORT</a:t>
            </a:r>
          </a:p>
        </p:txBody>
      </p:sp>
      <p:sp>
        <p:nvSpPr>
          <p:cNvPr id="6" name="AutoShape 6"/>
          <p:cNvSpPr/>
          <p:nvPr/>
        </p:nvSpPr>
        <p:spPr>
          <a:xfrm rot="46920">
            <a:off x="12405383" y="1407825"/>
            <a:ext cx="5198434" cy="0"/>
          </a:xfrm>
          <a:prstGeom prst="line">
            <a:avLst/>
          </a:prstGeom>
          <a:ln w="19050" cap="rnd">
            <a:solidFill>
              <a:srgbClr val="6F94CA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 lang="en-US"/>
          </a:p>
        </p:txBody>
      </p:sp>
      <p:grpSp>
        <p:nvGrpSpPr>
          <p:cNvPr id="7" name="Group 7"/>
          <p:cNvGrpSpPr/>
          <p:nvPr/>
        </p:nvGrpSpPr>
        <p:grpSpPr>
          <a:xfrm>
            <a:off x="11357725" y="-9375"/>
            <a:ext cx="463050" cy="10306050"/>
            <a:chOff x="0" y="0"/>
            <a:chExt cx="617400" cy="13741400"/>
          </a:xfrm>
        </p:grpSpPr>
        <p:sp>
          <p:nvSpPr>
            <p:cNvPr id="8" name="Freeform 8"/>
            <p:cNvSpPr/>
            <p:nvPr/>
          </p:nvSpPr>
          <p:spPr>
            <a:xfrm>
              <a:off x="12700" y="12700"/>
              <a:ext cx="591947" cy="13716000"/>
            </a:xfrm>
            <a:custGeom>
              <a:avLst/>
              <a:gdLst/>
              <a:ahLst/>
              <a:cxnLst/>
              <a:rect l="l" t="t" r="r" b="b"/>
              <a:pathLst>
                <a:path w="591947" h="13716000">
                  <a:moveTo>
                    <a:pt x="0" y="0"/>
                  </a:moveTo>
                  <a:lnTo>
                    <a:pt x="591947" y="0"/>
                  </a:lnTo>
                  <a:lnTo>
                    <a:pt x="591947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Freeform 9"/>
            <p:cNvSpPr/>
            <p:nvPr/>
          </p:nvSpPr>
          <p:spPr>
            <a:xfrm>
              <a:off x="0" y="0"/>
              <a:ext cx="617347" cy="13741400"/>
            </a:xfrm>
            <a:custGeom>
              <a:avLst/>
              <a:gdLst/>
              <a:ahLst/>
              <a:cxnLst/>
              <a:rect l="l" t="t" r="r" b="b"/>
              <a:pathLst>
                <a:path w="617347" h="13741400">
                  <a:moveTo>
                    <a:pt x="12700" y="0"/>
                  </a:moveTo>
                  <a:lnTo>
                    <a:pt x="604647" y="0"/>
                  </a:lnTo>
                  <a:cubicBezTo>
                    <a:pt x="611632" y="0"/>
                    <a:pt x="617347" y="5715"/>
                    <a:pt x="617347" y="12700"/>
                  </a:cubicBezTo>
                  <a:lnTo>
                    <a:pt x="617347" y="13728700"/>
                  </a:lnTo>
                  <a:cubicBezTo>
                    <a:pt x="617347" y="13735686"/>
                    <a:pt x="611632" y="13741400"/>
                    <a:pt x="604647" y="13741400"/>
                  </a:cubicBezTo>
                  <a:lnTo>
                    <a:pt x="12700" y="13741400"/>
                  </a:lnTo>
                  <a:cubicBezTo>
                    <a:pt x="5715" y="13741400"/>
                    <a:pt x="0" y="13735686"/>
                    <a:pt x="0" y="13728700"/>
                  </a:cubicBezTo>
                  <a:lnTo>
                    <a:pt x="0" y="12700"/>
                  </a:lnTo>
                  <a:cubicBezTo>
                    <a:pt x="0" y="5715"/>
                    <a:pt x="5715" y="0"/>
                    <a:pt x="12700" y="0"/>
                  </a:cubicBezTo>
                  <a:moveTo>
                    <a:pt x="12700" y="25400"/>
                  </a:moveTo>
                  <a:lnTo>
                    <a:pt x="12700" y="12700"/>
                  </a:lnTo>
                  <a:lnTo>
                    <a:pt x="25400" y="12700"/>
                  </a:lnTo>
                  <a:lnTo>
                    <a:pt x="25400" y="13728700"/>
                  </a:lnTo>
                  <a:lnTo>
                    <a:pt x="12700" y="13728700"/>
                  </a:lnTo>
                  <a:lnTo>
                    <a:pt x="12700" y="13716000"/>
                  </a:lnTo>
                  <a:lnTo>
                    <a:pt x="604647" y="13716000"/>
                  </a:lnTo>
                  <a:lnTo>
                    <a:pt x="604647" y="13728700"/>
                  </a:lnTo>
                  <a:lnTo>
                    <a:pt x="591947" y="13728700"/>
                  </a:lnTo>
                  <a:lnTo>
                    <a:pt x="591947" y="12700"/>
                  </a:lnTo>
                  <a:lnTo>
                    <a:pt x="604647" y="12700"/>
                  </a:lnTo>
                  <a:lnTo>
                    <a:pt x="604647" y="25400"/>
                  </a:lnTo>
                  <a:lnTo>
                    <a:pt x="12700" y="25400"/>
                  </a:lnTo>
                  <a:close/>
                </a:path>
              </a:pathLst>
            </a:custGeom>
            <a:solidFill>
              <a:srgbClr val="6F94CA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2059525" y="1516550"/>
            <a:ext cx="5739750" cy="552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 b="1">
                <a:solidFill>
                  <a:srgbClr val="FFFFFF"/>
                </a:solidFill>
                <a:latin typeface="Avenir Bold"/>
                <a:ea typeface="Avenir Bold"/>
                <a:cs typeface="Avenir Bold"/>
                <a:sym typeface="Avenir Bold"/>
              </a:rPr>
              <a:t>{{CURRENTDATE}}</a:t>
            </a:r>
          </a:p>
        </p:txBody>
      </p:sp>
      <p:grpSp>
        <p:nvGrpSpPr>
          <p:cNvPr id="11" name="Group 11"/>
          <p:cNvGrpSpPr>
            <a:grpSpLocks noChangeAspect="1"/>
          </p:cNvGrpSpPr>
          <p:nvPr/>
        </p:nvGrpSpPr>
        <p:grpSpPr>
          <a:xfrm>
            <a:off x="12968450" y="5168500"/>
            <a:ext cx="3888596" cy="1320250"/>
            <a:chOff x="0" y="0"/>
            <a:chExt cx="5184795" cy="176033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5184775" cy="1760347"/>
            </a:xfrm>
            <a:custGeom>
              <a:avLst/>
              <a:gdLst/>
              <a:ahLst/>
              <a:cxnLst/>
              <a:rect l="l" t="t" r="r" b="b"/>
              <a:pathLst>
                <a:path w="5184775" h="1760347">
                  <a:moveTo>
                    <a:pt x="0" y="0"/>
                  </a:moveTo>
                  <a:lnTo>
                    <a:pt x="5184775" y="0"/>
                  </a:lnTo>
                  <a:lnTo>
                    <a:pt x="5184775" y="1760347"/>
                  </a:lnTo>
                  <a:lnTo>
                    <a:pt x="0" y="17603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t="-2" b="-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>
            <a:grpSpLocks noChangeAspect="1"/>
          </p:cNvGrpSpPr>
          <p:nvPr/>
        </p:nvGrpSpPr>
        <p:grpSpPr>
          <a:xfrm>
            <a:off x="0" y="150"/>
            <a:ext cx="11367250" cy="10287000"/>
            <a:chOff x="0" y="0"/>
            <a:chExt cx="15156333" cy="1371600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5156307" cy="13716000"/>
            </a:xfrm>
            <a:custGeom>
              <a:avLst/>
              <a:gdLst/>
              <a:ahLst/>
              <a:cxnLst/>
              <a:rect l="l" t="t" r="r" b="b"/>
              <a:pathLst>
                <a:path w="15156307" h="13716000">
                  <a:moveTo>
                    <a:pt x="0" y="0"/>
                  </a:moveTo>
                  <a:lnTo>
                    <a:pt x="15156307" y="0"/>
                  </a:lnTo>
                  <a:lnTo>
                    <a:pt x="15156307" y="13716000"/>
                  </a:lnTo>
                  <a:lnTo>
                    <a:pt x="0" y="1371600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0331" r="-1033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300</TotalTime>
  <Words>1938</Words>
  <Application>Microsoft Office PowerPoint</Application>
  <PresentationFormat>Custom</PresentationFormat>
  <Paragraphs>657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3" baseType="lpstr">
      <vt:lpstr>Avenir</vt:lpstr>
      <vt:lpstr>Avenir Bold</vt:lpstr>
      <vt:lpstr>Avenir Bold Italics</vt:lpstr>
      <vt:lpstr>Calibri</vt:lpstr>
      <vt:lpstr>Arial Italics</vt:lpstr>
      <vt:lpstr>Avenir Italics</vt:lpstr>
      <vt:lpstr>Arial Bold</vt:lpstr>
      <vt:lpstr>Arial</vt:lpstr>
      <vt:lpstr>Avenir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Owner's Report Template</dc:title>
  <cp:lastModifiedBy>Alex Burke</cp:lastModifiedBy>
  <cp:revision>72</cp:revision>
  <dcterms:created xsi:type="dcterms:W3CDTF">2006-08-16T00:00:00Z</dcterms:created>
  <dcterms:modified xsi:type="dcterms:W3CDTF">2026-01-02T21:00:49Z</dcterms:modified>
  <dc:identifier>DAG3YRaK70Q</dc:identifier>
</cp:coreProperties>
</file>