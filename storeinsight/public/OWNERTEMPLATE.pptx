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8288000" cy="10287000"/>
  <p:notesSz cx="6858000" cy="9144000"/>
  <p:embeddedFontLst>
    <p:embeddedFont>
      <p:font typeface="Arial Bold" panose="020B0704020202020204" pitchFamily="34" charset="0"/>
      <p:regular r:id="rId16"/>
      <p:bold r:id="rId17"/>
    </p:embeddedFont>
    <p:embeddedFont>
      <p:font typeface="Arial Italics" panose="020B0604020202020204" charset="0"/>
      <p:regular r:id="rId18"/>
    </p:embeddedFont>
    <p:embeddedFont>
      <p:font typeface="Avenir" panose="020B0604020202020204" charset="0"/>
      <p:regular r:id="rId19"/>
    </p:embeddedFont>
    <p:embeddedFont>
      <p:font typeface="Avenir Bold" panose="020B0604020202020204" charset="0"/>
      <p:regular r:id="rId20"/>
    </p:embeddedFont>
    <p:embeddedFont>
      <p:font typeface="Avenir Bold Italics" panose="020B0604020202020204" charset="0"/>
      <p:regular r:id="rId21"/>
    </p:embeddedFont>
    <p:embeddedFont>
      <p:font typeface="Avenir Italics" panose="020B0604020202020204" charset="0"/>
      <p:regular r:id="rId22"/>
    </p:embeddedFont>
    <p:embeddedFont>
      <p:font typeface="Avenir Medium" panose="020B0604020202020204" charset="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22" autoAdjust="0"/>
  </p:normalViewPr>
  <p:slideViewPr>
    <p:cSldViewPr>
      <p:cViewPr varScale="1">
        <p:scale>
          <a:sx n="55" d="100"/>
          <a:sy n="55" d="100"/>
        </p:scale>
        <p:origin x="58" y="23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02.01.2026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6350" y="0"/>
            <a:ext cx="18314400" cy="9463800"/>
            <a:chOff x="0" y="0"/>
            <a:chExt cx="24419200" cy="12618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19179" cy="12618339"/>
            </a:xfrm>
            <a:custGeom>
              <a:avLst/>
              <a:gdLst/>
              <a:ahLst/>
              <a:cxnLst/>
              <a:rect l="l" t="t" r="r" b="b"/>
              <a:pathLst>
                <a:path w="24419179" h="12618339">
                  <a:moveTo>
                    <a:pt x="0" y="0"/>
                  </a:moveTo>
                  <a:lnTo>
                    <a:pt x="24419179" y="0"/>
                  </a:lnTo>
                  <a:lnTo>
                    <a:pt x="24419179" y="12618339"/>
                  </a:lnTo>
                  <a:lnTo>
                    <a:pt x="0" y="12618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2339" b="-4493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32" name="Picture 31" descr="A long hallway with roller shutters&#10;&#10;AI-generated content may be incorrect.">
            <a:extLst>
              <a:ext uri="{FF2B5EF4-FFF2-40B4-BE49-F238E27FC236}">
                <a16:creationId xmlns:a16="http://schemas.microsoft.com/office/drawing/2014/main" id="{B36D684E-70C7-4C5C-C82E-40C1471F4E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550" y="12700"/>
            <a:ext cx="18307550" cy="1028700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-19550" y="0"/>
            <a:ext cx="18314400" cy="10287000"/>
            <a:chOff x="0" y="0"/>
            <a:chExt cx="244192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19179" cy="13716000"/>
            </a:xfrm>
            <a:custGeom>
              <a:avLst/>
              <a:gdLst/>
              <a:ahLst/>
              <a:cxnLst/>
              <a:rect l="l" t="t" r="r" b="b"/>
              <a:pathLst>
                <a:path w="24419179" h="13716000">
                  <a:moveTo>
                    <a:pt x="0" y="0"/>
                  </a:moveTo>
                  <a:lnTo>
                    <a:pt x="24419179" y="0"/>
                  </a:lnTo>
                  <a:lnTo>
                    <a:pt x="24419179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3173076" y="4460988"/>
          <a:ext cx="6553200" cy="1524000"/>
        </p:xfrm>
        <a:graphic>
          <a:graphicData uri="http://schemas.openxmlformats.org/drawingml/2006/table">
            <a:tbl>
              <a:tblPr/>
              <a:tblGrid>
                <a:gridCol w="655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ADDRESS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{{ADDRESS}}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11001226" y="4454412"/>
          <a:ext cx="4089400" cy="1524000"/>
        </p:xfrm>
        <a:graphic>
          <a:graphicData uri="http://schemas.openxmlformats.org/drawingml/2006/table">
            <a:tbl>
              <a:tblPr/>
              <a:tblGrid>
                <a:gridCol w="408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OWNERS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{{OWNERGROUP}}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4745342" y="6596238"/>
          <a:ext cx="2844800" cy="2224634"/>
        </p:xfrm>
        <a:graphic>
          <a:graphicData uri="http://schemas.openxmlformats.org/drawingml/2006/table">
            <a:tbl>
              <a:tblPr/>
              <a:tblGrid>
                <a:gridCol w="28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5324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ACQUIRED DATE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38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{{ACQUIREDDATE}}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8360100" y="6520468"/>
          <a:ext cx="1701800" cy="2288731"/>
        </p:xfrm>
        <a:graphic>
          <a:graphicData uri="http://schemas.openxmlformats.org/drawingml/2006/table">
            <a:tbl>
              <a:tblPr/>
              <a:tblGrid>
                <a:gridCol w="170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473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{{TOTALUNITS}}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/>
        </p:nvGraphicFramePr>
        <p:xfrm>
          <a:off x="10978358" y="6521326"/>
          <a:ext cx="2540000" cy="2288779"/>
        </p:xfrm>
        <a:graphic>
          <a:graphicData uri="http://schemas.openxmlformats.org/drawingml/2006/table">
            <a:tbl>
              <a:tblPr/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521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RENTABLE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SQUARE FEET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{{RENTABLESQFT}}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0" y="2366950"/>
            <a:ext cx="18288000" cy="1882800"/>
            <a:chOff x="0" y="0"/>
            <a:chExt cx="24384000" cy="2510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4384000" cy="2510409"/>
            </a:xfrm>
            <a:custGeom>
              <a:avLst/>
              <a:gdLst/>
              <a:ahLst/>
              <a:cxnLst/>
              <a:rect l="l" t="t" r="r" b="b"/>
              <a:pathLst>
                <a:path w="24384000" h="2510409">
                  <a:moveTo>
                    <a:pt x="0" y="0"/>
                  </a:moveTo>
                  <a:lnTo>
                    <a:pt x="24384000" y="0"/>
                  </a:lnTo>
                  <a:lnTo>
                    <a:pt x="24384000" y="2510409"/>
                  </a:lnTo>
                  <a:lnTo>
                    <a:pt x="0" y="2510409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8763100"/>
            <a:ext cx="18288000" cy="1524000"/>
            <a:chOff x="0" y="0"/>
            <a:chExt cx="24384000" cy="2032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2032000"/>
            </a:xfrm>
            <a:custGeom>
              <a:avLst/>
              <a:gdLst/>
              <a:ahLst/>
              <a:cxnLst/>
              <a:rect l="l" t="t" r="r" b="b"/>
              <a:pathLst>
                <a:path w="24384000" h="2032000">
                  <a:moveTo>
                    <a:pt x="0" y="0"/>
                  </a:moveTo>
                  <a:lnTo>
                    <a:pt x="24384000" y="0"/>
                  </a:lnTo>
                  <a:lnTo>
                    <a:pt x="243840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6876100" y="2641000"/>
            <a:ext cx="3983898" cy="1435000"/>
            <a:chOff x="0" y="0"/>
            <a:chExt cx="5311864" cy="19133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311902" cy="1913382"/>
            </a:xfrm>
            <a:custGeom>
              <a:avLst/>
              <a:gdLst/>
              <a:ahLst/>
              <a:cxnLst/>
              <a:rect l="l" t="t" r="r" b="b"/>
              <a:pathLst>
                <a:path w="5311902" h="1913382">
                  <a:moveTo>
                    <a:pt x="0" y="0"/>
                  </a:moveTo>
                  <a:lnTo>
                    <a:pt x="5311902" y="0"/>
                  </a:lnTo>
                  <a:lnTo>
                    <a:pt x="5311902" y="1913382"/>
                  </a:lnTo>
                  <a:lnTo>
                    <a:pt x="0" y="1913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1" r="-1" b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-9525" y="276225"/>
            <a:ext cx="7195650" cy="1747650"/>
            <a:chOff x="0" y="0"/>
            <a:chExt cx="9594200" cy="23302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9568815" cy="2304796"/>
            </a:xfrm>
            <a:custGeom>
              <a:avLst/>
              <a:gdLst/>
              <a:ahLst/>
              <a:cxnLst/>
              <a:rect l="l" t="t" r="r" b="b"/>
              <a:pathLst>
                <a:path w="9568815" h="2304796">
                  <a:moveTo>
                    <a:pt x="0" y="0"/>
                  </a:moveTo>
                  <a:lnTo>
                    <a:pt x="9568815" y="0"/>
                  </a:lnTo>
                  <a:lnTo>
                    <a:pt x="9568815" y="2304796"/>
                  </a:lnTo>
                  <a:lnTo>
                    <a:pt x="0" y="2304796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9594215" cy="2330196"/>
            </a:xfrm>
            <a:custGeom>
              <a:avLst/>
              <a:gdLst/>
              <a:ahLst/>
              <a:cxnLst/>
              <a:rect l="l" t="t" r="r" b="b"/>
              <a:pathLst>
                <a:path w="9594215" h="2330196">
                  <a:moveTo>
                    <a:pt x="12700" y="0"/>
                  </a:moveTo>
                  <a:lnTo>
                    <a:pt x="9581515" y="0"/>
                  </a:lnTo>
                  <a:cubicBezTo>
                    <a:pt x="9588500" y="0"/>
                    <a:pt x="9594215" y="5715"/>
                    <a:pt x="9594215" y="12700"/>
                  </a:cubicBezTo>
                  <a:lnTo>
                    <a:pt x="9594215" y="2317496"/>
                  </a:lnTo>
                  <a:cubicBezTo>
                    <a:pt x="9594215" y="2324481"/>
                    <a:pt x="9588500" y="2330196"/>
                    <a:pt x="9581515" y="2330196"/>
                  </a:cubicBezTo>
                  <a:lnTo>
                    <a:pt x="12700" y="2330196"/>
                  </a:lnTo>
                  <a:cubicBezTo>
                    <a:pt x="5715" y="2330196"/>
                    <a:pt x="0" y="2324481"/>
                    <a:pt x="0" y="2317496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2317496"/>
                  </a:lnTo>
                  <a:lnTo>
                    <a:pt x="12700" y="2317496"/>
                  </a:lnTo>
                  <a:lnTo>
                    <a:pt x="12700" y="2304796"/>
                  </a:lnTo>
                  <a:lnTo>
                    <a:pt x="9581515" y="2304796"/>
                  </a:lnTo>
                  <a:lnTo>
                    <a:pt x="9581515" y="2317496"/>
                  </a:lnTo>
                  <a:lnTo>
                    <a:pt x="9568815" y="2317496"/>
                  </a:lnTo>
                  <a:lnTo>
                    <a:pt x="9568815" y="12700"/>
                  </a:lnTo>
                  <a:lnTo>
                    <a:pt x="9581515" y="12700"/>
                  </a:lnTo>
                  <a:lnTo>
                    <a:pt x="9581515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-60975" y="342200"/>
            <a:ext cx="6993750" cy="803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21" name="AutoShape 21"/>
          <p:cNvSpPr/>
          <p:nvPr/>
        </p:nvSpPr>
        <p:spPr>
          <a:xfrm rot="10772046">
            <a:off x="471994" y="1127275"/>
            <a:ext cx="6382711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-19550" y="1154227"/>
            <a:ext cx="6993750" cy="603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5114100" y="9009900"/>
            <a:ext cx="2809752" cy="954002"/>
            <a:chOff x="0" y="0"/>
            <a:chExt cx="3746336" cy="127200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46373" cy="1272032"/>
            </a:xfrm>
            <a:custGeom>
              <a:avLst/>
              <a:gdLst/>
              <a:ahLst/>
              <a:cxnLst/>
              <a:rect l="l" t="t" r="r" b="b"/>
              <a:pathLst>
                <a:path w="3746373" h="1272032">
                  <a:moveTo>
                    <a:pt x="0" y="0"/>
                  </a:moveTo>
                  <a:lnTo>
                    <a:pt x="3746373" y="0"/>
                  </a:lnTo>
                  <a:lnTo>
                    <a:pt x="3746373" y="1272032"/>
                  </a:lnTo>
                  <a:lnTo>
                    <a:pt x="0" y="12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 descr="A long hallway with doors and lights&#10;&#10;AI-generated content may be incorrect.">
            <a:extLst>
              <a:ext uri="{FF2B5EF4-FFF2-40B4-BE49-F238E27FC236}">
                <a16:creationId xmlns:a16="http://schemas.microsoft.com/office/drawing/2014/main" id="{09238A00-FFB9-A5C1-F019-8B9173A04A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0"/>
            <a:ext cx="18211799" cy="10113634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158140" y="2280200"/>
            <a:ext cx="2624400" cy="787200"/>
            <a:chOff x="0" y="0"/>
            <a:chExt cx="3499200" cy="1049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FINANCIAL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2047871" y="3436299"/>
            <a:ext cx="3334289" cy="1664850"/>
            <a:chOff x="0" y="0"/>
            <a:chExt cx="878167" cy="43847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047871" y="4488445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Rental Income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143793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{{TOTALRENTALINCOME}}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5677425" y="3431512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206163" y="3431488"/>
            <a:ext cx="3448050" cy="1664850"/>
            <a:chOff x="0" y="0"/>
            <a:chExt cx="908128" cy="43847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5742147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{{TOTALINCOME}}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677425" y="4488445"/>
            <a:ext cx="3269567" cy="469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Income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350025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{{TOTALEXPENSES}}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28335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Expenses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2873288" y="3431488"/>
            <a:ext cx="3448050" cy="1664850"/>
            <a:chOff x="0" y="0"/>
            <a:chExt cx="908128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3006638" y="3798525"/>
            <a:ext cx="3181207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{{NETINCOME}}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296253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 Income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158140" y="5767899"/>
            <a:ext cx="2624400" cy="787200"/>
            <a:chOff x="0" y="0"/>
            <a:chExt cx="3499200" cy="10496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OCCUPANCY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047871" y="6912625"/>
            <a:ext cx="3334289" cy="1664850"/>
            <a:chOff x="0" y="0"/>
            <a:chExt cx="878167" cy="43847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2124412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{{OCCUPIEDAREASQFT}}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047871" y="7974324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Occupied Area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5677425" y="6915638"/>
            <a:ext cx="3310650" cy="1664850"/>
            <a:chOff x="0" y="0"/>
            <a:chExt cx="871941" cy="438479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5742147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{{OCCUPANCYBYUNITS}}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665606" y="7972912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units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9206163" y="6915638"/>
            <a:ext cx="3448050" cy="1664850"/>
            <a:chOff x="0" y="0"/>
            <a:chExt cx="908128" cy="438479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9327530" y="7240899"/>
            <a:ext cx="3181207" cy="111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{{OCCUPIEDAREAPERCENT}}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263044" y="7972887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Data</a:t>
              </a:r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7645639"/>
              </p:ext>
            </p:extLst>
          </p:nvPr>
        </p:nvGraphicFramePr>
        <p:xfrm>
          <a:off x="1447801" y="6975320"/>
          <a:ext cx="14884398" cy="2861204"/>
        </p:xfrm>
        <a:graphic>
          <a:graphicData uri="http://schemas.openxmlformats.org/drawingml/2006/table">
            <a:tbl>
              <a:tblPr/>
              <a:tblGrid>
                <a:gridCol w="21301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5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04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72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10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158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7595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7049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4327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Professional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Repairs &amp; Maintenance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Retail Products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{{RETAPTD}}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{{RETPRODYTD}}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{{RETAYTDBUD}}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Security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{{SECYTDBUD}}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Software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Supplies - Building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Telephone &amp; Internet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Utilities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PROPERTY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5500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OTHER EXPENSES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Interest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7" name="Table 2">
            <a:extLst>
              <a:ext uri="{FF2B5EF4-FFF2-40B4-BE49-F238E27FC236}">
                <a16:creationId xmlns:a16="http://schemas.microsoft.com/office/drawing/2014/main" id="{EA1496D4-075B-62CD-E859-BB7489AE8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2254225"/>
              </p:ext>
            </p:extLst>
          </p:nvPr>
        </p:nvGraphicFramePr>
        <p:xfrm>
          <a:off x="1447800" y="1943101"/>
          <a:ext cx="14884399" cy="4724391"/>
        </p:xfrm>
        <a:graphic>
          <a:graphicData uri="http://schemas.openxmlformats.org/drawingml/2006/table">
            <a:tbl>
              <a:tblPr/>
              <a:tblGrid>
                <a:gridCol w="21228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0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88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19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24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1888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738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6740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4291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12675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YTD Actual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YTD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Discounts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- Admin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- Late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– 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– Other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Retail Sales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Secure Payment Processing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PROPERTY EXPENSES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Advertising &amp; Marketing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Auction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CAM Charges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Credit Card Merchant Fees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Dues &amp; Subscriptions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Fire Prevention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Licenses &amp; Permits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Fees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Fees - Staff Costs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Office Supplies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13150" y="-142875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53322" y="44110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4085298" y="4718850"/>
            <a:ext cx="2324100" cy="1318500"/>
            <a:chOff x="0" y="0"/>
            <a:chExt cx="3098800" cy="1758000"/>
          </a:xfrm>
        </p:grpSpPr>
        <p:sp>
          <p:nvSpPr>
            <p:cNvPr id="11" name="Freeform 11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3-MONTH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085378" y="6391348"/>
            <a:ext cx="2324100" cy="1318500"/>
            <a:chOff x="0" y="0"/>
            <a:chExt cx="3098800" cy="1758000"/>
          </a:xfrm>
        </p:grpSpPr>
        <p:sp>
          <p:nvSpPr>
            <p:cNvPr id="15" name="Freeform 15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6-MONTH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334500" y="3748326"/>
            <a:ext cx="3700200" cy="653180"/>
            <a:chOff x="0" y="0"/>
            <a:chExt cx="4933600" cy="87090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{{MOVIPER}} {{INCORDEC1}} vs. {{PREVMON}}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848700" y="1951450"/>
            <a:ext cx="3294600" cy="1645800"/>
            <a:chOff x="0" y="0"/>
            <a:chExt cx="4392800" cy="2194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991600" y="3716881"/>
            <a:ext cx="3812223" cy="688899"/>
            <a:chOff x="-57467" y="-47626"/>
            <a:chExt cx="5082963" cy="91853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025496" cy="870906"/>
            </a:xfrm>
            <a:custGeom>
              <a:avLst/>
              <a:gdLst/>
              <a:ahLst/>
              <a:cxnLst/>
              <a:rect l="l" t="t" r="r" b="b"/>
              <a:pathLst>
                <a:path w="5025496" h="870906">
                  <a:moveTo>
                    <a:pt x="0" y="0"/>
                  </a:moveTo>
                  <a:lnTo>
                    <a:pt x="5025496" y="0"/>
                  </a:lnTo>
                  <a:lnTo>
                    <a:pt x="5025496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-57467" y="-47626"/>
              <a:ext cx="5025495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{{MOVOPER}} {{INCORDEC2}} vs. {{PREVMON}}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646575" y="3720550"/>
            <a:ext cx="3495700" cy="694694"/>
            <a:chOff x="0" y="-55351"/>
            <a:chExt cx="4933600" cy="926257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5351"/>
              <a:ext cx="4933600" cy="9185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{{MOVN}} {{INCORDEC3}} vs. {{PREVMON}}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55301" y="898235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Trailing number includes current month.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4085378" y="8067748"/>
            <a:ext cx="2324100" cy="1318500"/>
            <a:chOff x="0" y="0"/>
            <a:chExt cx="3098800" cy="1758000"/>
          </a:xfrm>
        </p:grpSpPr>
        <p:sp>
          <p:nvSpPr>
            <p:cNvPr id="38" name="Freeform 38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12-MONTH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541936" y="1951450"/>
            <a:ext cx="3310650" cy="1664850"/>
            <a:chOff x="0" y="0"/>
            <a:chExt cx="871941" cy="43847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5606657" y="2125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62477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188027" y="1963175"/>
            <a:ext cx="3310650" cy="1664850"/>
            <a:chOff x="0" y="0"/>
            <a:chExt cx="871941" cy="43847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9252749" y="2094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{{MOVEOUTS}}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232445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51" name="Group 51"/>
          <p:cNvGrpSpPr/>
          <p:nvPr/>
        </p:nvGrpSpPr>
        <p:grpSpPr>
          <a:xfrm>
            <a:off x="12739100" y="1932400"/>
            <a:ext cx="3310650" cy="1664850"/>
            <a:chOff x="0" y="0"/>
            <a:chExt cx="871941" cy="438479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12803822" y="207518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{{NETMOVE}}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2761326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6883049" y="4790611"/>
            <a:ext cx="2274101" cy="1331239"/>
            <a:chOff x="0" y="0"/>
            <a:chExt cx="598940" cy="350614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9" name="TextBox 59"/>
          <p:cNvSpPr txBox="1"/>
          <p:nvPr/>
        </p:nvSpPr>
        <p:spPr>
          <a:xfrm>
            <a:off x="6409478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369870" y="4895850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{{MOVEINSTRL3}}</a:t>
            </a:r>
          </a:p>
        </p:txBody>
      </p:sp>
      <p:grpSp>
        <p:nvGrpSpPr>
          <p:cNvPr id="61" name="Group 61"/>
          <p:cNvGrpSpPr/>
          <p:nvPr/>
        </p:nvGrpSpPr>
        <p:grpSpPr>
          <a:xfrm>
            <a:off x="9551077" y="4758822"/>
            <a:ext cx="2274101" cy="1331239"/>
            <a:chOff x="0" y="0"/>
            <a:chExt cx="598940" cy="350614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9034700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{{MOVEOUTSTRL3}}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068893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66" name="Group 66"/>
          <p:cNvGrpSpPr/>
          <p:nvPr/>
        </p:nvGrpSpPr>
        <p:grpSpPr>
          <a:xfrm>
            <a:off x="12215703" y="4758822"/>
            <a:ext cx="2274101" cy="1331239"/>
            <a:chOff x="0" y="0"/>
            <a:chExt cx="598940" cy="350614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11736993" y="54600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781223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{{NETTRL3}}</a:t>
            </a:r>
          </a:p>
        </p:txBody>
      </p:sp>
      <p:grpSp>
        <p:nvGrpSpPr>
          <p:cNvPr id="71" name="Group 71"/>
          <p:cNvGrpSpPr/>
          <p:nvPr/>
        </p:nvGrpSpPr>
        <p:grpSpPr>
          <a:xfrm>
            <a:off x="6883049" y="6326636"/>
            <a:ext cx="2274101" cy="1331239"/>
            <a:chOff x="0" y="0"/>
            <a:chExt cx="598940" cy="35061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9582100" y="6326636"/>
            <a:ext cx="2274101" cy="1331239"/>
            <a:chOff x="0" y="0"/>
            <a:chExt cx="598940" cy="35061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2215703" y="6320514"/>
            <a:ext cx="2274101" cy="1331239"/>
            <a:chOff x="0" y="0"/>
            <a:chExt cx="598940" cy="35061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6444971" y="6496348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{{MOVEINSTRL6}}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6325690" y="7020830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14390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{{MOVEOUTSTRL6}}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909972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171797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171797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{{NETTRL6}}</a:t>
            </a:r>
          </a:p>
        </p:txBody>
      </p:sp>
      <p:grpSp>
        <p:nvGrpSpPr>
          <p:cNvPr id="86" name="Group 86"/>
          <p:cNvGrpSpPr/>
          <p:nvPr/>
        </p:nvGrpSpPr>
        <p:grpSpPr>
          <a:xfrm>
            <a:off x="6883049" y="8061378"/>
            <a:ext cx="2274101" cy="1331239"/>
            <a:chOff x="0" y="0"/>
            <a:chExt cx="598940" cy="350614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9582100" y="8076975"/>
            <a:ext cx="2274101" cy="1331239"/>
            <a:chOff x="0" y="0"/>
            <a:chExt cx="598940" cy="350614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12215907" y="8041112"/>
            <a:ext cx="2274101" cy="1331239"/>
            <a:chOff x="0" y="0"/>
            <a:chExt cx="598940" cy="350614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5" name="TextBox 95"/>
          <p:cNvSpPr txBox="1"/>
          <p:nvPr/>
        </p:nvSpPr>
        <p:spPr>
          <a:xfrm>
            <a:off x="6517856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{{MOVEINSTRL12}}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6281510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9128547" y="8153175"/>
            <a:ext cx="3181207" cy="953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{{MOVEOUTSTRL12}}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9068893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11762150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{{NETTRL12}}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11718174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104" name="Group 8">
            <a:extLst>
              <a:ext uri="{FF2B5EF4-FFF2-40B4-BE49-F238E27FC236}">
                <a16:creationId xmlns:a16="http://schemas.microsoft.com/office/drawing/2014/main" id="{EE292075-059A-6F08-DE48-4A8DDBBA0B11}"/>
              </a:ext>
            </a:extLst>
          </p:cNvPr>
          <p:cNvGrpSpPr/>
          <p:nvPr/>
        </p:nvGrpSpPr>
        <p:grpSpPr>
          <a:xfrm>
            <a:off x="0" y="-123300"/>
            <a:ext cx="18288000" cy="1609200"/>
            <a:chOff x="0" y="0"/>
            <a:chExt cx="24384000" cy="2145600"/>
          </a:xfrm>
        </p:grpSpPr>
        <p:sp>
          <p:nvSpPr>
            <p:cNvPr id="105" name="Freeform 9">
              <a:extLst>
                <a:ext uri="{FF2B5EF4-FFF2-40B4-BE49-F238E27FC236}">
                  <a16:creationId xmlns:a16="http://schemas.microsoft.com/office/drawing/2014/main" id="{113FD3DC-1311-0C31-50E9-18F8169BD813}"/>
                </a:ext>
              </a:extLst>
            </p:cNvPr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">
              <a:extLst>
                <a:ext uri="{FF2B5EF4-FFF2-40B4-BE49-F238E27FC236}">
                  <a16:creationId xmlns:a16="http://schemas.microsoft.com/office/drawing/2014/main" id="{8269F3FC-56DA-1FF6-AB8F-11D27ECBE60E}"/>
                </a:ext>
              </a:extLst>
            </p:cNvPr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478834"/>
            <a:ext cx="18288000" cy="823200"/>
            <a:chOff x="0" y="0"/>
            <a:chExt cx="24384000" cy="1097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4788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55301" y="9080201"/>
            <a:ext cx="5817150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Definitions in rate management report.</a:t>
            </a:r>
          </a:p>
          <a:p>
            <a:pPr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Blank fields are due to missing historical data from seller</a:t>
            </a:r>
          </a:p>
        </p:txBody>
      </p:sp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1576076" y="1609188"/>
          <a:ext cx="1625600" cy="7620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SUMMARY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10431576" y="1609212"/>
          <a:ext cx="2971800" cy="762000"/>
        </p:xfrm>
        <a:graphic>
          <a:graphicData uri="http://schemas.openxmlformats.org/drawingml/2006/table">
            <a:tbl>
              <a:tblPr/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1576100" y="2673900"/>
          <a:ext cx="7215330" cy="5765800"/>
        </p:xfrm>
        <a:graphic>
          <a:graphicData uri="http://schemas.openxmlformats.org/drawingml/2006/table">
            <a:tbl>
              <a:tblPr/>
              <a:tblGrid>
                <a:gridCol w="32498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65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88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1365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KPI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Last Month Value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603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 Occupancy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5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7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75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47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Occ Units LOR &gt; 6 Months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7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Avg LOR of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6804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MoveIns with Promo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B0A64135-733F-DD9F-55A5-FE1E0DB14F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127330"/>
              </p:ext>
            </p:extLst>
          </p:nvPr>
        </p:nvGraphicFramePr>
        <p:xfrm>
          <a:off x="10431600" y="2673888"/>
          <a:ext cx="6616700" cy="4520753"/>
        </p:xfrm>
        <a:graphic>
          <a:graphicData uri="http://schemas.openxmlformats.org/drawingml/2006/table">
            <a:tbl>
              <a:tblPr/>
              <a:tblGrid>
                <a:gridCol w="4614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2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4770">
                <a:tc gridSpan="2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{{NEXTMONTH}}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(4-6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56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Number of rent increase letters sent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{{NUMREN}}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56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square footage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{{TOTSFT}}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64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rental rate; prior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{{BASERENPR}}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29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$ increase with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{{TOTINCESC}}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819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New rental rate,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after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{{NEWRENRT}}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9001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Average percent increase per unit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{{AVGPERINC}}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 Rate Management | Current Sell Rate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78975"/>
            <a:ext cx="6299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Sell Rates are only available for vacant spaces</a:t>
            </a:r>
          </a:p>
        </p:txBody>
      </p:sp>
      <p:sp>
        <p:nvSpPr>
          <p:cNvPr id="17" name="TextBox 17"/>
          <p:cNvSpPr txBox="1"/>
          <p:nvPr/>
        </p:nvSpPr>
        <p:spPr>
          <a:xfrm rot="-5400000">
            <a:off x="-226538" y="3591213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FLOOR 1 UNITS</a:t>
            </a:r>
          </a:p>
        </p:txBody>
      </p:sp>
      <p:sp>
        <p:nvSpPr>
          <p:cNvPr id="18" name="TextBox 18"/>
          <p:cNvSpPr txBox="1"/>
          <p:nvPr/>
        </p:nvSpPr>
        <p:spPr>
          <a:xfrm rot="-5400000">
            <a:off x="-226538" y="7275612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ELEVATOR UNITS</a:t>
            </a:r>
          </a:p>
        </p:txBody>
      </p:sp>
      <p:graphicFrame>
        <p:nvGraphicFramePr>
          <p:cNvPr id="15" name="Table 15">
            <a:extLst>
              <a:ext uri="{FF2B5EF4-FFF2-40B4-BE49-F238E27FC236}">
                <a16:creationId xmlns:a16="http://schemas.microsoft.com/office/drawing/2014/main" id="{17A8EDAA-88E6-7EC6-B554-90D1F9E9AD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1053856"/>
              </p:ext>
            </p:extLst>
          </p:nvPr>
        </p:nvGraphicFramePr>
        <p:xfrm>
          <a:off x="1536700" y="1836587"/>
          <a:ext cx="15214600" cy="3581399"/>
        </p:xfrm>
        <a:graphic>
          <a:graphicData uri="http://schemas.openxmlformats.org/drawingml/2006/table">
            <a:tbl>
              <a:tblPr/>
              <a:tblGrid>
                <a:gridCol w="35184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88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33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041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1563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812591FC-A107-0045-FB42-A84E5C161E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638204"/>
              </p:ext>
            </p:extLst>
          </p:nvPr>
        </p:nvGraphicFramePr>
        <p:xfrm>
          <a:off x="1536700" y="5709003"/>
          <a:ext cx="15240001" cy="3200402"/>
        </p:xfrm>
        <a:graphic>
          <a:graphicData uri="http://schemas.openxmlformats.org/drawingml/2006/table">
            <a:tbl>
              <a:tblPr/>
              <a:tblGrid>
                <a:gridCol w="32767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4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61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024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3600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room with roller doors&#10;&#10;AI-generated content may be incorrect.">
            <a:extLst>
              <a:ext uri="{FF2B5EF4-FFF2-40B4-BE49-F238E27FC236}">
                <a16:creationId xmlns:a16="http://schemas.microsoft.com/office/drawing/2014/main" id="{85A2A8BD-AA7D-B9E6-B12D-072B401F55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4044"/>
            <a:ext cx="18669000" cy="10350500"/>
          </a:xfrm>
          <a:prstGeom prst="rect">
            <a:avLst/>
          </a:prstGeom>
        </p:spPr>
      </p:pic>
      <p:grpSp>
        <p:nvGrpSpPr>
          <p:cNvPr id="103" name="Group 4">
            <a:extLst>
              <a:ext uri="{FF2B5EF4-FFF2-40B4-BE49-F238E27FC236}">
                <a16:creationId xmlns:a16="http://schemas.microsoft.com/office/drawing/2014/main" id="{9C0188C5-1867-CBB8-DE77-604BAC47A7A5}"/>
              </a:ext>
            </a:extLst>
          </p:cNvPr>
          <p:cNvGrpSpPr/>
          <p:nvPr/>
        </p:nvGrpSpPr>
        <p:grpSpPr>
          <a:xfrm>
            <a:off x="0" y="-38100"/>
            <a:ext cx="18288000" cy="10287000"/>
            <a:chOff x="0" y="0"/>
            <a:chExt cx="24384000" cy="13716000"/>
          </a:xfrm>
        </p:grpSpPr>
        <p:sp>
          <p:nvSpPr>
            <p:cNvPr id="104" name="Freeform 5">
              <a:extLst>
                <a:ext uri="{FF2B5EF4-FFF2-40B4-BE49-F238E27FC236}">
                  <a16:creationId xmlns:a16="http://schemas.microsoft.com/office/drawing/2014/main" id="{7623B9DD-1846-F7E0-3EE7-1866D6B005C7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" name="Group 2"/>
          <p:cNvGrpSpPr/>
          <p:nvPr/>
        </p:nvGrpSpPr>
        <p:grpSpPr>
          <a:xfrm>
            <a:off x="0" y="-3810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{{CURRENTMONTH}} Operational Snapshot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43" y="9105175"/>
            <a:ext cx="100093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Additional information can be found in the daily flash report.</a:t>
            </a:r>
          </a:p>
        </p:txBody>
      </p:sp>
      <p:grpSp>
        <p:nvGrpSpPr>
          <p:cNvPr id="16" name="Group 41">
            <a:extLst>
              <a:ext uri="{FF2B5EF4-FFF2-40B4-BE49-F238E27FC236}">
                <a16:creationId xmlns:a16="http://schemas.microsoft.com/office/drawing/2014/main" id="{7DFB2AB5-375E-C1C4-B80A-61E3C207CFBD}"/>
              </a:ext>
            </a:extLst>
          </p:cNvPr>
          <p:cNvGrpSpPr/>
          <p:nvPr/>
        </p:nvGrpSpPr>
        <p:grpSpPr>
          <a:xfrm>
            <a:off x="3852150" y="2095500"/>
            <a:ext cx="3310650" cy="1664850"/>
            <a:chOff x="0" y="0"/>
            <a:chExt cx="871941" cy="438479"/>
          </a:xfrm>
        </p:grpSpPr>
        <p:sp>
          <p:nvSpPr>
            <p:cNvPr id="17" name="Freeform 42">
              <a:extLst>
                <a:ext uri="{FF2B5EF4-FFF2-40B4-BE49-F238E27FC236}">
                  <a16:creationId xmlns:a16="http://schemas.microsoft.com/office/drawing/2014/main" id="{EA03B3A0-4F28-8517-12D7-929F93E1C6D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43">
              <a:extLst>
                <a:ext uri="{FF2B5EF4-FFF2-40B4-BE49-F238E27FC236}">
                  <a16:creationId xmlns:a16="http://schemas.microsoft.com/office/drawing/2014/main" id="{BA50E27C-5D12-7098-659C-2F3974E9F765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44">
            <a:extLst>
              <a:ext uri="{FF2B5EF4-FFF2-40B4-BE49-F238E27FC236}">
                <a16:creationId xmlns:a16="http://schemas.microsoft.com/office/drawing/2014/main" id="{C287B4B5-E27A-95EE-15C7-28349203BFBD}"/>
              </a:ext>
            </a:extLst>
          </p:cNvPr>
          <p:cNvSpPr txBox="1"/>
          <p:nvPr/>
        </p:nvSpPr>
        <p:spPr>
          <a:xfrm>
            <a:off x="392835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{{MTDRENTALS}}</a:t>
            </a:r>
          </a:p>
        </p:txBody>
      </p:sp>
      <p:sp>
        <p:nvSpPr>
          <p:cNvPr id="33" name="TextBox 45">
            <a:extLst>
              <a:ext uri="{FF2B5EF4-FFF2-40B4-BE49-F238E27FC236}">
                <a16:creationId xmlns:a16="http://schemas.microsoft.com/office/drawing/2014/main" id="{9711E967-15B6-CD0C-2AC2-9CB7DC7D67CE}"/>
              </a:ext>
            </a:extLst>
          </p:cNvPr>
          <p:cNvSpPr txBox="1"/>
          <p:nvPr/>
        </p:nvSpPr>
        <p:spPr>
          <a:xfrm>
            <a:off x="385215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Rentals</a:t>
            </a:r>
          </a:p>
        </p:txBody>
      </p:sp>
      <p:grpSp>
        <p:nvGrpSpPr>
          <p:cNvPr id="46" name="Group 41">
            <a:extLst>
              <a:ext uri="{FF2B5EF4-FFF2-40B4-BE49-F238E27FC236}">
                <a16:creationId xmlns:a16="http://schemas.microsoft.com/office/drawing/2014/main" id="{EFEFABE1-C600-38CC-194D-0378FCCF6476}"/>
              </a:ext>
            </a:extLst>
          </p:cNvPr>
          <p:cNvGrpSpPr/>
          <p:nvPr/>
        </p:nvGrpSpPr>
        <p:grpSpPr>
          <a:xfrm>
            <a:off x="7315200" y="2095500"/>
            <a:ext cx="3310650" cy="1664850"/>
            <a:chOff x="0" y="0"/>
            <a:chExt cx="871941" cy="438479"/>
          </a:xfrm>
        </p:grpSpPr>
        <p:sp>
          <p:nvSpPr>
            <p:cNvPr id="47" name="Freeform 42">
              <a:extLst>
                <a:ext uri="{FF2B5EF4-FFF2-40B4-BE49-F238E27FC236}">
                  <a16:creationId xmlns:a16="http://schemas.microsoft.com/office/drawing/2014/main" id="{C7E010AD-67F0-DB79-4FAB-C3293D1D20C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3">
              <a:extLst>
                <a:ext uri="{FF2B5EF4-FFF2-40B4-BE49-F238E27FC236}">
                  <a16:creationId xmlns:a16="http://schemas.microsoft.com/office/drawing/2014/main" id="{90FDDEBF-5E60-FECF-D5C5-CD896F71690C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4">
            <a:extLst>
              <a:ext uri="{FF2B5EF4-FFF2-40B4-BE49-F238E27FC236}">
                <a16:creationId xmlns:a16="http://schemas.microsoft.com/office/drawing/2014/main" id="{4BB2B5A3-D35C-6334-37AD-5EE2ED8BB57A}"/>
              </a:ext>
            </a:extLst>
          </p:cNvPr>
          <p:cNvSpPr txBox="1"/>
          <p:nvPr/>
        </p:nvSpPr>
        <p:spPr>
          <a:xfrm>
            <a:off x="73914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{{MTDVACATES}}</a:t>
            </a:r>
          </a:p>
        </p:txBody>
      </p:sp>
      <p:sp>
        <p:nvSpPr>
          <p:cNvPr id="50" name="TextBox 45">
            <a:extLst>
              <a:ext uri="{FF2B5EF4-FFF2-40B4-BE49-F238E27FC236}">
                <a16:creationId xmlns:a16="http://schemas.microsoft.com/office/drawing/2014/main" id="{E947CF11-6478-526B-BBD9-DEA14896B0A5}"/>
              </a:ext>
            </a:extLst>
          </p:cNvPr>
          <p:cNvSpPr txBox="1"/>
          <p:nvPr/>
        </p:nvSpPr>
        <p:spPr>
          <a:xfrm>
            <a:off x="7315200" y="29813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Vacates</a:t>
            </a:r>
          </a:p>
        </p:txBody>
      </p:sp>
      <p:grpSp>
        <p:nvGrpSpPr>
          <p:cNvPr id="51" name="Group 41">
            <a:extLst>
              <a:ext uri="{FF2B5EF4-FFF2-40B4-BE49-F238E27FC236}">
                <a16:creationId xmlns:a16="http://schemas.microsoft.com/office/drawing/2014/main" id="{05B9E614-D59C-40C8-9F4C-E974E1D81485}"/>
              </a:ext>
            </a:extLst>
          </p:cNvPr>
          <p:cNvGrpSpPr/>
          <p:nvPr/>
        </p:nvGrpSpPr>
        <p:grpSpPr>
          <a:xfrm>
            <a:off x="10820400" y="2095500"/>
            <a:ext cx="3310650" cy="1664850"/>
            <a:chOff x="0" y="0"/>
            <a:chExt cx="871941" cy="438479"/>
          </a:xfrm>
        </p:grpSpPr>
        <p:sp>
          <p:nvSpPr>
            <p:cNvPr id="52" name="Freeform 42">
              <a:extLst>
                <a:ext uri="{FF2B5EF4-FFF2-40B4-BE49-F238E27FC236}">
                  <a16:creationId xmlns:a16="http://schemas.microsoft.com/office/drawing/2014/main" id="{D382B21C-317D-C115-FCA6-5CBD756100B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43">
              <a:extLst>
                <a:ext uri="{FF2B5EF4-FFF2-40B4-BE49-F238E27FC236}">
                  <a16:creationId xmlns:a16="http://schemas.microsoft.com/office/drawing/2014/main" id="{FD7006A7-4484-9849-2D02-E0FECA00F050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44">
            <a:extLst>
              <a:ext uri="{FF2B5EF4-FFF2-40B4-BE49-F238E27FC236}">
                <a16:creationId xmlns:a16="http://schemas.microsoft.com/office/drawing/2014/main" id="{B7B3BBE5-CAF3-C9F1-D2A9-53FEB02F50C5}"/>
              </a:ext>
            </a:extLst>
          </p:cNvPr>
          <p:cNvSpPr txBox="1"/>
          <p:nvPr/>
        </p:nvSpPr>
        <p:spPr>
          <a:xfrm>
            <a:off x="108966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{{MTDNETRENTALS}}</a:t>
            </a:r>
          </a:p>
        </p:txBody>
      </p:sp>
      <p:sp>
        <p:nvSpPr>
          <p:cNvPr id="55" name="TextBox 45">
            <a:extLst>
              <a:ext uri="{FF2B5EF4-FFF2-40B4-BE49-F238E27FC236}">
                <a16:creationId xmlns:a16="http://schemas.microsoft.com/office/drawing/2014/main" id="{9C28B3A7-9D35-D1C8-509C-FC32497E31E0}"/>
              </a:ext>
            </a:extLst>
          </p:cNvPr>
          <p:cNvSpPr txBox="1"/>
          <p:nvPr/>
        </p:nvSpPr>
        <p:spPr>
          <a:xfrm>
            <a:off x="1082040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Net</a:t>
            </a:r>
          </a:p>
        </p:txBody>
      </p:sp>
      <p:grpSp>
        <p:nvGrpSpPr>
          <p:cNvPr id="76" name="Group 41">
            <a:extLst>
              <a:ext uri="{FF2B5EF4-FFF2-40B4-BE49-F238E27FC236}">
                <a16:creationId xmlns:a16="http://schemas.microsoft.com/office/drawing/2014/main" id="{B145205C-F1A3-7397-D900-432548B13003}"/>
              </a:ext>
            </a:extLst>
          </p:cNvPr>
          <p:cNvGrpSpPr/>
          <p:nvPr/>
        </p:nvGrpSpPr>
        <p:grpSpPr>
          <a:xfrm>
            <a:off x="5585557" y="3924300"/>
            <a:ext cx="3310650" cy="1664850"/>
            <a:chOff x="0" y="0"/>
            <a:chExt cx="871941" cy="438479"/>
          </a:xfrm>
        </p:grpSpPr>
        <p:sp>
          <p:nvSpPr>
            <p:cNvPr id="77" name="Freeform 42">
              <a:extLst>
                <a:ext uri="{FF2B5EF4-FFF2-40B4-BE49-F238E27FC236}">
                  <a16:creationId xmlns:a16="http://schemas.microsoft.com/office/drawing/2014/main" id="{282D1D12-C5E6-316A-33BE-FD77D90C0A93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TextBox 43">
              <a:extLst>
                <a:ext uri="{FF2B5EF4-FFF2-40B4-BE49-F238E27FC236}">
                  <a16:creationId xmlns:a16="http://schemas.microsoft.com/office/drawing/2014/main" id="{90EC3831-7541-8ABC-8715-78FB148716AA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79" name="TextBox 44">
            <a:extLst>
              <a:ext uri="{FF2B5EF4-FFF2-40B4-BE49-F238E27FC236}">
                <a16:creationId xmlns:a16="http://schemas.microsoft.com/office/drawing/2014/main" id="{96785DB2-C3F3-F75D-8DE6-C162AB3A9A28}"/>
              </a:ext>
            </a:extLst>
          </p:cNvPr>
          <p:cNvSpPr txBox="1"/>
          <p:nvPr/>
        </p:nvSpPr>
        <p:spPr>
          <a:xfrm>
            <a:off x="5661757" y="3996663"/>
            <a:ext cx="3181207" cy="593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{{PROJRENT}}</a:t>
            </a:r>
          </a:p>
        </p:txBody>
      </p:sp>
      <p:sp>
        <p:nvSpPr>
          <p:cNvPr id="80" name="TextBox 45">
            <a:extLst>
              <a:ext uri="{FF2B5EF4-FFF2-40B4-BE49-F238E27FC236}">
                <a16:creationId xmlns:a16="http://schemas.microsoft.com/office/drawing/2014/main" id="{9AD64C21-DD1B-0C03-CA2E-8BC0F6BAF7DC}"/>
              </a:ext>
            </a:extLst>
          </p:cNvPr>
          <p:cNvSpPr txBox="1"/>
          <p:nvPr/>
        </p:nvSpPr>
        <p:spPr>
          <a:xfrm>
            <a:off x="5585557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</a:t>
            </a:r>
          </a:p>
        </p:txBody>
      </p:sp>
      <p:grpSp>
        <p:nvGrpSpPr>
          <p:cNvPr id="81" name="Group 41">
            <a:extLst>
              <a:ext uri="{FF2B5EF4-FFF2-40B4-BE49-F238E27FC236}">
                <a16:creationId xmlns:a16="http://schemas.microsoft.com/office/drawing/2014/main" id="{A8B17132-26AB-4386-9931-9F9E9EFA4E4B}"/>
              </a:ext>
            </a:extLst>
          </p:cNvPr>
          <p:cNvGrpSpPr/>
          <p:nvPr/>
        </p:nvGrpSpPr>
        <p:grpSpPr>
          <a:xfrm>
            <a:off x="9109950" y="3924300"/>
            <a:ext cx="3310650" cy="1664850"/>
            <a:chOff x="0" y="0"/>
            <a:chExt cx="871941" cy="438479"/>
          </a:xfrm>
        </p:grpSpPr>
        <p:sp>
          <p:nvSpPr>
            <p:cNvPr id="82" name="Freeform 42">
              <a:extLst>
                <a:ext uri="{FF2B5EF4-FFF2-40B4-BE49-F238E27FC236}">
                  <a16:creationId xmlns:a16="http://schemas.microsoft.com/office/drawing/2014/main" id="{7B080420-AA1B-E73F-1AAC-0DEF51E8B94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TextBox 43">
              <a:extLst>
                <a:ext uri="{FF2B5EF4-FFF2-40B4-BE49-F238E27FC236}">
                  <a16:creationId xmlns:a16="http://schemas.microsoft.com/office/drawing/2014/main" id="{A0E891B5-E360-0705-A1DA-EB73B0478221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4" name="TextBox 44">
            <a:extLst>
              <a:ext uri="{FF2B5EF4-FFF2-40B4-BE49-F238E27FC236}">
                <a16:creationId xmlns:a16="http://schemas.microsoft.com/office/drawing/2014/main" id="{0EC5E9F7-863C-DE5B-D71D-7E0632316569}"/>
              </a:ext>
            </a:extLst>
          </p:cNvPr>
          <p:cNvSpPr txBox="1"/>
          <p:nvPr/>
        </p:nvSpPr>
        <p:spPr>
          <a:xfrm>
            <a:off x="9186150" y="39966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{{PROJRENTPERSF}}</a:t>
            </a:r>
          </a:p>
        </p:txBody>
      </p:sp>
      <p:sp>
        <p:nvSpPr>
          <p:cNvPr id="85" name="TextBox 45">
            <a:extLst>
              <a:ext uri="{FF2B5EF4-FFF2-40B4-BE49-F238E27FC236}">
                <a16:creationId xmlns:a16="http://schemas.microsoft.com/office/drawing/2014/main" id="{D64049D5-8E8A-C7F3-44C8-5165D72D8E91}"/>
              </a:ext>
            </a:extLst>
          </p:cNvPr>
          <p:cNvSpPr txBox="1"/>
          <p:nvPr/>
        </p:nvSpPr>
        <p:spPr>
          <a:xfrm>
            <a:off x="9109950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Rent/SF</a:t>
            </a:r>
          </a:p>
        </p:txBody>
      </p:sp>
      <p:grpSp>
        <p:nvGrpSpPr>
          <p:cNvPr id="86" name="Group 41">
            <a:extLst>
              <a:ext uri="{FF2B5EF4-FFF2-40B4-BE49-F238E27FC236}">
                <a16:creationId xmlns:a16="http://schemas.microsoft.com/office/drawing/2014/main" id="{A194E09A-672B-2566-2FEF-76B25DA68195}"/>
              </a:ext>
            </a:extLst>
          </p:cNvPr>
          <p:cNvGrpSpPr/>
          <p:nvPr/>
        </p:nvGrpSpPr>
        <p:grpSpPr>
          <a:xfrm>
            <a:off x="5585557" y="5753100"/>
            <a:ext cx="3310650" cy="1664850"/>
            <a:chOff x="0" y="0"/>
            <a:chExt cx="871941" cy="438479"/>
          </a:xfrm>
        </p:grpSpPr>
        <p:sp>
          <p:nvSpPr>
            <p:cNvPr id="87" name="Freeform 42">
              <a:extLst>
                <a:ext uri="{FF2B5EF4-FFF2-40B4-BE49-F238E27FC236}">
                  <a16:creationId xmlns:a16="http://schemas.microsoft.com/office/drawing/2014/main" id="{83F4823C-CB9F-2299-905B-FFCE65A1C5B4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43">
              <a:extLst>
                <a:ext uri="{FF2B5EF4-FFF2-40B4-BE49-F238E27FC236}">
                  <a16:creationId xmlns:a16="http://schemas.microsoft.com/office/drawing/2014/main" id="{B685CAA6-A831-9BC5-749C-7B54048059B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9" name="TextBox 44">
            <a:extLst>
              <a:ext uri="{FF2B5EF4-FFF2-40B4-BE49-F238E27FC236}">
                <a16:creationId xmlns:a16="http://schemas.microsoft.com/office/drawing/2014/main" id="{B63650AF-EADA-6832-7C25-802DF507A2B8}"/>
              </a:ext>
            </a:extLst>
          </p:cNvPr>
          <p:cNvSpPr txBox="1"/>
          <p:nvPr/>
        </p:nvSpPr>
        <p:spPr>
          <a:xfrm>
            <a:off x="56617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{{EFFPOTRENT}}</a:t>
            </a:r>
          </a:p>
        </p:txBody>
      </p:sp>
      <p:sp>
        <p:nvSpPr>
          <p:cNvPr id="90" name="TextBox 45">
            <a:extLst>
              <a:ext uri="{FF2B5EF4-FFF2-40B4-BE49-F238E27FC236}">
                <a16:creationId xmlns:a16="http://schemas.microsoft.com/office/drawing/2014/main" id="{5710F870-E13D-FA29-B9C8-001C04CF19C7}"/>
              </a:ext>
            </a:extLst>
          </p:cNvPr>
          <p:cNvSpPr txBox="1"/>
          <p:nvPr/>
        </p:nvSpPr>
        <p:spPr>
          <a:xfrm>
            <a:off x="5585557" y="66389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 Pot. Rent</a:t>
            </a:r>
          </a:p>
        </p:txBody>
      </p:sp>
      <p:grpSp>
        <p:nvGrpSpPr>
          <p:cNvPr id="91" name="Group 41">
            <a:extLst>
              <a:ext uri="{FF2B5EF4-FFF2-40B4-BE49-F238E27FC236}">
                <a16:creationId xmlns:a16="http://schemas.microsoft.com/office/drawing/2014/main" id="{09450ECB-CD00-7D46-7A37-1F8918A66617}"/>
              </a:ext>
            </a:extLst>
          </p:cNvPr>
          <p:cNvGrpSpPr/>
          <p:nvPr/>
        </p:nvGrpSpPr>
        <p:grpSpPr>
          <a:xfrm>
            <a:off x="9090757" y="5753100"/>
            <a:ext cx="3310650" cy="1664850"/>
            <a:chOff x="0" y="0"/>
            <a:chExt cx="871941" cy="438479"/>
          </a:xfrm>
        </p:grpSpPr>
        <p:sp>
          <p:nvSpPr>
            <p:cNvPr id="92" name="Freeform 42">
              <a:extLst>
                <a:ext uri="{FF2B5EF4-FFF2-40B4-BE49-F238E27FC236}">
                  <a16:creationId xmlns:a16="http://schemas.microsoft.com/office/drawing/2014/main" id="{55882327-D0FD-4E3E-6D18-F9ABA78E25CA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TextBox 43">
              <a:extLst>
                <a:ext uri="{FF2B5EF4-FFF2-40B4-BE49-F238E27FC236}">
                  <a16:creationId xmlns:a16="http://schemas.microsoft.com/office/drawing/2014/main" id="{13402C5B-CE31-9205-C539-4F2AB05D1106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4" name="TextBox 44">
            <a:extLst>
              <a:ext uri="{FF2B5EF4-FFF2-40B4-BE49-F238E27FC236}">
                <a16:creationId xmlns:a16="http://schemas.microsoft.com/office/drawing/2014/main" id="{5C0E170E-3640-1A76-EA6E-C86ACC4E07FA}"/>
              </a:ext>
            </a:extLst>
          </p:cNvPr>
          <p:cNvSpPr txBox="1"/>
          <p:nvPr/>
        </p:nvSpPr>
        <p:spPr>
          <a:xfrm>
            <a:off x="91669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{{AVGSFVACA}}</a:t>
            </a:r>
          </a:p>
        </p:txBody>
      </p:sp>
      <p:sp>
        <p:nvSpPr>
          <p:cNvPr id="95" name="TextBox 45">
            <a:extLst>
              <a:ext uri="{FF2B5EF4-FFF2-40B4-BE49-F238E27FC236}">
                <a16:creationId xmlns:a16="http://schemas.microsoft.com/office/drawing/2014/main" id="{C5886E1E-4AE8-98E7-0055-886791ABD92C}"/>
              </a:ext>
            </a:extLst>
          </p:cNvPr>
          <p:cNvSpPr txBox="1"/>
          <p:nvPr/>
        </p:nvSpPr>
        <p:spPr>
          <a:xfrm>
            <a:off x="9090757" y="66389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Rate/SF</a:t>
            </a:r>
          </a:p>
        </p:txBody>
      </p:sp>
      <p:grpSp>
        <p:nvGrpSpPr>
          <p:cNvPr id="96" name="Group 41">
            <a:extLst>
              <a:ext uri="{FF2B5EF4-FFF2-40B4-BE49-F238E27FC236}">
                <a16:creationId xmlns:a16="http://schemas.microsoft.com/office/drawing/2014/main" id="{F795C424-A623-3F60-28FE-BE1120DF67A8}"/>
              </a:ext>
            </a:extLst>
          </p:cNvPr>
          <p:cNvGrpSpPr/>
          <p:nvPr/>
        </p:nvGrpSpPr>
        <p:grpSpPr>
          <a:xfrm>
            <a:off x="5592590" y="7517250"/>
            <a:ext cx="3310650" cy="1664850"/>
            <a:chOff x="0" y="0"/>
            <a:chExt cx="871941" cy="438479"/>
          </a:xfrm>
        </p:grpSpPr>
        <p:sp>
          <p:nvSpPr>
            <p:cNvPr id="97" name="Freeform 42">
              <a:extLst>
                <a:ext uri="{FF2B5EF4-FFF2-40B4-BE49-F238E27FC236}">
                  <a16:creationId xmlns:a16="http://schemas.microsoft.com/office/drawing/2014/main" id="{ABDF11F4-BD05-7E49-438D-380E76D9172D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43">
              <a:extLst>
                <a:ext uri="{FF2B5EF4-FFF2-40B4-BE49-F238E27FC236}">
                  <a16:creationId xmlns:a16="http://schemas.microsoft.com/office/drawing/2014/main" id="{34C9B84F-F1AA-FC35-8913-6E63E29F7DF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9" name="TextBox 44">
            <a:extLst>
              <a:ext uri="{FF2B5EF4-FFF2-40B4-BE49-F238E27FC236}">
                <a16:creationId xmlns:a16="http://schemas.microsoft.com/office/drawing/2014/main" id="{CF69C673-9587-85AA-26B9-51CF533DC558}"/>
              </a:ext>
            </a:extLst>
          </p:cNvPr>
          <p:cNvSpPr txBox="1"/>
          <p:nvPr/>
        </p:nvSpPr>
        <p:spPr>
          <a:xfrm>
            <a:off x="5668790" y="758961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{{GROSSPOTRENT}}</a:t>
            </a:r>
          </a:p>
        </p:txBody>
      </p:sp>
      <p:sp>
        <p:nvSpPr>
          <p:cNvPr id="100" name="TextBox 45">
            <a:extLst>
              <a:ext uri="{FF2B5EF4-FFF2-40B4-BE49-F238E27FC236}">
                <a16:creationId xmlns:a16="http://schemas.microsoft.com/office/drawing/2014/main" id="{5F2F2D86-BB5A-879B-7F18-4B1B2D65AF81}"/>
              </a:ext>
            </a:extLst>
          </p:cNvPr>
          <p:cNvSpPr txBox="1"/>
          <p:nvPr/>
        </p:nvSpPr>
        <p:spPr>
          <a:xfrm>
            <a:off x="5645833" y="832687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Gross Pot. Rent</a:t>
            </a:r>
          </a:p>
        </p:txBody>
      </p:sp>
      <p:grpSp>
        <p:nvGrpSpPr>
          <p:cNvPr id="31" name="Group 41">
            <a:extLst>
              <a:ext uri="{FF2B5EF4-FFF2-40B4-BE49-F238E27FC236}">
                <a16:creationId xmlns:a16="http://schemas.microsoft.com/office/drawing/2014/main" id="{060D5E75-B929-A033-7191-AEF1F8DC089A}"/>
              </a:ext>
            </a:extLst>
          </p:cNvPr>
          <p:cNvGrpSpPr/>
          <p:nvPr/>
        </p:nvGrpSpPr>
        <p:grpSpPr>
          <a:xfrm>
            <a:off x="9097790" y="7505700"/>
            <a:ext cx="3310650" cy="1664850"/>
            <a:chOff x="0" y="0"/>
            <a:chExt cx="871941" cy="438479"/>
          </a:xfrm>
        </p:grpSpPr>
        <p:sp>
          <p:nvSpPr>
            <p:cNvPr id="34" name="Freeform 42">
              <a:extLst>
                <a:ext uri="{FF2B5EF4-FFF2-40B4-BE49-F238E27FC236}">
                  <a16:creationId xmlns:a16="http://schemas.microsoft.com/office/drawing/2014/main" id="{AA5625FB-0E2B-54F1-60A2-F16D4CC0C7BF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43">
              <a:extLst>
                <a:ext uri="{FF2B5EF4-FFF2-40B4-BE49-F238E27FC236}">
                  <a16:creationId xmlns:a16="http://schemas.microsoft.com/office/drawing/2014/main" id="{1EF9CE0F-9B35-81FE-5A59-1A1202BBB31B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6" name="TextBox 44">
            <a:extLst>
              <a:ext uri="{FF2B5EF4-FFF2-40B4-BE49-F238E27FC236}">
                <a16:creationId xmlns:a16="http://schemas.microsoft.com/office/drawing/2014/main" id="{7935DE11-C001-9551-AB88-0327E75F7C19}"/>
              </a:ext>
            </a:extLst>
          </p:cNvPr>
          <p:cNvSpPr txBox="1"/>
          <p:nvPr/>
        </p:nvSpPr>
        <p:spPr>
          <a:xfrm>
            <a:off x="9173990" y="75780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{{GROSSPOTRENTRATE}}</a:t>
            </a:r>
          </a:p>
        </p:txBody>
      </p:sp>
      <p:sp>
        <p:nvSpPr>
          <p:cNvPr id="37" name="TextBox 45">
            <a:extLst>
              <a:ext uri="{FF2B5EF4-FFF2-40B4-BE49-F238E27FC236}">
                <a16:creationId xmlns:a16="http://schemas.microsoft.com/office/drawing/2014/main" id="{5FE6E428-1D09-9981-DF53-4997A6D3EEB6}"/>
              </a:ext>
            </a:extLst>
          </p:cNvPr>
          <p:cNvSpPr txBox="1"/>
          <p:nvPr/>
        </p:nvSpPr>
        <p:spPr>
          <a:xfrm>
            <a:off x="9151033" y="8315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GPR Rate/SF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 descr="A room with roller doors">
            <a:extLst>
              <a:ext uri="{FF2B5EF4-FFF2-40B4-BE49-F238E27FC236}">
                <a16:creationId xmlns:a16="http://schemas.microsoft.com/office/drawing/2014/main" id="{C0F4559F-81F4-8658-13B8-9BE082BBC6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0" y="12700"/>
            <a:ext cx="18288200" cy="10256284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-100" y="45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39672" y="51344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3525075" y="2983476"/>
            <a:ext cx="5346799" cy="1645800"/>
            <a:chOff x="0" y="0"/>
            <a:chExt cx="4392800" cy="219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1325" y="8929075"/>
            <a:ext cx="8780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TPP excludes parking spaces and wine storage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-100" y="0"/>
            <a:ext cx="18288000" cy="1688076"/>
            <a:chOff x="0" y="0"/>
            <a:chExt cx="24384000" cy="22507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384000" cy="2250704"/>
            </a:xfrm>
            <a:custGeom>
              <a:avLst/>
              <a:gdLst/>
              <a:ahLst/>
              <a:cxnLst/>
              <a:rect l="l" t="t" r="r" b="b"/>
              <a:pathLst>
                <a:path w="24384000" h="2250704">
                  <a:moveTo>
                    <a:pt x="0" y="0"/>
                  </a:moveTo>
                  <a:lnTo>
                    <a:pt x="24384000" y="0"/>
                  </a:lnTo>
                  <a:lnTo>
                    <a:pt x="24384000" y="2250704"/>
                  </a:lnTo>
                  <a:lnTo>
                    <a:pt x="0" y="2250704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0"/>
              <a:ext cx="24384000" cy="2346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Tenant Protection Capture Rate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525114" y="5633600"/>
            <a:ext cx="5380200" cy="1645800"/>
            <a:chOff x="0" y="0"/>
            <a:chExt cx="7173600" cy="219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73595" cy="2194433"/>
            </a:xfrm>
            <a:custGeom>
              <a:avLst/>
              <a:gdLst/>
              <a:ahLst/>
              <a:cxnLst/>
              <a:rect l="l" t="t" r="r" b="b"/>
              <a:pathLst>
                <a:path w="7173595" h="2194433">
                  <a:moveTo>
                    <a:pt x="0" y="0"/>
                  </a:moveTo>
                  <a:lnTo>
                    <a:pt x="7173595" y="0"/>
                  </a:lnTo>
                  <a:lnTo>
                    <a:pt x="7173595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85725"/>
              <a:ext cx="71736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OVERALL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144000" y="2964426"/>
            <a:ext cx="5093900" cy="1664850"/>
            <a:chOff x="0" y="0"/>
            <a:chExt cx="871941" cy="43847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0134600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{{INSURPER}}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141633" y="3870577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Protected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144000" y="5614550"/>
            <a:ext cx="5029178" cy="1664850"/>
            <a:chOff x="0" y="0"/>
            <a:chExt cx="1324557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324557" cy="438479"/>
            </a:xfrm>
            <a:custGeom>
              <a:avLst/>
              <a:gdLst/>
              <a:ahLst/>
              <a:cxnLst/>
              <a:rect l="l" t="t" r="r" b="b"/>
              <a:pathLst>
                <a:path w="1324557" h="438479">
                  <a:moveTo>
                    <a:pt x="0" y="0"/>
                  </a:moveTo>
                  <a:lnTo>
                    <a:pt x="1324557" y="0"/>
                  </a:lnTo>
                  <a:lnTo>
                    <a:pt x="132455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132455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865163" y="6030719"/>
            <a:ext cx="3586853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{{OVERALLPER}}</a:t>
            </a:r>
          </a:p>
        </p:txBody>
      </p:sp>
      <p:sp>
        <p:nvSpPr>
          <p:cNvPr id="40" name="TextBox 35">
            <a:extLst>
              <a:ext uri="{FF2B5EF4-FFF2-40B4-BE49-F238E27FC236}">
                <a16:creationId xmlns:a16="http://schemas.microsoft.com/office/drawing/2014/main" id="{92A0F015-363D-9D1A-81BE-2E4881924FBD}"/>
              </a:ext>
            </a:extLst>
          </p:cNvPr>
          <p:cNvSpPr txBox="1"/>
          <p:nvPr/>
        </p:nvSpPr>
        <p:spPr>
          <a:xfrm>
            <a:off x="9703247" y="6655104"/>
            <a:ext cx="3910684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Protected Percentage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8725" y="4843175"/>
            <a:ext cx="16518450" cy="4337250"/>
            <a:chOff x="0" y="0"/>
            <a:chExt cx="22024600" cy="5783000"/>
          </a:xfrm>
        </p:grpSpPr>
        <p:sp>
          <p:nvSpPr>
            <p:cNvPr id="3" name="Freeform 3"/>
            <p:cNvSpPr/>
            <p:nvPr/>
          </p:nvSpPr>
          <p:spPr>
            <a:xfrm>
              <a:off x="12700" y="12700"/>
              <a:ext cx="21999194" cy="5757545"/>
            </a:xfrm>
            <a:custGeom>
              <a:avLst/>
              <a:gdLst/>
              <a:ahLst/>
              <a:cxnLst/>
              <a:rect l="l" t="t" r="r" b="b"/>
              <a:pathLst>
                <a:path w="21999194" h="5757545">
                  <a:moveTo>
                    <a:pt x="0" y="0"/>
                  </a:moveTo>
                  <a:lnTo>
                    <a:pt x="21999194" y="0"/>
                  </a:lnTo>
                  <a:lnTo>
                    <a:pt x="21999194" y="5757545"/>
                  </a:lnTo>
                  <a:lnTo>
                    <a:pt x="0" y="5757545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22024594" cy="5782945"/>
            </a:xfrm>
            <a:custGeom>
              <a:avLst/>
              <a:gdLst/>
              <a:ahLst/>
              <a:cxnLst/>
              <a:rect l="l" t="t" r="r" b="b"/>
              <a:pathLst>
                <a:path w="22024594" h="5782945">
                  <a:moveTo>
                    <a:pt x="12700" y="0"/>
                  </a:moveTo>
                  <a:lnTo>
                    <a:pt x="22011894" y="0"/>
                  </a:lnTo>
                  <a:cubicBezTo>
                    <a:pt x="22018879" y="0"/>
                    <a:pt x="22024594" y="5715"/>
                    <a:pt x="22024594" y="12700"/>
                  </a:cubicBezTo>
                  <a:lnTo>
                    <a:pt x="22024594" y="5770245"/>
                  </a:lnTo>
                  <a:cubicBezTo>
                    <a:pt x="22024594" y="5777230"/>
                    <a:pt x="22018879" y="5782945"/>
                    <a:pt x="22011894" y="5782945"/>
                  </a:cubicBezTo>
                  <a:lnTo>
                    <a:pt x="12700" y="5782945"/>
                  </a:lnTo>
                  <a:cubicBezTo>
                    <a:pt x="5715" y="5782945"/>
                    <a:pt x="0" y="5777230"/>
                    <a:pt x="0" y="5770245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5770245"/>
                  </a:lnTo>
                  <a:lnTo>
                    <a:pt x="12700" y="5770245"/>
                  </a:lnTo>
                  <a:lnTo>
                    <a:pt x="12700" y="5757545"/>
                  </a:lnTo>
                  <a:lnTo>
                    <a:pt x="22011894" y="5757545"/>
                  </a:lnTo>
                  <a:lnTo>
                    <a:pt x="22011894" y="5770245"/>
                  </a:lnTo>
                  <a:lnTo>
                    <a:pt x="21999194" y="5770245"/>
                  </a:lnTo>
                  <a:lnTo>
                    <a:pt x="21999194" y="12700"/>
                  </a:lnTo>
                  <a:lnTo>
                    <a:pt x="22011894" y="12700"/>
                  </a:lnTo>
                  <a:lnTo>
                    <a:pt x="22011894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888250" y="1639850"/>
          <a:ext cx="9652000" cy="2143124"/>
        </p:xfrm>
        <a:graphic>
          <a:graphicData uri="http://schemas.openxmlformats.org/drawingml/2006/table">
            <a:tbl>
              <a:tblPr/>
              <a:tblGrid>
                <a:gridCol w="2822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4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Month-to-date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Year-to-date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Budget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{{REPCM}}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{{REPYTDBUD}}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Actual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{{REPPTD}}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Variance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9302595"/>
              </p:ext>
            </p:extLst>
          </p:nvPr>
        </p:nvGraphicFramePr>
        <p:xfrm>
          <a:off x="1143100" y="5143500"/>
          <a:ext cx="6553100" cy="3124200"/>
        </p:xfrm>
        <a:graphic>
          <a:graphicData uri="http://schemas.openxmlformats.org/drawingml/2006/table">
            <a:tbl>
              <a:tblPr/>
              <a:tblGrid>
                <a:gridCol w="655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3342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REPAIR LOG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0858">
                <a:tc>
                  <a:txBody>
                    <a:bodyPr/>
                    <a:lstStyle/>
                    <a:p>
                      <a:pPr algn="l">
                        <a:lnSpc>
                          <a:spcPts val="2779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{{REPAIRDATE}}</a:t>
                      </a:r>
                      <a:endParaRPr lang="en-US" sz="1100" dirty="0"/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DESCRIPTION OF EXPENSES: </a:t>
                      </a: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Avenir"/>
                          <a:ea typeface="Avenir Bold"/>
                          <a:cs typeface="Avenir Bold"/>
                          <a:sym typeface="Avenir"/>
                        </a:rPr>
                        <a:t>{{REPAIRDESCRIP}}</a:t>
                      </a:r>
                      <a:endParaRPr lang="en-US" sz="2000" dirty="0">
                        <a:solidFill>
                          <a:srgbClr val="000000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COST: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{{REPAIRCOST}}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STATUS: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{{REPAIRSTATUS}}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14825" y="27662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47"/>
              </a:lnSpc>
            </a:pPr>
            <a:r>
              <a:rPr lang="en-US" sz="503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Repair and Maintenance Budget Variance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0913625" y="1630625"/>
            <a:ext cx="6483450" cy="2701050"/>
            <a:chOff x="0" y="0"/>
            <a:chExt cx="8644600" cy="36014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8619236" cy="3575939"/>
            </a:xfrm>
            <a:custGeom>
              <a:avLst/>
              <a:gdLst/>
              <a:ahLst/>
              <a:cxnLst/>
              <a:rect l="l" t="t" r="r" b="b"/>
              <a:pathLst>
                <a:path w="8619236" h="3575939">
                  <a:moveTo>
                    <a:pt x="0" y="0"/>
                  </a:moveTo>
                  <a:lnTo>
                    <a:pt x="8619236" y="0"/>
                  </a:lnTo>
                  <a:lnTo>
                    <a:pt x="8619236" y="3575939"/>
                  </a:lnTo>
                  <a:lnTo>
                    <a:pt x="0" y="3575939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8644636" cy="3601339"/>
            </a:xfrm>
            <a:custGeom>
              <a:avLst/>
              <a:gdLst/>
              <a:ahLst/>
              <a:cxnLst/>
              <a:rect l="l" t="t" r="r" b="b"/>
              <a:pathLst>
                <a:path w="8644636" h="3601339">
                  <a:moveTo>
                    <a:pt x="12700" y="0"/>
                  </a:moveTo>
                  <a:lnTo>
                    <a:pt x="8631936" y="0"/>
                  </a:lnTo>
                  <a:cubicBezTo>
                    <a:pt x="8638921" y="0"/>
                    <a:pt x="8644636" y="5715"/>
                    <a:pt x="8644636" y="12700"/>
                  </a:cubicBezTo>
                  <a:lnTo>
                    <a:pt x="8644636" y="3588639"/>
                  </a:lnTo>
                  <a:cubicBezTo>
                    <a:pt x="8644636" y="3595624"/>
                    <a:pt x="8638921" y="3601339"/>
                    <a:pt x="8631936" y="3601339"/>
                  </a:cubicBezTo>
                  <a:lnTo>
                    <a:pt x="12700" y="3601339"/>
                  </a:lnTo>
                  <a:cubicBezTo>
                    <a:pt x="5715" y="3601339"/>
                    <a:pt x="0" y="3595624"/>
                    <a:pt x="0" y="3588639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3588639"/>
                  </a:lnTo>
                  <a:lnTo>
                    <a:pt x="12700" y="3588639"/>
                  </a:lnTo>
                  <a:lnTo>
                    <a:pt x="12700" y="3575939"/>
                  </a:lnTo>
                  <a:lnTo>
                    <a:pt x="8631936" y="3575939"/>
                  </a:lnTo>
                  <a:lnTo>
                    <a:pt x="8631936" y="3588639"/>
                  </a:lnTo>
                  <a:lnTo>
                    <a:pt x="8619236" y="3588639"/>
                  </a:lnTo>
                  <a:lnTo>
                    <a:pt x="8619236" y="12700"/>
                  </a:lnTo>
                  <a:lnTo>
                    <a:pt x="8631936" y="12700"/>
                  </a:lnTo>
                  <a:lnTo>
                    <a:pt x="8631936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20" name="Table 20"/>
          <p:cNvGraphicFramePr>
            <a:graphicFrameLocks noGrp="1"/>
          </p:cNvGraphicFramePr>
          <p:nvPr/>
        </p:nvGraphicFramePr>
        <p:xfrm>
          <a:off x="11098800" y="1708350"/>
          <a:ext cx="5816600" cy="1319668"/>
        </p:xfrm>
        <a:graphic>
          <a:graphicData uri="http://schemas.openxmlformats.org/drawingml/2006/table">
            <a:tbl>
              <a:tblPr/>
              <a:tblGrid>
                <a:gridCol w="581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2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MANAGEMENT NOTES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372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N/A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52600" y="2400301"/>
            <a:ext cx="15554400" cy="4800600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14825" y="29647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47"/>
              </a:lnSpc>
            </a:pPr>
            <a:r>
              <a:rPr lang="en-US" sz="503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Delinquent Rent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34395"/>
              </p:ext>
            </p:extLst>
          </p:nvPr>
        </p:nvGraphicFramePr>
        <p:xfrm>
          <a:off x="2184250" y="3238500"/>
          <a:ext cx="14655800" cy="3022601"/>
        </p:xfrm>
        <a:graphic>
          <a:graphicData uri="http://schemas.openxmlformats.org/drawingml/2006/table">
            <a:tbl>
              <a:tblPr/>
              <a:tblGrid>
                <a:gridCol w="3313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828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828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Percent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Dollars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1-30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31-60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61+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{{DELINDOL61}}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total delinquent rent against total rental income.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0" name="Rectangle 49">
            <a:extLst>
              <a:ext uri="{FF2B5EF4-FFF2-40B4-BE49-F238E27FC236}">
                <a16:creationId xmlns:a16="http://schemas.microsoft.com/office/drawing/2014/main" id="{2DA4F70D-C7E8-9BE0-9418-5A901EF7010D}"/>
              </a:ext>
            </a:extLst>
          </p:cNvPr>
          <p:cNvSpPr/>
          <p:nvPr/>
        </p:nvSpPr>
        <p:spPr>
          <a:xfrm>
            <a:off x="838200" y="2781300"/>
            <a:ext cx="16764000" cy="69341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4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Marketing &amp; Digital Performance |</a:t>
              </a:r>
            </a:p>
          </p:txBody>
        </p:sp>
      </p:grpSp>
      <p:sp>
        <p:nvSpPr>
          <p:cNvPr id="9" name="AutoShape 9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5564811" y="3212999"/>
            <a:ext cx="3310650" cy="1645800"/>
            <a:chOff x="0" y="0"/>
            <a:chExt cx="871941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323347" y="3203474"/>
            <a:ext cx="3310650" cy="1655325"/>
            <a:chOff x="0" y="0"/>
            <a:chExt cx="871941" cy="43597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5970"/>
            </a:xfrm>
            <a:custGeom>
              <a:avLst/>
              <a:gdLst/>
              <a:ahLst/>
              <a:cxnLst/>
              <a:rect l="l" t="t" r="r" b="b"/>
              <a:pathLst>
                <a:path w="871941" h="435970">
                  <a:moveTo>
                    <a:pt x="0" y="0"/>
                  </a:moveTo>
                  <a:lnTo>
                    <a:pt x="871941" y="0"/>
                  </a:lnTo>
                  <a:lnTo>
                    <a:pt x="871941" y="435970"/>
                  </a:lnTo>
                  <a:lnTo>
                    <a:pt x="0" y="4359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3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081884" y="3212999"/>
            <a:ext cx="3310650" cy="1664850"/>
            <a:chOff x="0" y="0"/>
            <a:chExt cx="871941" cy="43847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690520" y="6458484"/>
            <a:ext cx="322793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XXX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895466" y="6399677"/>
            <a:ext cx="6979995" cy="2858623"/>
            <a:chOff x="0" y="0"/>
            <a:chExt cx="1838353" cy="7528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412539" y="6399677"/>
            <a:ext cx="6979995" cy="2858623"/>
            <a:chOff x="0" y="0"/>
            <a:chExt cx="1838353" cy="75288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5585353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Clicks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336317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Conversions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102425" y="4119150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Cost/Conversion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792074" y="6617234"/>
            <a:ext cx="5186779" cy="604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Google Rank Tracker (MoM)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309146" y="6590247"/>
            <a:ext cx="5186779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Keyword Search Grid (MoM)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345717" y="8206814"/>
            <a:ext cx="2410148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Google Position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891164" y="8206814"/>
            <a:ext cx="175574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135098" y="7374963"/>
            <a:ext cx="283138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{{GOOPOS}}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5390052" y="7374963"/>
            <a:ext cx="2709483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{{POSCHG}}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0450931" y="8111564"/>
            <a:ext cx="2108145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Map Rank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868669" y="8206814"/>
            <a:ext cx="173707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59665" y="7374963"/>
            <a:ext cx="269067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{{KEYMAP}}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3405437" y="7374963"/>
            <a:ext cx="2568232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1505003" y="8918014"/>
            <a:ext cx="2909590" cy="269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sz="1400" b="1" i="1">
                <a:solidFill>
                  <a:srgbClr val="FFFFFF"/>
                </a:solidFill>
                <a:latin typeface="Avenir Bold Italics"/>
                <a:ea typeface="Avenir Bold Italics"/>
                <a:cs typeface="Avenir Bold Italics"/>
                <a:sym typeface="Avenir Bold Italics"/>
              </a:rPr>
              <a:t>*Results for “self storage near me”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895466" y="3212999"/>
            <a:ext cx="3310650" cy="1645800"/>
            <a:chOff x="0" y="0"/>
            <a:chExt cx="871941" cy="43346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916008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Impressions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895466" y="3382619"/>
            <a:ext cx="3290108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{{GOOIMPRES}}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5585353" y="3382619"/>
            <a:ext cx="3261745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{{GOOCLICKS}}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9336317" y="3382619"/>
            <a:ext cx="3269567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{{GOOCONV}}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13091197" y="3382619"/>
            <a:ext cx="3280795" cy="13819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{{GOOCOSCON}}</a:t>
            </a:r>
          </a:p>
        </p:txBody>
      </p:sp>
      <p:grpSp>
        <p:nvGrpSpPr>
          <p:cNvPr id="48" name="Group 48"/>
          <p:cNvGrpSpPr>
            <a:grpSpLocks noChangeAspect="1"/>
          </p:cNvGrpSpPr>
          <p:nvPr/>
        </p:nvGrpSpPr>
        <p:grpSpPr>
          <a:xfrm>
            <a:off x="10286915" y="536822"/>
            <a:ext cx="608042" cy="608002"/>
            <a:chOff x="0" y="0"/>
            <a:chExt cx="810723" cy="810669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EDA4BB91-13AC-EBFD-2F72-F37601110142}"/>
              </a:ext>
            </a:extLst>
          </p:cNvPr>
          <p:cNvSpPr/>
          <p:nvPr/>
        </p:nvSpPr>
        <p:spPr>
          <a:xfrm>
            <a:off x="838200" y="2552700"/>
            <a:ext cx="16687800" cy="7010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5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6405406"/>
            <a:ext cx="16230600" cy="2852894"/>
            <a:chOff x="0" y="0"/>
            <a:chExt cx="21640800" cy="380385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640771" cy="3803856"/>
            </a:xfrm>
            <a:custGeom>
              <a:avLst/>
              <a:gdLst/>
              <a:ahLst/>
              <a:cxnLst/>
              <a:rect l="l" t="t" r="r" b="b"/>
              <a:pathLst>
                <a:path w="21640771" h="3803856">
                  <a:moveTo>
                    <a:pt x="0" y="0"/>
                  </a:moveTo>
                  <a:lnTo>
                    <a:pt x="21640771" y="0"/>
                  </a:lnTo>
                  <a:lnTo>
                    <a:pt x="21640771" y="3803856"/>
                  </a:lnTo>
                  <a:lnTo>
                    <a:pt x="0" y="3803856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AutoShape 9"/>
          <p:cNvSpPr/>
          <p:nvPr/>
        </p:nvSpPr>
        <p:spPr>
          <a:xfrm>
            <a:off x="8097885" y="856518"/>
            <a:ext cx="19050" cy="19050"/>
          </a:xfrm>
          <a:prstGeom prst="line">
            <a:avLst/>
          </a:prstGeom>
          <a:ln w="9525" cap="rnd">
            <a:solidFill>
              <a:srgbClr val="59595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9346074" y="3180693"/>
            <a:ext cx="3341918" cy="1645800"/>
            <a:chOff x="0" y="0"/>
            <a:chExt cx="880176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80176" cy="433462"/>
            </a:xfrm>
            <a:custGeom>
              <a:avLst/>
              <a:gdLst/>
              <a:ahLst/>
              <a:cxnLst/>
              <a:rect l="l" t="t" r="r" b="b"/>
              <a:pathLst>
                <a:path w="880176" h="433462">
                  <a:moveTo>
                    <a:pt x="0" y="0"/>
                  </a:moveTo>
                  <a:lnTo>
                    <a:pt x="880176" y="0"/>
                  </a:lnTo>
                  <a:lnTo>
                    <a:pt x="880176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80176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768052" y="3180693"/>
            <a:ext cx="3310650" cy="1645800"/>
            <a:chOff x="0" y="0"/>
            <a:chExt cx="871941" cy="4334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83291" y="3180693"/>
            <a:ext cx="3336657" cy="1645800"/>
            <a:chOff x="0" y="0"/>
            <a:chExt cx="878790" cy="43346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8790" cy="433462"/>
            </a:xfrm>
            <a:custGeom>
              <a:avLst/>
              <a:gdLst/>
              <a:ahLst/>
              <a:cxnLst/>
              <a:rect l="l" t="t" r="r" b="b"/>
              <a:pathLst>
                <a:path w="878790" h="433462">
                  <a:moveTo>
                    <a:pt x="0" y="0"/>
                  </a:moveTo>
                  <a:lnTo>
                    <a:pt x="878790" y="0"/>
                  </a:lnTo>
                  <a:lnTo>
                    <a:pt x="878790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8790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574002" y="3180693"/>
            <a:ext cx="3310650" cy="1636994"/>
            <a:chOff x="0" y="0"/>
            <a:chExt cx="871941" cy="4311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71941" cy="431142"/>
            </a:xfrm>
            <a:custGeom>
              <a:avLst/>
              <a:gdLst/>
              <a:ahLst/>
              <a:cxnLst/>
              <a:rect l="l" t="t" r="r" b="b"/>
              <a:pathLst>
                <a:path w="871941" h="431142">
                  <a:moveTo>
                    <a:pt x="0" y="0"/>
                  </a:moveTo>
                  <a:lnTo>
                    <a:pt x="871941" y="0"/>
                  </a:lnTo>
                  <a:lnTo>
                    <a:pt x="871941" y="431142"/>
                  </a:lnTo>
                  <a:lnTo>
                    <a:pt x="0" y="43114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871941" cy="478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3646729" y="3460501"/>
            <a:ext cx="2280270" cy="463883"/>
          </a:xfrm>
          <a:custGeom>
            <a:avLst/>
            <a:gdLst/>
            <a:ahLst/>
            <a:cxnLst/>
            <a:rect l="l" t="t" r="r" b="b"/>
            <a:pathLst>
              <a:path w="2280270" h="463883">
                <a:moveTo>
                  <a:pt x="0" y="0"/>
                </a:moveTo>
                <a:lnTo>
                  <a:pt x="2280270" y="0"/>
                </a:lnTo>
                <a:lnTo>
                  <a:pt x="2280270" y="463883"/>
                </a:lnTo>
                <a:lnTo>
                  <a:pt x="0" y="46388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r="-567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6588539" y="6603983"/>
            <a:ext cx="5301422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 NOVEMBER’S TOP REVIEWS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382249" y="4077193"/>
            <a:ext cx="3269567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MoM Change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145191" y="397313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4.9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946504" y="4077193"/>
            <a:ext cx="2565645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Reviews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68052" y="4077193"/>
            <a:ext cx="3310650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GBP Reviews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509601" y="7536257"/>
            <a:ext cx="4734223" cy="1044575"/>
            <a:chOff x="0" y="0"/>
            <a:chExt cx="6312297" cy="1392767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85725"/>
              <a:ext cx="6312297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Hannah Pedersen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Great service, easy, safe, great location”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0" y="4875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77248" y="7536257"/>
            <a:ext cx="4534275" cy="1044575"/>
            <a:chOff x="0" y="0"/>
            <a:chExt cx="6045700" cy="1392767"/>
          </a:xfrm>
        </p:grpSpPr>
        <p:sp>
          <p:nvSpPr>
            <p:cNvPr id="32" name="TextBox 32"/>
            <p:cNvSpPr txBox="1"/>
            <p:nvPr/>
          </p:nvSpPr>
          <p:spPr>
            <a:xfrm>
              <a:off x="9232" y="-85725"/>
              <a:ext cx="6036469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Livier Delgadillo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Great customer service from Andrew!”</a:t>
              </a:r>
            </a:p>
          </p:txBody>
        </p:sp>
        <p:sp>
          <p:nvSpPr>
            <p:cNvPr id="33" name="Freeform 33"/>
            <p:cNvSpPr/>
            <p:nvPr/>
          </p:nvSpPr>
          <p:spPr>
            <a:xfrm>
              <a:off x="0" y="5129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244949" y="7183832"/>
            <a:ext cx="4734223" cy="1749425"/>
            <a:chOff x="0" y="0"/>
            <a:chExt cx="6312297" cy="2332567"/>
          </a:xfrm>
        </p:grpSpPr>
        <p:sp>
          <p:nvSpPr>
            <p:cNvPr id="35" name="TextBox 35"/>
            <p:cNvSpPr txBox="1"/>
            <p:nvPr/>
          </p:nvSpPr>
          <p:spPr>
            <a:xfrm>
              <a:off x="0" y="-85725"/>
              <a:ext cx="6312297" cy="24182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Koko Tzavaras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l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Outstanding, helpful staff, beautiful facility, and excellent location! This is my second time being a client! Thank you!”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0" y="469900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4"/>
                  </a:lnTo>
                  <a:lnTo>
                    <a:pt x="0" y="316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2972279" y="3238417"/>
            <a:ext cx="902196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161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078936" y="3198436"/>
            <a:ext cx="300782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1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0697498" y="3207243"/>
            <a:ext cx="639068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+1</a:t>
            </a:r>
          </a:p>
        </p:txBody>
      </p:sp>
      <p:sp>
        <p:nvSpPr>
          <p:cNvPr id="40" name="AutoShape 40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1" name="Group 41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400950" y="355048"/>
            <a:ext cx="16858350" cy="86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50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Customer Experience | </a:t>
            </a:r>
          </a:p>
        </p:txBody>
      </p:sp>
      <p:grpSp>
        <p:nvGrpSpPr>
          <p:cNvPr id="45" name="Group 45"/>
          <p:cNvGrpSpPr>
            <a:grpSpLocks noChangeAspect="1"/>
          </p:cNvGrpSpPr>
          <p:nvPr/>
        </p:nvGrpSpPr>
        <p:grpSpPr>
          <a:xfrm>
            <a:off x="7075697" y="536822"/>
            <a:ext cx="608042" cy="608002"/>
            <a:chOff x="0" y="0"/>
            <a:chExt cx="810723" cy="810669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3183291" y="434778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Google Rating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671800" y="0"/>
            <a:ext cx="6616200" cy="10287000"/>
            <a:chOff x="0" y="0"/>
            <a:chExt cx="88216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21547" cy="13716000"/>
            </a:xfrm>
            <a:custGeom>
              <a:avLst/>
              <a:gdLst/>
              <a:ahLst/>
              <a:cxnLst/>
              <a:rect l="l" t="t" r="r" b="b"/>
              <a:pathLst>
                <a:path w="8821547" h="13716000">
                  <a:moveTo>
                    <a:pt x="0" y="0"/>
                  </a:moveTo>
                  <a:lnTo>
                    <a:pt x="8821547" y="0"/>
                  </a:lnTo>
                  <a:lnTo>
                    <a:pt x="88215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2650975" y="6892850"/>
            <a:ext cx="4957950" cy="2213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2111 E. Highland Avenue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Suite 360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Phoenix, AZ 85016</a:t>
            </a: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www.STOREstorage.com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059525" y="449750"/>
            <a:ext cx="5739750" cy="107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6" name="AutoShape 6"/>
          <p:cNvSpPr/>
          <p:nvPr/>
        </p:nvSpPr>
        <p:spPr>
          <a:xfrm rot="46920">
            <a:off x="12405383" y="1407825"/>
            <a:ext cx="5198434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11357725" y="-9375"/>
            <a:ext cx="463050" cy="10306050"/>
            <a:chOff x="0" y="0"/>
            <a:chExt cx="617400" cy="13741400"/>
          </a:xfrm>
        </p:grpSpPr>
        <p:sp>
          <p:nvSpPr>
            <p:cNvPr id="8" name="Freeform 8"/>
            <p:cNvSpPr/>
            <p:nvPr/>
          </p:nvSpPr>
          <p:spPr>
            <a:xfrm>
              <a:off x="12700" y="12700"/>
              <a:ext cx="591947" cy="13716000"/>
            </a:xfrm>
            <a:custGeom>
              <a:avLst/>
              <a:gdLst/>
              <a:ahLst/>
              <a:cxnLst/>
              <a:rect l="l" t="t" r="r" b="b"/>
              <a:pathLst>
                <a:path w="591947" h="13716000">
                  <a:moveTo>
                    <a:pt x="0" y="0"/>
                  </a:moveTo>
                  <a:lnTo>
                    <a:pt x="591947" y="0"/>
                  </a:lnTo>
                  <a:lnTo>
                    <a:pt x="5919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0"/>
              <a:ext cx="617347" cy="13741400"/>
            </a:xfrm>
            <a:custGeom>
              <a:avLst/>
              <a:gdLst/>
              <a:ahLst/>
              <a:cxnLst/>
              <a:rect l="l" t="t" r="r" b="b"/>
              <a:pathLst>
                <a:path w="617347" h="13741400">
                  <a:moveTo>
                    <a:pt x="12700" y="0"/>
                  </a:moveTo>
                  <a:lnTo>
                    <a:pt x="604647" y="0"/>
                  </a:lnTo>
                  <a:cubicBezTo>
                    <a:pt x="611632" y="0"/>
                    <a:pt x="617347" y="5715"/>
                    <a:pt x="617347" y="12700"/>
                  </a:cubicBezTo>
                  <a:lnTo>
                    <a:pt x="617347" y="13728700"/>
                  </a:lnTo>
                  <a:cubicBezTo>
                    <a:pt x="617347" y="13735686"/>
                    <a:pt x="611632" y="13741400"/>
                    <a:pt x="604647" y="13741400"/>
                  </a:cubicBezTo>
                  <a:lnTo>
                    <a:pt x="12700" y="13741400"/>
                  </a:lnTo>
                  <a:cubicBezTo>
                    <a:pt x="5715" y="13741400"/>
                    <a:pt x="0" y="13735686"/>
                    <a:pt x="0" y="13728700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13728700"/>
                  </a:lnTo>
                  <a:lnTo>
                    <a:pt x="12700" y="13728700"/>
                  </a:lnTo>
                  <a:lnTo>
                    <a:pt x="12700" y="13716000"/>
                  </a:lnTo>
                  <a:lnTo>
                    <a:pt x="604647" y="13716000"/>
                  </a:lnTo>
                  <a:lnTo>
                    <a:pt x="604647" y="13728700"/>
                  </a:lnTo>
                  <a:lnTo>
                    <a:pt x="591947" y="13728700"/>
                  </a:lnTo>
                  <a:lnTo>
                    <a:pt x="591947" y="12700"/>
                  </a:lnTo>
                  <a:lnTo>
                    <a:pt x="604647" y="12700"/>
                  </a:lnTo>
                  <a:lnTo>
                    <a:pt x="60464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059525" y="1516550"/>
            <a:ext cx="5739750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12968450" y="5168500"/>
            <a:ext cx="3888596" cy="1320250"/>
            <a:chOff x="0" y="0"/>
            <a:chExt cx="5184795" cy="17603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84775" cy="1760347"/>
            </a:xfrm>
            <a:custGeom>
              <a:avLst/>
              <a:gdLst/>
              <a:ahLst/>
              <a:cxnLst/>
              <a:rect l="l" t="t" r="r" b="b"/>
              <a:pathLst>
                <a:path w="5184775" h="1760347">
                  <a:moveTo>
                    <a:pt x="0" y="0"/>
                  </a:moveTo>
                  <a:lnTo>
                    <a:pt x="5184775" y="0"/>
                  </a:lnTo>
                  <a:lnTo>
                    <a:pt x="5184775" y="1760347"/>
                  </a:lnTo>
                  <a:lnTo>
                    <a:pt x="0" y="1760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" b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0" y="150"/>
            <a:ext cx="11367250" cy="10287000"/>
            <a:chOff x="0" y="0"/>
            <a:chExt cx="15156333" cy="13716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156307" cy="13716000"/>
            </a:xfrm>
            <a:custGeom>
              <a:avLst/>
              <a:gdLst/>
              <a:ahLst/>
              <a:cxnLst/>
              <a:rect l="l" t="t" r="r" b="b"/>
              <a:pathLst>
                <a:path w="15156307" h="13716000">
                  <a:moveTo>
                    <a:pt x="0" y="0"/>
                  </a:moveTo>
                  <a:lnTo>
                    <a:pt x="15156307" y="0"/>
                  </a:lnTo>
                  <a:lnTo>
                    <a:pt x="15156307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331" r="-1033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</TotalTime>
  <Words>1938</Words>
  <Application>Microsoft Office PowerPoint</Application>
  <PresentationFormat>Custom</PresentationFormat>
  <Paragraphs>657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Arial Italics</vt:lpstr>
      <vt:lpstr>Avenir Italics</vt:lpstr>
      <vt:lpstr>Arial</vt:lpstr>
      <vt:lpstr>Avenir Medium</vt:lpstr>
      <vt:lpstr>Avenir Bold Italics</vt:lpstr>
      <vt:lpstr>Arial Bold</vt:lpstr>
      <vt:lpstr>Avenir Bold</vt:lpstr>
      <vt:lpstr>Avenir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Owner's Report Template</dc:title>
  <dc:creator>Ashley Reyes</dc:creator>
  <cp:lastModifiedBy>Ashley Reyes</cp:lastModifiedBy>
  <cp:revision>73</cp:revision>
  <dcterms:created xsi:type="dcterms:W3CDTF">2006-08-16T00:00:00Z</dcterms:created>
  <dcterms:modified xsi:type="dcterms:W3CDTF">2026-01-02T22:31:37Z</dcterms:modified>
  <dc:identifier>DAG3YRaK70Q</dc:identifier>
</cp:coreProperties>
</file>