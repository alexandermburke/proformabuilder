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ial Bold" panose="020B0704020202020204" pitchFamily="34" charset="0"/>
      <p:regular r:id="rId20"/>
      <p:bold r:id="rId21"/>
    </p:embeddedFont>
    <p:embeddedFont>
      <p:font typeface="Arial Italics" panose="020B0604020202020204" charset="0"/>
      <p:regular r:id="rId22"/>
    </p:embeddedFont>
    <p:embeddedFont>
      <p:font typeface="Arimo" panose="020B0604020202020204" charset="0"/>
      <p:regular r:id="rId23"/>
    </p:embeddedFont>
    <p:embeddedFont>
      <p:font typeface="Avenir" panose="020B0604020202020204" charset="0"/>
      <p:regular r:id="rId24"/>
    </p:embeddedFont>
    <p:embeddedFont>
      <p:font typeface="Avenir Bold" panose="020B0604020202020204" charset="0"/>
      <p:regular r:id="rId25"/>
    </p:embeddedFont>
    <p:embeddedFont>
      <p:font typeface="Avenir Bold Italics" panose="020B0604020202020204" charset="0"/>
      <p:regular r:id="rId26"/>
    </p:embeddedFont>
    <p:embeddedFont>
      <p:font typeface="Avenir Italics" panose="020B0604020202020204" charset="0"/>
      <p:regular r:id="rId27"/>
    </p:embeddedFont>
    <p:embeddedFont>
      <p:font typeface="Avenir Medium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 varScale="1">
        <p:scale>
          <a:sx n="66" d="100"/>
          <a:sy n="66" d="100"/>
        </p:scale>
        <p:origin x="58" y="19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" y="0"/>
            <a:ext cx="18314400" cy="9463800"/>
            <a:chOff x="0" y="0"/>
            <a:chExt cx="24419200" cy="1261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9179" cy="12618339"/>
            </a:xfrm>
            <a:custGeom>
              <a:avLst/>
              <a:gdLst/>
              <a:ahLst/>
              <a:cxnLst/>
              <a:rect l="l" t="t" r="r" b="b"/>
              <a:pathLst>
                <a:path w="24419179" h="12618339">
                  <a:moveTo>
                    <a:pt x="0" y="0"/>
                  </a:moveTo>
                  <a:lnTo>
                    <a:pt x="24419179" y="0"/>
                  </a:lnTo>
                  <a:lnTo>
                    <a:pt x="24419179" y="12618339"/>
                  </a:lnTo>
                  <a:lnTo>
                    <a:pt x="0" y="12618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2339" b="-449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9550" y="0"/>
            <a:ext cx="18314400" cy="10287000"/>
            <a:chOff x="0" y="0"/>
            <a:chExt cx="244192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19179" cy="13716000"/>
            </a:xfrm>
            <a:custGeom>
              <a:avLst/>
              <a:gdLst/>
              <a:ahLst/>
              <a:cxnLst/>
              <a:rect l="l" t="t" r="r" b="b"/>
              <a:pathLst>
                <a:path w="24419179" h="13716000">
                  <a:moveTo>
                    <a:pt x="0" y="0"/>
                  </a:moveTo>
                  <a:lnTo>
                    <a:pt x="24419179" y="0"/>
                  </a:lnTo>
                  <a:lnTo>
                    <a:pt x="24419179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3173076" y="4460988"/>
          <a:ext cx="6553200" cy="1524000"/>
        </p:xfrm>
        <a:graphic>
          <a:graphicData uri="http://schemas.openxmlformats.org/drawingml/2006/table">
            <a:tbl>
              <a:tblPr/>
              <a:tblGrid>
                <a:gridCol w="655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ADDRESS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{{ADDRESS}}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1001226" y="4454412"/>
          <a:ext cx="4089400" cy="1524000"/>
        </p:xfrm>
        <a:graphic>
          <a:graphicData uri="http://schemas.openxmlformats.org/drawingml/2006/table">
            <a:tbl>
              <a:tblPr/>
              <a:tblGrid>
                <a:gridCol w="408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OWNERS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{{OWNERGROUP}}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4745342" y="6596238"/>
          <a:ext cx="2844800" cy="2224634"/>
        </p:xfrm>
        <a:graphic>
          <a:graphicData uri="http://schemas.openxmlformats.org/drawingml/2006/table">
            <a:tbl>
              <a:tblPr/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3247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MANAGEMENT </a:t>
                      </a:r>
                      <a:endParaRPr lang="en-US" sz="1100"/>
                    </a:p>
                    <a:p>
                      <a:pPr algn="l">
                        <a:lnSpc>
                          <a:spcPts val="3311"/>
                        </a:lnSpc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ACQUIRED DATE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387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{{ACQUIREDDATE}}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8360100" y="6520468"/>
          <a:ext cx="1701800" cy="2288731"/>
        </p:xfrm>
        <a:graphic>
          <a:graphicData uri="http://schemas.openxmlformats.org/drawingml/2006/table">
            <a:tbl>
              <a:tblPr/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7473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TOTAL </a:t>
                      </a:r>
                      <a:endParaRPr lang="en-US" sz="1100"/>
                    </a:p>
                    <a:p>
                      <a:pPr algn="l">
                        <a:lnSpc>
                          <a:spcPts val="3311"/>
                        </a:lnSpc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UNITS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258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{{TOTALUNITS}}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0978358" y="6521326"/>
          <a:ext cx="2540000" cy="2288779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7521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RENTABLE </a:t>
                      </a:r>
                      <a:endParaRPr lang="en-US" sz="1100"/>
                    </a:p>
                    <a:p>
                      <a:pPr algn="l">
                        <a:lnSpc>
                          <a:spcPts val="3311"/>
                        </a:lnSpc>
                      </a:pPr>
                      <a:r>
                        <a:rPr lang="en-US" sz="24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SQUARE FEET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258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{{RENTABLESQFT}}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0" y="2366950"/>
            <a:ext cx="18288000" cy="1882800"/>
            <a:chOff x="0" y="0"/>
            <a:chExt cx="24384000" cy="2510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384000" cy="2510409"/>
            </a:xfrm>
            <a:custGeom>
              <a:avLst/>
              <a:gdLst/>
              <a:ahLst/>
              <a:cxnLst/>
              <a:rect l="l" t="t" r="r" b="b"/>
              <a:pathLst>
                <a:path w="24384000" h="2510409">
                  <a:moveTo>
                    <a:pt x="0" y="0"/>
                  </a:moveTo>
                  <a:lnTo>
                    <a:pt x="24384000" y="0"/>
                  </a:lnTo>
                  <a:lnTo>
                    <a:pt x="24384000" y="2510409"/>
                  </a:lnTo>
                  <a:lnTo>
                    <a:pt x="0" y="251040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8763100"/>
            <a:ext cx="18288000" cy="1524000"/>
            <a:chOff x="0" y="0"/>
            <a:chExt cx="24384000" cy="2032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2032000"/>
            </a:xfrm>
            <a:custGeom>
              <a:avLst/>
              <a:gdLst/>
              <a:ahLst/>
              <a:cxnLst/>
              <a:rect l="l" t="t" r="r" b="b"/>
              <a:pathLst>
                <a:path w="24384000" h="2032000">
                  <a:moveTo>
                    <a:pt x="0" y="0"/>
                  </a:moveTo>
                  <a:lnTo>
                    <a:pt x="24384000" y="0"/>
                  </a:lnTo>
                  <a:lnTo>
                    <a:pt x="24384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6876100" y="2641000"/>
            <a:ext cx="3983898" cy="1435000"/>
            <a:chOff x="0" y="0"/>
            <a:chExt cx="5311864" cy="19133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311902" cy="1913382"/>
            </a:xfrm>
            <a:custGeom>
              <a:avLst/>
              <a:gdLst/>
              <a:ahLst/>
              <a:cxnLst/>
              <a:rect l="l" t="t" r="r" b="b"/>
              <a:pathLst>
                <a:path w="5311902" h="1913382">
                  <a:moveTo>
                    <a:pt x="0" y="0"/>
                  </a:moveTo>
                  <a:lnTo>
                    <a:pt x="5311902" y="0"/>
                  </a:lnTo>
                  <a:lnTo>
                    <a:pt x="5311902" y="1913382"/>
                  </a:lnTo>
                  <a:lnTo>
                    <a:pt x="0" y="1913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1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9525" y="276225"/>
            <a:ext cx="7195650" cy="1747650"/>
            <a:chOff x="0" y="0"/>
            <a:chExt cx="9594200" cy="2330200"/>
          </a:xfrm>
        </p:grpSpPr>
        <p:sp>
          <p:nvSpPr>
            <p:cNvPr id="18" name="Freeform 18"/>
            <p:cNvSpPr/>
            <p:nvPr/>
          </p:nvSpPr>
          <p:spPr>
            <a:xfrm>
              <a:off x="12700" y="12700"/>
              <a:ext cx="9568815" cy="2304796"/>
            </a:xfrm>
            <a:custGeom>
              <a:avLst/>
              <a:gdLst/>
              <a:ahLst/>
              <a:cxnLst/>
              <a:rect l="l" t="t" r="r" b="b"/>
              <a:pathLst>
                <a:path w="9568815" h="2304796">
                  <a:moveTo>
                    <a:pt x="0" y="0"/>
                  </a:moveTo>
                  <a:lnTo>
                    <a:pt x="9568815" y="0"/>
                  </a:lnTo>
                  <a:lnTo>
                    <a:pt x="9568815" y="2304796"/>
                  </a:lnTo>
                  <a:lnTo>
                    <a:pt x="0" y="2304796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9594215" cy="2330196"/>
            </a:xfrm>
            <a:custGeom>
              <a:avLst/>
              <a:gdLst/>
              <a:ahLst/>
              <a:cxnLst/>
              <a:rect l="l" t="t" r="r" b="b"/>
              <a:pathLst>
                <a:path w="9594215" h="2330196">
                  <a:moveTo>
                    <a:pt x="12700" y="0"/>
                  </a:moveTo>
                  <a:lnTo>
                    <a:pt x="9581515" y="0"/>
                  </a:lnTo>
                  <a:cubicBezTo>
                    <a:pt x="9588500" y="0"/>
                    <a:pt x="9594215" y="5715"/>
                    <a:pt x="9594215" y="12700"/>
                  </a:cubicBezTo>
                  <a:lnTo>
                    <a:pt x="9594215" y="2317496"/>
                  </a:lnTo>
                  <a:cubicBezTo>
                    <a:pt x="9594215" y="2324481"/>
                    <a:pt x="9588500" y="2330196"/>
                    <a:pt x="9581515" y="2330196"/>
                  </a:cubicBezTo>
                  <a:lnTo>
                    <a:pt x="12700" y="2330196"/>
                  </a:lnTo>
                  <a:cubicBezTo>
                    <a:pt x="5715" y="2330196"/>
                    <a:pt x="0" y="2324481"/>
                    <a:pt x="0" y="231749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17496"/>
                  </a:lnTo>
                  <a:lnTo>
                    <a:pt x="12700" y="2317496"/>
                  </a:lnTo>
                  <a:lnTo>
                    <a:pt x="12700" y="2304796"/>
                  </a:lnTo>
                  <a:lnTo>
                    <a:pt x="9581515" y="2304796"/>
                  </a:lnTo>
                  <a:lnTo>
                    <a:pt x="9581515" y="2317496"/>
                  </a:lnTo>
                  <a:lnTo>
                    <a:pt x="9568815" y="2317496"/>
                  </a:lnTo>
                  <a:lnTo>
                    <a:pt x="9568815" y="12700"/>
                  </a:lnTo>
                  <a:lnTo>
                    <a:pt x="9581515" y="12700"/>
                  </a:lnTo>
                  <a:lnTo>
                    <a:pt x="958151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-60975" y="342200"/>
            <a:ext cx="6993750" cy="80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OWNER SUMMARY REPORT</a:t>
            </a:r>
          </a:p>
        </p:txBody>
      </p:sp>
      <p:sp>
        <p:nvSpPr>
          <p:cNvPr id="21" name="AutoShape 21"/>
          <p:cNvSpPr/>
          <p:nvPr/>
        </p:nvSpPr>
        <p:spPr>
          <a:xfrm rot="10772046">
            <a:off x="471994" y="1127275"/>
            <a:ext cx="6382711" cy="0"/>
          </a:xfrm>
          <a:prstGeom prst="line">
            <a:avLst/>
          </a:prstGeom>
          <a:ln w="19050" cap="rnd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-19550" y="1154227"/>
            <a:ext cx="6993750" cy="603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{{CURRENTDATE}}</a:t>
            </a:r>
          </a:p>
        </p:txBody>
      </p: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5114100" y="9009900"/>
            <a:ext cx="2809752" cy="954002"/>
            <a:chOff x="0" y="0"/>
            <a:chExt cx="3746336" cy="127200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746373" cy="1272032"/>
            </a:xfrm>
            <a:custGeom>
              <a:avLst/>
              <a:gdLst/>
              <a:ahLst/>
              <a:cxnLst/>
              <a:rect l="l" t="t" r="r" b="b"/>
              <a:pathLst>
                <a:path w="3746373" h="1272032">
                  <a:moveTo>
                    <a:pt x="0" y="0"/>
                  </a:moveTo>
                  <a:lnTo>
                    <a:pt x="3746373" y="0"/>
                  </a:lnTo>
                  <a:lnTo>
                    <a:pt x="3746373" y="1272032"/>
                  </a:lnTo>
                  <a:lnTo>
                    <a:pt x="0" y="12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10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85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58140" y="2280200"/>
            <a:ext cx="2624400" cy="787200"/>
            <a:chOff x="0" y="0"/>
            <a:chExt cx="3499200" cy="104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99231" cy="1049655"/>
            </a:xfrm>
            <a:custGeom>
              <a:avLst/>
              <a:gdLst/>
              <a:ahLst/>
              <a:cxnLst/>
              <a:rect l="l" t="t" r="r" b="b"/>
              <a:pathLst>
                <a:path w="3499231" h="1049655">
                  <a:moveTo>
                    <a:pt x="0" y="0"/>
                  </a:moveTo>
                  <a:lnTo>
                    <a:pt x="3499231" y="0"/>
                  </a:lnTo>
                  <a:lnTo>
                    <a:pt x="3499231" y="1049655"/>
                  </a:lnTo>
                  <a:lnTo>
                    <a:pt x="0" y="1049655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3499200" cy="110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FINANCIAL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00" y="0"/>
            <a:ext cx="18288000" cy="1615200"/>
            <a:chOff x="0" y="0"/>
            <a:chExt cx="24384000" cy="2153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4000" cy="2153539"/>
            </a:xfrm>
            <a:custGeom>
              <a:avLst/>
              <a:gdLst/>
              <a:ahLst/>
              <a:cxnLst/>
              <a:rect l="l" t="t" r="r" b="b"/>
              <a:pathLst>
                <a:path w="24384000" h="2153539">
                  <a:moveTo>
                    <a:pt x="0" y="0"/>
                  </a:moveTo>
                  <a:lnTo>
                    <a:pt x="24384000" y="0"/>
                  </a:lnTo>
                  <a:lnTo>
                    <a:pt x="24384000" y="2153539"/>
                  </a:lnTo>
                  <a:lnTo>
                    <a:pt x="0" y="2153539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24384000" cy="2248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 dirty="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{{CURRENTMONTH}} Performance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047871" y="3436299"/>
            <a:ext cx="3334289" cy="1664850"/>
            <a:chOff x="0" y="0"/>
            <a:chExt cx="878167" cy="43847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78167" cy="438479"/>
            </a:xfrm>
            <a:custGeom>
              <a:avLst/>
              <a:gdLst/>
              <a:ahLst/>
              <a:cxnLst/>
              <a:rect l="l" t="t" r="r" b="b"/>
              <a:pathLst>
                <a:path w="878167" h="438479">
                  <a:moveTo>
                    <a:pt x="0" y="0"/>
                  </a:moveTo>
                  <a:lnTo>
                    <a:pt x="878167" y="0"/>
                  </a:lnTo>
                  <a:lnTo>
                    <a:pt x="878167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78167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047871" y="4488445"/>
            <a:ext cx="333428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Rental Income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43793" y="3798525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{{TOTALRENTALINCOME}}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677425" y="3431512"/>
            <a:ext cx="3310650" cy="1664850"/>
            <a:chOff x="0" y="0"/>
            <a:chExt cx="871941" cy="4384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206163" y="3431488"/>
            <a:ext cx="3448050" cy="1664850"/>
            <a:chOff x="0" y="0"/>
            <a:chExt cx="908128" cy="43847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08128" cy="438479"/>
            </a:xfrm>
            <a:custGeom>
              <a:avLst/>
              <a:gdLst/>
              <a:ahLst/>
              <a:cxnLst/>
              <a:rect l="l" t="t" r="r" b="b"/>
              <a:pathLst>
                <a:path w="908128" h="438479">
                  <a:moveTo>
                    <a:pt x="0" y="0"/>
                  </a:moveTo>
                  <a:lnTo>
                    <a:pt x="908128" y="0"/>
                  </a:lnTo>
                  <a:lnTo>
                    <a:pt x="908128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908128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742147" y="3798525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{{TOTALINCOME}}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77425" y="4488445"/>
            <a:ext cx="3269567" cy="469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Income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50025" y="3798525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{{TOTALEXPENSES}}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83350" y="4488445"/>
            <a:ext cx="3269567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Expenses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2873288" y="3431488"/>
            <a:ext cx="3448050" cy="1664850"/>
            <a:chOff x="0" y="0"/>
            <a:chExt cx="908128" cy="43847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08128" cy="438479"/>
            </a:xfrm>
            <a:custGeom>
              <a:avLst/>
              <a:gdLst/>
              <a:ahLst/>
              <a:cxnLst/>
              <a:rect l="l" t="t" r="r" b="b"/>
              <a:pathLst>
                <a:path w="908128" h="438479">
                  <a:moveTo>
                    <a:pt x="0" y="0"/>
                  </a:moveTo>
                  <a:lnTo>
                    <a:pt x="908128" y="0"/>
                  </a:lnTo>
                  <a:lnTo>
                    <a:pt x="908128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908128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006638" y="3798525"/>
            <a:ext cx="3181207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{{NETINCOME}}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962530" y="4488445"/>
            <a:ext cx="3269567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Net Income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2158140" y="5767899"/>
            <a:ext cx="2624400" cy="787200"/>
            <a:chOff x="0" y="0"/>
            <a:chExt cx="3499200" cy="10496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499231" cy="1049655"/>
            </a:xfrm>
            <a:custGeom>
              <a:avLst/>
              <a:gdLst/>
              <a:ahLst/>
              <a:cxnLst/>
              <a:rect l="l" t="t" r="r" b="b"/>
              <a:pathLst>
                <a:path w="3499231" h="1049655">
                  <a:moveTo>
                    <a:pt x="0" y="0"/>
                  </a:moveTo>
                  <a:lnTo>
                    <a:pt x="3499231" y="0"/>
                  </a:lnTo>
                  <a:lnTo>
                    <a:pt x="3499231" y="1049655"/>
                  </a:lnTo>
                  <a:lnTo>
                    <a:pt x="0" y="1049655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57150"/>
              <a:ext cx="3499200" cy="110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OCCUPANCY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047871" y="6912625"/>
            <a:ext cx="3334289" cy="1664850"/>
            <a:chOff x="0" y="0"/>
            <a:chExt cx="878167" cy="43847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78167" cy="438479"/>
            </a:xfrm>
            <a:custGeom>
              <a:avLst/>
              <a:gdLst/>
              <a:ahLst/>
              <a:cxnLst/>
              <a:rect l="l" t="t" r="r" b="b"/>
              <a:pathLst>
                <a:path w="878167" h="438479">
                  <a:moveTo>
                    <a:pt x="0" y="0"/>
                  </a:moveTo>
                  <a:lnTo>
                    <a:pt x="878167" y="0"/>
                  </a:lnTo>
                  <a:lnTo>
                    <a:pt x="878167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878167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2124412" y="7240899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{{OCCUPIEDAREASQFT}}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047871" y="7974324"/>
            <a:ext cx="333428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Occupied Area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677425" y="6915638"/>
            <a:ext cx="3310650" cy="1664850"/>
            <a:chOff x="0" y="0"/>
            <a:chExt cx="871941" cy="43847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5742147" y="7240899"/>
            <a:ext cx="318120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{{OCCUPANCYBYUNITS}}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665606" y="7972912"/>
            <a:ext cx="333428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Occupancy by units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9206163" y="6915638"/>
            <a:ext cx="3448050" cy="1664850"/>
            <a:chOff x="0" y="0"/>
            <a:chExt cx="908128" cy="43847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08128" cy="438479"/>
            </a:xfrm>
            <a:custGeom>
              <a:avLst/>
              <a:gdLst/>
              <a:ahLst/>
              <a:cxnLst/>
              <a:rect l="l" t="t" r="r" b="b"/>
              <a:pathLst>
                <a:path w="908128" h="438479">
                  <a:moveTo>
                    <a:pt x="0" y="0"/>
                  </a:moveTo>
                  <a:lnTo>
                    <a:pt x="908128" y="0"/>
                  </a:lnTo>
                  <a:lnTo>
                    <a:pt x="908128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908128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9327530" y="7240899"/>
            <a:ext cx="3181207" cy="111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{{OCCUPIEDAREAPERCENT}}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263044" y="7972887"/>
            <a:ext cx="333428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Occupancy by 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195162"/>
              </p:ext>
            </p:extLst>
          </p:nvPr>
        </p:nvGraphicFramePr>
        <p:xfrm>
          <a:off x="1447800" y="1943100"/>
          <a:ext cx="14939619" cy="4713987"/>
        </p:xfrm>
        <a:graphic>
          <a:graphicData uri="http://schemas.openxmlformats.org/drawingml/2006/table">
            <a:tbl>
              <a:tblPr/>
              <a:tblGrid>
                <a:gridCol w="2138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1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18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5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09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18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807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741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23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2214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{{CURRENTMONTH}}</a:t>
                      </a:r>
                      <a:endParaRPr lang="en-US" sz="14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PTD Budget</a:t>
                      </a:r>
                      <a:endParaRPr lang="en-US" sz="14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Variance</a:t>
                      </a:r>
                      <a:endParaRPr lang="en-US" sz="14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% Var</a:t>
                      </a:r>
                      <a:endParaRPr lang="en-US" sz="14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YTD Actual</a:t>
                      </a:r>
                      <a:endParaRPr lang="en-US" sz="14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YTD Budget</a:t>
                      </a:r>
                      <a:endParaRPr lang="en-US" sz="14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Variance</a:t>
                      </a:r>
                      <a:endParaRPr lang="en-US" sz="14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% Var</a:t>
                      </a:r>
                      <a:endParaRPr lang="en-US" sz="14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Rental Income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{{RENTINCCM}}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{{RENTINCPTD}}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{{RENTINCVAR}}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{{RENTINCVARPER}}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{{RENTINCYTD}}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{{RENTINCYTDBUD}}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{{RENTINCYTDVAR}}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{{RENTINCYTDVARPER}}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Discounts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{{DISCCM}}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{{DISCPTD}}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{{DISCVAR}}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{{DISCVARPER}}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{{DISCYTD}}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{{DISCYTDBUD}}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{{DISCYTDVAR}}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{{DISCYTDVARPER}}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TOTAL RENTAL INCOME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{{TOTRENINCYTDVARPER}}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Tenant Income - Admin Fees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{{ADMFEECM}}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{{ADMFEEPTD}}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{{ADMFEEVAR}}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{{ADMVARPER}}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{{ADMFEEYTD}}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{{ADMFEEYTDBUD}}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{{ADMFEEYTDVAR}}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{{ADMFEEYTDVARPER}}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Tenant Income - Late Fees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{{LATFEECM}}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{{LATFEEPTD}}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{{LATFEEVAR}}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{{LATFEEVARPER}}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{{LATFEEYTD}}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{{LATFEEYTDBUD}}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{{LATFEEYTDVAR}}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{{LATFEEYTDVARPER}}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Tenant Income - Insurance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Tenant Income - Other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{{OTHERCM}}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{{OTHERPTD}}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{{OTHERVAR}}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{{OTHERVARPER}}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{{OTHERYTD}}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{{OTHERYTDBUD}}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{{OTHERYTDVAR}}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{{OTHERYTDVARPER}}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Retail Sales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{{RETSALCM}}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{{RETSALPTD}}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{{RETSALVAR}}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{{RETSALVARPER}}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{{RETSALYTD}}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{{RETSALYTDBUD}}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{{RETSALYTDVAR}}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{{RETSALYTDVARPER}}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TOTAL INCOME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{{TOTALINCYTDVARPER}}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PROPERTY EXPENSES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Advertising &amp; Marketing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{{ADVERCM}}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{{ADVERPTD}}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{{ADVERVAR}}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{{ADVERVARPER}}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{{ADVERYTD}}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{{ADVERYTDBUD}}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{{ADVERYTDVAR}}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{{ADVERYTDVARPER}}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Auction Expenses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{{AUCTCM}}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{{AUCTPTD}}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{{AUCTVAR}}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{{AUCTVARPER}}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{{AUCTYTD}}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{{AUCTYTDBUD}}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{{AUCTYTDVAR}}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{{AUCTYTDVARPER}}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CAM Charges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{{CAMCM}}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{{CAMPTD}}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{{CAMVAR}}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{{CAMVARPER}}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{{CAMYTD}}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{{CAMYTDBUD}}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{{CAMYTDVAR}}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{{CAMYTDVARPER}}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Credit Card Merchant Fees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{{CCMCM}}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{{CCMPTD}}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{{CCMVAR}}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{{CCMVARPER}}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{{CCMYTD}}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{{CCMYTDBUD}}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{{CCMYTDVAR}}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{{CCMYTDVARPER}}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Dues &amp; Subscriptions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{{DUESCM}}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{{DUESPTD}}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{{DUESVAR}}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{{DUESVARPER}}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{{DUESYTD}}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{{DUESYTDBUD}}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{{DUESYTDVAR}}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{{DUESYTDVARPER}}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Fire Prevention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{{FIRECM}}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{{FIREPTD}}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{{FIREVAR}}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{{FIREVARPER}}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{{FIREYTD}}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{{FIREYTDBUD}}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{{FIREYTDVAR}}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{{FIREYTDVARPER}}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Insurance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{{INSURYTDVARPER}}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Licenses &amp; Permits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{{PERMCM}}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{{PERMPTD}}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{{PERMVAR}}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{{PERMVARPER}}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{{PERMYTD}}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{{PERMYTDBUD}}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{{PERMYTDVAR}}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{{PERMYTDVARPER}}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Management Fees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Management Fees - Staff Costs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{{MGMTSTFCM}}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{{MGMTSTFPTD}}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{{MGMTSTFVAR}}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{{MGMTSTFVARPER}}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{{MGMTSTFYTD}}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{{MGMTSTFYTDBUD}}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{{MGMTSTFYTDVAR}}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{{MGMTSTFYTDPER}}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1513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Office Supplies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{{OFFSUPCM}}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{{OFFSUPPTD}}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{{OFFSUPVAR}}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{{OFFSUPVARPER}}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{{OFFSUPYTD}}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{{OFFSUPYTDBUD}}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{{OFFSUPYTDVAR}}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{{OFFSUPYTDVARPER}}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-100" y="0"/>
            <a:ext cx="18288000" cy="1615200"/>
            <a:chOff x="0" y="0"/>
            <a:chExt cx="24384000" cy="21536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2153539"/>
            </a:xfrm>
            <a:custGeom>
              <a:avLst/>
              <a:gdLst/>
              <a:ahLst/>
              <a:cxnLst/>
              <a:rect l="l" t="t" r="r" b="b"/>
              <a:pathLst>
                <a:path w="24384000" h="2153539">
                  <a:moveTo>
                    <a:pt x="0" y="0"/>
                  </a:moveTo>
                  <a:lnTo>
                    <a:pt x="24384000" y="0"/>
                  </a:lnTo>
                  <a:lnTo>
                    <a:pt x="24384000" y="2153539"/>
                  </a:lnTo>
                  <a:lnTo>
                    <a:pt x="0" y="2153539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24384000" cy="2248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{{CURRENTMONTH}} Data</a:t>
              </a:r>
            </a:p>
          </p:txBody>
        </p:sp>
      </p:grp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533820"/>
              </p:ext>
            </p:extLst>
          </p:nvPr>
        </p:nvGraphicFramePr>
        <p:xfrm>
          <a:off x="1469409" y="6975320"/>
          <a:ext cx="14939621" cy="3070846"/>
        </p:xfrm>
        <a:graphic>
          <a:graphicData uri="http://schemas.openxmlformats.org/drawingml/2006/table">
            <a:tbl>
              <a:tblPr/>
              <a:tblGrid>
                <a:gridCol w="2138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2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2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02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07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818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763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4974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Professional Fees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{{PROFYTDVARPER}}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Repairs &amp; Maintenance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{{REPYTDVARPER}}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Retail Products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{{RETAYTDVARPER}}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Security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{{SECYTDVARPER}}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Software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{{SOFTYTDVARPER}}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Supplies - Building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{{SUPYTDVARPER}}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Telephone &amp; Internet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{{INTERYTDVARPER}}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Utilities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{{UTILYTDVAR}}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{{UTILYTDVARPER}}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TOTAL PROPERTY EXPENSES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{{TOTALPROPYTDVAR}}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{{TOTALPROPYTDPER}}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Other Expenses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{{OTHEXPYTDVARPER}}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5500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OTHER EXPENSES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{{TOTOTHEXPYTDVARPER}}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TOTAL EXPENSES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{{TOTEXPYTDVARPER}}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Interest Income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Medium"/>
                          <a:ea typeface="Avenir Medium"/>
                          <a:cs typeface="Avenir Medium"/>
                          <a:sym typeface="Avenir Medium"/>
                        </a:rPr>
                        <a:t>{{INTINCYTDVARPER}}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642">
                <a:tc>
                  <a:txBody>
                    <a:bodyPr/>
                    <a:lstStyle/>
                    <a:p>
                      <a:pPr algn="l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NET INCOME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{{NETINCCM}}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{{NETINCPTD}}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{{NETINCVARPER}}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{{NETINCYTD}}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{{NETINCYTDBUD}}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{{NETINCYTDVAR}}</a:t>
                      </a:r>
                      <a:endParaRPr lang="en-US" sz="110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{{NETINCYTDVARPER}}</a:t>
                      </a:r>
                      <a:endParaRPr lang="en-US" sz="1100" dirty="0"/>
                    </a:p>
                  </a:txBody>
                  <a:tcPr marL="0" marR="0" marT="0" marB="0" anchor="ctr">
                    <a:lnL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10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85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150" y="-142875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14726">
            <a:off x="453322" y="4411025"/>
            <a:ext cx="17018256" cy="0"/>
          </a:xfrm>
          <a:prstGeom prst="line">
            <a:avLst/>
          </a:prstGeom>
          <a:ln w="19050" cap="rnd">
            <a:solidFill>
              <a:srgbClr val="3B52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4085298" y="4718850"/>
            <a:ext cx="2324100" cy="1318500"/>
            <a:chOff x="0" y="0"/>
            <a:chExt cx="3098800" cy="1758000"/>
          </a:xfrm>
        </p:grpSpPr>
        <p:sp>
          <p:nvSpPr>
            <p:cNvPr id="11" name="Freeform 11"/>
            <p:cNvSpPr/>
            <p:nvPr/>
          </p:nvSpPr>
          <p:spPr>
            <a:xfrm>
              <a:off x="25400" y="25400"/>
              <a:ext cx="3048000" cy="1707261"/>
            </a:xfrm>
            <a:custGeom>
              <a:avLst/>
              <a:gdLst/>
              <a:ahLst/>
              <a:cxnLst/>
              <a:rect l="l" t="t" r="r" b="b"/>
              <a:pathLst>
                <a:path w="3048000" h="1707261">
                  <a:moveTo>
                    <a:pt x="0" y="0"/>
                  </a:moveTo>
                  <a:lnTo>
                    <a:pt x="3048000" y="0"/>
                  </a:lnTo>
                  <a:lnTo>
                    <a:pt x="3048000" y="1707261"/>
                  </a:lnTo>
                  <a:lnTo>
                    <a:pt x="0" y="17072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3098800" cy="1758061"/>
            </a:xfrm>
            <a:custGeom>
              <a:avLst/>
              <a:gdLst/>
              <a:ahLst/>
              <a:cxnLst/>
              <a:rect l="l" t="t" r="r" b="b"/>
              <a:pathLst>
                <a:path w="3098800" h="1758061">
                  <a:moveTo>
                    <a:pt x="25400" y="0"/>
                  </a:moveTo>
                  <a:lnTo>
                    <a:pt x="3073400" y="0"/>
                  </a:lnTo>
                  <a:cubicBezTo>
                    <a:pt x="3087370" y="0"/>
                    <a:pt x="3098800" y="11430"/>
                    <a:pt x="3098800" y="25400"/>
                  </a:cubicBezTo>
                  <a:lnTo>
                    <a:pt x="3098800" y="1732661"/>
                  </a:lnTo>
                  <a:cubicBezTo>
                    <a:pt x="3098800" y="1746631"/>
                    <a:pt x="3087370" y="1758061"/>
                    <a:pt x="3073400" y="1758061"/>
                  </a:cubicBezTo>
                  <a:lnTo>
                    <a:pt x="25400" y="1758061"/>
                  </a:lnTo>
                  <a:cubicBezTo>
                    <a:pt x="11430" y="1758061"/>
                    <a:pt x="0" y="1746631"/>
                    <a:pt x="0" y="1732661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732661"/>
                  </a:lnTo>
                  <a:lnTo>
                    <a:pt x="25400" y="1732661"/>
                  </a:lnTo>
                  <a:lnTo>
                    <a:pt x="25400" y="1707261"/>
                  </a:lnTo>
                  <a:lnTo>
                    <a:pt x="3073400" y="1707261"/>
                  </a:lnTo>
                  <a:lnTo>
                    <a:pt x="3073400" y="1732661"/>
                  </a:lnTo>
                  <a:lnTo>
                    <a:pt x="3048000" y="1732661"/>
                  </a:lnTo>
                  <a:lnTo>
                    <a:pt x="3048000" y="25400"/>
                  </a:lnTo>
                  <a:lnTo>
                    <a:pt x="3073400" y="25400"/>
                  </a:lnTo>
                  <a:lnTo>
                    <a:pt x="3073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3098800" cy="181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TRAILING 3-MONTH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085378" y="6391348"/>
            <a:ext cx="2324100" cy="1318500"/>
            <a:chOff x="0" y="0"/>
            <a:chExt cx="3098800" cy="1758000"/>
          </a:xfrm>
        </p:grpSpPr>
        <p:sp>
          <p:nvSpPr>
            <p:cNvPr id="15" name="Freeform 15"/>
            <p:cNvSpPr/>
            <p:nvPr/>
          </p:nvSpPr>
          <p:spPr>
            <a:xfrm>
              <a:off x="25400" y="25400"/>
              <a:ext cx="3048000" cy="1707261"/>
            </a:xfrm>
            <a:custGeom>
              <a:avLst/>
              <a:gdLst/>
              <a:ahLst/>
              <a:cxnLst/>
              <a:rect l="l" t="t" r="r" b="b"/>
              <a:pathLst>
                <a:path w="3048000" h="1707261">
                  <a:moveTo>
                    <a:pt x="0" y="0"/>
                  </a:moveTo>
                  <a:lnTo>
                    <a:pt x="3048000" y="0"/>
                  </a:lnTo>
                  <a:lnTo>
                    <a:pt x="3048000" y="1707261"/>
                  </a:lnTo>
                  <a:lnTo>
                    <a:pt x="0" y="1707261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3098800" cy="1758061"/>
            </a:xfrm>
            <a:custGeom>
              <a:avLst/>
              <a:gdLst/>
              <a:ahLst/>
              <a:cxnLst/>
              <a:rect l="l" t="t" r="r" b="b"/>
              <a:pathLst>
                <a:path w="3098800" h="1758061">
                  <a:moveTo>
                    <a:pt x="25400" y="0"/>
                  </a:moveTo>
                  <a:lnTo>
                    <a:pt x="3073400" y="0"/>
                  </a:lnTo>
                  <a:cubicBezTo>
                    <a:pt x="3087370" y="0"/>
                    <a:pt x="3098800" y="11430"/>
                    <a:pt x="3098800" y="25400"/>
                  </a:cubicBezTo>
                  <a:lnTo>
                    <a:pt x="3098800" y="1732661"/>
                  </a:lnTo>
                  <a:cubicBezTo>
                    <a:pt x="3098800" y="1746631"/>
                    <a:pt x="3087370" y="1758061"/>
                    <a:pt x="3073400" y="1758061"/>
                  </a:cubicBezTo>
                  <a:lnTo>
                    <a:pt x="25400" y="1758061"/>
                  </a:lnTo>
                  <a:cubicBezTo>
                    <a:pt x="11430" y="1758061"/>
                    <a:pt x="0" y="1746631"/>
                    <a:pt x="0" y="1732661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732661"/>
                  </a:lnTo>
                  <a:lnTo>
                    <a:pt x="25400" y="1732661"/>
                  </a:lnTo>
                  <a:lnTo>
                    <a:pt x="25400" y="1707261"/>
                  </a:lnTo>
                  <a:lnTo>
                    <a:pt x="3073400" y="1707261"/>
                  </a:lnTo>
                  <a:lnTo>
                    <a:pt x="3073400" y="1732661"/>
                  </a:lnTo>
                  <a:lnTo>
                    <a:pt x="3048000" y="1732661"/>
                  </a:lnTo>
                  <a:lnTo>
                    <a:pt x="3048000" y="25400"/>
                  </a:lnTo>
                  <a:lnTo>
                    <a:pt x="3073400" y="25400"/>
                  </a:lnTo>
                  <a:lnTo>
                    <a:pt x="3073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3098800" cy="181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TRAILING 6-MONTH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500" y="3748326"/>
            <a:ext cx="3700200" cy="653180"/>
            <a:chOff x="0" y="0"/>
            <a:chExt cx="4933600" cy="87090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33600" cy="870906"/>
            </a:xfrm>
            <a:custGeom>
              <a:avLst/>
              <a:gdLst/>
              <a:ahLst/>
              <a:cxnLst/>
              <a:rect l="l" t="t" r="r" b="b"/>
              <a:pathLst>
                <a:path w="4933600" h="870906">
                  <a:moveTo>
                    <a:pt x="0" y="0"/>
                  </a:moveTo>
                  <a:lnTo>
                    <a:pt x="4933600" y="0"/>
                  </a:lnTo>
                  <a:lnTo>
                    <a:pt x="4933600" y="870906"/>
                  </a:lnTo>
                  <a:lnTo>
                    <a:pt x="0" y="8709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4933600" cy="9185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 dirty="0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{{MOVIPER}} {{INCORDEC1}} vs. {{PREVMON}}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848700" y="1951450"/>
            <a:ext cx="3294600" cy="1645800"/>
            <a:chOff x="0" y="0"/>
            <a:chExt cx="4392800" cy="219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392803" cy="2194433"/>
            </a:xfrm>
            <a:custGeom>
              <a:avLst/>
              <a:gdLst/>
              <a:ahLst/>
              <a:cxnLst/>
              <a:rect l="l" t="t" r="r" b="b"/>
              <a:pathLst>
                <a:path w="4392803" h="2194433">
                  <a:moveTo>
                    <a:pt x="0" y="0"/>
                  </a:moveTo>
                  <a:lnTo>
                    <a:pt x="4392803" y="0"/>
                  </a:lnTo>
                  <a:lnTo>
                    <a:pt x="4392803" y="2194433"/>
                  </a:lnTo>
                  <a:lnTo>
                    <a:pt x="0" y="2194433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4392800" cy="2280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{{CURRENTMONTH}}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34700" y="3752600"/>
            <a:ext cx="3769122" cy="653180"/>
            <a:chOff x="0" y="0"/>
            <a:chExt cx="5025495" cy="87090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25496" cy="870906"/>
            </a:xfrm>
            <a:custGeom>
              <a:avLst/>
              <a:gdLst/>
              <a:ahLst/>
              <a:cxnLst/>
              <a:rect l="l" t="t" r="r" b="b"/>
              <a:pathLst>
                <a:path w="5025496" h="870906">
                  <a:moveTo>
                    <a:pt x="0" y="0"/>
                  </a:moveTo>
                  <a:lnTo>
                    <a:pt x="5025496" y="0"/>
                  </a:lnTo>
                  <a:lnTo>
                    <a:pt x="5025496" y="870906"/>
                  </a:lnTo>
                  <a:lnTo>
                    <a:pt x="0" y="8709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5025495" cy="9185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{{MOVOPER}} {{INCORDEC2}} vs. {{PREVMON}}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544325" y="3737213"/>
            <a:ext cx="3700200" cy="653180"/>
            <a:chOff x="0" y="0"/>
            <a:chExt cx="4933600" cy="8709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933600" cy="870906"/>
            </a:xfrm>
            <a:custGeom>
              <a:avLst/>
              <a:gdLst/>
              <a:ahLst/>
              <a:cxnLst/>
              <a:rect l="l" t="t" r="r" b="b"/>
              <a:pathLst>
                <a:path w="4933600" h="870906">
                  <a:moveTo>
                    <a:pt x="0" y="0"/>
                  </a:moveTo>
                  <a:lnTo>
                    <a:pt x="4933600" y="0"/>
                  </a:lnTo>
                  <a:lnTo>
                    <a:pt x="4933600" y="870906"/>
                  </a:lnTo>
                  <a:lnTo>
                    <a:pt x="0" y="8709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4933600" cy="9185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{{MOVN}} {{INCORDEC3}} vs. {{PREVMON}}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4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55301" y="8982351"/>
            <a:ext cx="58171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Trailing number includes current month.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4085378" y="8067748"/>
            <a:ext cx="2324100" cy="1318500"/>
            <a:chOff x="0" y="0"/>
            <a:chExt cx="3098800" cy="1758000"/>
          </a:xfrm>
        </p:grpSpPr>
        <p:sp>
          <p:nvSpPr>
            <p:cNvPr id="38" name="Freeform 38"/>
            <p:cNvSpPr/>
            <p:nvPr/>
          </p:nvSpPr>
          <p:spPr>
            <a:xfrm>
              <a:off x="25400" y="25400"/>
              <a:ext cx="3048000" cy="1707261"/>
            </a:xfrm>
            <a:custGeom>
              <a:avLst/>
              <a:gdLst/>
              <a:ahLst/>
              <a:cxnLst/>
              <a:rect l="l" t="t" r="r" b="b"/>
              <a:pathLst>
                <a:path w="3048000" h="1707261">
                  <a:moveTo>
                    <a:pt x="0" y="0"/>
                  </a:moveTo>
                  <a:lnTo>
                    <a:pt x="3048000" y="0"/>
                  </a:lnTo>
                  <a:lnTo>
                    <a:pt x="3048000" y="1707261"/>
                  </a:lnTo>
                  <a:lnTo>
                    <a:pt x="0" y="1707261"/>
                  </a:lnTo>
                  <a:close/>
                </a:path>
              </a:pathLst>
            </a:custGeom>
            <a:solidFill>
              <a:srgbClr val="504B4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0"/>
              <a:ext cx="3098800" cy="1758061"/>
            </a:xfrm>
            <a:custGeom>
              <a:avLst/>
              <a:gdLst/>
              <a:ahLst/>
              <a:cxnLst/>
              <a:rect l="l" t="t" r="r" b="b"/>
              <a:pathLst>
                <a:path w="3098800" h="1758061">
                  <a:moveTo>
                    <a:pt x="25400" y="0"/>
                  </a:moveTo>
                  <a:lnTo>
                    <a:pt x="3073400" y="0"/>
                  </a:lnTo>
                  <a:cubicBezTo>
                    <a:pt x="3087370" y="0"/>
                    <a:pt x="3098800" y="11430"/>
                    <a:pt x="3098800" y="25400"/>
                  </a:cubicBezTo>
                  <a:lnTo>
                    <a:pt x="3098800" y="1732661"/>
                  </a:lnTo>
                  <a:cubicBezTo>
                    <a:pt x="3098800" y="1746631"/>
                    <a:pt x="3087370" y="1758061"/>
                    <a:pt x="3073400" y="1758061"/>
                  </a:cubicBezTo>
                  <a:lnTo>
                    <a:pt x="25400" y="1758061"/>
                  </a:lnTo>
                  <a:cubicBezTo>
                    <a:pt x="11430" y="1758061"/>
                    <a:pt x="0" y="1746631"/>
                    <a:pt x="0" y="1732661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732661"/>
                  </a:lnTo>
                  <a:lnTo>
                    <a:pt x="25400" y="1732661"/>
                  </a:lnTo>
                  <a:lnTo>
                    <a:pt x="25400" y="1707261"/>
                  </a:lnTo>
                  <a:lnTo>
                    <a:pt x="3073400" y="1707261"/>
                  </a:lnTo>
                  <a:lnTo>
                    <a:pt x="3073400" y="1732661"/>
                  </a:lnTo>
                  <a:lnTo>
                    <a:pt x="3048000" y="1732661"/>
                  </a:lnTo>
                  <a:lnTo>
                    <a:pt x="3048000" y="25400"/>
                  </a:lnTo>
                  <a:lnTo>
                    <a:pt x="3073400" y="25400"/>
                  </a:lnTo>
                  <a:lnTo>
                    <a:pt x="3073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504B4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3098800" cy="181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TRAILING 12-MONTH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41936" y="1951450"/>
            <a:ext cx="3310650" cy="1664850"/>
            <a:chOff x="0" y="0"/>
            <a:chExt cx="871941" cy="43847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606657" y="2125238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{{MOVEINS}}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562477" y="2833926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188027" y="1963175"/>
            <a:ext cx="3310650" cy="1664850"/>
            <a:chOff x="0" y="0"/>
            <a:chExt cx="871941" cy="43847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9252749" y="2094238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{{MOVEOUTS}}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232445" y="2833926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Move-outs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2739100" y="1932400"/>
            <a:ext cx="3310650" cy="1664850"/>
            <a:chOff x="0" y="0"/>
            <a:chExt cx="871941" cy="43847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2803822" y="2075188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{{NETMOVE}}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761326" y="2833926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Net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6883049" y="4790611"/>
            <a:ext cx="2274101" cy="1331239"/>
            <a:chOff x="0" y="0"/>
            <a:chExt cx="598940" cy="35061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6409478" y="5458433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369870" y="4895850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{{MOVEINSTRL3}}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9551077" y="4758822"/>
            <a:ext cx="2274101" cy="1331239"/>
            <a:chOff x="0" y="0"/>
            <a:chExt cx="598940" cy="35061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9034700" y="4878415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{{MOVEOUTSTRL3}}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68893" y="5458433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Move-outs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12215703" y="4758822"/>
            <a:ext cx="2274101" cy="1331239"/>
            <a:chOff x="0" y="0"/>
            <a:chExt cx="598940" cy="35061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736993" y="546004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Net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781223" y="4878415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{{NETTRL3}}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6883049" y="6326636"/>
            <a:ext cx="2274101" cy="1331239"/>
            <a:chOff x="0" y="0"/>
            <a:chExt cx="598940" cy="35061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A9A9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582100" y="6326636"/>
            <a:ext cx="2274101" cy="1331239"/>
            <a:chOff x="0" y="0"/>
            <a:chExt cx="598940" cy="35061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A9A9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2215703" y="6320514"/>
            <a:ext cx="2274101" cy="1331239"/>
            <a:chOff x="0" y="0"/>
            <a:chExt cx="598940" cy="35061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A9A9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6444971" y="6496348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9A9A9A"/>
                </a:solidFill>
                <a:latin typeface="Avenir Bold"/>
                <a:ea typeface="Avenir Bold"/>
                <a:cs typeface="Avenir Bold"/>
                <a:sym typeface="Avenir Bold"/>
              </a:rPr>
              <a:t>{{MOVEINSTRL6}}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325690" y="7020830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A9A9A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143900" y="6490226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9A9A9A"/>
                </a:solidFill>
                <a:latin typeface="Avenir Bold"/>
                <a:ea typeface="Avenir Bold"/>
                <a:cs typeface="Avenir Bold"/>
                <a:sym typeface="Avenir Bold"/>
              </a:rPr>
              <a:t>{{MOVEOUTSTRL6}}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099720" y="695534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A9A9A"/>
                </a:solidFill>
                <a:latin typeface="Avenir"/>
                <a:ea typeface="Avenir"/>
                <a:cs typeface="Avenir"/>
                <a:sym typeface="Avenir"/>
              </a:rPr>
              <a:t>Move-outs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1717970" y="695534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9A9A9A"/>
                </a:solidFill>
                <a:latin typeface="Avenir"/>
                <a:ea typeface="Avenir"/>
                <a:cs typeface="Avenir"/>
                <a:sym typeface="Avenir"/>
              </a:rPr>
              <a:t>Net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717970" y="6490226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9A9A9A"/>
                </a:solidFill>
                <a:latin typeface="Avenir Bold"/>
                <a:ea typeface="Avenir Bold"/>
                <a:cs typeface="Avenir Bold"/>
                <a:sym typeface="Avenir Bold"/>
              </a:rPr>
              <a:t>{{NETTRL6}}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6883049" y="8061378"/>
            <a:ext cx="2274101" cy="1331239"/>
            <a:chOff x="0" y="0"/>
            <a:chExt cx="598940" cy="35061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04B4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582100" y="8076975"/>
            <a:ext cx="2274101" cy="1331239"/>
            <a:chOff x="0" y="0"/>
            <a:chExt cx="598940" cy="35061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04B4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2215907" y="8041112"/>
            <a:ext cx="2274101" cy="1331239"/>
            <a:chOff x="0" y="0"/>
            <a:chExt cx="598940" cy="35061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598940" cy="350614"/>
            </a:xfrm>
            <a:custGeom>
              <a:avLst/>
              <a:gdLst/>
              <a:ahLst/>
              <a:cxnLst/>
              <a:rect l="l" t="t" r="r" b="b"/>
              <a:pathLst>
                <a:path w="598940" h="350614">
                  <a:moveTo>
                    <a:pt x="0" y="0"/>
                  </a:moveTo>
                  <a:lnTo>
                    <a:pt x="598940" y="0"/>
                  </a:lnTo>
                  <a:lnTo>
                    <a:pt x="598940" y="350614"/>
                  </a:lnTo>
                  <a:lnTo>
                    <a:pt x="0" y="350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504B4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47625"/>
              <a:ext cx="598940" cy="398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95" name="TextBox 95"/>
          <p:cNvSpPr txBox="1"/>
          <p:nvPr/>
        </p:nvSpPr>
        <p:spPr>
          <a:xfrm>
            <a:off x="6517856" y="8153175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504B4E"/>
                </a:solidFill>
                <a:latin typeface="Avenir Bold"/>
                <a:ea typeface="Avenir Bold"/>
                <a:cs typeface="Avenir Bold"/>
                <a:sym typeface="Avenir Bold"/>
              </a:rPr>
              <a:t>{{MOVEINSTRL12}}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281510" y="871575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04B4E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128547" y="8153175"/>
            <a:ext cx="3181207" cy="95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504B4E"/>
                </a:solidFill>
                <a:latin typeface="Avenir Bold"/>
                <a:ea typeface="Avenir Bold"/>
                <a:cs typeface="Avenir Bold"/>
                <a:sym typeface="Avenir Bold"/>
              </a:rPr>
              <a:t>{{MOVEOUTSTRL12}}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9068893" y="871575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04B4E"/>
                </a:solidFill>
                <a:latin typeface="Avenir"/>
                <a:ea typeface="Avenir"/>
                <a:cs typeface="Avenir"/>
                <a:sym typeface="Avenir"/>
              </a:rPr>
              <a:t>Move-outs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762150" y="8153175"/>
            <a:ext cx="3181207" cy="49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504B4E"/>
                </a:solidFill>
                <a:latin typeface="Avenir Bold"/>
                <a:ea typeface="Avenir Bold"/>
                <a:cs typeface="Avenir Bold"/>
                <a:sym typeface="Avenir Bold"/>
              </a:rPr>
              <a:t>{{NETTRL12}}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718174" y="8715758"/>
            <a:ext cx="3269567" cy="4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04B4E"/>
                </a:solidFill>
                <a:latin typeface="Avenir"/>
                <a:ea typeface="Avenir"/>
                <a:cs typeface="Avenir"/>
                <a:sym typeface="Avenir"/>
              </a:rPr>
              <a:t>Net</a:t>
            </a:r>
          </a:p>
        </p:txBody>
      </p:sp>
      <p:grpSp>
        <p:nvGrpSpPr>
          <p:cNvPr id="104" name="Group 8">
            <a:extLst>
              <a:ext uri="{FF2B5EF4-FFF2-40B4-BE49-F238E27FC236}">
                <a16:creationId xmlns:a16="http://schemas.microsoft.com/office/drawing/2014/main" id="{EE292075-059A-6F08-DE48-4A8DDBBA0B11}"/>
              </a:ext>
            </a:extLst>
          </p:cNvPr>
          <p:cNvGrpSpPr/>
          <p:nvPr/>
        </p:nvGrpSpPr>
        <p:grpSpPr>
          <a:xfrm>
            <a:off x="0" y="-190500"/>
            <a:ext cx="18288000" cy="1609200"/>
            <a:chOff x="0" y="0"/>
            <a:chExt cx="24384000" cy="2145600"/>
          </a:xfrm>
        </p:grpSpPr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113FD3DC-1311-0C31-50E9-18F8169BD813}"/>
                </a:ext>
              </a:extLst>
            </p:cNvPr>
            <p:cNvSpPr/>
            <p:nvPr/>
          </p:nvSpPr>
          <p:spPr>
            <a:xfrm>
              <a:off x="0" y="0"/>
              <a:ext cx="24384000" cy="2145538"/>
            </a:xfrm>
            <a:custGeom>
              <a:avLst/>
              <a:gdLst/>
              <a:ahLst/>
              <a:cxnLst/>
              <a:rect l="l" t="t" r="r" b="b"/>
              <a:pathLst>
                <a:path w="24384000" h="2145538">
                  <a:moveTo>
                    <a:pt x="0" y="0"/>
                  </a:moveTo>
                  <a:lnTo>
                    <a:pt x="24384000" y="0"/>
                  </a:lnTo>
                  <a:lnTo>
                    <a:pt x="24384000" y="2145538"/>
                  </a:lnTo>
                  <a:lnTo>
                    <a:pt x="0" y="214553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TextBox 10">
              <a:extLst>
                <a:ext uri="{FF2B5EF4-FFF2-40B4-BE49-F238E27FC236}">
                  <a16:creationId xmlns:a16="http://schemas.microsoft.com/office/drawing/2014/main" id="{8269F3FC-56DA-1FF6-AB8F-11D27ECBE60E}"/>
                </a:ext>
              </a:extLst>
            </p:cNvPr>
            <p:cNvSpPr txBox="1"/>
            <p:nvPr/>
          </p:nvSpPr>
          <p:spPr>
            <a:xfrm>
              <a:off x="0" y="-95250"/>
              <a:ext cx="24384000" cy="22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{{CURRENTMONTH}} Performance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78834"/>
            <a:ext cx="18288000" cy="823200"/>
            <a:chOff x="0" y="0"/>
            <a:chExt cx="24384000" cy="1097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44916" y="9478834"/>
            <a:ext cx="1097400" cy="787200"/>
            <a:chOff x="0" y="0"/>
            <a:chExt cx="1463200" cy="104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8288000" cy="1609200"/>
            <a:chOff x="0" y="0"/>
            <a:chExt cx="24384000" cy="2145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2145538"/>
            </a:xfrm>
            <a:custGeom>
              <a:avLst/>
              <a:gdLst/>
              <a:ahLst/>
              <a:cxnLst/>
              <a:rect l="l" t="t" r="r" b="b"/>
              <a:pathLst>
                <a:path w="24384000" h="2145538">
                  <a:moveTo>
                    <a:pt x="0" y="0"/>
                  </a:moveTo>
                  <a:lnTo>
                    <a:pt x="24384000" y="0"/>
                  </a:lnTo>
                  <a:lnTo>
                    <a:pt x="24384000" y="2145538"/>
                  </a:lnTo>
                  <a:lnTo>
                    <a:pt x="0" y="214553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24384000" cy="22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{{CURRENTMONTH}} Performance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5301" y="9080201"/>
            <a:ext cx="58171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Definitions in rate management report.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0431600" y="2673888"/>
          <a:ext cx="6640597" cy="5765800"/>
        </p:xfrm>
        <a:graphic>
          <a:graphicData uri="http://schemas.openxmlformats.org/drawingml/2006/table">
            <a:tbl>
              <a:tblPr/>
              <a:tblGrid>
                <a:gridCol w="4635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1365"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{{CURRENTMONTH}} In-place Rent Escalations</a:t>
                      </a: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(9 months since last increase)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{{CURRENTMONTH}} In-place Rent Escalations</a:t>
                      </a:r>
                      <a:endParaRPr lang="en-US" sz="1100"/>
                    </a:p>
                    <a:p>
                      <a:pPr algn="ctr">
                        <a:lnSpc>
                          <a:spcPts val="216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(9 months since last increase)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603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Number of rent increase letters sent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{{NUMREN}}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53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square footage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{{TOTSFT}}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71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Base revenue; prior to rent increase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{{BASREVPR}}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1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Base rental rate; prior to rent increase ($/sq ft)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{{BASERENPR}}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750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$ increase with rent escalations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{{TOTINCESC}}</a:t>
                      </a:r>
                      <a:endParaRPr lang="en-US" sz="1100"/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1470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Revenue; after rent increases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{{REVWINC}}</a:t>
                      </a:r>
                      <a:endParaRPr lang="en-US" sz="1100"/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4737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New rental rate, after escalation ($/sq ft)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{{NEWRENRT}}</a:t>
                      </a:r>
                      <a:endParaRPr lang="en-US" sz="1100"/>
                    </a:p>
                  </a:txBody>
                  <a:tcPr marL="0" marR="0" marT="0" marB="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6804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Average percent increase per unit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{{AVGPERINC}}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576076" y="1609188"/>
          <a:ext cx="1625600" cy="762000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SUMMARY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431576" y="1609212"/>
          <a:ext cx="2971800" cy="76200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B52A1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RATE MANAGEMENT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1576100" y="2673900"/>
          <a:ext cx="7215330" cy="5765800"/>
        </p:xfrm>
        <a:graphic>
          <a:graphicData uri="http://schemas.openxmlformats.org/drawingml/2006/table">
            <a:tbl>
              <a:tblPr/>
              <a:tblGrid>
                <a:gridCol w="3249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6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8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1365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KPI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Current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Last Month Value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603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SqFt Occupancy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{{SFTOC}}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{{SFTOCLM}}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537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MTD MoveIns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{{MTDMI}}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{{MTDMILM}}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717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$/SqFt MoveIns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{{DSFTMI}}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{{DSFTMILM}}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17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MTD Moveouts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{{MTDMO}}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{{MTDMOLM}}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750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$/SqFt MoveOuts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{{DSFTMO}}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{{DSFTMOLM}}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1470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% Occ Units LOR &gt; 6 Months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{{PERLOR}}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{{PERLORLM}}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4737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Avg LOR of MoveOuts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{{AVGLOR}}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{{AVGLORLM}}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6804"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% MoveIns with Promo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{{PROMO}}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3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{{PROMOLM}}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09200"/>
            <a:chOff x="0" y="0"/>
            <a:chExt cx="24384000" cy="214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45538"/>
            </a:xfrm>
            <a:custGeom>
              <a:avLst/>
              <a:gdLst/>
              <a:ahLst/>
              <a:cxnLst/>
              <a:rect l="l" t="t" r="r" b="b"/>
              <a:pathLst>
                <a:path w="24384000" h="2145538">
                  <a:moveTo>
                    <a:pt x="0" y="0"/>
                  </a:moveTo>
                  <a:lnTo>
                    <a:pt x="24384000" y="0"/>
                  </a:lnTo>
                  <a:lnTo>
                    <a:pt x="24384000" y="2145538"/>
                  </a:lnTo>
                  <a:lnTo>
                    <a:pt x="0" y="214553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4384000" cy="22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  Rate Management | Pricing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6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25" y="9078975"/>
            <a:ext cx="62995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Additional information can be found in the appendix.</a:t>
            </a:r>
          </a:p>
        </p:txBody>
      </p:sp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363070"/>
              </p:ext>
            </p:extLst>
          </p:nvPr>
        </p:nvGraphicFramePr>
        <p:xfrm>
          <a:off x="1381800" y="1727100"/>
          <a:ext cx="15214601" cy="3584409"/>
        </p:xfrm>
        <a:graphic>
          <a:graphicData uri="http://schemas.openxmlformats.org/drawingml/2006/table">
            <a:tbl>
              <a:tblPr/>
              <a:tblGrid>
                <a:gridCol w="2083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3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3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6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6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515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489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1561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Web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Current in Place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Rate Management</a:t>
                      </a:r>
                      <a:endParaRPr lang="en-US" sz="1100"/>
                    </a:p>
                    <a:p>
                      <a:pPr algn="ctr">
                        <a:lnSpc>
                          <a:spcPts val="2208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Proposed Rate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STORE </a:t>
                      </a:r>
                      <a:endParaRPr lang="en-US" sz="1100"/>
                    </a:p>
                    <a:p>
                      <a:pPr algn="ctr">
                        <a:lnSpc>
                          <a:spcPts val="2208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New Rate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STORE New Rate </a:t>
                      </a:r>
                      <a:endParaRPr lang="en-US" sz="1100" dirty="0"/>
                    </a:p>
                    <a:p>
                      <a:pPr algn="ctr">
                        <a:lnSpc>
                          <a:spcPts val="2208"/>
                        </a:lnSpc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($/sq ft)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% Change vs. Web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54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54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54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54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566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dirty="0">
                          <a:solidFill>
                            <a:srgbClr val="2D2D2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{{10X20WEBPR}}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dirty="0">
                          <a:solidFill>
                            <a:srgbClr val="2D2D2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{{10X20WEBPR}}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dirty="0">
                          <a:solidFill>
                            <a:srgbClr val="2D2D2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{{10X20WEBPR}}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dirty="0">
                          <a:solidFill>
                            <a:srgbClr val="2D2D2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{{10X20WEBPR}}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dirty="0">
                          <a:solidFill>
                            <a:srgbClr val="2D2D2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{{10X20WEBPR}}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dirty="0">
                          <a:solidFill>
                            <a:srgbClr val="2D2D2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{{10X20WEBPR}}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54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15 x 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{{15X5WEBPR}}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547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20 x 15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540974"/>
              </p:ext>
            </p:extLst>
          </p:nvPr>
        </p:nvGraphicFramePr>
        <p:xfrm>
          <a:off x="1381800" y="5672850"/>
          <a:ext cx="15240000" cy="3202618"/>
        </p:xfrm>
        <a:graphic>
          <a:graphicData uri="http://schemas.openxmlformats.org/drawingml/2006/table">
            <a:tbl>
              <a:tblPr/>
              <a:tblGrid>
                <a:gridCol w="1900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7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9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04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55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532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3598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Web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Current in Place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Rate Management </a:t>
                      </a:r>
                      <a:endParaRPr lang="en-US" sz="1100"/>
                    </a:p>
                    <a:p>
                      <a:pPr algn="ctr">
                        <a:lnSpc>
                          <a:spcPts val="2208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Proposed Rate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STORE </a:t>
                      </a:r>
                      <a:endParaRPr lang="en-US" sz="1100"/>
                    </a:p>
                    <a:p>
                      <a:pPr algn="ctr">
                        <a:lnSpc>
                          <a:spcPts val="2208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New Rate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STORE New Rate </a:t>
                      </a:r>
                      <a:endParaRPr lang="en-US" sz="1100"/>
                    </a:p>
                    <a:p>
                      <a:pPr algn="ctr">
                        <a:lnSpc>
                          <a:spcPts val="2208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($/sq ft)</a:t>
                      </a: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% Change vs. Web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{{5X5WEBPREV}}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690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dirty="0">
                          <a:solidFill>
                            <a:srgbClr val="2D2D2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{{10X10WEBPREV}}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dirty="0">
                          <a:solidFill>
                            <a:srgbClr val="2D2D2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{{10X10WEBPREV}}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dirty="0">
                          <a:solidFill>
                            <a:srgbClr val="2D2D2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{{10X10WEBPREV}}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dirty="0">
                          <a:solidFill>
                            <a:srgbClr val="2D2D2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{{10X10WEBPREV}}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dirty="0">
                          <a:solidFill>
                            <a:srgbClr val="2D2D2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{{10X10WEBPREV}}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dirty="0">
                          <a:solidFill>
                            <a:srgbClr val="2D2D2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{{10X10WEBPREV}}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{{10X20WEBPREV}}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20 x 15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8"/>
                        </a:lnSpc>
                        <a:defRPr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{{20X15WEBPREV}}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Box 17"/>
          <p:cNvSpPr txBox="1"/>
          <p:nvPr/>
        </p:nvSpPr>
        <p:spPr>
          <a:xfrm rot="-5400000">
            <a:off x="-226538" y="3591213"/>
            <a:ext cx="2477550" cy="74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FLOOR 1 UNITS</a:t>
            </a:r>
          </a:p>
        </p:txBody>
      </p:sp>
      <p:sp>
        <p:nvSpPr>
          <p:cNvPr id="18" name="TextBox 18"/>
          <p:cNvSpPr txBox="1"/>
          <p:nvPr/>
        </p:nvSpPr>
        <p:spPr>
          <a:xfrm rot="-5400000">
            <a:off x="-226538" y="7275612"/>
            <a:ext cx="2477550" cy="74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ELEVATOR UNITS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2">
            <a:extLst>
              <a:ext uri="{FF2B5EF4-FFF2-40B4-BE49-F238E27FC236}">
                <a16:creationId xmlns:a16="http://schemas.microsoft.com/office/drawing/2014/main" id="{3669D1BF-BECF-E7EF-2E9E-6B288DC837BF}"/>
              </a:ext>
            </a:extLst>
          </p:cNvPr>
          <p:cNvGrpSpPr>
            <a:grpSpLocks noChangeAspect="1"/>
          </p:cNvGrpSpPr>
          <p:nvPr/>
        </p:nvGrpSpPr>
        <p:grpSpPr>
          <a:xfrm>
            <a:off x="-5425" y="18016"/>
            <a:ext cx="18288000" cy="10287000"/>
            <a:chOff x="0" y="0"/>
            <a:chExt cx="24384000" cy="13716000"/>
          </a:xfrm>
        </p:grpSpPr>
        <p:sp>
          <p:nvSpPr>
            <p:cNvPr id="102" name="Freeform 3">
              <a:extLst>
                <a:ext uri="{FF2B5EF4-FFF2-40B4-BE49-F238E27FC236}">
                  <a16:creationId xmlns:a16="http://schemas.microsoft.com/office/drawing/2014/main" id="{62DAD2DE-0406-3378-AC0B-42EAC107D98D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85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3" name="Group 4">
            <a:extLst>
              <a:ext uri="{FF2B5EF4-FFF2-40B4-BE49-F238E27FC236}">
                <a16:creationId xmlns:a16="http://schemas.microsoft.com/office/drawing/2014/main" id="{9C0188C5-1867-CBB8-DE77-604BAC47A7A5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104" name="Freeform 5">
              <a:extLst>
                <a:ext uri="{FF2B5EF4-FFF2-40B4-BE49-F238E27FC236}">
                  <a16:creationId xmlns:a16="http://schemas.microsoft.com/office/drawing/2014/main" id="{7623B9DD-1846-F7E0-3EE7-1866D6B005C7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0" y="0"/>
            <a:ext cx="18288000" cy="1609200"/>
            <a:chOff x="0" y="0"/>
            <a:chExt cx="24384000" cy="214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45538"/>
            </a:xfrm>
            <a:custGeom>
              <a:avLst/>
              <a:gdLst/>
              <a:ahLst/>
              <a:cxnLst/>
              <a:rect l="l" t="t" r="r" b="b"/>
              <a:pathLst>
                <a:path w="24384000" h="2145538">
                  <a:moveTo>
                    <a:pt x="0" y="0"/>
                  </a:moveTo>
                  <a:lnTo>
                    <a:pt x="24384000" y="0"/>
                  </a:lnTo>
                  <a:lnTo>
                    <a:pt x="24384000" y="2145538"/>
                  </a:lnTo>
                  <a:lnTo>
                    <a:pt x="0" y="214553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4384000" cy="2240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5999"/>
                </a:lnSpc>
              </a:pPr>
              <a:r>
                <a:rPr lang="en-US" sz="4999" dirty="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{{CURRENTMONTH}} Operational Snapshot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7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43" y="9105175"/>
            <a:ext cx="1000935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 dirty="0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Additional information can be found in the daily flash report.</a:t>
            </a:r>
          </a:p>
        </p:txBody>
      </p:sp>
      <p:grpSp>
        <p:nvGrpSpPr>
          <p:cNvPr id="16" name="Group 41">
            <a:extLst>
              <a:ext uri="{FF2B5EF4-FFF2-40B4-BE49-F238E27FC236}">
                <a16:creationId xmlns:a16="http://schemas.microsoft.com/office/drawing/2014/main" id="{7DFB2AB5-375E-C1C4-B80A-61E3C207CFBD}"/>
              </a:ext>
            </a:extLst>
          </p:cNvPr>
          <p:cNvGrpSpPr/>
          <p:nvPr/>
        </p:nvGrpSpPr>
        <p:grpSpPr>
          <a:xfrm>
            <a:off x="304800" y="3162300"/>
            <a:ext cx="3310650" cy="1664850"/>
            <a:chOff x="0" y="0"/>
            <a:chExt cx="871941" cy="438479"/>
          </a:xfrm>
        </p:grpSpPr>
        <p:sp>
          <p:nvSpPr>
            <p:cNvPr id="17" name="Freeform 42">
              <a:extLst>
                <a:ext uri="{FF2B5EF4-FFF2-40B4-BE49-F238E27FC236}">
                  <a16:creationId xmlns:a16="http://schemas.microsoft.com/office/drawing/2014/main" id="{EA03B3A0-4F28-8517-12D7-929F93E1C6DE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43">
              <a:extLst>
                <a:ext uri="{FF2B5EF4-FFF2-40B4-BE49-F238E27FC236}">
                  <a16:creationId xmlns:a16="http://schemas.microsoft.com/office/drawing/2014/main" id="{BA50E27C-5D12-7098-659C-2F3974E9F765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2" name="TextBox 44">
            <a:extLst>
              <a:ext uri="{FF2B5EF4-FFF2-40B4-BE49-F238E27FC236}">
                <a16:creationId xmlns:a16="http://schemas.microsoft.com/office/drawing/2014/main" id="{C287B4B5-E27A-95EE-15C7-28349203BFBD}"/>
              </a:ext>
            </a:extLst>
          </p:cNvPr>
          <p:cNvSpPr txBox="1"/>
          <p:nvPr/>
        </p:nvSpPr>
        <p:spPr>
          <a:xfrm>
            <a:off x="381000" y="323466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{{MTDRENTALS}}</a:t>
            </a:r>
          </a:p>
        </p:txBody>
      </p:sp>
      <p:sp>
        <p:nvSpPr>
          <p:cNvPr id="33" name="TextBox 45">
            <a:extLst>
              <a:ext uri="{FF2B5EF4-FFF2-40B4-BE49-F238E27FC236}">
                <a16:creationId xmlns:a16="http://schemas.microsoft.com/office/drawing/2014/main" id="{9711E967-15B6-CD0C-2AC2-9CB7DC7D67CE}"/>
              </a:ext>
            </a:extLst>
          </p:cNvPr>
          <p:cNvSpPr txBox="1"/>
          <p:nvPr/>
        </p:nvSpPr>
        <p:spPr>
          <a:xfrm>
            <a:off x="304800" y="404812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MTD Rentals</a:t>
            </a:r>
          </a:p>
        </p:txBody>
      </p:sp>
      <p:grpSp>
        <p:nvGrpSpPr>
          <p:cNvPr id="36" name="Group 41">
            <a:extLst>
              <a:ext uri="{FF2B5EF4-FFF2-40B4-BE49-F238E27FC236}">
                <a16:creationId xmlns:a16="http://schemas.microsoft.com/office/drawing/2014/main" id="{61645E73-E9DB-D300-CBCF-3E61D9741156}"/>
              </a:ext>
            </a:extLst>
          </p:cNvPr>
          <p:cNvGrpSpPr/>
          <p:nvPr/>
        </p:nvGrpSpPr>
        <p:grpSpPr>
          <a:xfrm>
            <a:off x="3829193" y="3162300"/>
            <a:ext cx="3310650" cy="1664850"/>
            <a:chOff x="0" y="0"/>
            <a:chExt cx="871941" cy="438479"/>
          </a:xfrm>
        </p:grpSpPr>
        <p:sp>
          <p:nvSpPr>
            <p:cNvPr id="37" name="Freeform 42">
              <a:extLst>
                <a:ext uri="{FF2B5EF4-FFF2-40B4-BE49-F238E27FC236}">
                  <a16:creationId xmlns:a16="http://schemas.microsoft.com/office/drawing/2014/main" id="{6986647C-A77B-B291-E1D5-96FD92966E22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43">
              <a:extLst>
                <a:ext uri="{FF2B5EF4-FFF2-40B4-BE49-F238E27FC236}">
                  <a16:creationId xmlns:a16="http://schemas.microsoft.com/office/drawing/2014/main" id="{ABBF664E-4B01-32D9-F91C-0EFC5F6DEDD8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9" name="TextBox 44">
            <a:extLst>
              <a:ext uri="{FF2B5EF4-FFF2-40B4-BE49-F238E27FC236}">
                <a16:creationId xmlns:a16="http://schemas.microsoft.com/office/drawing/2014/main" id="{2E421697-969E-5B59-F30F-DD7FCA2CDA56}"/>
              </a:ext>
            </a:extLst>
          </p:cNvPr>
          <p:cNvSpPr txBox="1"/>
          <p:nvPr/>
        </p:nvSpPr>
        <p:spPr>
          <a:xfrm>
            <a:off x="3905393" y="323466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{{DAILYRENTALS}}</a:t>
            </a:r>
          </a:p>
        </p:txBody>
      </p:sp>
      <p:sp>
        <p:nvSpPr>
          <p:cNvPr id="40" name="TextBox 45">
            <a:extLst>
              <a:ext uri="{FF2B5EF4-FFF2-40B4-BE49-F238E27FC236}">
                <a16:creationId xmlns:a16="http://schemas.microsoft.com/office/drawing/2014/main" id="{B3CF5E80-C6D3-ECDA-1886-ADC54C70C185}"/>
              </a:ext>
            </a:extLst>
          </p:cNvPr>
          <p:cNvSpPr txBox="1"/>
          <p:nvPr/>
        </p:nvSpPr>
        <p:spPr>
          <a:xfrm>
            <a:off x="3829193" y="404812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Daily Rentals</a:t>
            </a:r>
          </a:p>
        </p:txBody>
      </p:sp>
      <p:grpSp>
        <p:nvGrpSpPr>
          <p:cNvPr id="41" name="Group 41">
            <a:extLst>
              <a:ext uri="{FF2B5EF4-FFF2-40B4-BE49-F238E27FC236}">
                <a16:creationId xmlns:a16="http://schemas.microsoft.com/office/drawing/2014/main" id="{46E8CADD-5C3D-DB2A-0958-C214554FEC2A}"/>
              </a:ext>
            </a:extLst>
          </p:cNvPr>
          <p:cNvGrpSpPr/>
          <p:nvPr/>
        </p:nvGrpSpPr>
        <p:grpSpPr>
          <a:xfrm>
            <a:off x="7334393" y="3162300"/>
            <a:ext cx="3310650" cy="1664850"/>
            <a:chOff x="0" y="0"/>
            <a:chExt cx="871941" cy="438479"/>
          </a:xfrm>
        </p:grpSpPr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4E1B6FCC-BB86-E4FF-AFC5-0C45D400AD78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>
              <a:extLst>
                <a:ext uri="{FF2B5EF4-FFF2-40B4-BE49-F238E27FC236}">
                  <a16:creationId xmlns:a16="http://schemas.microsoft.com/office/drawing/2014/main" id="{3384AA28-C765-099C-21B2-2B0B306BA7B8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>
            <a:extLst>
              <a:ext uri="{FF2B5EF4-FFF2-40B4-BE49-F238E27FC236}">
                <a16:creationId xmlns:a16="http://schemas.microsoft.com/office/drawing/2014/main" id="{256DBE84-76BB-DF2A-6EDF-007D23A43414}"/>
              </a:ext>
            </a:extLst>
          </p:cNvPr>
          <p:cNvSpPr txBox="1"/>
          <p:nvPr/>
        </p:nvSpPr>
        <p:spPr>
          <a:xfrm>
            <a:off x="7410593" y="3234663"/>
            <a:ext cx="3181207" cy="59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{{CONV}}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A588436A-8117-9DAD-7A5E-7527B4039559}"/>
              </a:ext>
            </a:extLst>
          </p:cNvPr>
          <p:cNvSpPr txBox="1"/>
          <p:nvPr/>
        </p:nvSpPr>
        <p:spPr>
          <a:xfrm>
            <a:off x="7334393" y="404812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Lead Conversion</a:t>
            </a:r>
          </a:p>
        </p:txBody>
      </p:sp>
      <p:grpSp>
        <p:nvGrpSpPr>
          <p:cNvPr id="46" name="Group 41">
            <a:extLst>
              <a:ext uri="{FF2B5EF4-FFF2-40B4-BE49-F238E27FC236}">
                <a16:creationId xmlns:a16="http://schemas.microsoft.com/office/drawing/2014/main" id="{EFEFABE1-C600-38CC-194D-0378FCCF6476}"/>
              </a:ext>
            </a:extLst>
          </p:cNvPr>
          <p:cNvGrpSpPr/>
          <p:nvPr/>
        </p:nvGrpSpPr>
        <p:grpSpPr>
          <a:xfrm>
            <a:off x="10839593" y="3162300"/>
            <a:ext cx="3310650" cy="1664850"/>
            <a:chOff x="0" y="0"/>
            <a:chExt cx="871941" cy="438479"/>
          </a:xfrm>
        </p:grpSpPr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C7E010AD-67F0-DB79-4FAB-C3293D1D20CB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3">
              <a:extLst>
                <a:ext uri="{FF2B5EF4-FFF2-40B4-BE49-F238E27FC236}">
                  <a16:creationId xmlns:a16="http://schemas.microsoft.com/office/drawing/2014/main" id="{90FDDEBF-5E60-FECF-D5C5-CD896F71690C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9" name="TextBox 44">
            <a:extLst>
              <a:ext uri="{FF2B5EF4-FFF2-40B4-BE49-F238E27FC236}">
                <a16:creationId xmlns:a16="http://schemas.microsoft.com/office/drawing/2014/main" id="{4BB2B5A3-D35C-6334-37AD-5EE2ED8BB57A}"/>
              </a:ext>
            </a:extLst>
          </p:cNvPr>
          <p:cNvSpPr txBox="1"/>
          <p:nvPr/>
        </p:nvSpPr>
        <p:spPr>
          <a:xfrm>
            <a:off x="10915793" y="323466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{{MTDVACATES}}</a:t>
            </a:r>
          </a:p>
        </p:txBody>
      </p:sp>
      <p:sp>
        <p:nvSpPr>
          <p:cNvPr id="50" name="TextBox 45">
            <a:extLst>
              <a:ext uri="{FF2B5EF4-FFF2-40B4-BE49-F238E27FC236}">
                <a16:creationId xmlns:a16="http://schemas.microsoft.com/office/drawing/2014/main" id="{E947CF11-6478-526B-BBD9-DEA14896B0A5}"/>
              </a:ext>
            </a:extLst>
          </p:cNvPr>
          <p:cNvSpPr txBox="1"/>
          <p:nvPr/>
        </p:nvSpPr>
        <p:spPr>
          <a:xfrm>
            <a:off x="10839593" y="4048125"/>
            <a:ext cx="3269567" cy="497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MTD Vacates</a:t>
            </a:r>
          </a:p>
        </p:txBody>
      </p:sp>
      <p:grpSp>
        <p:nvGrpSpPr>
          <p:cNvPr id="51" name="Group 41">
            <a:extLst>
              <a:ext uri="{FF2B5EF4-FFF2-40B4-BE49-F238E27FC236}">
                <a16:creationId xmlns:a16="http://schemas.microsoft.com/office/drawing/2014/main" id="{05B9E614-D59C-40C8-9F4C-E974E1D81485}"/>
              </a:ext>
            </a:extLst>
          </p:cNvPr>
          <p:cNvGrpSpPr/>
          <p:nvPr/>
        </p:nvGrpSpPr>
        <p:grpSpPr>
          <a:xfrm>
            <a:off x="14420993" y="3162300"/>
            <a:ext cx="3310650" cy="1664850"/>
            <a:chOff x="0" y="0"/>
            <a:chExt cx="871941" cy="438479"/>
          </a:xfrm>
        </p:grpSpPr>
        <p:sp>
          <p:nvSpPr>
            <p:cNvPr id="52" name="Freeform 42">
              <a:extLst>
                <a:ext uri="{FF2B5EF4-FFF2-40B4-BE49-F238E27FC236}">
                  <a16:creationId xmlns:a16="http://schemas.microsoft.com/office/drawing/2014/main" id="{D382B21C-317D-C115-FCA6-5CBD756100BB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43">
              <a:extLst>
                <a:ext uri="{FF2B5EF4-FFF2-40B4-BE49-F238E27FC236}">
                  <a16:creationId xmlns:a16="http://schemas.microsoft.com/office/drawing/2014/main" id="{FD7006A7-4484-9849-2D02-E0FECA00F050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4" name="TextBox 44">
            <a:extLst>
              <a:ext uri="{FF2B5EF4-FFF2-40B4-BE49-F238E27FC236}">
                <a16:creationId xmlns:a16="http://schemas.microsoft.com/office/drawing/2014/main" id="{B7B3BBE5-CAF3-C9F1-D2A9-53FEB02F50C5}"/>
              </a:ext>
            </a:extLst>
          </p:cNvPr>
          <p:cNvSpPr txBox="1"/>
          <p:nvPr/>
        </p:nvSpPr>
        <p:spPr>
          <a:xfrm>
            <a:off x="14497193" y="323466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{{MTDNETRENTALS}}</a:t>
            </a:r>
          </a:p>
        </p:txBody>
      </p:sp>
      <p:sp>
        <p:nvSpPr>
          <p:cNvPr id="55" name="TextBox 45">
            <a:extLst>
              <a:ext uri="{FF2B5EF4-FFF2-40B4-BE49-F238E27FC236}">
                <a16:creationId xmlns:a16="http://schemas.microsoft.com/office/drawing/2014/main" id="{9C28B3A7-9D35-D1C8-509C-FC32497E31E0}"/>
              </a:ext>
            </a:extLst>
          </p:cNvPr>
          <p:cNvSpPr txBox="1"/>
          <p:nvPr/>
        </p:nvSpPr>
        <p:spPr>
          <a:xfrm>
            <a:off x="14420993" y="404812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MTD Net</a:t>
            </a:r>
          </a:p>
        </p:txBody>
      </p:sp>
      <p:grpSp>
        <p:nvGrpSpPr>
          <p:cNvPr id="76" name="Group 41">
            <a:extLst>
              <a:ext uri="{FF2B5EF4-FFF2-40B4-BE49-F238E27FC236}">
                <a16:creationId xmlns:a16="http://schemas.microsoft.com/office/drawing/2014/main" id="{B145205C-F1A3-7397-D900-432548B13003}"/>
              </a:ext>
            </a:extLst>
          </p:cNvPr>
          <p:cNvGrpSpPr/>
          <p:nvPr/>
        </p:nvGrpSpPr>
        <p:grpSpPr>
          <a:xfrm>
            <a:off x="304800" y="5231250"/>
            <a:ext cx="3310650" cy="1664850"/>
            <a:chOff x="0" y="0"/>
            <a:chExt cx="871941" cy="438479"/>
          </a:xfrm>
        </p:grpSpPr>
        <p:sp>
          <p:nvSpPr>
            <p:cNvPr id="77" name="Freeform 42">
              <a:extLst>
                <a:ext uri="{FF2B5EF4-FFF2-40B4-BE49-F238E27FC236}">
                  <a16:creationId xmlns:a16="http://schemas.microsoft.com/office/drawing/2014/main" id="{282D1D12-C5E6-316A-33BE-FD77D90C0A93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43">
              <a:extLst>
                <a:ext uri="{FF2B5EF4-FFF2-40B4-BE49-F238E27FC236}">
                  <a16:creationId xmlns:a16="http://schemas.microsoft.com/office/drawing/2014/main" id="{90EC3831-7541-8ABC-8715-78FB148716AA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79" name="TextBox 44">
            <a:extLst>
              <a:ext uri="{FF2B5EF4-FFF2-40B4-BE49-F238E27FC236}">
                <a16:creationId xmlns:a16="http://schemas.microsoft.com/office/drawing/2014/main" id="{96785DB2-C3F3-F75D-8DE6-C162AB3A9A28}"/>
              </a:ext>
            </a:extLst>
          </p:cNvPr>
          <p:cNvSpPr txBox="1"/>
          <p:nvPr/>
        </p:nvSpPr>
        <p:spPr>
          <a:xfrm>
            <a:off x="381000" y="5303613"/>
            <a:ext cx="3181207" cy="593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{{PROJRENT}}</a:t>
            </a:r>
          </a:p>
        </p:txBody>
      </p:sp>
      <p:sp>
        <p:nvSpPr>
          <p:cNvPr id="80" name="TextBox 45">
            <a:extLst>
              <a:ext uri="{FF2B5EF4-FFF2-40B4-BE49-F238E27FC236}">
                <a16:creationId xmlns:a16="http://schemas.microsoft.com/office/drawing/2014/main" id="{9AD64C21-DD1B-0C03-CA2E-8BC0F6BAF7DC}"/>
              </a:ext>
            </a:extLst>
          </p:cNvPr>
          <p:cNvSpPr txBox="1"/>
          <p:nvPr/>
        </p:nvSpPr>
        <p:spPr>
          <a:xfrm>
            <a:off x="304800" y="611707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Projected Rent</a:t>
            </a:r>
          </a:p>
        </p:txBody>
      </p:sp>
      <p:grpSp>
        <p:nvGrpSpPr>
          <p:cNvPr id="81" name="Group 41">
            <a:extLst>
              <a:ext uri="{FF2B5EF4-FFF2-40B4-BE49-F238E27FC236}">
                <a16:creationId xmlns:a16="http://schemas.microsoft.com/office/drawing/2014/main" id="{A8B17132-26AB-4386-9931-9F9E9EFA4E4B}"/>
              </a:ext>
            </a:extLst>
          </p:cNvPr>
          <p:cNvGrpSpPr/>
          <p:nvPr/>
        </p:nvGrpSpPr>
        <p:grpSpPr>
          <a:xfrm>
            <a:off x="3829193" y="5231250"/>
            <a:ext cx="3310650" cy="1664850"/>
            <a:chOff x="0" y="0"/>
            <a:chExt cx="871941" cy="438479"/>
          </a:xfrm>
        </p:grpSpPr>
        <p:sp>
          <p:nvSpPr>
            <p:cNvPr id="82" name="Freeform 42">
              <a:extLst>
                <a:ext uri="{FF2B5EF4-FFF2-40B4-BE49-F238E27FC236}">
                  <a16:creationId xmlns:a16="http://schemas.microsoft.com/office/drawing/2014/main" id="{7B080420-AA1B-E73F-1AAC-0DEF51E8B94E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Box 43">
              <a:extLst>
                <a:ext uri="{FF2B5EF4-FFF2-40B4-BE49-F238E27FC236}">
                  <a16:creationId xmlns:a16="http://schemas.microsoft.com/office/drawing/2014/main" id="{A0E891B5-E360-0705-A1DA-EB73B0478221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84" name="TextBox 44">
            <a:extLst>
              <a:ext uri="{FF2B5EF4-FFF2-40B4-BE49-F238E27FC236}">
                <a16:creationId xmlns:a16="http://schemas.microsoft.com/office/drawing/2014/main" id="{0EC5E9F7-863C-DE5B-D71D-7E0632316569}"/>
              </a:ext>
            </a:extLst>
          </p:cNvPr>
          <p:cNvSpPr txBox="1"/>
          <p:nvPr/>
        </p:nvSpPr>
        <p:spPr>
          <a:xfrm>
            <a:off x="3905393" y="530361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{{PROJRENTPERSF}}</a:t>
            </a:r>
          </a:p>
        </p:txBody>
      </p:sp>
      <p:sp>
        <p:nvSpPr>
          <p:cNvPr id="85" name="TextBox 45">
            <a:extLst>
              <a:ext uri="{FF2B5EF4-FFF2-40B4-BE49-F238E27FC236}">
                <a16:creationId xmlns:a16="http://schemas.microsoft.com/office/drawing/2014/main" id="{D64049D5-8E8A-C7F3-44C8-5165D72D8E91}"/>
              </a:ext>
            </a:extLst>
          </p:cNvPr>
          <p:cNvSpPr txBox="1"/>
          <p:nvPr/>
        </p:nvSpPr>
        <p:spPr>
          <a:xfrm>
            <a:off x="3829193" y="611707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Projected Rent/SF</a:t>
            </a:r>
          </a:p>
        </p:txBody>
      </p:sp>
      <p:grpSp>
        <p:nvGrpSpPr>
          <p:cNvPr id="86" name="Group 41">
            <a:extLst>
              <a:ext uri="{FF2B5EF4-FFF2-40B4-BE49-F238E27FC236}">
                <a16:creationId xmlns:a16="http://schemas.microsoft.com/office/drawing/2014/main" id="{A194E09A-672B-2566-2FEF-76B25DA68195}"/>
              </a:ext>
            </a:extLst>
          </p:cNvPr>
          <p:cNvGrpSpPr/>
          <p:nvPr/>
        </p:nvGrpSpPr>
        <p:grpSpPr>
          <a:xfrm>
            <a:off x="7334393" y="5231250"/>
            <a:ext cx="3310650" cy="1664850"/>
            <a:chOff x="0" y="0"/>
            <a:chExt cx="871941" cy="438479"/>
          </a:xfrm>
        </p:grpSpPr>
        <p:sp>
          <p:nvSpPr>
            <p:cNvPr id="87" name="Freeform 42">
              <a:extLst>
                <a:ext uri="{FF2B5EF4-FFF2-40B4-BE49-F238E27FC236}">
                  <a16:creationId xmlns:a16="http://schemas.microsoft.com/office/drawing/2014/main" id="{83F4823C-CB9F-2299-905B-FFCE65A1C5B4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43">
              <a:extLst>
                <a:ext uri="{FF2B5EF4-FFF2-40B4-BE49-F238E27FC236}">
                  <a16:creationId xmlns:a16="http://schemas.microsoft.com/office/drawing/2014/main" id="{B685CAA6-A831-9BC5-749C-7B54048059BE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89" name="TextBox 44">
            <a:extLst>
              <a:ext uri="{FF2B5EF4-FFF2-40B4-BE49-F238E27FC236}">
                <a16:creationId xmlns:a16="http://schemas.microsoft.com/office/drawing/2014/main" id="{B63650AF-EADA-6832-7C25-802DF507A2B8}"/>
              </a:ext>
            </a:extLst>
          </p:cNvPr>
          <p:cNvSpPr txBox="1"/>
          <p:nvPr/>
        </p:nvSpPr>
        <p:spPr>
          <a:xfrm>
            <a:off x="7410593" y="530361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{{EFFPOTRENT}}</a:t>
            </a:r>
          </a:p>
        </p:txBody>
      </p:sp>
      <p:sp>
        <p:nvSpPr>
          <p:cNvPr id="90" name="TextBox 45">
            <a:extLst>
              <a:ext uri="{FF2B5EF4-FFF2-40B4-BE49-F238E27FC236}">
                <a16:creationId xmlns:a16="http://schemas.microsoft.com/office/drawing/2014/main" id="{5710F870-E13D-FA29-B9C8-001C04CF19C7}"/>
              </a:ext>
            </a:extLst>
          </p:cNvPr>
          <p:cNvSpPr txBox="1"/>
          <p:nvPr/>
        </p:nvSpPr>
        <p:spPr>
          <a:xfrm>
            <a:off x="7334393" y="611707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Sell Rate Pot. Rent</a:t>
            </a:r>
          </a:p>
        </p:txBody>
      </p:sp>
      <p:grpSp>
        <p:nvGrpSpPr>
          <p:cNvPr id="91" name="Group 41">
            <a:extLst>
              <a:ext uri="{FF2B5EF4-FFF2-40B4-BE49-F238E27FC236}">
                <a16:creationId xmlns:a16="http://schemas.microsoft.com/office/drawing/2014/main" id="{09450ECB-CD00-7D46-7A37-1F8918A66617}"/>
              </a:ext>
            </a:extLst>
          </p:cNvPr>
          <p:cNvGrpSpPr/>
          <p:nvPr/>
        </p:nvGrpSpPr>
        <p:grpSpPr>
          <a:xfrm>
            <a:off x="10839593" y="5231250"/>
            <a:ext cx="3310650" cy="1664850"/>
            <a:chOff x="0" y="0"/>
            <a:chExt cx="871941" cy="438479"/>
          </a:xfrm>
        </p:grpSpPr>
        <p:sp>
          <p:nvSpPr>
            <p:cNvPr id="92" name="Freeform 42">
              <a:extLst>
                <a:ext uri="{FF2B5EF4-FFF2-40B4-BE49-F238E27FC236}">
                  <a16:creationId xmlns:a16="http://schemas.microsoft.com/office/drawing/2014/main" id="{55882327-D0FD-4E3E-6D18-F9ABA78E25CA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Box 43">
              <a:extLst>
                <a:ext uri="{FF2B5EF4-FFF2-40B4-BE49-F238E27FC236}">
                  <a16:creationId xmlns:a16="http://schemas.microsoft.com/office/drawing/2014/main" id="{13402C5B-CE31-9205-C539-4F2AB05D1106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94" name="TextBox 44">
            <a:extLst>
              <a:ext uri="{FF2B5EF4-FFF2-40B4-BE49-F238E27FC236}">
                <a16:creationId xmlns:a16="http://schemas.microsoft.com/office/drawing/2014/main" id="{5C0E170E-3640-1A76-EA6E-C86ACC4E07FA}"/>
              </a:ext>
            </a:extLst>
          </p:cNvPr>
          <p:cNvSpPr txBox="1"/>
          <p:nvPr/>
        </p:nvSpPr>
        <p:spPr>
          <a:xfrm>
            <a:off x="10915793" y="530361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{{AVGSFVACA}}</a:t>
            </a:r>
          </a:p>
        </p:txBody>
      </p:sp>
      <p:sp>
        <p:nvSpPr>
          <p:cNvPr id="95" name="TextBox 45">
            <a:extLst>
              <a:ext uri="{FF2B5EF4-FFF2-40B4-BE49-F238E27FC236}">
                <a16:creationId xmlns:a16="http://schemas.microsoft.com/office/drawing/2014/main" id="{C5886E1E-4AE8-98E7-0055-886791ABD92C}"/>
              </a:ext>
            </a:extLst>
          </p:cNvPr>
          <p:cNvSpPr txBox="1"/>
          <p:nvPr/>
        </p:nvSpPr>
        <p:spPr>
          <a:xfrm>
            <a:off x="10839593" y="6117075"/>
            <a:ext cx="3269567" cy="497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Sell Rate/</a:t>
            </a:r>
            <a:r>
              <a:rPr lang="en-US" sz="2999" dirty="0" err="1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SqFt</a:t>
            </a:r>
            <a:endParaRPr lang="en-US" sz="2999" dirty="0">
              <a:solidFill>
                <a:srgbClr val="3B52A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96" name="Group 41">
            <a:extLst>
              <a:ext uri="{FF2B5EF4-FFF2-40B4-BE49-F238E27FC236}">
                <a16:creationId xmlns:a16="http://schemas.microsoft.com/office/drawing/2014/main" id="{F795C424-A623-3F60-28FE-BE1120DF67A8}"/>
              </a:ext>
            </a:extLst>
          </p:cNvPr>
          <p:cNvGrpSpPr/>
          <p:nvPr/>
        </p:nvGrpSpPr>
        <p:grpSpPr>
          <a:xfrm>
            <a:off x="14420993" y="5231250"/>
            <a:ext cx="3310650" cy="1664850"/>
            <a:chOff x="0" y="0"/>
            <a:chExt cx="871941" cy="438479"/>
          </a:xfrm>
        </p:grpSpPr>
        <p:sp>
          <p:nvSpPr>
            <p:cNvPr id="97" name="Freeform 42">
              <a:extLst>
                <a:ext uri="{FF2B5EF4-FFF2-40B4-BE49-F238E27FC236}">
                  <a16:creationId xmlns:a16="http://schemas.microsoft.com/office/drawing/2014/main" id="{ABDF11F4-BD05-7E49-438D-380E76D9172D}"/>
                </a:ext>
              </a:extLst>
            </p:cNvPr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Box 43">
              <a:extLst>
                <a:ext uri="{FF2B5EF4-FFF2-40B4-BE49-F238E27FC236}">
                  <a16:creationId xmlns:a16="http://schemas.microsoft.com/office/drawing/2014/main" id="{34C9B84F-F1AA-FC35-8913-6E63E29F7DFE}"/>
                </a:ext>
              </a:extLst>
            </p:cNvPr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99" name="TextBox 44">
            <a:extLst>
              <a:ext uri="{FF2B5EF4-FFF2-40B4-BE49-F238E27FC236}">
                <a16:creationId xmlns:a16="http://schemas.microsoft.com/office/drawing/2014/main" id="{CF69C673-9587-85AA-26B9-51CF533DC558}"/>
              </a:ext>
            </a:extLst>
          </p:cNvPr>
          <p:cNvSpPr txBox="1"/>
          <p:nvPr/>
        </p:nvSpPr>
        <p:spPr>
          <a:xfrm>
            <a:off x="14497193" y="5303613"/>
            <a:ext cx="3181207" cy="123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{{GROSSPOTRENT}}</a:t>
            </a:r>
          </a:p>
        </p:txBody>
      </p:sp>
      <p:sp>
        <p:nvSpPr>
          <p:cNvPr id="100" name="TextBox 45">
            <a:extLst>
              <a:ext uri="{FF2B5EF4-FFF2-40B4-BE49-F238E27FC236}">
                <a16:creationId xmlns:a16="http://schemas.microsoft.com/office/drawing/2014/main" id="{5F2F2D86-BB5A-879B-7F18-4B1B2D65AF81}"/>
              </a:ext>
            </a:extLst>
          </p:cNvPr>
          <p:cNvSpPr txBox="1"/>
          <p:nvPr/>
        </p:nvSpPr>
        <p:spPr>
          <a:xfrm>
            <a:off x="14420993" y="6117075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Gross Pot. Rent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10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85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00" y="45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862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venir"/>
                  <a:ea typeface="Avenir"/>
                  <a:cs typeface="Avenir"/>
                  <a:sym typeface="Avenir"/>
                </a:rPr>
                <a:t>8</a:t>
              </a:r>
            </a:p>
          </p:txBody>
        </p:sp>
      </p:grpSp>
      <p:sp>
        <p:nvSpPr>
          <p:cNvPr id="9" name="AutoShape 9"/>
          <p:cNvSpPr/>
          <p:nvPr/>
        </p:nvSpPr>
        <p:spPr>
          <a:xfrm rot="14726">
            <a:off x="439672" y="5134425"/>
            <a:ext cx="17018256" cy="0"/>
          </a:xfrm>
          <a:prstGeom prst="line">
            <a:avLst/>
          </a:prstGeom>
          <a:ln w="19050" cap="rnd">
            <a:solidFill>
              <a:srgbClr val="3B52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3525076" y="2983476"/>
            <a:ext cx="3294600" cy="1645800"/>
            <a:chOff x="0" y="0"/>
            <a:chExt cx="4392800" cy="219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392803" cy="2194433"/>
            </a:xfrm>
            <a:custGeom>
              <a:avLst/>
              <a:gdLst/>
              <a:ahLst/>
              <a:cxnLst/>
              <a:rect l="l" t="t" r="r" b="b"/>
              <a:pathLst>
                <a:path w="4392803" h="2194433">
                  <a:moveTo>
                    <a:pt x="0" y="0"/>
                  </a:moveTo>
                  <a:lnTo>
                    <a:pt x="4392803" y="0"/>
                  </a:lnTo>
                  <a:lnTo>
                    <a:pt x="4392803" y="2194433"/>
                  </a:lnTo>
                  <a:lnTo>
                    <a:pt x="0" y="2194433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4392800" cy="2280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{{CURRENTMONTH}}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8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1325" y="8929075"/>
            <a:ext cx="87805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Percent is tenants with insurance against total MTD move-ins. Trailing number includes current month.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-100" y="0"/>
            <a:ext cx="18288000" cy="1688076"/>
            <a:chOff x="0" y="0"/>
            <a:chExt cx="24384000" cy="225076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384000" cy="2250704"/>
            </a:xfrm>
            <a:custGeom>
              <a:avLst/>
              <a:gdLst/>
              <a:ahLst/>
              <a:cxnLst/>
              <a:rect l="l" t="t" r="r" b="b"/>
              <a:pathLst>
                <a:path w="24384000" h="2250704">
                  <a:moveTo>
                    <a:pt x="0" y="0"/>
                  </a:moveTo>
                  <a:lnTo>
                    <a:pt x="24384000" y="0"/>
                  </a:lnTo>
                  <a:lnTo>
                    <a:pt x="24384000" y="2250704"/>
                  </a:lnTo>
                  <a:lnTo>
                    <a:pt x="0" y="2250704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24384000" cy="2346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 Tenant Protection Capture Rate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525114" y="5633600"/>
            <a:ext cx="5380200" cy="1645800"/>
            <a:chOff x="0" y="0"/>
            <a:chExt cx="7173600" cy="219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73595" cy="2194433"/>
            </a:xfrm>
            <a:custGeom>
              <a:avLst/>
              <a:gdLst/>
              <a:ahLst/>
              <a:cxnLst/>
              <a:rect l="l" t="t" r="r" b="b"/>
              <a:pathLst>
                <a:path w="7173595" h="2194433">
                  <a:moveTo>
                    <a:pt x="0" y="0"/>
                  </a:moveTo>
                  <a:lnTo>
                    <a:pt x="7173595" y="0"/>
                  </a:lnTo>
                  <a:lnTo>
                    <a:pt x="7173595" y="2194433"/>
                  </a:lnTo>
                  <a:lnTo>
                    <a:pt x="0" y="2194433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7173600" cy="2280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OVERALL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216550" y="2964426"/>
            <a:ext cx="3310650" cy="1664850"/>
            <a:chOff x="0" y="0"/>
            <a:chExt cx="871941" cy="4384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281272" y="3127637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{{MOVEINS}}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37092" y="3870577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Move-ins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927250" y="2964426"/>
            <a:ext cx="3310650" cy="1664850"/>
            <a:chOff x="0" y="0"/>
            <a:chExt cx="871941" cy="43847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991972" y="3127637"/>
            <a:ext cx="3181207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{{INSURPER}}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940220" y="3870577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Protected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144000" y="5614550"/>
            <a:ext cx="5029178" cy="1664850"/>
            <a:chOff x="0" y="0"/>
            <a:chExt cx="1324557" cy="43847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24557" cy="438479"/>
            </a:xfrm>
            <a:custGeom>
              <a:avLst/>
              <a:gdLst/>
              <a:ahLst/>
              <a:cxnLst/>
              <a:rect l="l" t="t" r="r" b="b"/>
              <a:pathLst>
                <a:path w="1324557" h="438479">
                  <a:moveTo>
                    <a:pt x="0" y="0"/>
                  </a:moveTo>
                  <a:lnTo>
                    <a:pt x="1324557" y="0"/>
                  </a:lnTo>
                  <a:lnTo>
                    <a:pt x="1324557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1324557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865163" y="6030719"/>
            <a:ext cx="3586853" cy="6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{{OVERALLPER}}</a:t>
            </a:r>
          </a:p>
        </p:txBody>
      </p:sp>
      <p:sp>
        <p:nvSpPr>
          <p:cNvPr id="40" name="TextBox 35">
            <a:extLst>
              <a:ext uri="{FF2B5EF4-FFF2-40B4-BE49-F238E27FC236}">
                <a16:creationId xmlns:a16="http://schemas.microsoft.com/office/drawing/2014/main" id="{92A0F015-363D-9D1A-81BE-2E4881924FBD}"/>
              </a:ext>
            </a:extLst>
          </p:cNvPr>
          <p:cNvSpPr txBox="1"/>
          <p:nvPr/>
        </p:nvSpPr>
        <p:spPr>
          <a:xfrm>
            <a:off x="9703247" y="6655104"/>
            <a:ext cx="3910684" cy="497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Protected Percentage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8725" y="4843175"/>
            <a:ext cx="16518450" cy="4337250"/>
            <a:chOff x="0" y="0"/>
            <a:chExt cx="22024600" cy="5783000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1999194" cy="5757545"/>
            </a:xfrm>
            <a:custGeom>
              <a:avLst/>
              <a:gdLst/>
              <a:ahLst/>
              <a:cxnLst/>
              <a:rect l="l" t="t" r="r" b="b"/>
              <a:pathLst>
                <a:path w="21999194" h="5757545">
                  <a:moveTo>
                    <a:pt x="0" y="0"/>
                  </a:moveTo>
                  <a:lnTo>
                    <a:pt x="21999194" y="0"/>
                  </a:lnTo>
                  <a:lnTo>
                    <a:pt x="21999194" y="5757545"/>
                  </a:lnTo>
                  <a:lnTo>
                    <a:pt x="0" y="575754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2024594" cy="5782945"/>
            </a:xfrm>
            <a:custGeom>
              <a:avLst/>
              <a:gdLst/>
              <a:ahLst/>
              <a:cxnLst/>
              <a:rect l="l" t="t" r="r" b="b"/>
              <a:pathLst>
                <a:path w="22024594" h="5782945">
                  <a:moveTo>
                    <a:pt x="12700" y="0"/>
                  </a:moveTo>
                  <a:lnTo>
                    <a:pt x="22011894" y="0"/>
                  </a:lnTo>
                  <a:cubicBezTo>
                    <a:pt x="22018879" y="0"/>
                    <a:pt x="22024594" y="5715"/>
                    <a:pt x="22024594" y="12700"/>
                  </a:cubicBezTo>
                  <a:lnTo>
                    <a:pt x="22024594" y="5770245"/>
                  </a:lnTo>
                  <a:cubicBezTo>
                    <a:pt x="22024594" y="5777230"/>
                    <a:pt x="22018879" y="5782945"/>
                    <a:pt x="22011894" y="5782945"/>
                  </a:cubicBezTo>
                  <a:lnTo>
                    <a:pt x="12700" y="5782945"/>
                  </a:lnTo>
                  <a:cubicBezTo>
                    <a:pt x="5715" y="5782945"/>
                    <a:pt x="0" y="5777230"/>
                    <a:pt x="0" y="577024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770245"/>
                  </a:lnTo>
                  <a:lnTo>
                    <a:pt x="12700" y="5770245"/>
                  </a:lnTo>
                  <a:lnTo>
                    <a:pt x="12700" y="5757545"/>
                  </a:lnTo>
                  <a:lnTo>
                    <a:pt x="22011894" y="5757545"/>
                  </a:lnTo>
                  <a:lnTo>
                    <a:pt x="22011894" y="5770245"/>
                  </a:lnTo>
                  <a:lnTo>
                    <a:pt x="21999194" y="5770245"/>
                  </a:lnTo>
                  <a:lnTo>
                    <a:pt x="21999194" y="12700"/>
                  </a:lnTo>
                  <a:lnTo>
                    <a:pt x="22011894" y="12700"/>
                  </a:lnTo>
                  <a:lnTo>
                    <a:pt x="2201189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463200" cy="105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88250" y="1639850"/>
          <a:ext cx="9652000" cy="2143124"/>
        </p:xfrm>
        <a:graphic>
          <a:graphicData uri="http://schemas.openxmlformats.org/drawingml/2006/table">
            <a:tbl>
              <a:tblPr/>
              <a:tblGrid>
                <a:gridCol w="2822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78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Month-to-date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Year-to-date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Budget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{{REPCM}}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{{REPYTDBUD}}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Actual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{{REPPTD}}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{{REPYTD}}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Variance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{{REPVAR}}</a:t>
                      </a:r>
                      <a:endParaRPr lang="en-US" sz="1100"/>
                    </a:p>
                  </a:txBody>
                  <a:tcPr marL="80000" marR="80000" marT="80000" marB="80000" anchor="ctr">
                    <a:lnL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{{REPYTDVAR}}</a:t>
                      </a:r>
                      <a:endParaRPr lang="en-US" sz="1100"/>
                    </a:p>
                  </a:txBody>
                  <a:tcPr marL="80000" marR="80000" marT="80000" marB="80000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143100" y="5143500"/>
          <a:ext cx="5562600" cy="2621441"/>
        </p:xfrm>
        <a:graphic>
          <a:graphicData uri="http://schemas.openxmlformats.org/drawingml/2006/table">
            <a:tbl>
              <a:tblPr/>
              <a:tblGrid>
                <a:gridCol w="556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502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REPAIR LOG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939">
                <a:tc>
                  <a:txBody>
                    <a:bodyPr/>
                    <a:lstStyle/>
                    <a:p>
                      <a:pPr algn="l">
                        <a:lnSpc>
                          <a:spcPts val="2779"/>
                        </a:lnSpc>
                        <a:defRPr/>
                      </a:pPr>
                      <a:r>
                        <a:rPr lang="en-US" sz="2000" b="1">
                          <a:solidFill>
                            <a:srgbClr val="6F94CA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DATE: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{{CURRENTDATE}}</a:t>
                      </a:r>
                      <a:endParaRPr lang="en-US" sz="1100"/>
                    </a:p>
                    <a:p>
                      <a:pPr algn="l">
                        <a:lnSpc>
                          <a:spcPts val="2779"/>
                        </a:lnSpc>
                      </a:pPr>
                      <a:r>
                        <a:rPr lang="en-US" sz="2000" b="1">
                          <a:solidFill>
                            <a:srgbClr val="6F94CA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DESCRIPTION OF EXPENSES: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N/A</a:t>
                      </a:r>
                    </a:p>
                    <a:p>
                      <a:pPr algn="l">
                        <a:lnSpc>
                          <a:spcPts val="2779"/>
                        </a:lnSpc>
                      </a:pPr>
                      <a:r>
                        <a:rPr lang="en-US" sz="2000">
                          <a:solidFill>
                            <a:srgbClr val="6F94C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COST: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$N/A</a:t>
                      </a:r>
                    </a:p>
                    <a:p>
                      <a:pPr algn="l">
                        <a:lnSpc>
                          <a:spcPts val="2779"/>
                        </a:lnSpc>
                      </a:pPr>
                      <a:r>
                        <a:rPr lang="en-US" sz="2000">
                          <a:solidFill>
                            <a:srgbClr val="6F94C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STATUS: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N/A</a:t>
                      </a: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9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14825" y="276625"/>
            <a:ext cx="1685835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7"/>
              </a:lnSpc>
            </a:pPr>
            <a:r>
              <a:rPr lang="en-US" sz="503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Repair and Maintenance Budget Variance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913625" y="1630625"/>
            <a:ext cx="6483450" cy="2701050"/>
            <a:chOff x="0" y="0"/>
            <a:chExt cx="8644600" cy="3601400"/>
          </a:xfrm>
        </p:grpSpPr>
        <p:sp>
          <p:nvSpPr>
            <p:cNvPr id="18" name="Freeform 18"/>
            <p:cNvSpPr/>
            <p:nvPr/>
          </p:nvSpPr>
          <p:spPr>
            <a:xfrm>
              <a:off x="12700" y="12700"/>
              <a:ext cx="8619236" cy="3575939"/>
            </a:xfrm>
            <a:custGeom>
              <a:avLst/>
              <a:gdLst/>
              <a:ahLst/>
              <a:cxnLst/>
              <a:rect l="l" t="t" r="r" b="b"/>
              <a:pathLst>
                <a:path w="8619236" h="3575939">
                  <a:moveTo>
                    <a:pt x="0" y="0"/>
                  </a:moveTo>
                  <a:lnTo>
                    <a:pt x="8619236" y="0"/>
                  </a:lnTo>
                  <a:lnTo>
                    <a:pt x="8619236" y="3575939"/>
                  </a:lnTo>
                  <a:lnTo>
                    <a:pt x="0" y="357593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8644636" cy="3601339"/>
            </a:xfrm>
            <a:custGeom>
              <a:avLst/>
              <a:gdLst/>
              <a:ahLst/>
              <a:cxnLst/>
              <a:rect l="l" t="t" r="r" b="b"/>
              <a:pathLst>
                <a:path w="8644636" h="3601339">
                  <a:moveTo>
                    <a:pt x="12700" y="0"/>
                  </a:moveTo>
                  <a:lnTo>
                    <a:pt x="8631936" y="0"/>
                  </a:lnTo>
                  <a:cubicBezTo>
                    <a:pt x="8638921" y="0"/>
                    <a:pt x="8644636" y="5715"/>
                    <a:pt x="8644636" y="12700"/>
                  </a:cubicBezTo>
                  <a:lnTo>
                    <a:pt x="8644636" y="3588639"/>
                  </a:lnTo>
                  <a:cubicBezTo>
                    <a:pt x="8644636" y="3595624"/>
                    <a:pt x="8638921" y="3601339"/>
                    <a:pt x="8631936" y="3601339"/>
                  </a:cubicBezTo>
                  <a:lnTo>
                    <a:pt x="12700" y="3601339"/>
                  </a:lnTo>
                  <a:cubicBezTo>
                    <a:pt x="5715" y="3601339"/>
                    <a:pt x="0" y="3595624"/>
                    <a:pt x="0" y="35886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588639"/>
                  </a:lnTo>
                  <a:lnTo>
                    <a:pt x="12700" y="3588639"/>
                  </a:lnTo>
                  <a:lnTo>
                    <a:pt x="12700" y="3575939"/>
                  </a:lnTo>
                  <a:lnTo>
                    <a:pt x="8631936" y="3575939"/>
                  </a:lnTo>
                  <a:lnTo>
                    <a:pt x="8631936" y="3588639"/>
                  </a:lnTo>
                  <a:lnTo>
                    <a:pt x="8619236" y="3588639"/>
                  </a:lnTo>
                  <a:lnTo>
                    <a:pt x="8619236" y="12700"/>
                  </a:lnTo>
                  <a:lnTo>
                    <a:pt x="8631936" y="12700"/>
                  </a:lnTo>
                  <a:lnTo>
                    <a:pt x="8631936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11098800" y="1708350"/>
          <a:ext cx="5816600" cy="1319668"/>
        </p:xfrm>
        <a:graphic>
          <a:graphicData uri="http://schemas.openxmlformats.org/drawingml/2006/table">
            <a:tbl>
              <a:tblPr/>
              <a:tblGrid>
                <a:gridCol w="581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028">
                <a:tc>
                  <a:txBody>
                    <a:bodyPr/>
                    <a:lstStyle/>
                    <a:p>
                      <a:pPr algn="l">
                        <a:lnSpc>
                          <a:spcPts val="3311"/>
                        </a:lnSpc>
                        <a:defRPr/>
                      </a:pPr>
                      <a:r>
                        <a:rPr lang="en-US" sz="2400">
                          <a:solidFill>
                            <a:srgbClr val="595959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MANAGEMENT NOTES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372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N/A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09" r="-9799" b="-322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-4500"/>
            <a:ext cx="18288000" cy="10296000"/>
            <a:chOff x="0" y="0"/>
            <a:chExt cx="24384000" cy="1372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27937"/>
            </a:xfrm>
            <a:custGeom>
              <a:avLst/>
              <a:gdLst/>
              <a:ahLst/>
              <a:cxnLst/>
              <a:rect l="l" t="t" r="r" b="b"/>
              <a:pathLst>
                <a:path w="24384000" h="13727937">
                  <a:moveTo>
                    <a:pt x="0" y="0"/>
                  </a:moveTo>
                  <a:lnTo>
                    <a:pt x="24384000" y="0"/>
                  </a:lnTo>
                  <a:lnTo>
                    <a:pt x="24384000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3B52A1">
                <a:alpha val="4627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43000" y="1407150"/>
            <a:ext cx="15564000" cy="7377675"/>
            <a:chOff x="0" y="0"/>
            <a:chExt cx="20752000" cy="9836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52054" cy="9836912"/>
            </a:xfrm>
            <a:custGeom>
              <a:avLst/>
              <a:gdLst/>
              <a:ahLst/>
              <a:cxnLst/>
              <a:rect l="l" t="t" r="r" b="b"/>
              <a:pathLst>
                <a:path w="20752054" h="9836912">
                  <a:moveTo>
                    <a:pt x="0" y="0"/>
                  </a:moveTo>
                  <a:lnTo>
                    <a:pt x="20752054" y="0"/>
                  </a:lnTo>
                  <a:lnTo>
                    <a:pt x="20752054" y="9836912"/>
                  </a:lnTo>
                  <a:lnTo>
                    <a:pt x="0" y="9836912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14825" y="296475"/>
            <a:ext cx="1685835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7"/>
              </a:lnSpc>
            </a:pPr>
            <a:r>
              <a:rPr lang="en-US" sz="503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Delinquent Rent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04B4E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May 2025</a:t>
              </a:r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2184250" y="1676876"/>
          <a:ext cx="14655800" cy="3022601"/>
        </p:xfrm>
        <a:graphic>
          <a:graphicData uri="http://schemas.openxmlformats.org/drawingml/2006/table">
            <a:tbl>
              <a:tblPr/>
              <a:tblGrid>
                <a:gridCol w="3313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0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0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0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828">
                <a:tc gridSpan="4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DELINQUENT RENT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DELINQUENT RENT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DELINQUENT RENT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DELINQUENT RENT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828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Days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Percent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Units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Dollars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315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1-30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{{DELINPER30}}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{{DELINUNIT30}}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{{DELINDOL30}}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315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31-60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{{DELINPER60}}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{{DELINUNIT60}}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{{DELINDOL60}}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315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61+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{{DELINPER61}}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{{DELINUNIT61}}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{{DELINDOL61}}</a:t>
                      </a:r>
                      <a:endParaRPr lang="en-US" sz="1100"/>
                    </a:p>
                  </a:txBody>
                  <a:tcPr marL="79328" marR="79328" marT="79328" marB="79328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04B4E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1425" y="9038375"/>
            <a:ext cx="58171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Percent is total delinquent rent against total rental income.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275675" y="7523550"/>
            <a:ext cx="6548550" cy="114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MANAGEMENT NOTES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Delinquencies remain low at this facility.</a:t>
            </a:r>
          </a:p>
        </p:txBody>
      </p:sp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2184250" y="5367626"/>
          <a:ext cx="14630400" cy="1854199"/>
        </p:xfrm>
        <a:graphic>
          <a:graphicData uri="http://schemas.openxmlformats.org/drawingml/2006/table">
            <a:tbl>
              <a:tblPr/>
              <a:tblGrid>
                <a:gridCol w="4527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8153">
                <a:tc gridSpan="4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UNITS IN AUCTION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UNITS IN AUCTION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UNITS IN AUCTION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UNITS IN AUCTION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53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 Size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Days in Delinquency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Date of Auction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Date of Auction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893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-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-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-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D2D2D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-</a:t>
                      </a:r>
                      <a:endParaRPr lang="en-US" sz="1100"/>
                    </a:p>
                  </a:txBody>
                  <a:tcPr marL="84896" marR="84896" marT="84896" marB="84896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478500" cy="10287000"/>
            <a:chOff x="0" y="0"/>
            <a:chExt cx="24638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638000" cy="13716000"/>
            </a:xfrm>
            <a:custGeom>
              <a:avLst/>
              <a:gdLst/>
              <a:ahLst/>
              <a:cxnLst/>
              <a:rect l="l" t="t" r="r" b="b"/>
              <a:pathLst>
                <a:path w="24638000" h="13716000">
                  <a:moveTo>
                    <a:pt x="0" y="0"/>
                  </a:moveTo>
                  <a:lnTo>
                    <a:pt x="24638000" y="0"/>
                  </a:lnTo>
                  <a:lnTo>
                    <a:pt x="2463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9" r="620" b="-197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47700" y="0"/>
            <a:ext cx="18383400" cy="10296000"/>
            <a:chOff x="0" y="0"/>
            <a:chExt cx="24511200" cy="1372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511254" cy="13727937"/>
            </a:xfrm>
            <a:custGeom>
              <a:avLst/>
              <a:gdLst/>
              <a:ahLst/>
              <a:cxnLst/>
              <a:rect l="l" t="t" r="r" b="b"/>
              <a:pathLst>
                <a:path w="24511254" h="13727937">
                  <a:moveTo>
                    <a:pt x="0" y="0"/>
                  </a:moveTo>
                  <a:lnTo>
                    <a:pt x="24511254" y="0"/>
                  </a:lnTo>
                  <a:lnTo>
                    <a:pt x="24511254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FFFFFF">
                <a:alpha val="4627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335700" cy="1681647"/>
            <a:chOff x="0" y="0"/>
            <a:chExt cx="24447600" cy="22421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47601" cy="2242208"/>
            </a:xfrm>
            <a:custGeom>
              <a:avLst/>
              <a:gdLst/>
              <a:ahLst/>
              <a:cxnLst/>
              <a:rect l="l" t="t" r="r" b="b"/>
              <a:pathLst>
                <a:path w="24447601" h="2242208">
                  <a:moveTo>
                    <a:pt x="0" y="0"/>
                  </a:moveTo>
                  <a:lnTo>
                    <a:pt x="24447601" y="0"/>
                  </a:lnTo>
                  <a:lnTo>
                    <a:pt x="24447601" y="2242208"/>
                  </a:lnTo>
                  <a:lnTo>
                    <a:pt x="0" y="224220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24447600" cy="2346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 Marketing &amp; Digital Performance |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1028700" y="5741971"/>
            <a:ext cx="16230600" cy="0"/>
          </a:xfrm>
          <a:prstGeom prst="line">
            <a:avLst/>
          </a:prstGeom>
          <a:ln w="47625" cap="rnd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5564811" y="3212999"/>
            <a:ext cx="3310650" cy="1645800"/>
            <a:chOff x="0" y="0"/>
            <a:chExt cx="871941" cy="4334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1941" cy="433462"/>
            </a:xfrm>
            <a:custGeom>
              <a:avLst/>
              <a:gdLst/>
              <a:ahLst/>
              <a:cxnLst/>
              <a:rect l="l" t="t" r="r" b="b"/>
              <a:pathLst>
                <a:path w="871941" h="433462">
                  <a:moveTo>
                    <a:pt x="0" y="0"/>
                  </a:moveTo>
                  <a:lnTo>
                    <a:pt x="871941" y="0"/>
                  </a:lnTo>
                  <a:lnTo>
                    <a:pt x="871941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71941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23347" y="3203474"/>
            <a:ext cx="3310650" cy="1655325"/>
            <a:chOff x="0" y="0"/>
            <a:chExt cx="871941" cy="43597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71941" cy="435970"/>
            </a:xfrm>
            <a:custGeom>
              <a:avLst/>
              <a:gdLst/>
              <a:ahLst/>
              <a:cxnLst/>
              <a:rect l="l" t="t" r="r" b="b"/>
              <a:pathLst>
                <a:path w="871941" h="435970">
                  <a:moveTo>
                    <a:pt x="0" y="0"/>
                  </a:moveTo>
                  <a:lnTo>
                    <a:pt x="871941" y="0"/>
                  </a:lnTo>
                  <a:lnTo>
                    <a:pt x="871941" y="435970"/>
                  </a:lnTo>
                  <a:lnTo>
                    <a:pt x="0" y="4359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71941" cy="483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081884" y="3212999"/>
            <a:ext cx="3310650" cy="1664850"/>
            <a:chOff x="0" y="0"/>
            <a:chExt cx="871941" cy="43847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71941" cy="438479"/>
            </a:xfrm>
            <a:custGeom>
              <a:avLst/>
              <a:gdLst/>
              <a:ahLst/>
              <a:cxnLst/>
              <a:rect l="l" t="t" r="r" b="b"/>
              <a:pathLst>
                <a:path w="871941" h="438479">
                  <a:moveTo>
                    <a:pt x="0" y="0"/>
                  </a:moveTo>
                  <a:lnTo>
                    <a:pt x="871941" y="0"/>
                  </a:lnTo>
                  <a:lnTo>
                    <a:pt x="871941" y="438479"/>
                  </a:lnTo>
                  <a:lnTo>
                    <a:pt x="0" y="438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71941" cy="486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690520" y="6458484"/>
            <a:ext cx="3227939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XXX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895466" y="6399677"/>
            <a:ext cx="6979995" cy="2858623"/>
            <a:chOff x="0" y="0"/>
            <a:chExt cx="1838353" cy="7528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838353" cy="752888"/>
            </a:xfrm>
            <a:custGeom>
              <a:avLst/>
              <a:gdLst/>
              <a:ahLst/>
              <a:cxnLst/>
              <a:rect l="l" t="t" r="r" b="b"/>
              <a:pathLst>
                <a:path w="1838353" h="752888">
                  <a:moveTo>
                    <a:pt x="0" y="0"/>
                  </a:moveTo>
                  <a:lnTo>
                    <a:pt x="1838353" y="0"/>
                  </a:lnTo>
                  <a:lnTo>
                    <a:pt x="1838353" y="752888"/>
                  </a:lnTo>
                  <a:lnTo>
                    <a:pt x="0" y="75288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838353" cy="8005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12539" y="6399677"/>
            <a:ext cx="6979995" cy="2858623"/>
            <a:chOff x="0" y="0"/>
            <a:chExt cx="1838353" cy="7528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38353" cy="752888"/>
            </a:xfrm>
            <a:custGeom>
              <a:avLst/>
              <a:gdLst/>
              <a:ahLst/>
              <a:cxnLst/>
              <a:rect l="l" t="t" r="r" b="b"/>
              <a:pathLst>
                <a:path w="1838353" h="752888">
                  <a:moveTo>
                    <a:pt x="0" y="0"/>
                  </a:moveTo>
                  <a:lnTo>
                    <a:pt x="1838353" y="0"/>
                  </a:lnTo>
                  <a:lnTo>
                    <a:pt x="1838353" y="752888"/>
                  </a:lnTo>
                  <a:lnTo>
                    <a:pt x="0" y="75288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838353" cy="8005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585353" y="4100100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Clicks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36317" y="4100100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Conversions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102425" y="4119150"/>
            <a:ext cx="3269567" cy="49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Cost/Click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92074" y="6617234"/>
            <a:ext cx="5186779" cy="604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Google Rank Tracker (MoM)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09146" y="6590247"/>
            <a:ext cx="5186779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Keyword Search Grid (MoM)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45717" y="8206814"/>
            <a:ext cx="2410148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Avg Google Position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891164" y="8206814"/>
            <a:ext cx="1755749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Position Change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35098" y="7374963"/>
            <a:ext cx="2831387" cy="146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{{GOOPOS}}</a:t>
            </a:r>
          </a:p>
          <a:p>
            <a:pPr algn="ctr">
              <a:lnSpc>
                <a:spcPts val="5599"/>
              </a:lnSpc>
            </a:pPr>
            <a:endParaRPr lang="en-US" sz="3999" b="1">
              <a:solidFill>
                <a:srgbClr val="FFFFFF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390052" y="7374963"/>
            <a:ext cx="2709483" cy="146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{{POSCHG}}</a:t>
            </a:r>
          </a:p>
          <a:p>
            <a:pPr algn="ctr">
              <a:lnSpc>
                <a:spcPts val="5599"/>
              </a:lnSpc>
            </a:pPr>
            <a:endParaRPr lang="en-US" sz="3999" b="1">
              <a:solidFill>
                <a:srgbClr val="FFFFFF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450931" y="8111564"/>
            <a:ext cx="2108145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Avg Map Rank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868669" y="8206814"/>
            <a:ext cx="1737079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Position Change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159665" y="7374963"/>
            <a:ext cx="2690677" cy="146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{{KEYMAP}}</a:t>
            </a:r>
          </a:p>
          <a:p>
            <a:pPr algn="ctr">
              <a:lnSpc>
                <a:spcPts val="5599"/>
              </a:lnSpc>
            </a:pPr>
            <a:endParaRPr lang="en-US" sz="3999" b="1">
              <a:solidFill>
                <a:srgbClr val="FFFFFF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3405437" y="7374963"/>
            <a:ext cx="2568232" cy="146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{{KEYPOS}}</a:t>
            </a:r>
          </a:p>
          <a:p>
            <a:pPr algn="ctr">
              <a:lnSpc>
                <a:spcPts val="5599"/>
              </a:lnSpc>
            </a:pPr>
            <a:endParaRPr lang="en-US" sz="3999" b="1">
              <a:solidFill>
                <a:srgbClr val="FFFFFF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1505003" y="8918014"/>
            <a:ext cx="2909590" cy="26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 i="1">
                <a:solidFill>
                  <a:srgbClr val="FFFFFF"/>
                </a:solidFill>
                <a:latin typeface="Avenir Bold Italics"/>
                <a:ea typeface="Avenir Bold Italics"/>
                <a:cs typeface="Avenir Bold Italics"/>
                <a:sym typeface="Avenir Bold Italics"/>
              </a:rPr>
              <a:t>*Results for “self storage near me”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895466" y="3212999"/>
            <a:ext cx="3310650" cy="1645800"/>
            <a:chOff x="0" y="0"/>
            <a:chExt cx="871941" cy="43346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71941" cy="433462"/>
            </a:xfrm>
            <a:custGeom>
              <a:avLst/>
              <a:gdLst/>
              <a:ahLst/>
              <a:cxnLst/>
              <a:rect l="l" t="t" r="r" b="b"/>
              <a:pathLst>
                <a:path w="871941" h="433462">
                  <a:moveTo>
                    <a:pt x="0" y="0"/>
                  </a:moveTo>
                  <a:lnTo>
                    <a:pt x="871941" y="0"/>
                  </a:lnTo>
                  <a:lnTo>
                    <a:pt x="871941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871941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916008" y="4100100"/>
            <a:ext cx="326956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Impressions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895466" y="3382619"/>
            <a:ext cx="3290108" cy="210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{{GOOIMPRES}}</a:t>
            </a:r>
          </a:p>
          <a:p>
            <a:pPr algn="ctr">
              <a:lnSpc>
                <a:spcPts val="5599"/>
              </a:lnSpc>
            </a:pPr>
            <a:endParaRPr lang="en-US" sz="3999" b="1" dirty="0">
              <a:solidFill>
                <a:srgbClr val="3B52A1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5585353" y="3382619"/>
            <a:ext cx="3261745" cy="210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{{GOOCLICKS}}</a:t>
            </a:r>
          </a:p>
          <a:p>
            <a:pPr algn="ctr">
              <a:lnSpc>
                <a:spcPts val="5599"/>
              </a:lnSpc>
            </a:pPr>
            <a:endParaRPr lang="en-US" sz="3999" b="1" dirty="0">
              <a:solidFill>
                <a:srgbClr val="3B52A1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336317" y="3382619"/>
            <a:ext cx="3269567" cy="210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{{GOOCONV}}</a:t>
            </a:r>
          </a:p>
          <a:p>
            <a:pPr algn="ctr">
              <a:lnSpc>
                <a:spcPts val="5599"/>
              </a:lnSpc>
            </a:pPr>
            <a:endParaRPr lang="en-US" sz="3999" b="1" dirty="0">
              <a:solidFill>
                <a:srgbClr val="3B52A1"/>
              </a:solidFill>
              <a:latin typeface="Avenir Bold"/>
              <a:ea typeface="Avenir Bold"/>
              <a:cs typeface="Avenir Bold"/>
              <a:sym typeface="Avenir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3091197" y="3382619"/>
            <a:ext cx="3280795" cy="138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{{GOOCOSCON}}</a:t>
            </a:r>
          </a:p>
        </p:txBody>
      </p:sp>
      <p:grpSp>
        <p:nvGrpSpPr>
          <p:cNvPr id="48" name="Group 48"/>
          <p:cNvGrpSpPr>
            <a:grpSpLocks noChangeAspect="1"/>
          </p:cNvGrpSpPr>
          <p:nvPr/>
        </p:nvGrpSpPr>
        <p:grpSpPr>
          <a:xfrm>
            <a:off x="10286915" y="536822"/>
            <a:ext cx="608042" cy="608002"/>
            <a:chOff x="0" y="0"/>
            <a:chExt cx="810723" cy="81066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0768" cy="810641"/>
            </a:xfrm>
            <a:custGeom>
              <a:avLst/>
              <a:gdLst/>
              <a:ahLst/>
              <a:cxnLst/>
              <a:rect l="l" t="t" r="r" b="b"/>
              <a:pathLst>
                <a:path w="810768" h="810641">
                  <a:moveTo>
                    <a:pt x="0" y="0"/>
                  </a:moveTo>
                  <a:lnTo>
                    <a:pt x="810768" y="0"/>
                  </a:lnTo>
                  <a:lnTo>
                    <a:pt x="810768" y="810641"/>
                  </a:lnTo>
                  <a:lnTo>
                    <a:pt x="0" y="810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" r="5"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0"/>
            <a:ext cx="18478500" cy="10287000"/>
            <a:chOff x="0" y="0"/>
            <a:chExt cx="24638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38000" cy="13716000"/>
            </a:xfrm>
            <a:custGeom>
              <a:avLst/>
              <a:gdLst/>
              <a:ahLst/>
              <a:cxnLst/>
              <a:rect l="l" t="t" r="r" b="b"/>
              <a:pathLst>
                <a:path w="24638000" h="13716000">
                  <a:moveTo>
                    <a:pt x="0" y="0"/>
                  </a:moveTo>
                  <a:lnTo>
                    <a:pt x="24638000" y="0"/>
                  </a:lnTo>
                  <a:lnTo>
                    <a:pt x="2463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19" r="620" b="-197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7700" y="0"/>
            <a:ext cx="18383400" cy="10296000"/>
            <a:chOff x="0" y="0"/>
            <a:chExt cx="24511200" cy="13728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511254" cy="13727937"/>
            </a:xfrm>
            <a:custGeom>
              <a:avLst/>
              <a:gdLst/>
              <a:ahLst/>
              <a:cxnLst/>
              <a:rect l="l" t="t" r="r" b="b"/>
              <a:pathLst>
                <a:path w="24511254" h="13727937">
                  <a:moveTo>
                    <a:pt x="0" y="0"/>
                  </a:moveTo>
                  <a:lnTo>
                    <a:pt x="24511254" y="0"/>
                  </a:lnTo>
                  <a:lnTo>
                    <a:pt x="24511254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FFFFFF">
                <a:alpha val="4627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6405406"/>
            <a:ext cx="16230600" cy="2852894"/>
            <a:chOff x="0" y="0"/>
            <a:chExt cx="21640800" cy="38038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40771" cy="3803856"/>
            </a:xfrm>
            <a:custGeom>
              <a:avLst/>
              <a:gdLst/>
              <a:ahLst/>
              <a:cxnLst/>
              <a:rect l="l" t="t" r="r" b="b"/>
              <a:pathLst>
                <a:path w="21640771" h="3803856">
                  <a:moveTo>
                    <a:pt x="0" y="0"/>
                  </a:moveTo>
                  <a:lnTo>
                    <a:pt x="21640771" y="0"/>
                  </a:lnTo>
                  <a:lnTo>
                    <a:pt x="21640771" y="3803856"/>
                  </a:lnTo>
                  <a:lnTo>
                    <a:pt x="0" y="3803856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AutoShape 9"/>
          <p:cNvSpPr/>
          <p:nvPr/>
        </p:nvSpPr>
        <p:spPr>
          <a:xfrm>
            <a:off x="8097885" y="856518"/>
            <a:ext cx="19050" cy="19050"/>
          </a:xfrm>
          <a:prstGeom prst="line">
            <a:avLst/>
          </a:prstGeom>
          <a:ln w="9525" cap="rnd">
            <a:solidFill>
              <a:srgbClr val="5959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9346074" y="3180693"/>
            <a:ext cx="3341918" cy="1645800"/>
            <a:chOff x="0" y="0"/>
            <a:chExt cx="880176" cy="4334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80176" cy="433462"/>
            </a:xfrm>
            <a:custGeom>
              <a:avLst/>
              <a:gdLst/>
              <a:ahLst/>
              <a:cxnLst/>
              <a:rect l="l" t="t" r="r" b="b"/>
              <a:pathLst>
                <a:path w="880176" h="433462">
                  <a:moveTo>
                    <a:pt x="0" y="0"/>
                  </a:moveTo>
                  <a:lnTo>
                    <a:pt x="880176" y="0"/>
                  </a:lnTo>
                  <a:lnTo>
                    <a:pt x="880176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80176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8052" y="3180693"/>
            <a:ext cx="3310650" cy="1645800"/>
            <a:chOff x="0" y="0"/>
            <a:chExt cx="871941" cy="4334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71941" cy="433462"/>
            </a:xfrm>
            <a:custGeom>
              <a:avLst/>
              <a:gdLst/>
              <a:ahLst/>
              <a:cxnLst/>
              <a:rect l="l" t="t" r="r" b="b"/>
              <a:pathLst>
                <a:path w="871941" h="433462">
                  <a:moveTo>
                    <a:pt x="0" y="0"/>
                  </a:moveTo>
                  <a:lnTo>
                    <a:pt x="871941" y="0"/>
                  </a:lnTo>
                  <a:lnTo>
                    <a:pt x="871941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71941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183291" y="3180693"/>
            <a:ext cx="3336657" cy="1645800"/>
            <a:chOff x="0" y="0"/>
            <a:chExt cx="878790" cy="43346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78790" cy="433462"/>
            </a:xfrm>
            <a:custGeom>
              <a:avLst/>
              <a:gdLst/>
              <a:ahLst/>
              <a:cxnLst/>
              <a:rect l="l" t="t" r="r" b="b"/>
              <a:pathLst>
                <a:path w="878790" h="433462">
                  <a:moveTo>
                    <a:pt x="0" y="0"/>
                  </a:moveTo>
                  <a:lnTo>
                    <a:pt x="878790" y="0"/>
                  </a:lnTo>
                  <a:lnTo>
                    <a:pt x="878790" y="433462"/>
                  </a:lnTo>
                  <a:lnTo>
                    <a:pt x="0" y="4334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78790" cy="481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74002" y="3180693"/>
            <a:ext cx="3310650" cy="1636994"/>
            <a:chOff x="0" y="0"/>
            <a:chExt cx="871941" cy="4311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71941" cy="431142"/>
            </a:xfrm>
            <a:custGeom>
              <a:avLst/>
              <a:gdLst/>
              <a:ahLst/>
              <a:cxnLst/>
              <a:rect l="l" t="t" r="r" b="b"/>
              <a:pathLst>
                <a:path w="871941" h="431142">
                  <a:moveTo>
                    <a:pt x="0" y="0"/>
                  </a:moveTo>
                  <a:lnTo>
                    <a:pt x="871941" y="0"/>
                  </a:lnTo>
                  <a:lnTo>
                    <a:pt x="871941" y="431142"/>
                  </a:lnTo>
                  <a:lnTo>
                    <a:pt x="0" y="4311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3B52A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71941" cy="478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646729" y="3460501"/>
            <a:ext cx="2280270" cy="463883"/>
          </a:xfrm>
          <a:custGeom>
            <a:avLst/>
            <a:gdLst/>
            <a:ahLst/>
            <a:cxnLst/>
            <a:rect l="l" t="t" r="r" b="b"/>
            <a:pathLst>
              <a:path w="2280270" h="463883">
                <a:moveTo>
                  <a:pt x="0" y="0"/>
                </a:moveTo>
                <a:lnTo>
                  <a:pt x="2280270" y="0"/>
                </a:lnTo>
                <a:lnTo>
                  <a:pt x="2280270" y="463883"/>
                </a:lnTo>
                <a:lnTo>
                  <a:pt x="0" y="4638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56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6588539" y="6603983"/>
            <a:ext cx="530142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 NOVEMBER’S TOP REVIEWS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82249" y="4077193"/>
            <a:ext cx="3269567" cy="479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MoM Change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145191" y="3973136"/>
            <a:ext cx="3336657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4.9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46504" y="4077193"/>
            <a:ext cx="2565645" cy="479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MTD Reviews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68052" y="4077193"/>
            <a:ext cx="3310650" cy="479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Total GBP Reviews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509601" y="7536257"/>
            <a:ext cx="4734223" cy="1044575"/>
            <a:chOff x="0" y="0"/>
            <a:chExt cx="6312297" cy="1392767"/>
          </a:xfrm>
        </p:grpSpPr>
        <p:sp>
          <p:nvSpPr>
            <p:cNvPr id="29" name="TextBox 29"/>
            <p:cNvSpPr txBox="1"/>
            <p:nvPr/>
          </p:nvSpPr>
          <p:spPr>
            <a:xfrm>
              <a:off x="0" y="-85725"/>
              <a:ext cx="6312297" cy="1478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Hannah Pedersen</a:t>
              </a:r>
            </a:p>
            <a:p>
              <a:pPr algn="l">
                <a:lnSpc>
                  <a:spcPts val="3079"/>
                </a:lnSpc>
              </a:pPr>
              <a:endParaRPr lang="en-US" sz="20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endParaRPr>
            </a:p>
            <a:p>
              <a:pPr algn="ctr">
                <a:lnSpc>
                  <a:spcPts val="2800"/>
                </a:lnSpc>
              </a:pPr>
              <a:r>
                <a:rPr lang="en-US" sz="2000" b="1" i="1">
                  <a:solidFill>
                    <a:srgbClr val="FFFFFF"/>
                  </a:solidFill>
                  <a:latin typeface="Avenir Bold Italics"/>
                  <a:ea typeface="Avenir Bold Italics"/>
                  <a:cs typeface="Avenir Bold Italics"/>
                  <a:sym typeface="Avenir Bold Italics"/>
                </a:rPr>
                <a:t>“</a:t>
              </a:r>
              <a:r>
                <a:rPr lang="en-US" sz="2000" i="1">
                  <a:solidFill>
                    <a:srgbClr val="FFFFFF"/>
                  </a:solidFill>
                  <a:latin typeface="Avenir Italics"/>
                  <a:ea typeface="Avenir Italics"/>
                  <a:cs typeface="Avenir Italics"/>
                  <a:sym typeface="Avenir Italics"/>
                </a:rPr>
                <a:t>Great service, easy, safe, great location”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487561"/>
              <a:ext cx="1641789" cy="316044"/>
            </a:xfrm>
            <a:custGeom>
              <a:avLst/>
              <a:gdLst/>
              <a:ahLst/>
              <a:cxnLst/>
              <a:rect l="l" t="t" r="r" b="b"/>
              <a:pathLst>
                <a:path w="1641789" h="316044">
                  <a:moveTo>
                    <a:pt x="0" y="0"/>
                  </a:moveTo>
                  <a:lnTo>
                    <a:pt x="1641789" y="0"/>
                  </a:lnTo>
                  <a:lnTo>
                    <a:pt x="1641789" y="316045"/>
                  </a:lnTo>
                  <a:lnTo>
                    <a:pt x="0" y="316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977248" y="7536257"/>
            <a:ext cx="4534275" cy="1044575"/>
            <a:chOff x="0" y="0"/>
            <a:chExt cx="6045700" cy="1392767"/>
          </a:xfrm>
        </p:grpSpPr>
        <p:sp>
          <p:nvSpPr>
            <p:cNvPr id="32" name="TextBox 32"/>
            <p:cNvSpPr txBox="1"/>
            <p:nvPr/>
          </p:nvSpPr>
          <p:spPr>
            <a:xfrm>
              <a:off x="9232" y="-85725"/>
              <a:ext cx="6036469" cy="1478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Livier Delgadillo</a:t>
              </a:r>
            </a:p>
            <a:p>
              <a:pPr algn="l">
                <a:lnSpc>
                  <a:spcPts val="3079"/>
                </a:lnSpc>
              </a:pPr>
              <a:endParaRPr lang="en-US" sz="20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endParaRPr>
            </a:p>
            <a:p>
              <a:pPr algn="ctr">
                <a:lnSpc>
                  <a:spcPts val="2800"/>
                </a:lnSpc>
              </a:pPr>
              <a:r>
                <a:rPr lang="en-US" sz="2000" b="1" i="1">
                  <a:solidFill>
                    <a:srgbClr val="FFFFFF"/>
                  </a:solidFill>
                  <a:latin typeface="Avenir Bold Italics"/>
                  <a:ea typeface="Avenir Bold Italics"/>
                  <a:cs typeface="Avenir Bold Italics"/>
                  <a:sym typeface="Avenir Bold Italics"/>
                </a:rPr>
                <a:t>“</a:t>
              </a:r>
              <a:r>
                <a:rPr lang="en-US" sz="2000" i="1">
                  <a:solidFill>
                    <a:srgbClr val="FFFFFF"/>
                  </a:solidFill>
                  <a:latin typeface="Avenir Italics"/>
                  <a:ea typeface="Avenir Italics"/>
                  <a:cs typeface="Avenir Italics"/>
                  <a:sym typeface="Avenir Italics"/>
                </a:rPr>
                <a:t>Great customer service from Andrew!”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0" y="512961"/>
              <a:ext cx="1641789" cy="316044"/>
            </a:xfrm>
            <a:custGeom>
              <a:avLst/>
              <a:gdLst/>
              <a:ahLst/>
              <a:cxnLst/>
              <a:rect l="l" t="t" r="r" b="b"/>
              <a:pathLst>
                <a:path w="1641789" h="316044">
                  <a:moveTo>
                    <a:pt x="0" y="0"/>
                  </a:moveTo>
                  <a:lnTo>
                    <a:pt x="1641789" y="0"/>
                  </a:lnTo>
                  <a:lnTo>
                    <a:pt x="1641789" y="316045"/>
                  </a:lnTo>
                  <a:lnTo>
                    <a:pt x="0" y="316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244949" y="7183832"/>
            <a:ext cx="4734223" cy="1749425"/>
            <a:chOff x="0" y="0"/>
            <a:chExt cx="6312297" cy="2332567"/>
          </a:xfrm>
        </p:grpSpPr>
        <p:sp>
          <p:nvSpPr>
            <p:cNvPr id="35" name="TextBox 35"/>
            <p:cNvSpPr txBox="1"/>
            <p:nvPr/>
          </p:nvSpPr>
          <p:spPr>
            <a:xfrm>
              <a:off x="0" y="-85725"/>
              <a:ext cx="6312297" cy="24182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Koko Tzavaras</a:t>
              </a:r>
            </a:p>
            <a:p>
              <a:pPr algn="l">
                <a:lnSpc>
                  <a:spcPts val="3079"/>
                </a:lnSpc>
              </a:pPr>
              <a:endParaRPr lang="en-US" sz="20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endParaRPr>
            </a:p>
            <a:p>
              <a:pPr algn="l">
                <a:lnSpc>
                  <a:spcPts val="2800"/>
                </a:lnSpc>
              </a:pPr>
              <a:r>
                <a:rPr lang="en-US" sz="2000" b="1" i="1">
                  <a:solidFill>
                    <a:srgbClr val="FFFFFF"/>
                  </a:solidFill>
                  <a:latin typeface="Avenir Bold Italics"/>
                  <a:ea typeface="Avenir Bold Italics"/>
                  <a:cs typeface="Avenir Bold Italics"/>
                  <a:sym typeface="Avenir Bold Italics"/>
                </a:rPr>
                <a:t>“</a:t>
              </a:r>
              <a:r>
                <a:rPr lang="en-US" sz="2000" i="1">
                  <a:solidFill>
                    <a:srgbClr val="FFFFFF"/>
                  </a:solidFill>
                  <a:latin typeface="Avenir Italics"/>
                  <a:ea typeface="Avenir Italics"/>
                  <a:cs typeface="Avenir Italics"/>
                  <a:sym typeface="Avenir Italics"/>
                </a:rPr>
                <a:t>Outstanding, helpful staff, beautiful facility, and excellent location! This is my second time being a client! Thank you!”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469900"/>
              <a:ext cx="1641789" cy="316044"/>
            </a:xfrm>
            <a:custGeom>
              <a:avLst/>
              <a:gdLst/>
              <a:ahLst/>
              <a:cxnLst/>
              <a:rect l="l" t="t" r="r" b="b"/>
              <a:pathLst>
                <a:path w="1641789" h="316044">
                  <a:moveTo>
                    <a:pt x="0" y="0"/>
                  </a:moveTo>
                  <a:lnTo>
                    <a:pt x="1641789" y="0"/>
                  </a:lnTo>
                  <a:lnTo>
                    <a:pt x="1641789" y="316044"/>
                  </a:lnTo>
                  <a:lnTo>
                    <a:pt x="0" y="316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2972279" y="3238417"/>
            <a:ext cx="902196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161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078936" y="3198436"/>
            <a:ext cx="300782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1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697498" y="3207243"/>
            <a:ext cx="639068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3B52A1"/>
                </a:solidFill>
                <a:latin typeface="Avenir Bold"/>
                <a:ea typeface="Avenir Bold"/>
                <a:cs typeface="Avenir Bold"/>
                <a:sym typeface="Avenir Bold"/>
              </a:rPr>
              <a:t>+1</a:t>
            </a:r>
          </a:p>
        </p:txBody>
      </p:sp>
      <p:sp>
        <p:nvSpPr>
          <p:cNvPr id="40" name="AutoShape 40"/>
          <p:cNvSpPr/>
          <p:nvPr/>
        </p:nvSpPr>
        <p:spPr>
          <a:xfrm>
            <a:off x="1028700" y="5741971"/>
            <a:ext cx="16230600" cy="0"/>
          </a:xfrm>
          <a:prstGeom prst="line">
            <a:avLst/>
          </a:prstGeom>
          <a:ln w="47625" cap="rnd">
            <a:solidFill>
              <a:srgbClr val="3B52A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1" name="Group 41"/>
          <p:cNvGrpSpPr/>
          <p:nvPr/>
        </p:nvGrpSpPr>
        <p:grpSpPr>
          <a:xfrm>
            <a:off x="0" y="0"/>
            <a:ext cx="18335700" cy="1681647"/>
            <a:chOff x="0" y="0"/>
            <a:chExt cx="24447600" cy="224219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4447601" cy="2242208"/>
            </a:xfrm>
            <a:custGeom>
              <a:avLst/>
              <a:gdLst/>
              <a:ahLst/>
              <a:cxnLst/>
              <a:rect l="l" t="t" r="r" b="b"/>
              <a:pathLst>
                <a:path w="24447601" h="2242208">
                  <a:moveTo>
                    <a:pt x="0" y="0"/>
                  </a:moveTo>
                  <a:lnTo>
                    <a:pt x="24447601" y="0"/>
                  </a:lnTo>
                  <a:lnTo>
                    <a:pt x="24447601" y="2242208"/>
                  </a:lnTo>
                  <a:lnTo>
                    <a:pt x="0" y="224220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04775"/>
              <a:ext cx="24447600" cy="2346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  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00950" y="355048"/>
            <a:ext cx="16858350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Customer Experience | </a:t>
            </a:r>
          </a:p>
        </p:txBody>
      </p:sp>
      <p:grpSp>
        <p:nvGrpSpPr>
          <p:cNvPr id="45" name="Group 45"/>
          <p:cNvGrpSpPr>
            <a:grpSpLocks noChangeAspect="1"/>
          </p:cNvGrpSpPr>
          <p:nvPr/>
        </p:nvGrpSpPr>
        <p:grpSpPr>
          <a:xfrm>
            <a:off x="7075697" y="536822"/>
            <a:ext cx="608042" cy="608002"/>
            <a:chOff x="0" y="0"/>
            <a:chExt cx="810723" cy="81066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0768" cy="810641"/>
            </a:xfrm>
            <a:custGeom>
              <a:avLst/>
              <a:gdLst/>
              <a:ahLst/>
              <a:cxnLst/>
              <a:rect l="l" t="t" r="r" b="b"/>
              <a:pathLst>
                <a:path w="810768" h="810641">
                  <a:moveTo>
                    <a:pt x="0" y="0"/>
                  </a:moveTo>
                  <a:lnTo>
                    <a:pt x="810768" y="0"/>
                  </a:lnTo>
                  <a:lnTo>
                    <a:pt x="810768" y="810641"/>
                  </a:lnTo>
                  <a:lnTo>
                    <a:pt x="0" y="810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" r="5"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3183291" y="4347786"/>
            <a:ext cx="3336657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B52A1"/>
                </a:solidFill>
                <a:latin typeface="Avenir"/>
                <a:ea typeface="Avenir"/>
                <a:cs typeface="Avenir"/>
                <a:sym typeface="Avenir"/>
              </a:rPr>
              <a:t>Google Rating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71800" y="0"/>
            <a:ext cx="6616200" cy="10287000"/>
            <a:chOff x="0" y="0"/>
            <a:chExt cx="88216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21547" cy="13716000"/>
            </a:xfrm>
            <a:custGeom>
              <a:avLst/>
              <a:gdLst/>
              <a:ahLst/>
              <a:cxnLst/>
              <a:rect l="l" t="t" r="r" b="b"/>
              <a:pathLst>
                <a:path w="8821547" h="13716000">
                  <a:moveTo>
                    <a:pt x="0" y="0"/>
                  </a:moveTo>
                  <a:lnTo>
                    <a:pt x="8821547" y="0"/>
                  </a:lnTo>
                  <a:lnTo>
                    <a:pt x="8821547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2650975" y="6892850"/>
            <a:ext cx="4957950" cy="2213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2111 E. Highland Avenue</a:t>
            </a:r>
          </a:p>
          <a:p>
            <a:pPr algn="ctr">
              <a:lnSpc>
                <a:spcPts val="2879"/>
              </a:lnSpc>
            </a:pPr>
            <a:r>
              <a:rPr lang="en-US" sz="2400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Suite 360</a:t>
            </a:r>
          </a:p>
          <a:p>
            <a:pPr algn="ctr">
              <a:lnSpc>
                <a:spcPts val="2879"/>
              </a:lnSpc>
            </a:pPr>
            <a:r>
              <a:rPr lang="en-US" sz="2400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Phoenix, AZ 85016</a:t>
            </a:r>
          </a:p>
          <a:p>
            <a:pPr algn="ctr">
              <a:lnSpc>
                <a:spcPts val="2879"/>
              </a:lnSpc>
            </a:pPr>
            <a:endParaRPr lang="en-US" sz="2400" dirty="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ctr">
              <a:lnSpc>
                <a:spcPts val="2879"/>
              </a:lnSpc>
            </a:pPr>
            <a:endParaRPr lang="en-US" sz="2400" dirty="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ctr">
              <a:lnSpc>
                <a:spcPts val="2879"/>
              </a:lnSpc>
            </a:pPr>
            <a:r>
              <a:rPr lang="en-US" sz="2400" dirty="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www.STOREstorage.com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59525" y="449750"/>
            <a:ext cx="5739750" cy="107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OWNER SUMMARY REPORT</a:t>
            </a:r>
          </a:p>
        </p:txBody>
      </p:sp>
      <p:sp>
        <p:nvSpPr>
          <p:cNvPr id="6" name="AutoShape 6"/>
          <p:cNvSpPr/>
          <p:nvPr/>
        </p:nvSpPr>
        <p:spPr>
          <a:xfrm rot="46920">
            <a:off x="12405383" y="1407825"/>
            <a:ext cx="5198434" cy="0"/>
          </a:xfrm>
          <a:prstGeom prst="line">
            <a:avLst/>
          </a:prstGeom>
          <a:ln w="19050" cap="rnd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1357725" y="-9375"/>
            <a:ext cx="463050" cy="10306050"/>
            <a:chOff x="0" y="0"/>
            <a:chExt cx="617400" cy="13741400"/>
          </a:xfrm>
        </p:grpSpPr>
        <p:sp>
          <p:nvSpPr>
            <p:cNvPr id="8" name="Freeform 8"/>
            <p:cNvSpPr/>
            <p:nvPr/>
          </p:nvSpPr>
          <p:spPr>
            <a:xfrm>
              <a:off x="12700" y="12700"/>
              <a:ext cx="591947" cy="13716000"/>
            </a:xfrm>
            <a:custGeom>
              <a:avLst/>
              <a:gdLst/>
              <a:ahLst/>
              <a:cxnLst/>
              <a:rect l="l" t="t" r="r" b="b"/>
              <a:pathLst>
                <a:path w="591947" h="13716000">
                  <a:moveTo>
                    <a:pt x="0" y="0"/>
                  </a:moveTo>
                  <a:lnTo>
                    <a:pt x="591947" y="0"/>
                  </a:lnTo>
                  <a:lnTo>
                    <a:pt x="591947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617347" cy="13741400"/>
            </a:xfrm>
            <a:custGeom>
              <a:avLst/>
              <a:gdLst/>
              <a:ahLst/>
              <a:cxnLst/>
              <a:rect l="l" t="t" r="r" b="b"/>
              <a:pathLst>
                <a:path w="617347" h="13741400">
                  <a:moveTo>
                    <a:pt x="12700" y="0"/>
                  </a:moveTo>
                  <a:lnTo>
                    <a:pt x="604647" y="0"/>
                  </a:lnTo>
                  <a:cubicBezTo>
                    <a:pt x="611632" y="0"/>
                    <a:pt x="617347" y="5715"/>
                    <a:pt x="617347" y="12700"/>
                  </a:cubicBezTo>
                  <a:lnTo>
                    <a:pt x="617347" y="13728700"/>
                  </a:lnTo>
                  <a:cubicBezTo>
                    <a:pt x="617347" y="13735686"/>
                    <a:pt x="611632" y="13741400"/>
                    <a:pt x="604647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604647" y="13716000"/>
                  </a:lnTo>
                  <a:lnTo>
                    <a:pt x="604647" y="13728700"/>
                  </a:lnTo>
                  <a:lnTo>
                    <a:pt x="591947" y="13728700"/>
                  </a:lnTo>
                  <a:lnTo>
                    <a:pt x="591947" y="12700"/>
                  </a:lnTo>
                  <a:lnTo>
                    <a:pt x="604647" y="12700"/>
                  </a:lnTo>
                  <a:lnTo>
                    <a:pt x="604647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059525" y="1516550"/>
            <a:ext cx="573975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{{CURRENTDATE}}</a:t>
            </a: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2968450" y="5168500"/>
            <a:ext cx="3888596" cy="1320250"/>
            <a:chOff x="0" y="0"/>
            <a:chExt cx="5184795" cy="17603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84775" cy="1760347"/>
            </a:xfrm>
            <a:custGeom>
              <a:avLst/>
              <a:gdLst/>
              <a:ahLst/>
              <a:cxnLst/>
              <a:rect l="l" t="t" r="r" b="b"/>
              <a:pathLst>
                <a:path w="5184775" h="1760347">
                  <a:moveTo>
                    <a:pt x="0" y="0"/>
                  </a:moveTo>
                  <a:lnTo>
                    <a:pt x="5184775" y="0"/>
                  </a:lnTo>
                  <a:lnTo>
                    <a:pt x="5184775" y="1760347"/>
                  </a:lnTo>
                  <a:lnTo>
                    <a:pt x="0" y="1760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0" y="150"/>
            <a:ext cx="11367250" cy="10287000"/>
            <a:chOff x="0" y="0"/>
            <a:chExt cx="15156333" cy="13716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156307" cy="13716000"/>
            </a:xfrm>
            <a:custGeom>
              <a:avLst/>
              <a:gdLst/>
              <a:ahLst/>
              <a:cxnLst/>
              <a:rect l="l" t="t" r="r" b="b"/>
              <a:pathLst>
                <a:path w="15156307" h="13716000">
                  <a:moveTo>
                    <a:pt x="0" y="0"/>
                  </a:moveTo>
                  <a:lnTo>
                    <a:pt x="15156307" y="0"/>
                  </a:lnTo>
                  <a:lnTo>
                    <a:pt x="15156307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31" r="-1033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478500" cy="10287000"/>
            <a:chOff x="0" y="0"/>
            <a:chExt cx="24638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638000" cy="13716000"/>
            </a:xfrm>
            <a:custGeom>
              <a:avLst/>
              <a:gdLst/>
              <a:ahLst/>
              <a:cxnLst/>
              <a:rect l="l" t="t" r="r" b="b"/>
              <a:pathLst>
                <a:path w="24638000" h="13716000">
                  <a:moveTo>
                    <a:pt x="0" y="0"/>
                  </a:moveTo>
                  <a:lnTo>
                    <a:pt x="24638000" y="0"/>
                  </a:lnTo>
                  <a:lnTo>
                    <a:pt x="2463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9" r="620" b="-197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-4500"/>
            <a:ext cx="18388800" cy="10296000"/>
            <a:chOff x="0" y="0"/>
            <a:chExt cx="24518400" cy="1372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518365" cy="13727937"/>
            </a:xfrm>
            <a:custGeom>
              <a:avLst/>
              <a:gdLst/>
              <a:ahLst/>
              <a:cxnLst/>
              <a:rect l="l" t="t" r="r" b="b"/>
              <a:pathLst>
                <a:path w="24518365" h="13727937">
                  <a:moveTo>
                    <a:pt x="0" y="0"/>
                  </a:moveTo>
                  <a:lnTo>
                    <a:pt x="24518365" y="0"/>
                  </a:lnTo>
                  <a:lnTo>
                    <a:pt x="24518365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7853100"/>
            <a:ext cx="11924400" cy="629400"/>
            <a:chOff x="0" y="0"/>
            <a:chExt cx="15899200" cy="83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899257" cy="839216"/>
            </a:xfrm>
            <a:custGeom>
              <a:avLst/>
              <a:gdLst/>
              <a:ahLst/>
              <a:cxnLst/>
              <a:rect l="l" t="t" r="r" b="b"/>
              <a:pathLst>
                <a:path w="15899257" h="839216">
                  <a:moveTo>
                    <a:pt x="0" y="0"/>
                  </a:moveTo>
                  <a:lnTo>
                    <a:pt x="15899257" y="0"/>
                  </a:lnTo>
                  <a:lnTo>
                    <a:pt x="15899257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136075" y="7875150"/>
            <a:ext cx="6009150" cy="59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5"/>
              </a:lnSpc>
            </a:pPr>
            <a:r>
              <a:rPr lang="en-US" sz="30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RATE MANAGEMENT REPORT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742900" y="826350"/>
            <a:ext cx="4294652" cy="1458250"/>
            <a:chOff x="0" y="0"/>
            <a:chExt cx="5726203" cy="1944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26176" cy="1944370"/>
            </a:xfrm>
            <a:custGeom>
              <a:avLst/>
              <a:gdLst/>
              <a:ahLst/>
              <a:cxnLst/>
              <a:rect l="l" t="t" r="r" b="b"/>
              <a:pathLst>
                <a:path w="5726176" h="1944370">
                  <a:moveTo>
                    <a:pt x="0" y="0"/>
                  </a:moveTo>
                  <a:lnTo>
                    <a:pt x="5726176" y="0"/>
                  </a:lnTo>
                  <a:lnTo>
                    <a:pt x="5726176" y="1944370"/>
                  </a:lnTo>
                  <a:lnTo>
                    <a:pt x="0" y="1944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2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478500" cy="10287000"/>
            <a:chOff x="0" y="0"/>
            <a:chExt cx="24638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638000" cy="13716000"/>
            </a:xfrm>
            <a:custGeom>
              <a:avLst/>
              <a:gdLst/>
              <a:ahLst/>
              <a:cxnLst/>
              <a:rect l="l" t="t" r="r" b="b"/>
              <a:pathLst>
                <a:path w="24638000" h="13716000">
                  <a:moveTo>
                    <a:pt x="0" y="0"/>
                  </a:moveTo>
                  <a:lnTo>
                    <a:pt x="24638000" y="0"/>
                  </a:lnTo>
                  <a:lnTo>
                    <a:pt x="2463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9" r="620" b="-197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-4500"/>
            <a:ext cx="18388800" cy="10296000"/>
            <a:chOff x="0" y="0"/>
            <a:chExt cx="24518400" cy="1372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518365" cy="13727937"/>
            </a:xfrm>
            <a:custGeom>
              <a:avLst/>
              <a:gdLst/>
              <a:ahLst/>
              <a:cxnLst/>
              <a:rect l="l" t="t" r="r" b="b"/>
              <a:pathLst>
                <a:path w="24518365" h="13727937">
                  <a:moveTo>
                    <a:pt x="0" y="0"/>
                  </a:moveTo>
                  <a:lnTo>
                    <a:pt x="24518365" y="0"/>
                  </a:lnTo>
                  <a:lnTo>
                    <a:pt x="24518365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7853100"/>
            <a:ext cx="11924400" cy="629400"/>
            <a:chOff x="0" y="0"/>
            <a:chExt cx="15899200" cy="83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899257" cy="839216"/>
            </a:xfrm>
            <a:custGeom>
              <a:avLst/>
              <a:gdLst/>
              <a:ahLst/>
              <a:cxnLst/>
              <a:rect l="l" t="t" r="r" b="b"/>
              <a:pathLst>
                <a:path w="15899257" h="839216">
                  <a:moveTo>
                    <a:pt x="0" y="0"/>
                  </a:moveTo>
                  <a:lnTo>
                    <a:pt x="15899257" y="0"/>
                  </a:lnTo>
                  <a:lnTo>
                    <a:pt x="15899257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915025" y="7818000"/>
            <a:ext cx="6281550" cy="65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FFFFFF"/>
                </a:solidFill>
                <a:latin typeface="Avenir Bold"/>
                <a:ea typeface="Avenir Bold"/>
                <a:cs typeface="Avenir Bold"/>
                <a:sym typeface="Avenir Bold"/>
              </a:rPr>
              <a:t>MARKETING ANALYTICS DATA REPORT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742900" y="826350"/>
            <a:ext cx="4294652" cy="1458250"/>
            <a:chOff x="0" y="0"/>
            <a:chExt cx="5726203" cy="1944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26176" cy="1944370"/>
            </a:xfrm>
            <a:custGeom>
              <a:avLst/>
              <a:gdLst/>
              <a:ahLst/>
              <a:cxnLst/>
              <a:rect l="l" t="t" r="r" b="b"/>
              <a:pathLst>
                <a:path w="5726176" h="1944370">
                  <a:moveTo>
                    <a:pt x="0" y="0"/>
                  </a:moveTo>
                  <a:lnTo>
                    <a:pt x="5726176" y="0"/>
                  </a:lnTo>
                  <a:lnTo>
                    <a:pt x="5726176" y="1944370"/>
                  </a:lnTo>
                  <a:lnTo>
                    <a:pt x="0" y="1944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2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09" r="-9799" b="-322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-4500"/>
            <a:ext cx="18288000" cy="10296000"/>
            <a:chOff x="0" y="0"/>
            <a:chExt cx="24384000" cy="1372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27937"/>
            </a:xfrm>
            <a:custGeom>
              <a:avLst/>
              <a:gdLst/>
              <a:ahLst/>
              <a:cxnLst/>
              <a:rect l="l" t="t" r="r" b="b"/>
              <a:pathLst>
                <a:path w="24384000" h="13727937">
                  <a:moveTo>
                    <a:pt x="0" y="0"/>
                  </a:moveTo>
                  <a:lnTo>
                    <a:pt x="24384000" y="0"/>
                  </a:lnTo>
                  <a:lnTo>
                    <a:pt x="24384000" y="13727937"/>
                  </a:lnTo>
                  <a:lnTo>
                    <a:pt x="0" y="13727937"/>
                  </a:lnTo>
                  <a:close/>
                </a:path>
              </a:pathLst>
            </a:custGeom>
            <a:solidFill>
              <a:srgbClr val="3B52A1">
                <a:alpha val="46275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43000" y="1407150"/>
            <a:ext cx="15564000" cy="7377675"/>
            <a:chOff x="0" y="0"/>
            <a:chExt cx="20752000" cy="9836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52054" cy="9836912"/>
            </a:xfrm>
            <a:custGeom>
              <a:avLst/>
              <a:gdLst/>
              <a:ahLst/>
              <a:cxnLst/>
              <a:rect l="l" t="t" r="r" b="b"/>
              <a:pathLst>
                <a:path w="20752054" h="9836912">
                  <a:moveTo>
                    <a:pt x="0" y="0"/>
                  </a:moveTo>
                  <a:lnTo>
                    <a:pt x="20752054" y="0"/>
                  </a:lnTo>
                  <a:lnTo>
                    <a:pt x="20752054" y="9836912"/>
                  </a:lnTo>
                  <a:lnTo>
                    <a:pt x="0" y="9836912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04B4E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May 2025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04B4E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25" y="9038375"/>
            <a:ext cx="5817150" cy="39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i="1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Percent is total delinquent rent against total rental income.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Owner Summary Report | {{CURRENTDATE}}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920116" y="9481784"/>
            <a:ext cx="1097400" cy="787200"/>
            <a:chOff x="0" y="0"/>
            <a:chExt cx="1463200" cy="104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463200" cy="1097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10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441024" y="2530745"/>
            <a:ext cx="9955356" cy="601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Full Marketing Funnel 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This includes the deeper charts currently shown on pages 20–21: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Website traffic by source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Leads by source (broken down into organic, paid, walk-ins, referral, phone, social)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Rentals by source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Lead → Reservation → Rental funnel </a:t>
            </a:r>
          </a:p>
          <a:p>
            <a:pPr algn="l">
              <a:lnSpc>
                <a:spcPts val="2799"/>
              </a:lnSpc>
            </a:pPr>
            <a:endParaRPr lang="en-US" sz="1999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Detailed Paid Ads Report 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Move campaign micro-data here: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Click-through rates (CTR)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Cost per click (CPC)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Impression share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Individual campaign performance (e.g., “50% off promo”, “Home remodeler”, “Wine storage”)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Budget allocation by campaign 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Historical trends (3–6 months) </a:t>
            </a:r>
          </a:p>
          <a:p>
            <a:pPr algn="ctr">
              <a:lnSpc>
                <a:spcPts val="2799"/>
              </a:lnSpc>
            </a:pPr>
            <a:endParaRPr lang="en-US" sz="1999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44916" y="9326434"/>
            <a:ext cx="1097400" cy="787200"/>
            <a:chOff x="0" y="0"/>
            <a:chExt cx="1463200" cy="104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200" cy="1049600"/>
            </a:xfrm>
            <a:custGeom>
              <a:avLst/>
              <a:gdLst/>
              <a:ahLst/>
              <a:cxnLst/>
              <a:rect l="l" t="t" r="r" b="b"/>
              <a:pathLst>
                <a:path w="1463200" h="1049600">
                  <a:moveTo>
                    <a:pt x="0" y="0"/>
                  </a:moveTo>
                  <a:lnTo>
                    <a:pt x="1463200" y="0"/>
                  </a:lnTo>
                  <a:lnTo>
                    <a:pt x="1463200" y="1049600"/>
                  </a:lnTo>
                  <a:lnTo>
                    <a:pt x="0" y="104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63200" cy="105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463800"/>
            <a:ext cx="18288000" cy="823200"/>
            <a:chOff x="0" y="0"/>
            <a:chExt cx="24384000" cy="1097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97661"/>
            </a:xfrm>
            <a:custGeom>
              <a:avLst/>
              <a:gdLst/>
              <a:ahLst/>
              <a:cxnLst/>
              <a:rect l="l" t="t" r="r" b="b"/>
              <a:pathLst>
                <a:path w="24384000" h="1097661">
                  <a:moveTo>
                    <a:pt x="0" y="0"/>
                  </a:moveTo>
                  <a:lnTo>
                    <a:pt x="24384000" y="0"/>
                  </a:lnTo>
                  <a:lnTo>
                    <a:pt x="24384000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6F94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4384000" cy="1145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Marketing Analytics Data Report | July 2025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00" y="0"/>
            <a:ext cx="18288000" cy="690000"/>
            <a:chOff x="0" y="0"/>
            <a:chExt cx="24384000" cy="92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919988"/>
            </a:xfrm>
            <a:custGeom>
              <a:avLst/>
              <a:gdLst/>
              <a:ahLst/>
              <a:cxnLst/>
              <a:rect l="l" t="t" r="r" b="b"/>
              <a:pathLst>
                <a:path w="24384000" h="919988">
                  <a:moveTo>
                    <a:pt x="0" y="0"/>
                  </a:moveTo>
                  <a:lnTo>
                    <a:pt x="24384000" y="0"/>
                  </a:lnTo>
                  <a:lnTo>
                    <a:pt x="24384000" y="919988"/>
                  </a:lnTo>
                  <a:lnTo>
                    <a:pt x="0" y="91998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384000" cy="96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Marketing Analytics | Campaigns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367350" y="992600"/>
            <a:ext cx="10672200" cy="7592400"/>
            <a:chOff x="0" y="0"/>
            <a:chExt cx="14229600" cy="10123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229587" cy="10123170"/>
            </a:xfrm>
            <a:custGeom>
              <a:avLst/>
              <a:gdLst/>
              <a:ahLst/>
              <a:cxnLst/>
              <a:rect l="l" t="t" r="r" b="b"/>
              <a:pathLst>
                <a:path w="14229587" h="10123170">
                  <a:moveTo>
                    <a:pt x="0" y="0"/>
                  </a:moveTo>
                  <a:lnTo>
                    <a:pt x="14229587" y="0"/>
                  </a:lnTo>
                  <a:lnTo>
                    <a:pt x="14229587" y="10123170"/>
                  </a:lnTo>
                  <a:lnTo>
                    <a:pt x="0" y="10123170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4229600" cy="1018035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PAID CAMPAIGNS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723196" y="4021698"/>
            <a:ext cx="2432400" cy="1225200"/>
            <a:chOff x="0" y="0"/>
            <a:chExt cx="3243200" cy="1633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243199" cy="1633601"/>
            </a:xfrm>
            <a:custGeom>
              <a:avLst/>
              <a:gdLst/>
              <a:ahLst/>
              <a:cxnLst/>
              <a:rect l="l" t="t" r="r" b="b"/>
              <a:pathLst>
                <a:path w="3243199" h="1633601">
                  <a:moveTo>
                    <a:pt x="0" y="0"/>
                  </a:moveTo>
                  <a:lnTo>
                    <a:pt x="3243199" y="0"/>
                  </a:lnTo>
                  <a:lnTo>
                    <a:pt x="3243199" y="1633601"/>
                  </a:lnTo>
                  <a:lnTo>
                    <a:pt x="0" y="1633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243200" cy="1681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Home remodeler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723196" y="2446548"/>
            <a:ext cx="2432400" cy="1225200"/>
            <a:chOff x="0" y="0"/>
            <a:chExt cx="3243200" cy="1633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243199" cy="1633601"/>
            </a:xfrm>
            <a:custGeom>
              <a:avLst/>
              <a:gdLst/>
              <a:ahLst/>
              <a:cxnLst/>
              <a:rect l="l" t="t" r="r" b="b"/>
              <a:pathLst>
                <a:path w="3243199" h="1633601">
                  <a:moveTo>
                    <a:pt x="0" y="0"/>
                  </a:moveTo>
                  <a:lnTo>
                    <a:pt x="3243199" y="0"/>
                  </a:lnTo>
                  <a:lnTo>
                    <a:pt x="3243199" y="1633601"/>
                  </a:lnTo>
                  <a:lnTo>
                    <a:pt x="0" y="1633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243200" cy="1681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50% off promo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854396" y="2446548"/>
            <a:ext cx="2432400" cy="1225200"/>
            <a:chOff x="0" y="0"/>
            <a:chExt cx="3243200" cy="1633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43199" cy="1633601"/>
            </a:xfrm>
            <a:custGeom>
              <a:avLst/>
              <a:gdLst/>
              <a:ahLst/>
              <a:cxnLst/>
              <a:rect l="l" t="t" r="r" b="b"/>
              <a:pathLst>
                <a:path w="3243199" h="1633601">
                  <a:moveTo>
                    <a:pt x="0" y="0"/>
                  </a:moveTo>
                  <a:lnTo>
                    <a:pt x="3243199" y="0"/>
                  </a:lnTo>
                  <a:lnTo>
                    <a:pt x="3243199" y="1633601"/>
                  </a:lnTo>
                  <a:lnTo>
                    <a:pt x="0" y="1633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3243200" cy="1681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Self storage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745275" y="1705950"/>
            <a:ext cx="3623550" cy="23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LONG-TERM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494446" y="2446548"/>
            <a:ext cx="2432400" cy="1225200"/>
            <a:chOff x="0" y="0"/>
            <a:chExt cx="3243200" cy="16336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243199" cy="1633601"/>
            </a:xfrm>
            <a:custGeom>
              <a:avLst/>
              <a:gdLst/>
              <a:ahLst/>
              <a:cxnLst/>
              <a:rect l="l" t="t" r="r" b="b"/>
              <a:pathLst>
                <a:path w="3243199" h="1633601">
                  <a:moveTo>
                    <a:pt x="0" y="0"/>
                  </a:moveTo>
                  <a:lnTo>
                    <a:pt x="3243199" y="0"/>
                  </a:lnTo>
                  <a:lnTo>
                    <a:pt x="3243199" y="1633601"/>
                  </a:lnTo>
                  <a:lnTo>
                    <a:pt x="0" y="1633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3243200" cy="1681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Student storage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854396" y="4021698"/>
            <a:ext cx="2432400" cy="1225200"/>
            <a:chOff x="0" y="0"/>
            <a:chExt cx="3243200" cy="16336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243199" cy="1633601"/>
            </a:xfrm>
            <a:custGeom>
              <a:avLst/>
              <a:gdLst/>
              <a:ahLst/>
              <a:cxnLst/>
              <a:rect l="l" t="t" r="r" b="b"/>
              <a:pathLst>
                <a:path w="3243199" h="1633601">
                  <a:moveTo>
                    <a:pt x="0" y="0"/>
                  </a:moveTo>
                  <a:lnTo>
                    <a:pt x="3243199" y="0"/>
                  </a:lnTo>
                  <a:lnTo>
                    <a:pt x="3243199" y="1633601"/>
                  </a:lnTo>
                  <a:lnTo>
                    <a:pt x="0" y="1633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3243200" cy="1681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3B52A1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Wine storage</a:t>
              </a:r>
            </a:p>
          </p:txBody>
        </p:sp>
      </p:grpSp>
      <p:grpSp>
        <p:nvGrpSpPr>
          <p:cNvPr id="30" name="Group 30"/>
          <p:cNvGrpSpPr>
            <a:grpSpLocks noChangeAspect="1"/>
          </p:cNvGrpSpPr>
          <p:nvPr/>
        </p:nvGrpSpPr>
        <p:grpSpPr>
          <a:xfrm>
            <a:off x="792900" y="992576"/>
            <a:ext cx="6122948" cy="7692948"/>
            <a:chOff x="0" y="0"/>
            <a:chExt cx="8163931" cy="1025726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63941" cy="10257282"/>
            </a:xfrm>
            <a:custGeom>
              <a:avLst/>
              <a:gdLst/>
              <a:ahLst/>
              <a:cxnLst/>
              <a:rect l="l" t="t" r="r" b="b"/>
              <a:pathLst>
                <a:path w="8163941" h="10257282">
                  <a:moveTo>
                    <a:pt x="0" y="0"/>
                  </a:moveTo>
                  <a:lnTo>
                    <a:pt x="8163941" y="0"/>
                  </a:lnTo>
                  <a:lnTo>
                    <a:pt x="8163941" y="10257282"/>
                  </a:lnTo>
                  <a:lnTo>
                    <a:pt x="0" y="10257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32" name="Table 32"/>
          <p:cNvGraphicFramePr>
            <a:graphicFrameLocks noGrp="1"/>
          </p:cNvGraphicFramePr>
          <p:nvPr/>
        </p:nvGraphicFramePr>
        <p:xfrm>
          <a:off x="8352695" y="5905806"/>
          <a:ext cx="6357951" cy="2200276"/>
        </p:xfrm>
        <a:graphic>
          <a:graphicData uri="http://schemas.openxmlformats.org/drawingml/2006/table">
            <a:tbl>
              <a:tblPr/>
              <a:tblGrid>
                <a:gridCol w="2540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7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852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87616" marR="87616" marT="87616" marB="87616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GOOGLE</a:t>
                      </a:r>
                      <a:endParaRPr lang="en-US" sz="1100"/>
                    </a:p>
                  </a:txBody>
                  <a:tcPr marL="87616" marR="87616" marT="87616" marB="87616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852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Current rating</a:t>
                      </a:r>
                      <a:endParaRPr lang="en-US" sz="1100"/>
                    </a:p>
                  </a:txBody>
                  <a:tcPr marL="87616" marR="87616" marT="87616" marB="87616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{{GOOGLERATING}}</a:t>
                      </a:r>
                      <a:endParaRPr lang="en-US" sz="1100"/>
                    </a:p>
                  </a:txBody>
                  <a:tcPr marL="87616" marR="87616" marT="87616" marB="87616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286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Reviews last month</a:t>
                      </a:r>
                      <a:endParaRPr lang="en-US" sz="1100"/>
                    </a:p>
                  </a:txBody>
                  <a:tcPr marL="87616" marR="87616" marT="87616" marB="87616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{{GOOGLEREVLM}}</a:t>
                      </a:r>
                      <a:endParaRPr lang="en-US" sz="1100"/>
                    </a:p>
                  </a:txBody>
                  <a:tcPr marL="87616" marR="87616" marT="87616" marB="87616" anchor="ctr">
                    <a:lnL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286"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Total reviews</a:t>
                      </a:r>
                      <a:endParaRPr lang="en-US" sz="1100"/>
                    </a:p>
                  </a:txBody>
                  <a:tcPr marL="87616" marR="87616" marT="87616" marB="87616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{{GOOGLETOTALREVIEWS}}</a:t>
                      </a:r>
                      <a:endParaRPr lang="en-US" sz="1100"/>
                    </a:p>
                  </a:txBody>
                  <a:tcPr marL="87616" marR="87616" marT="87616" marB="87616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2320</Words>
  <Application>Microsoft Office PowerPoint</Application>
  <PresentationFormat>Custom</PresentationFormat>
  <Paragraphs>770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 Italics</vt:lpstr>
      <vt:lpstr>Avenir</vt:lpstr>
      <vt:lpstr>Avenir Medium</vt:lpstr>
      <vt:lpstr>Arial Bold</vt:lpstr>
      <vt:lpstr>Calibri</vt:lpstr>
      <vt:lpstr>Avenir Italics</vt:lpstr>
      <vt:lpstr>Arimo</vt:lpstr>
      <vt:lpstr>Arial</vt:lpstr>
      <vt:lpstr>Avenir Bold</vt:lpstr>
      <vt:lpstr>Avenir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Owner's Report Template</dc:title>
  <cp:lastModifiedBy>Alex Burke</cp:lastModifiedBy>
  <cp:revision>21</cp:revision>
  <dcterms:created xsi:type="dcterms:W3CDTF">2006-08-16T00:00:00Z</dcterms:created>
  <dcterms:modified xsi:type="dcterms:W3CDTF">2025-12-15T23:55:44Z</dcterms:modified>
  <dc:identifier>DAG3YRaK70Q</dc:identifier>
</cp:coreProperties>
</file>