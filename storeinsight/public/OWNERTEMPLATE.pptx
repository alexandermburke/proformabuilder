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rial Bold" panose="020B0704020202020204" pitchFamily="34" charset="0"/>
      <p:regular r:id="rId18"/>
      <p:bold r:id="rId19"/>
    </p:embeddedFont>
    <p:embeddedFont>
      <p:font typeface="Arial Italics" panose="020B0604020202020204" charset="0"/>
      <p:regular r:id="rId20"/>
    </p:embeddedFont>
    <p:embeddedFont>
      <p:font typeface="Avenir" panose="020B0604020202020204" charset="0"/>
      <p:regular r:id="rId21"/>
    </p:embeddedFont>
    <p:embeddedFont>
      <p:font typeface="Avenir Bold" panose="020B0604020202020204" charset="0"/>
      <p:regular r:id="rId22"/>
    </p:embeddedFont>
    <p:embeddedFont>
      <p:font typeface="Avenir Bold Italics" panose="020B0604020202020204" charset="0"/>
      <p:regular r:id="rId23"/>
    </p:embeddedFont>
    <p:embeddedFont>
      <p:font typeface="Avenir Italics" panose="020B0604020202020204" charset="0"/>
      <p:regular r:id="rId24"/>
    </p:embeddedFont>
    <p:embeddedFont>
      <p:font typeface="Avenir Medium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533820"/>
              </p:ext>
            </p:extLst>
          </p:nvPr>
        </p:nvGraphicFramePr>
        <p:xfrm>
          <a:off x="1469409" y="6975320"/>
          <a:ext cx="14939621" cy="3070846"/>
        </p:xfrm>
        <a:graphic>
          <a:graphicData uri="http://schemas.openxmlformats.org/drawingml/2006/table">
            <a:tbl>
              <a:tblPr/>
              <a:tblGrid>
                <a:gridCol w="2138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2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3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2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0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7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63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97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153042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905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/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 dirty="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21" name="Table 15">
            <a:extLst>
              <a:ext uri="{FF2B5EF4-FFF2-40B4-BE49-F238E27FC236}">
                <a16:creationId xmlns:a16="http://schemas.microsoft.com/office/drawing/2014/main" id="{E3E01C2E-A4C4-1FE8-58B4-496E3CC00F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574155"/>
              </p:ext>
            </p:extLst>
          </p:nvPr>
        </p:nvGraphicFramePr>
        <p:xfrm>
          <a:off x="1381800" y="1727100"/>
          <a:ext cx="15214600" cy="3581399"/>
        </p:xfrm>
        <a:graphic>
          <a:graphicData uri="http://schemas.openxmlformats.org/drawingml/2006/table">
            <a:tbl>
              <a:tblPr/>
              <a:tblGrid>
                <a:gridCol w="284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3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94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1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85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" name="Table 16">
            <a:extLst>
              <a:ext uri="{FF2B5EF4-FFF2-40B4-BE49-F238E27FC236}">
                <a16:creationId xmlns:a16="http://schemas.microsoft.com/office/drawing/2014/main" id="{251D5D69-C5AF-711E-9A8F-53BF6C49BB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727602"/>
              </p:ext>
            </p:extLst>
          </p:nvPr>
        </p:nvGraphicFramePr>
        <p:xfrm>
          <a:off x="1381800" y="5672850"/>
          <a:ext cx="15240000" cy="3200402"/>
        </p:xfrm>
        <a:graphic>
          <a:graphicData uri="http://schemas.openxmlformats.org/drawingml/2006/table">
            <a:tbl>
              <a:tblPr/>
              <a:tblGrid>
                <a:gridCol w="2642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8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70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50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31623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31623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40481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31623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304800" y="523125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381000" y="530361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304800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3829193" y="523125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39053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38291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7334393" y="523125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74105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73343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10839593" y="523125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109157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10839593" y="611707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</a:t>
            </a:r>
            <a:r>
              <a:rPr lang="en-US" sz="2999" dirty="0" err="1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SqFt</a:t>
            </a:r>
            <a:endParaRPr lang="en-US" sz="2999" dirty="0">
              <a:solidFill>
                <a:srgbClr val="3B52A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14420993" y="5231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144971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144209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2184250" y="1676876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275675" y="7523550"/>
            <a:ext cx="6548550" cy="114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MANAGEMENT NOTES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Delinquencies remain low at this facility.</a:t>
            </a:r>
          </a:p>
        </p:txBody>
      </p:sp>
      <p:graphicFrame>
        <p:nvGraphicFramePr>
          <p:cNvPr id="24" name="Table 24"/>
          <p:cNvGraphicFramePr>
            <a:graphicFrameLocks noGrp="1"/>
          </p:cNvGraphicFramePr>
          <p:nvPr/>
        </p:nvGraphicFramePr>
        <p:xfrm>
          <a:off x="2184250" y="5367626"/>
          <a:ext cx="14630400" cy="1854199"/>
        </p:xfrm>
        <a:graphic>
          <a:graphicData uri="http://schemas.openxmlformats.org/drawingml/2006/table">
            <a:tbl>
              <a:tblPr/>
              <a:tblGrid>
                <a:gridCol w="4527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2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53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5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 in Delinquency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9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Cost/Click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2042</Words>
  <Application>Microsoft Office PowerPoint</Application>
  <PresentationFormat>Custom</PresentationFormat>
  <Paragraphs>696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Avenir Bold</vt:lpstr>
      <vt:lpstr>Avenir Italics</vt:lpstr>
      <vt:lpstr>Avenir Bold Italics</vt:lpstr>
      <vt:lpstr>Avenir</vt:lpstr>
      <vt:lpstr>Calibri</vt:lpstr>
      <vt:lpstr>Arial</vt:lpstr>
      <vt:lpstr>Avenir Medium</vt:lpstr>
      <vt:lpstr>Arial Bold</vt:lpstr>
      <vt:lpstr>Arial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34</cp:revision>
  <dcterms:created xsi:type="dcterms:W3CDTF">2006-08-16T00:00:00Z</dcterms:created>
  <dcterms:modified xsi:type="dcterms:W3CDTF">2025-12-17T22:47:51Z</dcterms:modified>
  <dc:identifier>DAG3YRaK70Q</dc:identifier>
</cp:coreProperties>
</file>