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8288000" cy="10287000"/>
  <p:notesSz cx="6858000" cy="9144000"/>
  <p:embeddedFontLst>
    <p:embeddedFont>
      <p:font typeface="Arial Bold" panose="020B0704020202020204" pitchFamily="34" charset="0"/>
      <p:regular r:id="rId20"/>
      <p:bold r:id="rId21"/>
    </p:embeddedFont>
    <p:embeddedFont>
      <p:font typeface="Arial Italics" panose="020B0604020202020204" charset="0"/>
      <p:regular r:id="rId22"/>
    </p:embeddedFont>
    <p:embeddedFont>
      <p:font typeface="Arimo" panose="020B0604020202020204" charset="0"/>
      <p:regular r:id="rId23"/>
    </p:embeddedFont>
    <p:embeddedFont>
      <p:font typeface="Avenir" panose="020B0604020202020204" charset="0"/>
      <p:regular r:id="rId24"/>
    </p:embeddedFont>
    <p:embeddedFont>
      <p:font typeface="Avenir Bold" panose="020B0604020202020204" charset="0"/>
      <p:regular r:id="rId25"/>
    </p:embeddedFont>
    <p:embeddedFont>
      <p:font typeface="Avenir Bold Italics" panose="020B0604020202020204" charset="0"/>
      <p:regular r:id="rId26"/>
    </p:embeddedFont>
    <p:embeddedFont>
      <p:font typeface="Avenir Italics" panose="020B0604020202020204" charset="0"/>
      <p:regular r:id="rId27"/>
    </p:embeddedFont>
    <p:embeddedFont>
      <p:font typeface="Avenir Medium" panose="020B0604020202020204" charset="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0" d="100"/>
          <a:sy n="70" d="100"/>
        </p:scale>
        <p:origin x="77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15.12.2025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8360100" y="6520468"/>
          <a:ext cx="1701800" cy="2288731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10978358" y="6521326"/>
          <a:ext cx="2540000" cy="2288779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6876100" y="2641000"/>
            <a:ext cx="3983898" cy="1435000"/>
            <a:chOff x="0" y="0"/>
            <a:chExt cx="5311864" cy="19133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311902" cy="1913382"/>
            </a:xfrm>
            <a:custGeom>
              <a:avLst/>
              <a:gdLst/>
              <a:ahLst/>
              <a:cxnLst/>
              <a:rect l="l" t="t" r="r" b="b"/>
              <a:pathLst>
                <a:path w="5311902" h="1913382">
                  <a:moveTo>
                    <a:pt x="0" y="0"/>
                  </a:moveTo>
                  <a:lnTo>
                    <a:pt x="5311902" y="0"/>
                  </a:lnTo>
                  <a:lnTo>
                    <a:pt x="5311902" y="1913382"/>
                  </a:lnTo>
                  <a:lnTo>
                    <a:pt x="0" y="1913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r="-1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603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69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Income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9195162"/>
              </p:ext>
            </p:extLst>
          </p:nvPr>
        </p:nvGraphicFramePr>
        <p:xfrm>
          <a:off x="1447800" y="1943100"/>
          <a:ext cx="14939619" cy="4713987"/>
        </p:xfrm>
        <a:graphic>
          <a:graphicData uri="http://schemas.openxmlformats.org/drawingml/2006/table">
            <a:tbl>
              <a:tblPr/>
              <a:tblGrid>
                <a:gridCol w="21381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11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18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09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348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181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8071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7413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5233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72214"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{{CURRENTMONTH}}</a:t>
                      </a:r>
                      <a:endParaRPr lang="en-US" sz="14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PTD Budget</a:t>
                      </a:r>
                      <a:endParaRPr lang="en-US" sz="14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Variance</a:t>
                      </a:r>
                      <a:endParaRPr lang="en-US" sz="14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% Var</a:t>
                      </a:r>
                      <a:endParaRPr lang="en-US" sz="14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YTD Actual</a:t>
                      </a:r>
                      <a:endParaRPr lang="en-US" sz="14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YTD Budget</a:t>
                      </a:r>
                      <a:endParaRPr lang="en-US" sz="14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Variance</a:t>
                      </a:r>
                      <a:endParaRPr lang="en-US" sz="14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% Var</a:t>
                      </a:r>
                      <a:endParaRPr lang="en-US" sz="14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Discounts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Tenant Income - Admin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Tenant Income - Late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Tenant Income - 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Tenant Income - Other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Retail Sales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PROPERTY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Advertising &amp; Marketing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Auction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CAM Charges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Credit Card Merchant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{{CCMPTD}}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Dues &amp; Subscriptions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Fire Prevention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Licenses &amp; Permits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Management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Management Fees - Staff Costs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{{MGMTSTFYTDPER}}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151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Office Supplies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1533820"/>
              </p:ext>
            </p:extLst>
          </p:nvPr>
        </p:nvGraphicFramePr>
        <p:xfrm>
          <a:off x="1469409" y="6975320"/>
          <a:ext cx="14939621" cy="3070846"/>
        </p:xfrm>
        <a:graphic>
          <a:graphicData uri="http://schemas.openxmlformats.org/drawingml/2006/table">
            <a:tbl>
              <a:tblPr/>
              <a:tblGrid>
                <a:gridCol w="21380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21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3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22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02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30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07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818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7632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974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Supplies - Building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PROPERTY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Other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5500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Interest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34500" y="3748326"/>
            <a:ext cx="3700200" cy="653180"/>
            <a:chOff x="0" y="0"/>
            <a:chExt cx="4933600" cy="8709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{{MOVIPER}} {{INCORDEC1}} vs. {{PREVMON}}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034700" y="3752600"/>
            <a:ext cx="3769122" cy="653180"/>
            <a:chOff x="0" y="0"/>
            <a:chExt cx="5025495" cy="87090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25496" cy="870906"/>
            </a:xfrm>
            <a:custGeom>
              <a:avLst/>
              <a:gdLst/>
              <a:ahLst/>
              <a:cxnLst/>
              <a:rect l="l" t="t" r="r" b="b"/>
              <a:pathLst>
                <a:path w="5025496" h="870906">
                  <a:moveTo>
                    <a:pt x="0" y="0"/>
                  </a:moveTo>
                  <a:lnTo>
                    <a:pt x="5025496" y="0"/>
                  </a:lnTo>
                  <a:lnTo>
                    <a:pt x="5025496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5025495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{{MOVOPER}} {{INCORDEC2}} vs. {{PREVMON}}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544325" y="3737213"/>
            <a:ext cx="3700200" cy="653180"/>
            <a:chOff x="0" y="0"/>
            <a:chExt cx="4933600" cy="870906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{{MOVN}} {{INCORDEC3}} vs. {{PREVMON}}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4" name="Group 8">
            <a:extLst>
              <a:ext uri="{FF2B5EF4-FFF2-40B4-BE49-F238E27FC236}">
                <a16:creationId xmlns:a16="http://schemas.microsoft.com/office/drawing/2014/main" id="{EE292075-059A-6F08-DE48-4A8DDBBA0B11}"/>
              </a:ext>
            </a:extLst>
          </p:cNvPr>
          <p:cNvGrpSpPr/>
          <p:nvPr/>
        </p:nvGrpSpPr>
        <p:grpSpPr>
          <a:xfrm>
            <a:off x="0" y="-190500"/>
            <a:ext cx="18288000" cy="1609200"/>
            <a:chOff x="0" y="0"/>
            <a:chExt cx="24384000" cy="2145600"/>
          </a:xfrm>
        </p:grpSpPr>
        <p:sp>
          <p:nvSpPr>
            <p:cNvPr id="105" name="Freeform 9">
              <a:extLst>
                <a:ext uri="{FF2B5EF4-FFF2-40B4-BE49-F238E27FC236}">
                  <a16:creationId xmlns:a16="http://schemas.microsoft.com/office/drawing/2014/main" id="{113FD3DC-1311-0C31-50E9-18F8169BD813}"/>
                </a:ext>
              </a:extLst>
            </p:cNvPr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">
              <a:extLst>
                <a:ext uri="{FF2B5EF4-FFF2-40B4-BE49-F238E27FC236}">
                  <a16:creationId xmlns:a16="http://schemas.microsoft.com/office/drawing/2014/main" id="{8269F3FC-56DA-1FF6-AB8F-11D27ECBE60E}"/>
                </a:ext>
              </a:extLst>
            </p:cNvPr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10431600" y="2673888"/>
          <a:ext cx="6640597" cy="5765800"/>
        </p:xfrm>
        <a:graphic>
          <a:graphicData uri="http://schemas.openxmlformats.org/drawingml/2006/table">
            <a:tbl>
              <a:tblPr/>
              <a:tblGrid>
                <a:gridCol w="46353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52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91365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(9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(9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revenue; prior to rent increase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{{BASREVPR}}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to rent increase ($/sq ft)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rent escalations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Revenue; after rent increases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{{REVWINC}}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after escalation ($/sq ft)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Pricing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appendix.</a:t>
            </a:r>
          </a:p>
        </p:txBody>
      </p:sp>
      <p:graphicFrame>
        <p:nvGraphicFramePr>
          <p:cNvPr id="15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363070"/>
              </p:ext>
            </p:extLst>
          </p:nvPr>
        </p:nvGraphicFramePr>
        <p:xfrm>
          <a:off x="1381800" y="1727100"/>
          <a:ext cx="15214601" cy="3584409"/>
        </p:xfrm>
        <a:graphic>
          <a:graphicData uri="http://schemas.openxmlformats.org/drawingml/2006/table">
            <a:tbl>
              <a:tblPr/>
              <a:tblGrid>
                <a:gridCol w="20836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36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37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60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69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515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489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861561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Web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in Place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Proposed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New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New Rate 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Change vs. Web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5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6" name="Table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5540974"/>
              </p:ext>
            </p:extLst>
          </p:nvPr>
        </p:nvGraphicFramePr>
        <p:xfrm>
          <a:off x="1381800" y="5672850"/>
          <a:ext cx="15240000" cy="3202618"/>
        </p:xfrm>
        <a:graphic>
          <a:graphicData uri="http://schemas.openxmlformats.org/drawingml/2006/table">
            <a:tbl>
              <a:tblPr/>
              <a:tblGrid>
                <a:gridCol w="19003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3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7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97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204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551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5320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86359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Web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in Place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Proposed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New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New Rate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Change vs. Web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69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7" name="TextBox 17"/>
          <p:cNvSpPr txBox="1"/>
          <p:nvPr/>
        </p:nvSpPr>
        <p:spPr>
          <a:xfrm rot="-5400000">
            <a:off x="-226538" y="3591213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FLOOR 1 UNITS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26538" y="7275612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ELEVATOR UNITS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Existing Tenants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rate management report.</a:t>
            </a: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4127500" y="1716521"/>
          <a:ext cx="10033000" cy="7300384"/>
        </p:xfrm>
        <a:graphic>
          <a:graphicData uri="http://schemas.openxmlformats.org/drawingml/2006/table">
            <a:tbl>
              <a:tblPr/>
              <a:tblGrid>
                <a:gridCol w="75236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93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01432">
                <a:tc gridSpan="2"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{{FUTMONTH1}} Increases</a:t>
                      </a:r>
                      <a:endParaRPr lang="en-US" sz="1100"/>
                    </a:p>
                    <a:p>
                      <a:pPr algn="ctr">
                        <a:lnSpc>
                          <a:spcPts val="2879"/>
                        </a:lnSpc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(6 Months Since Last Rent Increase)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{{FUTMONTH1}} Increases</a:t>
                      </a:r>
                      <a:endParaRPr lang="en-US" sz="1100"/>
                    </a:p>
                    <a:p>
                      <a:pPr algn="ctr">
                        <a:lnSpc>
                          <a:spcPts val="2879"/>
                        </a:lnSpc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(6 Months Since Last Rent Increase)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 to be sent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revenue; prior to rent increase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{{BASREVPR}}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to rent increase ($/sq ft)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rent escalations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91425" marR="91425" marT="91425" marB="91425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Revenue; after rent increases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{{REVWINC}}</a:t>
                      </a:r>
                      <a:endParaRPr lang="en-US" sz="1100"/>
                    </a:p>
                  </a:txBody>
                  <a:tcPr marL="91425" marR="91425" marT="91425" marB="91425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after escalation ($/sq ft)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91425" marR="91425" marT="91425" marB="91425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6" y="2983476"/>
            <a:ext cx="3294600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tenants with insurance against total MTD move-ins. Trailing number includes current month.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7216550" y="2964426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281272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237092" y="3870577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0927250" y="2964426"/>
            <a:ext cx="331065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991972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940220" y="3870577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Protected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92A0F015-363D-9D1A-81BE-2E4881924FBD}"/>
              </a:ext>
            </a:extLst>
          </p:cNvPr>
          <p:cNvSpPr txBox="1"/>
          <p:nvPr/>
        </p:nvSpPr>
        <p:spPr>
          <a:xfrm>
            <a:off x="9703247" y="6655104"/>
            <a:ext cx="3910684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Protected Percentage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1143100" y="5143500"/>
          <a:ext cx="5562600" cy="2621441"/>
        </p:xfrm>
        <a:graphic>
          <a:graphicData uri="http://schemas.openxmlformats.org/drawingml/2006/table">
            <a:tbl>
              <a:tblPr/>
              <a:tblGrid>
                <a:gridCol w="556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4050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0939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{{CURRENTDATE}}</a:t>
                      </a:r>
                      <a:endParaRPr lang="en-US" sz="110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N/A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$N/A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N/A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N/A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43000" y="1407150"/>
            <a:ext cx="15564000" cy="7377675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2184250" y="1676876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275675" y="7523550"/>
            <a:ext cx="6548550" cy="114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MANAGEMENT NOTES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95959"/>
                </a:solidFill>
                <a:latin typeface="Avenir"/>
                <a:ea typeface="Avenir"/>
                <a:cs typeface="Avenir"/>
                <a:sym typeface="Avenir"/>
              </a:rPr>
              <a:t>Delinquencies remain low at this facility.</a:t>
            </a:r>
          </a:p>
        </p:txBody>
      </p:sp>
      <p:graphicFrame>
        <p:nvGraphicFramePr>
          <p:cNvPr id="24" name="Table 24"/>
          <p:cNvGraphicFramePr>
            <a:graphicFrameLocks noGrp="1"/>
          </p:cNvGraphicFramePr>
          <p:nvPr/>
        </p:nvGraphicFramePr>
        <p:xfrm>
          <a:off x="2184250" y="5367626"/>
          <a:ext cx="14630400" cy="1854199"/>
        </p:xfrm>
        <a:graphic>
          <a:graphicData uri="http://schemas.openxmlformats.org/drawingml/2006/table">
            <a:tbl>
              <a:tblPr/>
              <a:tblGrid>
                <a:gridCol w="45276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61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48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462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8153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815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 in Delinquency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 of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 of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89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 |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Conversions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Cost/Conversion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5098" y="7374963"/>
            <a:ext cx="283138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390052" y="7374963"/>
            <a:ext cx="2709483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9665" y="7374963"/>
            <a:ext cx="269067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405437" y="7374963"/>
            <a:ext cx="2568232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“self storage near me”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895466" y="3382619"/>
            <a:ext cx="3290108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{{IMPRES}}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5585353" y="3382619"/>
            <a:ext cx="3261745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{{CLICKS}}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9336317" y="3382619"/>
            <a:ext cx="326956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{{CONV}}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3091197" y="3382619"/>
            <a:ext cx="3280795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{{COSCON}}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grpSp>
        <p:nvGrpSpPr>
          <p:cNvPr id="48" name="Group 48"/>
          <p:cNvGrpSpPr>
            <a:grpSpLocks noChangeAspect="1"/>
          </p:cNvGrpSpPr>
          <p:nvPr/>
        </p:nvGrpSpPr>
        <p:grpSpPr>
          <a:xfrm>
            <a:off x="10286915" y="536822"/>
            <a:ext cx="608042" cy="608002"/>
            <a:chOff x="0" y="0"/>
            <a:chExt cx="810723" cy="81066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280270" cy="463883"/>
          </a:xfrm>
          <a:custGeom>
            <a:avLst/>
            <a:gdLst/>
            <a:ahLst/>
            <a:cxnLst/>
            <a:rect l="l" t="t" r="r" b="b"/>
            <a:pathLst>
              <a:path w="2280270" h="463883">
                <a:moveTo>
                  <a:pt x="0" y="0"/>
                </a:moveTo>
                <a:lnTo>
                  <a:pt x="2280270" y="0"/>
                </a:lnTo>
                <a:lnTo>
                  <a:pt x="2280270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r="-56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588539" y="6603983"/>
            <a:ext cx="5301422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NOVEMBER’S 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4.9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Reviews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GBP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Hannah Pedersen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service, easy, safe, great location”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536257"/>
            <a:ext cx="4534275" cy="1044575"/>
            <a:chOff x="0" y="0"/>
            <a:chExt cx="6045700" cy="1392767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Livier Delgadillo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customer service from Andrew!”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83832"/>
            <a:ext cx="4734223" cy="1749425"/>
            <a:chOff x="0" y="0"/>
            <a:chExt cx="6312297" cy="2332567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24182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Koko Tzavaras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Outstanding, helpful staff, beautiful facility, and excellent location! This is my second time being a client! Thank you!”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2972279" y="3238417"/>
            <a:ext cx="902196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161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078936" y="3198436"/>
            <a:ext cx="300782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1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0697498" y="3207243"/>
            <a:ext cx="639068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+1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2213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www.STOREstorage.com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388800" cy="10296000"/>
            <a:chOff x="0" y="0"/>
            <a:chExt cx="245184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8365" cy="13727937"/>
            </a:xfrm>
            <a:custGeom>
              <a:avLst/>
              <a:gdLst/>
              <a:ahLst/>
              <a:cxnLst/>
              <a:rect l="l" t="t" r="r" b="b"/>
              <a:pathLst>
                <a:path w="24518365" h="13727937">
                  <a:moveTo>
                    <a:pt x="0" y="0"/>
                  </a:moveTo>
                  <a:lnTo>
                    <a:pt x="24518365" y="0"/>
                  </a:lnTo>
                  <a:lnTo>
                    <a:pt x="24518365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7853100"/>
            <a:ext cx="11924400" cy="629400"/>
            <a:chOff x="0" y="0"/>
            <a:chExt cx="15899200" cy="83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5899257" cy="839216"/>
            </a:xfrm>
            <a:custGeom>
              <a:avLst/>
              <a:gdLst/>
              <a:ahLst/>
              <a:cxnLst/>
              <a:rect l="l" t="t" r="r" b="b"/>
              <a:pathLst>
                <a:path w="15899257" h="839216">
                  <a:moveTo>
                    <a:pt x="0" y="0"/>
                  </a:moveTo>
                  <a:lnTo>
                    <a:pt x="15899257" y="0"/>
                  </a:lnTo>
                  <a:lnTo>
                    <a:pt x="15899257" y="839216"/>
                  </a:lnTo>
                  <a:lnTo>
                    <a:pt x="0" y="8392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136075" y="7875150"/>
            <a:ext cx="6009150" cy="59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5"/>
              </a:lnSpc>
            </a:pPr>
            <a:r>
              <a:rPr lang="en-US" sz="30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RATE MANAGEMENT REPORT</a:t>
            </a:r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742900" y="826350"/>
            <a:ext cx="4294652" cy="1458250"/>
            <a:chOff x="0" y="0"/>
            <a:chExt cx="5726203" cy="194433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726176" cy="1944370"/>
            </a:xfrm>
            <a:custGeom>
              <a:avLst/>
              <a:gdLst/>
              <a:ahLst/>
              <a:cxnLst/>
              <a:rect l="l" t="t" r="r" b="b"/>
              <a:pathLst>
                <a:path w="5726176" h="1944370">
                  <a:moveTo>
                    <a:pt x="0" y="0"/>
                  </a:moveTo>
                  <a:lnTo>
                    <a:pt x="5726176" y="0"/>
                  </a:lnTo>
                  <a:lnTo>
                    <a:pt x="5726176" y="1944370"/>
                  </a:lnTo>
                  <a:lnTo>
                    <a:pt x="0" y="1944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" r="-2"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388800" cy="10296000"/>
            <a:chOff x="0" y="0"/>
            <a:chExt cx="245184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8365" cy="13727937"/>
            </a:xfrm>
            <a:custGeom>
              <a:avLst/>
              <a:gdLst/>
              <a:ahLst/>
              <a:cxnLst/>
              <a:rect l="l" t="t" r="r" b="b"/>
              <a:pathLst>
                <a:path w="24518365" h="13727937">
                  <a:moveTo>
                    <a:pt x="0" y="0"/>
                  </a:moveTo>
                  <a:lnTo>
                    <a:pt x="24518365" y="0"/>
                  </a:lnTo>
                  <a:lnTo>
                    <a:pt x="24518365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7853100"/>
            <a:ext cx="11924400" cy="629400"/>
            <a:chOff x="0" y="0"/>
            <a:chExt cx="15899200" cy="83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5899257" cy="839216"/>
            </a:xfrm>
            <a:custGeom>
              <a:avLst/>
              <a:gdLst/>
              <a:ahLst/>
              <a:cxnLst/>
              <a:rect l="l" t="t" r="r" b="b"/>
              <a:pathLst>
                <a:path w="15899257" h="839216">
                  <a:moveTo>
                    <a:pt x="0" y="0"/>
                  </a:moveTo>
                  <a:lnTo>
                    <a:pt x="15899257" y="0"/>
                  </a:lnTo>
                  <a:lnTo>
                    <a:pt x="15899257" y="839216"/>
                  </a:lnTo>
                  <a:lnTo>
                    <a:pt x="0" y="8392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915025" y="7818000"/>
            <a:ext cx="6281550" cy="65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</a:pPr>
            <a:r>
              <a:rPr lang="en-US" sz="24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MARKETING ANALYTICS DATA REPORT</a:t>
            </a:r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742900" y="826350"/>
            <a:ext cx="4294652" cy="1458250"/>
            <a:chOff x="0" y="0"/>
            <a:chExt cx="5726203" cy="194433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726176" cy="1944370"/>
            </a:xfrm>
            <a:custGeom>
              <a:avLst/>
              <a:gdLst/>
              <a:ahLst/>
              <a:cxnLst/>
              <a:rect l="l" t="t" r="r" b="b"/>
              <a:pathLst>
                <a:path w="5726176" h="1944370">
                  <a:moveTo>
                    <a:pt x="0" y="0"/>
                  </a:moveTo>
                  <a:lnTo>
                    <a:pt x="5726176" y="0"/>
                  </a:lnTo>
                  <a:lnTo>
                    <a:pt x="5726176" y="1944370"/>
                  </a:lnTo>
                  <a:lnTo>
                    <a:pt x="0" y="1944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" r="-2"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43000" y="1407150"/>
            <a:ext cx="15564000" cy="7377675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4441024" y="2530745"/>
            <a:ext cx="9955356" cy="601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Full Marketing Funnel </a:t>
            </a:r>
          </a:p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This includes the deeper charts currently shown on pages 20–21: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Website traffic by source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Leads by source (broken down into organic, paid, walk-ins, referral, phone, social)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Rentals by source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Lead → Reservation → Rental funnel </a:t>
            </a:r>
          </a:p>
          <a:p>
            <a:pPr algn="l">
              <a:lnSpc>
                <a:spcPts val="2799"/>
              </a:lnSpc>
            </a:pPr>
            <a:endParaRPr lang="en-US" sz="1999">
              <a:solidFill>
                <a:srgbClr val="000000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Detailed Paid Ads Report </a:t>
            </a:r>
          </a:p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Move campaign micro-data here: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Click-through rates (CTR)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Cost per click (CPC)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Impression share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Individual campaign performance (e.g., “50% off promo”, “Home remodeler”, “Wine storage”)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Budget allocation by campaign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Historical trends (3–6 months) </a:t>
            </a:r>
          </a:p>
          <a:p>
            <a:pPr algn="ctr">
              <a:lnSpc>
                <a:spcPts val="2799"/>
              </a:lnSpc>
            </a:pPr>
            <a:endParaRPr lang="en-US" sz="1999">
              <a:solidFill>
                <a:srgbClr val="000000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17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Marketing Analytics Data Report | July 2025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100" y="0"/>
            <a:ext cx="18288000" cy="690000"/>
            <a:chOff x="0" y="0"/>
            <a:chExt cx="24384000" cy="920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919988"/>
            </a:xfrm>
            <a:custGeom>
              <a:avLst/>
              <a:gdLst/>
              <a:ahLst/>
              <a:cxnLst/>
              <a:rect l="l" t="t" r="r" b="b"/>
              <a:pathLst>
                <a:path w="24384000" h="919988">
                  <a:moveTo>
                    <a:pt x="0" y="0"/>
                  </a:moveTo>
                  <a:lnTo>
                    <a:pt x="24384000" y="0"/>
                  </a:lnTo>
                  <a:lnTo>
                    <a:pt x="24384000" y="919988"/>
                  </a:lnTo>
                  <a:lnTo>
                    <a:pt x="0" y="9199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967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Marketing Analytics | Campaigns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7367350" y="992600"/>
            <a:ext cx="10672200" cy="7592400"/>
            <a:chOff x="0" y="0"/>
            <a:chExt cx="14229600" cy="10123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229587" cy="10123170"/>
            </a:xfrm>
            <a:custGeom>
              <a:avLst/>
              <a:gdLst/>
              <a:ahLst/>
              <a:cxnLst/>
              <a:rect l="l" t="t" r="r" b="b"/>
              <a:pathLst>
                <a:path w="14229587" h="10123170">
                  <a:moveTo>
                    <a:pt x="0" y="0"/>
                  </a:moveTo>
                  <a:lnTo>
                    <a:pt x="14229587" y="0"/>
                  </a:lnTo>
                  <a:lnTo>
                    <a:pt x="14229587" y="10123170"/>
                  </a:lnTo>
                  <a:lnTo>
                    <a:pt x="0" y="1012317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14229600" cy="10180350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PAID CAMPAIGNS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723196" y="4021698"/>
            <a:ext cx="2432400" cy="1225200"/>
            <a:chOff x="0" y="0"/>
            <a:chExt cx="3243200" cy="16336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Home remodeler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0723196" y="2446548"/>
            <a:ext cx="2432400" cy="1225200"/>
            <a:chOff x="0" y="0"/>
            <a:chExt cx="3243200" cy="1633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50% off promo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7854396" y="2446548"/>
            <a:ext cx="2432400" cy="1225200"/>
            <a:chOff x="0" y="0"/>
            <a:chExt cx="3243200" cy="1633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Self storage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7745275" y="1705950"/>
            <a:ext cx="3623550" cy="23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LONG-TERM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3494446" y="2446548"/>
            <a:ext cx="2432400" cy="1225200"/>
            <a:chOff x="0" y="0"/>
            <a:chExt cx="3243200" cy="16336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Student storage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7854396" y="4021698"/>
            <a:ext cx="2432400" cy="1225200"/>
            <a:chOff x="0" y="0"/>
            <a:chExt cx="3243200" cy="16336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Wine storage</a:t>
              </a:r>
            </a:p>
          </p:txBody>
        </p:sp>
      </p:grpSp>
      <p:grpSp>
        <p:nvGrpSpPr>
          <p:cNvPr id="30" name="Group 30"/>
          <p:cNvGrpSpPr>
            <a:grpSpLocks noChangeAspect="1"/>
          </p:cNvGrpSpPr>
          <p:nvPr/>
        </p:nvGrpSpPr>
        <p:grpSpPr>
          <a:xfrm>
            <a:off x="792900" y="992576"/>
            <a:ext cx="6122948" cy="7692948"/>
            <a:chOff x="0" y="0"/>
            <a:chExt cx="8163931" cy="10257264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63941" cy="10257282"/>
            </a:xfrm>
            <a:custGeom>
              <a:avLst/>
              <a:gdLst/>
              <a:ahLst/>
              <a:cxnLst/>
              <a:rect l="l" t="t" r="r" b="b"/>
              <a:pathLst>
                <a:path w="8163941" h="10257282">
                  <a:moveTo>
                    <a:pt x="0" y="0"/>
                  </a:moveTo>
                  <a:lnTo>
                    <a:pt x="8163941" y="0"/>
                  </a:lnTo>
                  <a:lnTo>
                    <a:pt x="8163941" y="10257282"/>
                  </a:lnTo>
                  <a:lnTo>
                    <a:pt x="0" y="102572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32" name="Table 32"/>
          <p:cNvGraphicFramePr>
            <a:graphicFrameLocks noGrp="1"/>
          </p:cNvGraphicFramePr>
          <p:nvPr/>
        </p:nvGraphicFramePr>
        <p:xfrm>
          <a:off x="8352695" y="5905806"/>
          <a:ext cx="6357951" cy="2200276"/>
        </p:xfrm>
        <a:graphic>
          <a:graphicData uri="http://schemas.openxmlformats.org/drawingml/2006/table">
            <a:tbl>
              <a:tblPr/>
              <a:tblGrid>
                <a:gridCol w="25409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70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85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GOOGLE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852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 rating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{{GOOGLERATING}}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5286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Reviews last month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{{GOOGLEREVLM}}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5286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reviews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{{GOOGLETOTALREVIEWS}}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2353</Words>
  <Application>Microsoft Office PowerPoint</Application>
  <PresentationFormat>Custom</PresentationFormat>
  <Paragraphs>768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8" baseType="lpstr">
      <vt:lpstr>Arial Italics</vt:lpstr>
      <vt:lpstr>Arial Bold</vt:lpstr>
      <vt:lpstr>Arimo</vt:lpstr>
      <vt:lpstr>Calibri</vt:lpstr>
      <vt:lpstr>Avenir Medium</vt:lpstr>
      <vt:lpstr>Arial</vt:lpstr>
      <vt:lpstr>Avenir Italics</vt:lpstr>
      <vt:lpstr>Avenir Bold Italics</vt:lpstr>
      <vt:lpstr>Avenir Bold</vt:lpstr>
      <vt:lpstr>Avenir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cp:lastModifiedBy>Alex Burke</cp:lastModifiedBy>
  <cp:revision>10</cp:revision>
  <dcterms:created xsi:type="dcterms:W3CDTF">2006-08-16T00:00:00Z</dcterms:created>
  <dcterms:modified xsi:type="dcterms:W3CDTF">2025-12-15T17:14:40Z</dcterms:modified>
  <dc:identifier>DAG3YRaK70Q</dc:identifier>
</cp:coreProperties>
</file>