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69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68" r:id="rId16"/>
  </p:sldIdLst>
  <p:sldSz cx="18288000" cy="10287000"/>
  <p:notesSz cx="6858000" cy="9144000"/>
  <p:embeddedFontLst>
    <p:embeddedFont>
      <p:font typeface="Arial Bold" panose="020B0704020202020204" pitchFamily="34" charset="0"/>
      <p:regular r:id="rId18"/>
      <p:bold r:id="rId19"/>
    </p:embeddedFont>
    <p:embeddedFont>
      <p:font typeface="Arial Italics" panose="020B0604020202020204" charset="0"/>
      <p:regular r:id="rId20"/>
    </p:embeddedFont>
    <p:embeddedFont>
      <p:font typeface="Avenir" panose="020B0604020202020204" charset="0"/>
      <p:regular r:id="rId21"/>
    </p:embeddedFont>
    <p:embeddedFont>
      <p:font typeface="Avenir Bold" panose="020B0604020202020204" charset="0"/>
      <p:regular r:id="rId22"/>
      <p:bold r:id="rId23"/>
    </p:embeddedFont>
    <p:embeddedFont>
      <p:font typeface="Avenir Bold Italics" panose="020B0604020202020204" charset="0"/>
      <p:regular r:id="rId24"/>
    </p:embeddedFont>
    <p:embeddedFont>
      <p:font typeface="Avenir Italics" panose="020B0604020202020204" charset="0"/>
      <p:regular r:id="rId25"/>
    </p:embeddedFont>
    <p:embeddedFont>
      <p:font typeface="Avenir Medium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0" d="100"/>
          <a:sy n="70" d="100"/>
        </p:scale>
        <p:origin x="80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14.08.2026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11.sv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32" name="Picture 31" descr="A long hallway with roller shutters&#10;&#10;AI-generated content may be incorrect.">
            <a:extLst>
              <a:ext uri="{FF2B5EF4-FFF2-40B4-BE49-F238E27FC236}">
                <a16:creationId xmlns:a16="http://schemas.microsoft.com/office/drawing/2014/main" id="{B36D684E-70C7-4C5C-C82E-40C1471F4E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550" y="12700"/>
            <a:ext cx="18307550" cy="1028700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786437"/>
              </p:ext>
            </p:extLst>
          </p:nvPr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60739"/>
              </p:ext>
            </p:extLst>
          </p:nvPr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4619676"/>
              </p:ext>
            </p:extLst>
          </p:nvPr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5410947"/>
              </p:ext>
            </p:extLst>
          </p:nvPr>
        </p:nvGraphicFramePr>
        <p:xfrm>
          <a:off x="8360100" y="6520468"/>
          <a:ext cx="1701800" cy="2589742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9531317"/>
              </p:ext>
            </p:extLst>
          </p:nvPr>
        </p:nvGraphicFramePr>
        <p:xfrm>
          <a:off x="10978358" y="6521326"/>
          <a:ext cx="2540000" cy="2589790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 dirty="0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ts val="3311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 dirty="0"/>
                    </a:p>
                    <a:p>
                      <a:pPr algn="l">
                        <a:lnSpc>
                          <a:spcPts val="3311"/>
                        </a:lnSpc>
                        <a:defRPr/>
                      </a:pPr>
                      <a:endParaRPr lang="en-US" sz="1100" dirty="0"/>
                    </a:p>
                  </a:txBody>
                  <a:tcPr marL="91425" marR="91425" marT="91425" marB="91425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5233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{{CURRENTMONTH}} 2026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A688692E-2B3D-FB28-75D4-7E6740EBBC9E}"/>
              </a:ext>
            </a:extLst>
          </p:cNvPr>
          <p:cNvCxnSpPr>
            <a:cxnSpLocks/>
          </p:cNvCxnSpPr>
          <p:nvPr/>
        </p:nvCxnSpPr>
        <p:spPr>
          <a:xfrm>
            <a:off x="3200400" y="5219700"/>
            <a:ext cx="51597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7C50689-F3A6-167C-7255-7D04709EA7EA}"/>
              </a:ext>
            </a:extLst>
          </p:cNvPr>
          <p:cNvCxnSpPr>
            <a:cxnSpLocks/>
          </p:cNvCxnSpPr>
          <p:nvPr/>
        </p:nvCxnSpPr>
        <p:spPr>
          <a:xfrm>
            <a:off x="11001226" y="5219700"/>
            <a:ext cx="2181374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D18338-BAFE-A2D4-F3AE-46C528FA69A4}"/>
              </a:ext>
            </a:extLst>
          </p:cNvPr>
          <p:cNvCxnSpPr>
            <a:cxnSpLocks/>
          </p:cNvCxnSpPr>
          <p:nvPr/>
        </p:nvCxnSpPr>
        <p:spPr>
          <a:xfrm>
            <a:off x="4800600" y="7734300"/>
            <a:ext cx="2722258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157AFB1-04D6-CF84-E02C-00007B8CE47D}"/>
              </a:ext>
            </a:extLst>
          </p:cNvPr>
          <p:cNvCxnSpPr>
            <a:cxnSpLocks/>
          </p:cNvCxnSpPr>
          <p:nvPr/>
        </p:nvCxnSpPr>
        <p:spPr>
          <a:xfrm>
            <a:off x="8360100" y="7734300"/>
            <a:ext cx="15459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073B43C2-2D83-5EC3-23C2-01BF9D14E6E2}"/>
              </a:ext>
            </a:extLst>
          </p:cNvPr>
          <p:cNvCxnSpPr>
            <a:cxnSpLocks/>
          </p:cNvCxnSpPr>
          <p:nvPr/>
        </p:nvCxnSpPr>
        <p:spPr>
          <a:xfrm>
            <a:off x="11049000" y="7734300"/>
            <a:ext cx="2362200" cy="0"/>
          </a:xfrm>
          <a:prstGeom prst="line">
            <a:avLst/>
          </a:prstGeom>
          <a:ln>
            <a:solidFill>
              <a:srgbClr val="3B52A1"/>
            </a:solidFill>
          </a:ln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80FAB35C-0686-6D4A-38EC-232A1E11685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4375" y="2441135"/>
            <a:ext cx="5497350" cy="19841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Picture 59" descr="A long hallway with doors and lights&#10;&#10;AI-generated content may be incorrect.">
            <a:extLst>
              <a:ext uri="{FF2B5EF4-FFF2-40B4-BE49-F238E27FC236}">
                <a16:creationId xmlns:a16="http://schemas.microsoft.com/office/drawing/2014/main" id="{09238A00-FFB9-A5C1-F019-8B9173A04A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7900" cy="1011363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  <a:endParaRPr lang="en-US" sz="2499" dirty="0">
              <a:solidFill>
                <a:srgbClr val="3B52A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Operating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Operating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036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 ft²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0364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{{OCCUPANCYBYUNITS}}%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2377273"/>
              </p:ext>
            </p:extLst>
          </p:nvPr>
        </p:nvGraphicFramePr>
        <p:xfrm>
          <a:off x="780998" y="7176516"/>
          <a:ext cx="16725998" cy="2852928"/>
        </p:xfrm>
        <a:graphic>
          <a:graphicData uri="http://schemas.openxmlformats.org/drawingml/2006/table">
            <a:tbl>
              <a:tblPr/>
              <a:tblGrid>
                <a:gridCol w="23936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40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37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15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675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7871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709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48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96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Travel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TRAVELYTDVARPER}}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43143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Operating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010796"/>
              </p:ext>
            </p:extLst>
          </p:nvPr>
        </p:nvGraphicFramePr>
        <p:xfrm>
          <a:off x="781000" y="1638300"/>
          <a:ext cx="16726000" cy="5230368"/>
        </p:xfrm>
        <a:graphic>
          <a:graphicData uri="http://schemas.openxmlformats.org/drawingml/2006/table">
            <a:tbl>
              <a:tblPr/>
              <a:tblGrid>
                <a:gridCol w="23855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4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67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67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5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20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76861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6133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95855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FFFFFF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Admin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Late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Tenant Protection Fee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Secure Payment Fee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Bold" panose="020B0604020202020204" charset="0"/>
                          <a:sym typeface="Avenir Bold"/>
                        </a:rPr>
                        <a:t>Expenses</a:t>
                      </a:r>
                      <a:endParaRPr lang="en-US" sz="1200" b="0" dirty="0">
                        <a:latin typeface="Avenir Bold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200" b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200" b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" panose="020B0604020202020204" charset="0"/>
                        </a:rPr>
                        <a:t>Bank Charges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BANKCHGCM</a:t>
                      </a:r>
                      <a:r>
                        <a:rPr lang="en-US" sz="1200" b="0" dirty="0">
                          <a:latin typeface="Avenir Medium" panose="020B060402020202020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</a:t>
                      </a:r>
                      <a:r>
                        <a:rPr lang="en-US" sz="1200" b="0" i="0" kern="1200" dirty="0">
                          <a:solidFill>
                            <a:schemeClr val="tx1"/>
                          </a:solidFill>
                          <a:effectLst/>
                          <a:latin typeface="Avenir Medium" panose="020B0604020202020204" charset="0"/>
                          <a:ea typeface="+mn-ea"/>
                          <a:cs typeface="+mn-cs"/>
                        </a:rPr>
                        <a:t>BANKCHGYTDVARPER}}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557716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{{INSURXPCM}}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{{INSURXPPTD}}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{{INSURXPYTD}}</a:t>
                      </a:r>
                      <a:endParaRPr lang="en-US" sz="1200" b="0" i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{{INSURXPYTDBUD}}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latin typeface="Avenir Medium" panose="020B0604020202020204" charset="0"/>
                        </a:rPr>
                        <a:t>{{INSURXPYTDVARPER}}</a:t>
                      </a: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Payroll Costs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Office &amp; Building Supplies</a:t>
                      </a:r>
                      <a:endParaRPr lang="en-US" sz="1200" b="0" dirty="0">
                        <a:latin typeface="Avenir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Avenir Medium" panose="020B0604020202020204" charset="0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200" b="0" dirty="0">
                        <a:latin typeface="Avenir Medium" panose="020B0604020202020204" charset="0"/>
                      </a:endParaRPr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seller.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D6F4F047-9584-4865-C642-8B18511A0E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6282954"/>
              </p:ext>
            </p:extLst>
          </p:nvPr>
        </p:nvGraphicFramePr>
        <p:xfrm>
          <a:off x="8915400" y="2673900"/>
          <a:ext cx="4572000" cy="5179754"/>
        </p:xfrm>
        <a:graphic>
          <a:graphicData uri="http://schemas.openxmlformats.org/drawingml/2006/table">
            <a:tbl>
              <a:tblPr/>
              <a:tblGrid>
                <a:gridCol w="31884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3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{{ECRIMONTH}}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sym typeface="Avenir"/>
                        </a:rPr>
                        <a:t>{{NUMREN}}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sym typeface="Avenir"/>
                        </a:rPr>
                        <a:t>{{TOTSFT}}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sym typeface="Avenir"/>
                        </a:rPr>
                        <a:t>{{BASERENPR}}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 dirty="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 dirty="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Move outs in 90 days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{{MOVEOUT90}}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2479726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BEAFD146-7197-87A4-4A8D-CB7B5CDA63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55169"/>
              </p:ext>
            </p:extLst>
          </p:nvPr>
        </p:nvGraphicFramePr>
        <p:xfrm>
          <a:off x="13563600" y="2680147"/>
          <a:ext cx="4572000" cy="5179754"/>
        </p:xfrm>
        <a:graphic>
          <a:graphicData uri="http://schemas.openxmlformats.org/drawingml/2006/table">
            <a:tbl>
              <a:tblPr/>
              <a:tblGrid>
                <a:gridCol w="31884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835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{{NEXTMONTH2}}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{{ECRIMONTH2}}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sym typeface="Avenir"/>
                        </a:rPr>
                        <a:t>{{NUMREN2}}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sym typeface="Avenir"/>
                        </a:rPr>
                        <a:t>{{TOTSFT2}}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sym typeface="Avenir"/>
                        </a:rPr>
                        <a:t>{{BASERENPR2}}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{{TOTINCESC2}}</a:t>
                      </a:r>
                      <a:endParaRPr lang="en-US" sz="1100" dirty="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after ECRI 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{{NEWRENRT2}}</a:t>
                      </a:r>
                      <a:endParaRPr lang="en-US" sz="1100" dirty="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{{AVGPERINC2}}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Move outs in 90 days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{{MOVEOUT902}}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1644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spaces.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46686" y="4436639"/>
            <a:ext cx="2477550" cy="307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ALL UNITS</a:t>
            </a:r>
          </a:p>
        </p:txBody>
      </p:sp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/>
        </p:nvGraphicFramePr>
        <p:xfrm>
          <a:off x="1536699" y="2628900"/>
          <a:ext cx="15240001" cy="3200402"/>
        </p:xfrm>
        <a:graphic>
          <a:graphicData uri="http://schemas.openxmlformats.org/drawingml/2006/table">
            <a:tbl>
              <a:tblPr/>
              <a:tblGrid>
                <a:gridCol w="46078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0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41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room with roller doors&#10;&#10;AI-generated content may be incorrect.">
            <a:extLst>
              <a:ext uri="{FF2B5EF4-FFF2-40B4-BE49-F238E27FC236}">
                <a16:creationId xmlns:a16="http://schemas.microsoft.com/office/drawing/2014/main" id="{85A2A8BD-AA7D-B9E6-B12D-072B401F55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4044"/>
            <a:ext cx="18669000" cy="10350500"/>
          </a:xfrm>
          <a:prstGeom prst="rect">
            <a:avLst/>
          </a:prstGeom>
        </p:spPr>
      </p:pic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853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7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+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28" descr="A room with roller doors">
            <a:extLst>
              <a:ext uri="{FF2B5EF4-FFF2-40B4-BE49-F238E27FC236}">
                <a16:creationId xmlns:a16="http://schemas.microsoft.com/office/drawing/2014/main" id="{C0F4559F-81F4-8658-13B8-9BE082BBC6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" y="12700"/>
            <a:ext cx="18288200" cy="10256284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156102"/>
              </p:ext>
            </p:extLst>
          </p:nvPr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 dirty="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674931"/>
              </p:ext>
            </p:extLst>
          </p:nvPr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sym typeface="Avenir"/>
                        </a:rPr>
                        <a:t>{{MNGNOTES}}</a:t>
                      </a:r>
                      <a:endParaRPr lang="en-US" sz="1100" dirty="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52600" y="2400301"/>
            <a:ext cx="15554400" cy="4800600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reflects delinquent units as a percentage of occupied units.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2DA4F70D-C7E8-9BE0-9418-5A901EF7010D}"/>
              </a:ext>
            </a:extLst>
          </p:cNvPr>
          <p:cNvSpPr/>
          <p:nvPr/>
        </p:nvSpPr>
        <p:spPr>
          <a:xfrm>
            <a:off x="838200" y="2781300"/>
            <a:ext cx="16764000" cy="69341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CTR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Cost/Click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“{{GOOKEYWORD}}”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{{GOOCTR}}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{{GOOCPC}}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DA4BB91-13AC-EBFD-2F72-F37601110142}"/>
              </a:ext>
            </a:extLst>
          </p:cNvPr>
          <p:cNvSpPr/>
          <p:nvPr/>
        </p:nvSpPr>
        <p:spPr>
          <a:xfrm>
            <a:off x="838200" y="2552700"/>
            <a:ext cx="16687800" cy="70104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901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 (Google)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148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{{GGLRAT}}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 (All Platforms)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{{REVIEW1}}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“{{REVIEW1BIO}}”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471963"/>
            <a:ext cx="4534276" cy="1088503"/>
            <a:chOff x="0" y="-85725"/>
            <a:chExt cx="6045701" cy="1451338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{{REVIEW2}}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“{{REVIEW2BIO}}”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19538"/>
            <a:ext cx="4734223" cy="1088503"/>
            <a:chOff x="0" y="-85725"/>
            <a:chExt cx="6312297" cy="1451338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145133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{{REVIEW3}}</a:t>
              </a:r>
            </a:p>
            <a:p>
              <a:pPr algn="l">
                <a:lnSpc>
                  <a:spcPts val="3079"/>
                </a:lnSpc>
              </a:pPr>
              <a:endParaRPr lang="en-US" sz="20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 dirty="0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“{{REVIEW3BIO}}”</a:t>
              </a:r>
              <a:endParaRPr lang="en-US" sz="2000" i="1" dirty="0">
                <a:solidFill>
                  <a:srgbClr val="FFFFFF"/>
                </a:solidFill>
                <a:latin typeface="Avenir Italics"/>
                <a:ea typeface="Avenir Italics"/>
                <a:cs typeface="Avenir Italics"/>
                <a:sym typeface="Avenir Italics"/>
              </a:endParaRP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806152" y="3238417"/>
            <a:ext cx="3272550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{{GBPREVIEWS}}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574001" y="3198436"/>
            <a:ext cx="3276773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{{MOMCHANGEALL}}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379951" y="3207243"/>
            <a:ext cx="3308041" cy="13819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{{MOMCHANGE}}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A6E4D-CC20-68D3-91FE-9A42F042A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2A810611-4A31-A154-D5E1-363F1E1480F2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A0A3173-C799-DEA7-9739-5D6F70F9C4FF}"/>
                </a:ext>
              </a:extLst>
            </p:cNvPr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BEA081B5-0782-C40A-547A-F7E2213F643C}"/>
              </a:ext>
            </a:extLst>
          </p:cNvPr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3BA20DC-D293-ABE6-B4A7-804FBA08B282}"/>
                </a:ext>
              </a:extLst>
            </p:cNvPr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26335D73-642F-99C3-7A05-67CCA5BD11AE}"/>
              </a:ext>
            </a:extLst>
          </p:cNvPr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C3CF3674-15A7-DB08-7230-1832FB3AAC2F}"/>
                </a:ext>
              </a:extLst>
            </p:cNvPr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4284C9E9-ACB4-DF5A-33BD-6A41E98B28A8}"/>
                </a:ext>
              </a:extLst>
            </p:cNvPr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6000"/>
                </a:lnSpc>
              </a:pPr>
              <a:r>
                <a:rPr lang="en-US" sz="50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Customer Origin Heat Map</a:t>
              </a:r>
            </a:p>
          </p:txBody>
        </p:sp>
      </p:grpSp>
      <p:pic>
        <p:nvPicPr>
          <p:cNvPr id="52" name="Picture 51">
            <a:extLst>
              <a:ext uri="{FF2B5EF4-FFF2-40B4-BE49-F238E27FC236}">
                <a16:creationId xmlns:a16="http://schemas.microsoft.com/office/drawing/2014/main" id="{C2C44159-F2D0-7558-53EB-3058994576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94697" y="2006353"/>
            <a:ext cx="15698605" cy="77438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1" name="Map Legend Card"/>
          <p:cNvSpPr/>
          <p:nvPr/>
        </p:nvSpPr>
        <p:spPr>
          <a:xfrm>
            <a:off x="11795760" y="7726679"/>
            <a:ext cx="5029200" cy="1783080"/>
          </a:xfrm>
          <a:prstGeom prst="roundRect">
            <a:avLst>
              <a:gd name="adj" fmla="val 65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C6CBD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2" name="Map Description"/>
          <p:cNvSpPr txBox="1"/>
          <p:nvPr/>
        </p:nvSpPr>
        <p:spPr>
          <a:xfrm>
            <a:off x="11996928" y="7891271"/>
            <a:ext cx="4626864" cy="9326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en-US" sz="1600" dirty="0">
                <a:solidFill>
                  <a:srgbClr val="3A3A3A"/>
                </a:solidFill>
                <a:latin typeface="Avenir"/>
                <a:ea typeface="Avenir"/>
                <a:cs typeface="Avenir"/>
                <a:sym typeface="Avenir"/>
              </a:rPr>
              <a:t>Home addresses of every active customer, plotted as a density map. Darker red shading is more customers from that area.</a:t>
            </a:r>
          </a:p>
        </p:txBody>
      </p:sp>
      <p:sp>
        <p:nvSpPr>
          <p:cNvPr id="103" name="Legend Low"/>
          <p:cNvSpPr txBox="1"/>
          <p:nvPr/>
        </p:nvSpPr>
        <p:spPr>
          <a:xfrm>
            <a:off x="11996928" y="8988551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r"/>
            <a:r>
              <a:rPr lang="en-US" sz="1400" dirty="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Low</a:t>
            </a:r>
          </a:p>
        </p:txBody>
      </p:sp>
      <p:sp>
        <p:nvSpPr>
          <p:cNvPr id="104" name="Legend Gradient"/>
          <p:cNvSpPr/>
          <p:nvPr/>
        </p:nvSpPr>
        <p:spPr>
          <a:xfrm>
            <a:off x="12545568" y="9015984"/>
            <a:ext cx="3017520" cy="21945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C9EED6"/>
              </a:gs>
              <a:gs pos="38000">
                <a:srgbClr val="EBDCC2"/>
              </a:gs>
              <a:gs pos="70000">
                <a:srgbClr val="E88081"/>
              </a:gs>
              <a:gs pos="100000">
                <a:srgbClr val="8C2B34"/>
              </a:gs>
            </a:gsLst>
            <a:lin ang="0" scaled="1"/>
          </a:gradFill>
          <a:ln w="9525">
            <a:solidFill>
              <a:srgbClr val="B8BDC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5" name="Legend High"/>
          <p:cNvSpPr txBox="1"/>
          <p:nvPr/>
        </p:nvSpPr>
        <p:spPr>
          <a:xfrm>
            <a:off x="15654528" y="8988551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en-US" sz="1400" dirty="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High</a:t>
            </a:r>
          </a:p>
        </p:txBody>
      </p:sp>
    </p:spTree>
    <p:extLst>
      <p:ext uri="{BB962C8B-B14F-4D97-AF65-F5344CB8AC3E}">
        <p14:creationId xmlns:p14="http://schemas.microsoft.com/office/powerpoint/2010/main" val="38775734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96B6D-08DE-C891-6181-8C11E9FF3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6B4AEC81-8CF2-FD0D-15FD-1EEE3CB949F0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8A3B05EC-4728-1FDE-0BC3-422764D88E7F}"/>
                </a:ext>
              </a:extLst>
            </p:cNvPr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77049EDE-A77C-0288-AF81-D84E56CD8358}"/>
              </a:ext>
            </a:extLst>
          </p:cNvPr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E43F249-16B6-97E3-1F3B-8928C14163F0}"/>
                </a:ext>
              </a:extLst>
            </p:cNvPr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199A7881-6AC6-A3CB-E389-5288F7A21987}"/>
              </a:ext>
            </a:extLst>
          </p:cNvPr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79BDB56-A1D6-0CA7-9DE9-AF645CE1181C}"/>
                </a:ext>
              </a:extLst>
            </p:cNvPr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9691CAAE-8B5D-EE63-308E-CCBD03747C28}"/>
                </a:ext>
              </a:extLst>
            </p:cNvPr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6000"/>
                </a:lnSpc>
              </a:pPr>
              <a:r>
                <a:rPr lang="en-US" sz="5000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Local Service Ads (LSA) Heat Map |</a:t>
              </a:r>
            </a:p>
          </p:txBody>
        </p:sp>
      </p:grpSp>
      <p:grpSp>
        <p:nvGrpSpPr>
          <p:cNvPr id="48" name="Group 48">
            <a:extLst>
              <a:ext uri="{FF2B5EF4-FFF2-40B4-BE49-F238E27FC236}">
                <a16:creationId xmlns:a16="http://schemas.microsoft.com/office/drawing/2014/main" id="{F00B99C1-0A83-1AA1-C4F0-D6FFD1BF0A19}"/>
              </a:ext>
            </a:extLst>
          </p:cNvPr>
          <p:cNvGrpSpPr>
            <a:grpSpLocks noChangeAspect="1"/>
          </p:cNvGrpSpPr>
          <p:nvPr/>
        </p:nvGrpSpPr>
        <p:grpSpPr>
          <a:xfrm>
            <a:off x="10364758" y="536822"/>
            <a:ext cx="608042" cy="608002"/>
            <a:chOff x="0" y="0"/>
            <a:chExt cx="810723" cy="810669"/>
          </a:xfrm>
        </p:grpSpPr>
        <p:sp>
          <p:nvSpPr>
            <p:cNvPr id="49" name="Freeform 49">
              <a:extLst>
                <a:ext uri="{FF2B5EF4-FFF2-40B4-BE49-F238E27FC236}">
                  <a16:creationId xmlns:a16="http://schemas.microsoft.com/office/drawing/2014/main" id="{63172AB8-BA86-AE4E-0A54-7E8D4429F08C}"/>
                </a:ext>
              </a:extLst>
            </p:cNvPr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pic>
        <p:nvPicPr>
          <p:cNvPr id="52" name="Picture 51">
            <a:extLst>
              <a:ext uri="{FF2B5EF4-FFF2-40B4-BE49-F238E27FC236}">
                <a16:creationId xmlns:a16="http://schemas.microsoft.com/office/drawing/2014/main" id="{D699A03D-0103-CE2D-4D5B-9D798B00AF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3012" y="2006353"/>
            <a:ext cx="15801975" cy="77438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1" name="Map Legend Card"/>
          <p:cNvSpPr/>
          <p:nvPr/>
        </p:nvSpPr>
        <p:spPr>
          <a:xfrm>
            <a:off x="11795760" y="7726679"/>
            <a:ext cx="5029200" cy="1783080"/>
          </a:xfrm>
          <a:prstGeom prst="roundRect">
            <a:avLst>
              <a:gd name="adj" fmla="val 6500"/>
            </a:avLst>
          </a:prstGeom>
          <a:solidFill>
            <a:srgbClr val="FFFFFF">
              <a:alpha val="94000"/>
            </a:srgbClr>
          </a:solidFill>
          <a:ln w="12700">
            <a:solidFill>
              <a:srgbClr val="C6CBD3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2" name="Map Description"/>
          <p:cNvSpPr txBox="1"/>
          <p:nvPr/>
        </p:nvSpPr>
        <p:spPr>
          <a:xfrm>
            <a:off x="11996928" y="7891271"/>
            <a:ext cx="4626864" cy="93268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en-US" sz="1600" dirty="0">
                <a:solidFill>
                  <a:srgbClr val="3A3A3A"/>
                </a:solidFill>
                <a:latin typeface="Avenir"/>
                <a:ea typeface="Avenir"/>
                <a:cs typeface="Avenir"/>
                <a:sym typeface="Avenir"/>
              </a:rPr>
              <a:t>Where Google Local Service Ads for {{PROPERTYNAME}} are shown to nearby searchers. Darker red shading means heavier ad activity.</a:t>
            </a:r>
          </a:p>
        </p:txBody>
      </p:sp>
      <p:sp>
        <p:nvSpPr>
          <p:cNvPr id="103" name="Legend Low"/>
          <p:cNvSpPr txBox="1"/>
          <p:nvPr/>
        </p:nvSpPr>
        <p:spPr>
          <a:xfrm>
            <a:off x="11996928" y="8988551"/>
            <a:ext cx="457200" cy="29260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r"/>
            <a:r>
              <a:rPr lang="en-US" sz="1400" dirty="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Low</a:t>
            </a:r>
          </a:p>
        </p:txBody>
      </p:sp>
      <p:sp>
        <p:nvSpPr>
          <p:cNvPr id="104" name="Legend Gradient"/>
          <p:cNvSpPr/>
          <p:nvPr/>
        </p:nvSpPr>
        <p:spPr>
          <a:xfrm>
            <a:off x="12545568" y="9015984"/>
            <a:ext cx="3017520" cy="219456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C9EED6"/>
              </a:gs>
              <a:gs pos="38000">
                <a:srgbClr val="EBDCC2"/>
              </a:gs>
              <a:gs pos="70000">
                <a:srgbClr val="E88081"/>
              </a:gs>
              <a:gs pos="100000">
                <a:srgbClr val="8C2B34"/>
              </a:gs>
            </a:gsLst>
            <a:lin ang="0" scaled="1"/>
          </a:gradFill>
          <a:ln w="9525">
            <a:solidFill>
              <a:srgbClr val="B8BDC6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5" name="Legend High"/>
          <p:cNvSpPr txBox="1"/>
          <p:nvPr/>
        </p:nvSpPr>
        <p:spPr>
          <a:xfrm>
            <a:off x="15654528" y="8988551"/>
            <a:ext cx="914400" cy="292608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l"/>
            <a:r>
              <a:rPr lang="en-US" sz="1400" dirty="0">
                <a:solidFill>
                  <a:srgbClr val="595959"/>
                </a:solidFill>
                <a:latin typeface="Avenir"/>
                <a:ea typeface="Avenir"/>
                <a:cs typeface="Avenir"/>
                <a:sym typeface="Avenir"/>
              </a:rPr>
              <a:t>High</a:t>
            </a:r>
          </a:p>
        </p:txBody>
      </p:sp>
    </p:spTree>
    <p:extLst>
      <p:ext uri="{BB962C8B-B14F-4D97-AF65-F5344CB8AC3E}">
        <p14:creationId xmlns:p14="http://schemas.microsoft.com/office/powerpoint/2010/main" val="1296364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 dirty="0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1501</TotalTime>
  <Words>1848</Words>
  <Application>Microsoft Office PowerPoint</Application>
  <PresentationFormat>Custom</PresentationFormat>
  <Paragraphs>620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Avenir Bold</vt:lpstr>
      <vt:lpstr>Avenir Medium</vt:lpstr>
      <vt:lpstr>Arial Bold</vt:lpstr>
      <vt:lpstr>Calibri</vt:lpstr>
      <vt:lpstr>Avenir Bold Italics</vt:lpstr>
      <vt:lpstr>Avenir</vt:lpstr>
      <vt:lpstr>Arial</vt:lpstr>
      <vt:lpstr>Arial Italics</vt:lpstr>
      <vt:lpstr>Avenir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dc:creator>Ashley Reyes</dc:creator>
  <cp:lastModifiedBy>Alex Burke</cp:lastModifiedBy>
  <cp:revision>133</cp:revision>
  <dcterms:created xsi:type="dcterms:W3CDTF">2006-08-16T00:00:00Z</dcterms:created>
  <dcterms:modified xsi:type="dcterms:W3CDTF">2026-08-14T19:44:32Z</dcterms:modified>
  <dc:identifier>DAG3YRaK70Q</dc:identifier>
</cp:coreProperties>
</file>