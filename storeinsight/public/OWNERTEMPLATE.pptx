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Arial Bold" panose="020B0704020202020204" pitchFamily="34" charset="0"/>
      <p:regular r:id="rId18"/>
      <p:bold r:id="rId19"/>
    </p:embeddedFont>
    <p:embeddedFont>
      <p:font typeface="Arial Italics" panose="020B0604020202020204" charset="0"/>
      <p:regular r:id="rId20"/>
    </p:embeddedFont>
    <p:embeddedFont>
      <p:font typeface="Avenir" panose="020B0604020202020204" charset="0"/>
      <p:regular r:id="rId21"/>
    </p:embeddedFont>
    <p:embeddedFont>
      <p:font typeface="Avenir Bold" panose="020B0604020202020204" charset="0"/>
      <p:regular r:id="rId22"/>
    </p:embeddedFont>
    <p:embeddedFont>
      <p:font typeface="Avenir Bold Italics" panose="020B0604020202020204" charset="0"/>
      <p:regular r:id="rId23"/>
    </p:embeddedFont>
    <p:embeddedFont>
      <p:font typeface="Avenir Italics" panose="020B0604020202020204" charset="0"/>
      <p:regular r:id="rId24"/>
    </p:embeddedFont>
    <p:embeddedFont>
      <p:font typeface="Avenir Medium" panose="020B0604020202020204" charset="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9" d="100"/>
          <a:sy n="79" d="100"/>
        </p:scale>
        <p:origin x="32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30.12.2025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4587170"/>
              </p:ext>
            </p:extLst>
          </p:nvPr>
        </p:nvGraphicFramePr>
        <p:xfrm>
          <a:off x="1447801" y="6975320"/>
          <a:ext cx="14884398" cy="3070846"/>
        </p:xfrm>
        <a:graphic>
          <a:graphicData uri="http://schemas.openxmlformats.org/drawingml/2006/table">
            <a:tbl>
              <a:tblPr/>
              <a:tblGrid>
                <a:gridCol w="2130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7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1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58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59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04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2153042"/>
              </p:ext>
            </p:extLst>
          </p:nvPr>
        </p:nvGraphicFramePr>
        <p:xfrm>
          <a:off x="1447800" y="1943101"/>
          <a:ext cx="14884399" cy="4724391"/>
        </p:xfrm>
        <a:graphic>
          <a:graphicData uri="http://schemas.openxmlformats.org/drawingml/2006/table">
            <a:tbl>
              <a:tblPr/>
              <a:tblGrid>
                <a:gridCol w="2122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0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3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6740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Admin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Late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Other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Secure Payment Processing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 - Staff Costs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034700" y="3752600"/>
            <a:ext cx="3769122" cy="653180"/>
            <a:chOff x="0" y="0"/>
            <a:chExt cx="5025495" cy="87090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47625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544325" y="3737213"/>
            <a:ext cx="3700200" cy="653180"/>
            <a:chOff x="0" y="0"/>
            <a:chExt cx="4933600" cy="870906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2">
            <a:extLst>
              <a:ext uri="{FF2B5EF4-FFF2-40B4-BE49-F238E27FC236}">
                <a16:creationId xmlns:a16="http://schemas.microsoft.com/office/drawing/2014/main" id="{3669D1BF-BECF-E7EF-2E9E-6B288DC837BF}"/>
              </a:ext>
            </a:extLst>
          </p:cNvPr>
          <p:cNvGrpSpPr>
            <a:grpSpLocks noChangeAspect="1"/>
          </p:cNvGrpSpPr>
          <p:nvPr/>
        </p:nvGrpSpPr>
        <p:grpSpPr>
          <a:xfrm>
            <a:off x="-5425" y="18016"/>
            <a:ext cx="18288000" cy="10287000"/>
            <a:chOff x="0" y="0"/>
            <a:chExt cx="24384000" cy="13716000"/>
          </a:xfrm>
        </p:grpSpPr>
        <p:sp>
          <p:nvSpPr>
            <p:cNvPr id="102" name="Freeform 3">
              <a:extLst>
                <a:ext uri="{FF2B5EF4-FFF2-40B4-BE49-F238E27FC236}">
                  <a16:creationId xmlns:a16="http://schemas.microsoft.com/office/drawing/2014/main" id="{62DAD2DE-0406-3378-AC0B-42EAC107D98D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1143100" y="5143500"/>
          <a:ext cx="5562600" cy="2621441"/>
        </p:xfrm>
        <a:graphic>
          <a:graphicData uri="http://schemas.openxmlformats.org/drawingml/2006/table">
            <a:tbl>
              <a:tblPr/>
              <a:tblGrid>
                <a:gridCol w="556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4050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939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{{CURRENTDATE}}</a:t>
                      </a:r>
                      <a:endParaRPr lang="en-US" sz="110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$N/A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N/A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NOVEMBER’S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4.9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Hannah Pedersen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service, easy, safe, great location”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536257"/>
            <a:ext cx="4534275" cy="1044575"/>
            <a:chOff x="0" y="0"/>
            <a:chExt cx="6045700" cy="1392767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Livier Delgadillo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customer service from Andrew!”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83832"/>
            <a:ext cx="4734223" cy="1749425"/>
            <a:chOff x="0" y="0"/>
            <a:chExt cx="6312297" cy="2332567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2418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Koko Tzavaras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Outstanding, helpful staff, beautiful facility, and excellent location! This is my second time being a client! Thank you!”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2972279" y="3238417"/>
            <a:ext cx="902196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161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078936" y="3198436"/>
            <a:ext cx="300782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97498" y="3207243"/>
            <a:ext cx="639068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+1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136075" y="7875150"/>
            <a:ext cx="6009150" cy="59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5"/>
              </a:lnSpc>
            </a:pPr>
            <a:r>
              <a:rPr lang="en-US" sz="30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RATE MANAGEMENT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388800" cy="10296000"/>
            <a:chOff x="0" y="0"/>
            <a:chExt cx="245184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8365" cy="13727937"/>
            </a:xfrm>
            <a:custGeom>
              <a:avLst/>
              <a:gdLst/>
              <a:ahLst/>
              <a:cxnLst/>
              <a:rect l="l" t="t" r="r" b="b"/>
              <a:pathLst>
                <a:path w="24518365" h="13727937">
                  <a:moveTo>
                    <a:pt x="0" y="0"/>
                  </a:moveTo>
                  <a:lnTo>
                    <a:pt x="24518365" y="0"/>
                  </a:lnTo>
                  <a:lnTo>
                    <a:pt x="24518365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7853100"/>
            <a:ext cx="11924400" cy="629400"/>
            <a:chOff x="0" y="0"/>
            <a:chExt cx="15899200" cy="839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5899257" cy="839216"/>
            </a:xfrm>
            <a:custGeom>
              <a:avLst/>
              <a:gdLst/>
              <a:ahLst/>
              <a:cxnLst/>
              <a:rect l="l" t="t" r="r" b="b"/>
              <a:pathLst>
                <a:path w="15899257" h="839216">
                  <a:moveTo>
                    <a:pt x="0" y="0"/>
                  </a:moveTo>
                  <a:lnTo>
                    <a:pt x="15899257" y="0"/>
                  </a:lnTo>
                  <a:lnTo>
                    <a:pt x="15899257" y="839216"/>
                  </a:lnTo>
                  <a:lnTo>
                    <a:pt x="0" y="839216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915025" y="7818000"/>
            <a:ext cx="6281550" cy="65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</a:pPr>
            <a:r>
              <a:rPr lang="en-US" sz="24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MARKETING ANALYTICS DATA REPORT</a:t>
            </a:r>
          </a:p>
        </p:txBody>
      </p: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742900" y="826350"/>
            <a:ext cx="4294652" cy="1458250"/>
            <a:chOff x="0" y="0"/>
            <a:chExt cx="5726203" cy="1944333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5726176" cy="1944370"/>
            </a:xfrm>
            <a:custGeom>
              <a:avLst/>
              <a:gdLst/>
              <a:ahLst/>
              <a:cxnLst/>
              <a:rect l="l" t="t" r="r" b="b"/>
              <a:pathLst>
                <a:path w="5726176" h="1944370">
                  <a:moveTo>
                    <a:pt x="0" y="0"/>
                  </a:moveTo>
                  <a:lnTo>
                    <a:pt x="5726176" y="0"/>
                  </a:lnTo>
                  <a:lnTo>
                    <a:pt x="5726176" y="1944370"/>
                  </a:lnTo>
                  <a:lnTo>
                    <a:pt x="0" y="19443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" r="-2"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</TotalTime>
  <Words>1966</Words>
  <Application>Microsoft Office PowerPoint</Application>
  <PresentationFormat>Custom</PresentationFormat>
  <Paragraphs>671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Calibri</vt:lpstr>
      <vt:lpstr>Arial Italics</vt:lpstr>
      <vt:lpstr>Arial</vt:lpstr>
      <vt:lpstr>Avenir Italics</vt:lpstr>
      <vt:lpstr>Avenir Bold</vt:lpstr>
      <vt:lpstr>Avenir Bold Italics</vt:lpstr>
      <vt:lpstr>Avenir Medium</vt:lpstr>
      <vt:lpstr>Avenir</vt:lpstr>
      <vt:lpstr>Arial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cp:lastModifiedBy>Alex Burke</cp:lastModifiedBy>
  <cp:revision>55</cp:revision>
  <dcterms:created xsi:type="dcterms:W3CDTF">2006-08-16T00:00:00Z</dcterms:created>
  <dcterms:modified xsi:type="dcterms:W3CDTF">2025-12-30T20:26:17Z</dcterms:modified>
  <dc:identifier>DAG3YRaK70Q</dc:identifier>
</cp:coreProperties>
</file>