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al Bold" panose="020B0704020202020204" pitchFamily="34" charset="0"/>
      <p:regular r:id="rId20"/>
      <p:bold r:id="rId21"/>
    </p:embeddedFont>
    <p:embeddedFont>
      <p:font typeface="Arial Italics" panose="020B0604020202020204" charset="0"/>
      <p:regular r:id="rId22"/>
    </p:embeddedFont>
    <p:embeddedFont>
      <p:font typeface="Arimo" panose="020B0604020202020204" charset="0"/>
      <p:regular r:id="rId23"/>
    </p:embeddedFont>
    <p:embeddedFont>
      <p:font typeface="Avenir" panose="020B0604020202020204" charset="0"/>
      <p:regular r:id="rId24"/>
    </p:embeddedFont>
    <p:embeddedFont>
      <p:font typeface="Avenir Bold" panose="020B0604020202020204" charset="0"/>
      <p:regular r:id="rId25"/>
    </p:embeddedFont>
    <p:embeddedFont>
      <p:font typeface="Avenir Bold Italics" panose="020B0604020202020204" charset="0"/>
      <p:regular r:id="rId26"/>
    </p:embeddedFont>
    <p:embeddedFont>
      <p:font typeface="Avenir Italics" panose="020B0604020202020204" charset="0"/>
      <p:regular r:id="rId27"/>
    </p:embeddedFont>
    <p:embeddedFont>
      <p:font typeface="Avenir Medium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08.12.2025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290879" y="1615200"/>
          <a:ext cx="15706042" cy="5258057"/>
        </p:xfrm>
        <a:graphic>
          <a:graphicData uri="http://schemas.openxmlformats.org/drawingml/2006/table">
            <a:tbl>
              <a:tblPr/>
              <a:tblGrid>
                <a:gridCol w="2626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6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35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1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0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96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18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5489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8422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03632"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1290879" y="6873255"/>
          <a:ext cx="15706043" cy="3425270"/>
        </p:xfrm>
        <a:graphic>
          <a:graphicData uri="http://schemas.openxmlformats.org/drawingml/2006/table">
            <a:tbl>
              <a:tblPr/>
              <a:tblGrid>
                <a:gridCol w="2635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3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0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03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03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85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29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571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83951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5376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1" name="Group 101"/>
          <p:cNvGrpSpPr/>
          <p:nvPr/>
        </p:nvGrpSpPr>
        <p:grpSpPr>
          <a:xfrm>
            <a:off x="13150" y="27925"/>
            <a:ext cx="18288000" cy="1609200"/>
            <a:chOff x="0" y="0"/>
            <a:chExt cx="24384000" cy="2145600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431600" y="2673888"/>
          <a:ext cx="6640597" cy="5765800"/>
        </p:xfrm>
        <a:graphic>
          <a:graphicData uri="http://schemas.openxmlformats.org/drawingml/2006/table">
            <a:tbl>
              <a:tblPr/>
              <a:tblGrid>
                <a:gridCol w="4635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5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365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Pricing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appendix.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381800" y="1727100"/>
          <a:ext cx="15214601" cy="3584409"/>
        </p:xfrm>
        <a:graphic>
          <a:graphicData uri="http://schemas.openxmlformats.org/drawingml/2006/table">
            <a:tbl>
              <a:tblPr/>
              <a:tblGrid>
                <a:gridCol w="2083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6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15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89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1561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5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1381800" y="5672850"/>
          <a:ext cx="15240000" cy="3202618"/>
        </p:xfrm>
        <a:graphic>
          <a:graphicData uri="http://schemas.openxmlformats.org/drawingml/2006/table">
            <a:tbl>
              <a:tblPr/>
              <a:tblGrid>
                <a:gridCol w="190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7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9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5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53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359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Existing Tenants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rate management report.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4127500" y="1716521"/>
          <a:ext cx="10033000" cy="7300384"/>
        </p:xfrm>
        <a:graphic>
          <a:graphicData uri="http://schemas.openxmlformats.org/drawingml/2006/table">
            <a:tbl>
              <a:tblPr/>
              <a:tblGrid>
                <a:gridCol w="7523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9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1432">
                <a:tc gridSpan="2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 to be sent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6" y="2983476"/>
            <a:ext cx="3294600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tenants with insurance against total MTD move-ins. Trailing number includes current month.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16550" y="2964426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812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37092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927250" y="2964426"/>
            <a:ext cx="331065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9919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40220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Insured</a:t>
            </a:r>
            <a:endParaRPr lang="en-US" sz="2999" dirty="0">
              <a:solidFill>
                <a:srgbClr val="3B52A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3599" y="7374963"/>
            <a:ext cx="3005001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181599" y="7374963"/>
            <a:ext cx="3444153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0122" y="7374963"/>
            <a:ext cx="2727678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3182600" y="7374963"/>
            <a:ext cx="2727678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057401" y="3382619"/>
            <a:ext cx="3059524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{{IMPRES}}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690520" y="3382619"/>
            <a:ext cx="3072480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{{CLICKS}}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412539" y="3372128"/>
            <a:ext cx="3146537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{{CONV}}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182600" y="3382619"/>
            <a:ext cx="3048000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{{COSCON}}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409782" cy="463883"/>
          </a:xfrm>
          <a:custGeom>
            <a:avLst/>
            <a:gdLst/>
            <a:ahLst/>
            <a:cxnLst/>
            <a:rect l="l" t="t" r="r" b="b"/>
            <a:pathLst>
              <a:path w="2409782" h="463883">
                <a:moveTo>
                  <a:pt x="0" y="0"/>
                </a:moveTo>
                <a:lnTo>
                  <a:pt x="2409782" y="0"/>
                </a:lnTo>
                <a:lnTo>
                  <a:pt x="2409782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617005" y="6603983"/>
            <a:ext cx="505399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OCTOBER’S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5.0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133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151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www.mySTOREmanagement.com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441024" y="2530745"/>
            <a:ext cx="9955356" cy="60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Full Marketing Funnel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This includes the deeper charts currently shown on pages 20–21: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Website traffic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Leads by source (broken down into organic, paid, walk-ins, referral, phone, social)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Rentals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 → Reservation → Rental funnel </a:t>
            </a:r>
          </a:p>
          <a:p>
            <a:pPr algn="l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Detailed Paid Ads Report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Move campaign micro-data here: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Click-through rates (CTR)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Cost per click (CPC)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Impression share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Individual campaign performance (e.g., “50% off promo”, “Home remodeler”, “Wine storage”)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Budget allocation by campaign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Historical trends (3–6 months) </a:t>
            </a:r>
          </a:p>
          <a:p>
            <a:pPr algn="ctr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17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Marketing Analytics Data Report | July 2025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0" y="0"/>
            <a:ext cx="18288000" cy="690000"/>
            <a:chOff x="0" y="0"/>
            <a:chExt cx="24384000" cy="92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919988"/>
            </a:xfrm>
            <a:custGeom>
              <a:avLst/>
              <a:gdLst/>
              <a:ahLst/>
              <a:cxnLst/>
              <a:rect l="l" t="t" r="r" b="b"/>
              <a:pathLst>
                <a:path w="24384000" h="919988">
                  <a:moveTo>
                    <a:pt x="0" y="0"/>
                  </a:moveTo>
                  <a:lnTo>
                    <a:pt x="24384000" y="0"/>
                  </a:lnTo>
                  <a:lnTo>
                    <a:pt x="24384000" y="919988"/>
                  </a:lnTo>
                  <a:lnTo>
                    <a:pt x="0" y="9199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9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Marketing Analytics | Campaigns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367350" y="992600"/>
            <a:ext cx="10672200" cy="7592400"/>
            <a:chOff x="0" y="0"/>
            <a:chExt cx="14229600" cy="10123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229587" cy="10123170"/>
            </a:xfrm>
            <a:custGeom>
              <a:avLst/>
              <a:gdLst/>
              <a:ahLst/>
              <a:cxnLst/>
              <a:rect l="l" t="t" r="r" b="b"/>
              <a:pathLst>
                <a:path w="14229587" h="10123170">
                  <a:moveTo>
                    <a:pt x="0" y="0"/>
                  </a:moveTo>
                  <a:lnTo>
                    <a:pt x="14229587" y="0"/>
                  </a:lnTo>
                  <a:lnTo>
                    <a:pt x="14229587" y="10123170"/>
                  </a:lnTo>
                  <a:lnTo>
                    <a:pt x="0" y="1012317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4229600" cy="101803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PAID CAMPAIGNS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723196" y="4021698"/>
            <a:ext cx="2432400" cy="1225200"/>
            <a:chOff x="0" y="0"/>
            <a:chExt cx="3243200" cy="1633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Home remodeler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723196" y="2446548"/>
            <a:ext cx="2432400" cy="1225200"/>
            <a:chOff x="0" y="0"/>
            <a:chExt cx="3243200" cy="1633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50% off promo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854396" y="2446548"/>
            <a:ext cx="2432400" cy="1225200"/>
            <a:chOff x="0" y="0"/>
            <a:chExt cx="3243200" cy="1633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Self storage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745275" y="1705950"/>
            <a:ext cx="3623550" cy="23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LONG-TERM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94446" y="2446548"/>
            <a:ext cx="2432400" cy="1225200"/>
            <a:chOff x="0" y="0"/>
            <a:chExt cx="3243200" cy="1633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Student storage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854396" y="4021698"/>
            <a:ext cx="2432400" cy="1225200"/>
            <a:chOff x="0" y="0"/>
            <a:chExt cx="3243200" cy="1633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Wine storage</a:t>
              </a:r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792900" y="992576"/>
            <a:ext cx="6122948" cy="7692948"/>
            <a:chOff x="0" y="0"/>
            <a:chExt cx="8163931" cy="102572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63941" cy="10257282"/>
            </a:xfrm>
            <a:custGeom>
              <a:avLst/>
              <a:gdLst/>
              <a:ahLst/>
              <a:cxnLst/>
              <a:rect l="l" t="t" r="r" b="b"/>
              <a:pathLst>
                <a:path w="8163941" h="10257282">
                  <a:moveTo>
                    <a:pt x="0" y="0"/>
                  </a:moveTo>
                  <a:lnTo>
                    <a:pt x="8163941" y="0"/>
                  </a:lnTo>
                  <a:lnTo>
                    <a:pt x="8163941" y="10257282"/>
                  </a:lnTo>
                  <a:lnTo>
                    <a:pt x="0" y="10257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32" name="Table 32"/>
          <p:cNvGraphicFramePr>
            <a:graphicFrameLocks noGrp="1"/>
          </p:cNvGraphicFramePr>
          <p:nvPr/>
        </p:nvGraphicFramePr>
        <p:xfrm>
          <a:off x="8352695" y="5905806"/>
          <a:ext cx="6357951" cy="2200275"/>
        </p:xfrm>
        <a:graphic>
          <a:graphicData uri="http://schemas.openxmlformats.org/drawingml/2006/table">
            <a:tbl>
              <a:tblPr/>
              <a:tblGrid>
                <a:gridCol w="254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7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GOOGLE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rating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{{GOOGLERATING}}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Reviews last month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{{GOOGLEREVLM}}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reviews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{{GOOGLETOTALREVIEWS}}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2349</Words>
  <Application>Microsoft Office PowerPoint</Application>
  <PresentationFormat>Custom</PresentationFormat>
  <Paragraphs>767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Arial Italics</vt:lpstr>
      <vt:lpstr>Arial Bold</vt:lpstr>
      <vt:lpstr>Calibri</vt:lpstr>
      <vt:lpstr>Avenir</vt:lpstr>
      <vt:lpstr>Avenir Medium</vt:lpstr>
      <vt:lpstr>Arial</vt:lpstr>
      <vt:lpstr>Avenir Bold Italics</vt:lpstr>
      <vt:lpstr>Avenir Bold</vt:lpstr>
      <vt:lpstr>Avenir Italics</vt:lpstr>
      <vt:lpstr>Arimo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3</cp:revision>
  <dcterms:created xsi:type="dcterms:W3CDTF">2006-08-16T00:00:00Z</dcterms:created>
  <dcterms:modified xsi:type="dcterms:W3CDTF">2025-12-08T21:35:14Z</dcterms:modified>
  <dc:identifier>DAG3YRaK70Q</dc:identifier>
</cp:coreProperties>
</file>