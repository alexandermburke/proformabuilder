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al Bold" panose="020B0704020202020204" pitchFamily="34" charset="0"/>
      <p:regular r:id="rId20"/>
      <p:bold r:id="rId21"/>
    </p:embeddedFont>
    <p:embeddedFont>
      <p:font typeface="Arial Italics" panose="020B0604020202020204" charset="0"/>
      <p:regular r:id="rId22"/>
    </p:embeddedFont>
    <p:embeddedFont>
      <p:font typeface="Arimo" panose="020B0604020202020204" charset="0"/>
      <p:regular r:id="rId23"/>
    </p:embeddedFont>
    <p:embeddedFont>
      <p:font typeface="Avenir" panose="020B0604020202020204" charset="0"/>
      <p:regular r:id="rId24"/>
    </p:embeddedFont>
    <p:embeddedFont>
      <p:font typeface="Avenir Bold" panose="020B0604020202020204" charset="0"/>
      <p:regular r:id="rId25"/>
    </p:embeddedFont>
    <p:embeddedFont>
      <p:font typeface="Avenir Bold Italics" panose="020B0604020202020204" charset="0"/>
      <p:regular r:id="rId26"/>
    </p:embeddedFont>
    <p:embeddedFont>
      <p:font typeface="Avenir Italics" panose="020B0604020202020204" charset="0"/>
      <p:regular r:id="rId27"/>
    </p:embeddedFont>
    <p:embeddedFont>
      <p:font typeface="Avenir Medium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66" d="100"/>
          <a:sy n="66" d="100"/>
        </p:scale>
        <p:origin x="77" y="1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195162"/>
              </p:ext>
            </p:extLst>
          </p:nvPr>
        </p:nvGraphicFramePr>
        <p:xfrm>
          <a:off x="1447800" y="1943100"/>
          <a:ext cx="14939619" cy="4713987"/>
        </p:xfrm>
        <a:graphic>
          <a:graphicData uri="http://schemas.openxmlformats.org/drawingml/2006/table">
            <a:tbl>
              <a:tblPr/>
              <a:tblGrid>
                <a:gridCol w="2138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1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8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9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8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07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413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5233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2214"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{{CURRENTMONTH}}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PTD Budget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Actual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Budget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533820"/>
              </p:ext>
            </p:extLst>
          </p:nvPr>
        </p:nvGraphicFramePr>
        <p:xfrm>
          <a:off x="1469409" y="6975320"/>
          <a:ext cx="14939621" cy="3070846"/>
        </p:xfrm>
        <a:graphic>
          <a:graphicData uri="http://schemas.openxmlformats.org/drawingml/2006/table">
            <a:tbl>
              <a:tblPr/>
              <a:tblGrid>
                <a:gridCol w="213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2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2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7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3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97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905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85270"/>
              </p:ext>
            </p:extLst>
          </p:nvPr>
        </p:nvGraphicFramePr>
        <p:xfrm>
          <a:off x="10431600" y="2673888"/>
          <a:ext cx="6640597" cy="5765800"/>
        </p:xfrm>
        <a:graphic>
          <a:graphicData uri="http://schemas.openxmlformats.org/drawingml/2006/table">
            <a:tbl>
              <a:tblPr/>
              <a:tblGrid>
                <a:gridCol w="4635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5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365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 dirty="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363070"/>
              </p:ext>
            </p:extLst>
          </p:nvPr>
        </p:nvGraphicFramePr>
        <p:xfrm>
          <a:off x="1381800" y="1727100"/>
          <a:ext cx="15214601" cy="3584409"/>
        </p:xfrm>
        <a:graphic>
          <a:graphicData uri="http://schemas.openxmlformats.org/drawingml/2006/table">
            <a:tbl>
              <a:tblPr/>
              <a:tblGrid>
                <a:gridCol w="2083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6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15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89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1561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5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540974"/>
              </p:ext>
            </p:extLst>
          </p:nvPr>
        </p:nvGraphicFramePr>
        <p:xfrm>
          <a:off x="1381800" y="5672850"/>
          <a:ext cx="15240000" cy="3202618"/>
        </p:xfrm>
        <a:graphic>
          <a:graphicData uri="http://schemas.openxmlformats.org/drawingml/2006/table">
            <a:tbl>
              <a:tblPr/>
              <a:tblGrid>
                <a:gridCol w="190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7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9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5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53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359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04800" y="31623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81000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04800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36" name="Group 41">
            <a:extLst>
              <a:ext uri="{FF2B5EF4-FFF2-40B4-BE49-F238E27FC236}">
                <a16:creationId xmlns:a16="http://schemas.microsoft.com/office/drawing/2014/main" id="{61645E73-E9DB-D300-CBCF-3E61D9741156}"/>
              </a:ext>
            </a:extLst>
          </p:cNvPr>
          <p:cNvGrpSpPr/>
          <p:nvPr/>
        </p:nvGrpSpPr>
        <p:grpSpPr>
          <a:xfrm>
            <a:off x="3829193" y="3162300"/>
            <a:ext cx="3310650" cy="1664850"/>
            <a:chOff x="0" y="0"/>
            <a:chExt cx="871941" cy="438479"/>
          </a:xfrm>
        </p:grpSpPr>
        <p:sp>
          <p:nvSpPr>
            <p:cNvPr id="37" name="Freeform 42">
              <a:extLst>
                <a:ext uri="{FF2B5EF4-FFF2-40B4-BE49-F238E27FC236}">
                  <a16:creationId xmlns:a16="http://schemas.microsoft.com/office/drawing/2014/main" id="{6986647C-A77B-B291-E1D5-96FD92966E22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43">
              <a:extLst>
                <a:ext uri="{FF2B5EF4-FFF2-40B4-BE49-F238E27FC236}">
                  <a16:creationId xmlns:a16="http://schemas.microsoft.com/office/drawing/2014/main" id="{ABBF664E-4B01-32D9-F91C-0EFC5F6DEDD8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44">
            <a:extLst>
              <a:ext uri="{FF2B5EF4-FFF2-40B4-BE49-F238E27FC236}">
                <a16:creationId xmlns:a16="http://schemas.microsoft.com/office/drawing/2014/main" id="{2E421697-969E-5B59-F30F-DD7FCA2CDA56}"/>
              </a:ext>
            </a:extLst>
          </p:cNvPr>
          <p:cNvSpPr txBox="1"/>
          <p:nvPr/>
        </p:nvSpPr>
        <p:spPr>
          <a:xfrm>
            <a:off x="3905393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{{DAILYRENTALS}}</a:t>
            </a:r>
          </a:p>
        </p:txBody>
      </p:sp>
      <p:sp>
        <p:nvSpPr>
          <p:cNvPr id="40" name="TextBox 45">
            <a:extLst>
              <a:ext uri="{FF2B5EF4-FFF2-40B4-BE49-F238E27FC236}">
                <a16:creationId xmlns:a16="http://schemas.microsoft.com/office/drawing/2014/main" id="{B3CF5E80-C6D3-ECDA-1886-ADC54C70C185}"/>
              </a:ext>
            </a:extLst>
          </p:cNvPr>
          <p:cNvSpPr txBox="1"/>
          <p:nvPr/>
        </p:nvSpPr>
        <p:spPr>
          <a:xfrm>
            <a:off x="3829193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Daily Rentals</a:t>
            </a:r>
          </a:p>
        </p:txBody>
      </p:sp>
      <p:grpSp>
        <p:nvGrpSpPr>
          <p:cNvPr id="41" name="Group 41">
            <a:extLst>
              <a:ext uri="{FF2B5EF4-FFF2-40B4-BE49-F238E27FC236}">
                <a16:creationId xmlns:a16="http://schemas.microsoft.com/office/drawing/2014/main" id="{46E8CADD-5C3D-DB2A-0958-C214554FEC2A}"/>
              </a:ext>
            </a:extLst>
          </p:cNvPr>
          <p:cNvGrpSpPr/>
          <p:nvPr/>
        </p:nvGrpSpPr>
        <p:grpSpPr>
          <a:xfrm>
            <a:off x="7334393" y="3162300"/>
            <a:ext cx="3310650" cy="1664850"/>
            <a:chOff x="0" y="0"/>
            <a:chExt cx="871941" cy="438479"/>
          </a:xfrm>
        </p:grpSpPr>
        <p:sp>
          <p:nvSpPr>
            <p:cNvPr id="42" name="Freeform 42">
              <a:extLst>
                <a:ext uri="{FF2B5EF4-FFF2-40B4-BE49-F238E27FC236}">
                  <a16:creationId xmlns:a16="http://schemas.microsoft.com/office/drawing/2014/main" id="{4E1B6FCC-BB86-E4FF-AFC5-0C45D400AD78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>
              <a:extLst>
                <a:ext uri="{FF2B5EF4-FFF2-40B4-BE49-F238E27FC236}">
                  <a16:creationId xmlns:a16="http://schemas.microsoft.com/office/drawing/2014/main" id="{3384AA28-C765-099C-21B2-2B0B306BA7B8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>
            <a:extLst>
              <a:ext uri="{FF2B5EF4-FFF2-40B4-BE49-F238E27FC236}">
                <a16:creationId xmlns:a16="http://schemas.microsoft.com/office/drawing/2014/main" id="{256DBE84-76BB-DF2A-6EDF-007D23A43414}"/>
              </a:ext>
            </a:extLst>
          </p:cNvPr>
          <p:cNvSpPr txBox="1"/>
          <p:nvPr/>
        </p:nvSpPr>
        <p:spPr>
          <a:xfrm>
            <a:off x="7410593" y="3234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{{CONV}}</a:t>
            </a:r>
          </a:p>
        </p:txBody>
      </p:sp>
      <p:sp>
        <p:nvSpPr>
          <p:cNvPr id="45" name="TextBox 45">
            <a:extLst>
              <a:ext uri="{FF2B5EF4-FFF2-40B4-BE49-F238E27FC236}">
                <a16:creationId xmlns:a16="http://schemas.microsoft.com/office/drawing/2014/main" id="{A588436A-8117-9DAD-7A5E-7527B4039559}"/>
              </a:ext>
            </a:extLst>
          </p:cNvPr>
          <p:cNvSpPr txBox="1"/>
          <p:nvPr/>
        </p:nvSpPr>
        <p:spPr>
          <a:xfrm>
            <a:off x="7334393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Lead Conversion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10839593" y="31623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10915793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10839593" y="40481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4420993" y="31623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4497193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4420993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304800" y="523125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381000" y="530361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304800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3829193" y="523125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39053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38291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7334393" y="523125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74105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73343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10839593" y="523125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109157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10839593" y="611707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</a:t>
            </a:r>
            <a:r>
              <a:rPr lang="en-US" sz="2999" dirty="0" err="1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SqFt</a:t>
            </a:r>
            <a:endParaRPr lang="en-US" sz="2999" dirty="0">
              <a:solidFill>
                <a:srgbClr val="3B52A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14420993" y="5231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144971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144209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6" y="2983476"/>
            <a:ext cx="3294600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tenants with insurance against total MTD move-ins. Trailing number includes current month.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16550" y="2964426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812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37092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927250" y="2964426"/>
            <a:ext cx="331065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9919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40220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Cost/Click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441024" y="2530745"/>
            <a:ext cx="9955356" cy="60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Full Marketing Funnel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This includes the deeper charts currently shown on pages 20–21: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Website traffic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Leads by source (broken down into organic, paid, walk-ins, referral, phone, social)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Rentals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 → Reservation → Rental funnel </a:t>
            </a:r>
          </a:p>
          <a:p>
            <a:pPr algn="l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Detailed Paid Ads Report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Move campaign micro-data here: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Click-through rates (CTR)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Cost per click (CPC)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Impression share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Individual campaign performance (e.g., “50% off promo”, “Home remodeler”, “Wine storage”)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Budget allocation by campaign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Historical trends (3–6 months) </a:t>
            </a:r>
          </a:p>
          <a:p>
            <a:pPr algn="ctr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17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Marketing Analytics Data Report | July 2025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0" y="0"/>
            <a:ext cx="18288000" cy="690000"/>
            <a:chOff x="0" y="0"/>
            <a:chExt cx="24384000" cy="92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919988"/>
            </a:xfrm>
            <a:custGeom>
              <a:avLst/>
              <a:gdLst/>
              <a:ahLst/>
              <a:cxnLst/>
              <a:rect l="l" t="t" r="r" b="b"/>
              <a:pathLst>
                <a:path w="24384000" h="919988">
                  <a:moveTo>
                    <a:pt x="0" y="0"/>
                  </a:moveTo>
                  <a:lnTo>
                    <a:pt x="24384000" y="0"/>
                  </a:lnTo>
                  <a:lnTo>
                    <a:pt x="24384000" y="919988"/>
                  </a:lnTo>
                  <a:lnTo>
                    <a:pt x="0" y="9199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9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Marketing Analytics | Campaigns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367350" y="992600"/>
            <a:ext cx="10672200" cy="7592400"/>
            <a:chOff x="0" y="0"/>
            <a:chExt cx="14229600" cy="10123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229587" cy="10123170"/>
            </a:xfrm>
            <a:custGeom>
              <a:avLst/>
              <a:gdLst/>
              <a:ahLst/>
              <a:cxnLst/>
              <a:rect l="l" t="t" r="r" b="b"/>
              <a:pathLst>
                <a:path w="14229587" h="10123170">
                  <a:moveTo>
                    <a:pt x="0" y="0"/>
                  </a:moveTo>
                  <a:lnTo>
                    <a:pt x="14229587" y="0"/>
                  </a:lnTo>
                  <a:lnTo>
                    <a:pt x="14229587" y="10123170"/>
                  </a:lnTo>
                  <a:lnTo>
                    <a:pt x="0" y="1012317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4229600" cy="101803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PAID CAMPAIGNS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723196" y="4021698"/>
            <a:ext cx="2432400" cy="1225200"/>
            <a:chOff x="0" y="0"/>
            <a:chExt cx="3243200" cy="1633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Home remodeler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723196" y="2446548"/>
            <a:ext cx="2432400" cy="1225200"/>
            <a:chOff x="0" y="0"/>
            <a:chExt cx="3243200" cy="1633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50% off promo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854396" y="2446548"/>
            <a:ext cx="2432400" cy="1225200"/>
            <a:chOff x="0" y="0"/>
            <a:chExt cx="3243200" cy="1633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Self storage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745275" y="1705950"/>
            <a:ext cx="3623550" cy="23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LONG-TERM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94446" y="2446548"/>
            <a:ext cx="2432400" cy="1225200"/>
            <a:chOff x="0" y="0"/>
            <a:chExt cx="3243200" cy="1633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Student storage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854396" y="4021698"/>
            <a:ext cx="2432400" cy="1225200"/>
            <a:chOff x="0" y="0"/>
            <a:chExt cx="3243200" cy="1633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Wine storage</a:t>
              </a:r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792900" y="992576"/>
            <a:ext cx="6122948" cy="7692948"/>
            <a:chOff x="0" y="0"/>
            <a:chExt cx="8163931" cy="102572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63941" cy="10257282"/>
            </a:xfrm>
            <a:custGeom>
              <a:avLst/>
              <a:gdLst/>
              <a:ahLst/>
              <a:cxnLst/>
              <a:rect l="l" t="t" r="r" b="b"/>
              <a:pathLst>
                <a:path w="8163941" h="10257282">
                  <a:moveTo>
                    <a:pt x="0" y="0"/>
                  </a:moveTo>
                  <a:lnTo>
                    <a:pt x="8163941" y="0"/>
                  </a:lnTo>
                  <a:lnTo>
                    <a:pt x="8163941" y="10257282"/>
                  </a:lnTo>
                  <a:lnTo>
                    <a:pt x="0" y="10257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32" name="Table 32"/>
          <p:cNvGraphicFramePr>
            <a:graphicFrameLocks noGrp="1"/>
          </p:cNvGraphicFramePr>
          <p:nvPr/>
        </p:nvGraphicFramePr>
        <p:xfrm>
          <a:off x="8352695" y="5905806"/>
          <a:ext cx="6357951" cy="2200276"/>
        </p:xfrm>
        <a:graphic>
          <a:graphicData uri="http://schemas.openxmlformats.org/drawingml/2006/table">
            <a:tbl>
              <a:tblPr/>
              <a:tblGrid>
                <a:gridCol w="254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7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GOOGLE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rating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{{GOOGLERATING}}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Reviews last month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{{GOOGLEREVLM}}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reviews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{{GOOGLETOTALREVIEWS}}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2321</Words>
  <Application>Microsoft Office PowerPoint</Application>
  <PresentationFormat>Custom</PresentationFormat>
  <Paragraphs>770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Calibri</vt:lpstr>
      <vt:lpstr>Avenir Bold</vt:lpstr>
      <vt:lpstr>Arial</vt:lpstr>
      <vt:lpstr>Arimo</vt:lpstr>
      <vt:lpstr>Avenir Medium</vt:lpstr>
      <vt:lpstr>Avenir</vt:lpstr>
      <vt:lpstr>Arial Bold</vt:lpstr>
      <vt:lpstr>Arial Italics</vt:lpstr>
      <vt:lpstr>Avenir Bold Italics</vt:lpstr>
      <vt:lpstr>Avenir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25</cp:revision>
  <dcterms:created xsi:type="dcterms:W3CDTF">2006-08-16T00:00:00Z</dcterms:created>
  <dcterms:modified xsi:type="dcterms:W3CDTF">2025-12-16T17:20:01Z</dcterms:modified>
  <dc:identifier>DAG3YRaK70Q</dc:identifier>
</cp:coreProperties>
</file>