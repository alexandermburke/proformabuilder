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69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Arial Bold" panose="020B0704020202020204" pitchFamily="34" charset="0"/>
      <p:regular r:id="rId16"/>
      <p:bold r:id="rId17"/>
    </p:embeddedFont>
    <p:embeddedFont>
      <p:font typeface="Arial Italics" panose="020B0604020202020204" charset="0"/>
      <p:regular r:id="rId18"/>
    </p:embeddedFont>
    <p:embeddedFont>
      <p:font typeface="Avenir" panose="020B0604020202020204" charset="0"/>
      <p:regular r:id="rId19"/>
    </p:embeddedFont>
    <p:embeddedFont>
      <p:font typeface="Avenir Bold" panose="020B0604020202020204" charset="0"/>
      <p:regular r:id="rId20"/>
    </p:embeddedFont>
    <p:embeddedFont>
      <p:font typeface="Avenir Bold Italics" panose="020B0604020202020204" charset="0"/>
      <p:regular r:id="rId21"/>
    </p:embeddedFont>
    <p:embeddedFont>
      <p:font typeface="Avenir Italics" panose="020B0604020202020204" charset="0"/>
      <p:regular r:id="rId22"/>
    </p:embeddedFont>
    <p:embeddedFont>
      <p:font typeface="Avenir Medium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70" d="100"/>
          <a:sy n="70" d="100"/>
        </p:scale>
        <p:origin x="80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29.04.2026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11.sv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32" name="Picture 31" descr="A long hallway with roller shutters&#10;&#10;AI-generated content may be incorrect.">
            <a:extLst>
              <a:ext uri="{FF2B5EF4-FFF2-40B4-BE49-F238E27FC236}">
                <a16:creationId xmlns:a16="http://schemas.microsoft.com/office/drawing/2014/main" id="{B36D684E-70C7-4C5C-C82E-40C1471F4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550" y="12700"/>
            <a:ext cx="18307550" cy="1028700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199702"/>
              </p:ext>
            </p:extLst>
          </p:nvPr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735556"/>
              </p:ext>
            </p:extLst>
          </p:nvPr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215381"/>
              </p:ext>
            </p:extLst>
          </p:nvPr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404465"/>
              </p:ext>
            </p:extLst>
          </p:nvPr>
        </p:nvGraphicFramePr>
        <p:xfrm>
          <a:off x="8360100" y="6520468"/>
          <a:ext cx="1701800" cy="2589742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31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  <a:defRPr/>
                      </a:pP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5737774"/>
              </p:ext>
            </p:extLst>
          </p:nvPr>
        </p:nvGraphicFramePr>
        <p:xfrm>
          <a:off x="10978358" y="6521326"/>
          <a:ext cx="2540000" cy="2589790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31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  <a:defRPr/>
                      </a:pP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5233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{{CURRENTMONTH}} 2026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688692E-2B3D-FB28-75D4-7E6740EBBC9E}"/>
              </a:ext>
            </a:extLst>
          </p:cNvPr>
          <p:cNvCxnSpPr>
            <a:cxnSpLocks/>
          </p:cNvCxnSpPr>
          <p:nvPr/>
        </p:nvCxnSpPr>
        <p:spPr>
          <a:xfrm>
            <a:off x="3200400" y="5219700"/>
            <a:ext cx="51597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7C50689-F3A6-167C-7255-7D04709EA7EA}"/>
              </a:ext>
            </a:extLst>
          </p:cNvPr>
          <p:cNvCxnSpPr>
            <a:cxnSpLocks/>
          </p:cNvCxnSpPr>
          <p:nvPr/>
        </p:nvCxnSpPr>
        <p:spPr>
          <a:xfrm>
            <a:off x="11001226" y="5219700"/>
            <a:ext cx="2181374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FD18338-BAFE-A2D4-F3AE-46C528FA69A4}"/>
              </a:ext>
            </a:extLst>
          </p:cNvPr>
          <p:cNvCxnSpPr>
            <a:cxnSpLocks/>
          </p:cNvCxnSpPr>
          <p:nvPr/>
        </p:nvCxnSpPr>
        <p:spPr>
          <a:xfrm>
            <a:off x="4800600" y="7734300"/>
            <a:ext cx="2722258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157AFB1-04D6-CF84-E02C-00007B8CE47D}"/>
              </a:ext>
            </a:extLst>
          </p:cNvPr>
          <p:cNvCxnSpPr>
            <a:cxnSpLocks/>
          </p:cNvCxnSpPr>
          <p:nvPr/>
        </p:nvCxnSpPr>
        <p:spPr>
          <a:xfrm>
            <a:off x="8360100" y="7734300"/>
            <a:ext cx="15459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73B43C2-2D83-5EC3-23C2-01BF9D14E6E2}"/>
              </a:ext>
            </a:extLst>
          </p:cNvPr>
          <p:cNvCxnSpPr>
            <a:cxnSpLocks/>
          </p:cNvCxnSpPr>
          <p:nvPr/>
        </p:nvCxnSpPr>
        <p:spPr>
          <a:xfrm>
            <a:off x="11049000" y="7734300"/>
            <a:ext cx="23622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0" name="Picture 39">
            <a:extLst>
              <a:ext uri="{FF2B5EF4-FFF2-40B4-BE49-F238E27FC236}">
                <a16:creationId xmlns:a16="http://schemas.microsoft.com/office/drawing/2014/main" id="{80FAB35C-0686-6D4A-38EC-232A1E11685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375" y="2441135"/>
            <a:ext cx="5497350" cy="19841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 descr="A long hallway with doors and lights&#10;&#10;AI-generated content may be incorrect.">
            <a:extLst>
              <a:ext uri="{FF2B5EF4-FFF2-40B4-BE49-F238E27FC236}">
                <a16:creationId xmlns:a16="http://schemas.microsoft.com/office/drawing/2014/main" id="{09238A00-FFB9-A5C1-F019-8B9173A04A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18211799" cy="1011363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Revenue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Operating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Operating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22876"/>
              </p:ext>
            </p:extLst>
          </p:nvPr>
        </p:nvGraphicFramePr>
        <p:xfrm>
          <a:off x="780998" y="7158228"/>
          <a:ext cx="16725998" cy="3090672"/>
        </p:xfrm>
        <a:graphic>
          <a:graphicData uri="http://schemas.openxmlformats.org/drawingml/2006/table">
            <a:tbl>
              <a:tblPr/>
              <a:tblGrid>
                <a:gridCol w="2393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0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3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15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6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67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871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709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648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95896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{{RETPRODYTD}}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Operating 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{{TOTALPROPYTDVARPER}}</a:t>
                      </a:r>
                      <a:endParaRPr lang="en-US" sz="11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2085972"/>
              </p:ext>
            </p:extLst>
          </p:nvPr>
        </p:nvGraphicFramePr>
        <p:xfrm>
          <a:off x="781000" y="1638300"/>
          <a:ext cx="16726000" cy="5468112"/>
        </p:xfrm>
        <a:graphic>
          <a:graphicData uri="http://schemas.openxmlformats.org/drawingml/2006/table">
            <a:tbl>
              <a:tblPr/>
              <a:tblGrid>
                <a:gridCol w="23855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47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67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67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5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820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6861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6133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95855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Admin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Late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Tenant Protection Fee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Other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Secure Payment Fee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Net Revenue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Operating 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CAM Charges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{{INSURXPCM}}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{{INSURXPPTD}}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{{INSURXPYTD}}</a:t>
                      </a:r>
                      <a:endParaRPr lang="en-US" sz="1200" b="0" i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{{INSURXPYTDBUD}}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Payroll Costs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Office Supplies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991600" y="3716881"/>
            <a:ext cx="3812223" cy="688899"/>
            <a:chOff x="-57467" y="-47626"/>
            <a:chExt cx="5082963" cy="9185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-57467" y="-47626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646575" y="3720550"/>
            <a:ext cx="3495700" cy="694694"/>
            <a:chOff x="0" y="-55351"/>
            <a:chExt cx="4933600" cy="92625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5351"/>
              <a:ext cx="4933600" cy="918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233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Blank fields are due to missing historical data from seller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B0A64135-733F-DD9F-55A5-FE1E0DB14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27330"/>
              </p:ext>
            </p:extLst>
          </p:nvPr>
        </p:nvGraphicFramePr>
        <p:xfrm>
          <a:off x="10431600" y="2673888"/>
          <a:ext cx="6616700" cy="4520753"/>
        </p:xfrm>
        <a:graphic>
          <a:graphicData uri="http://schemas.openxmlformats.org/drawingml/2006/table">
            <a:tbl>
              <a:tblPr/>
              <a:tblGrid>
                <a:gridCol w="4614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{{NEXTMONTH}}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after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  <p:graphicFrame>
        <p:nvGraphicFramePr>
          <p:cNvPr id="15" name="Table 15">
            <a:extLst>
              <a:ext uri="{FF2B5EF4-FFF2-40B4-BE49-F238E27FC236}">
                <a16:creationId xmlns:a16="http://schemas.microsoft.com/office/drawing/2014/main" id="{17A8EDAA-88E6-7EC6-B554-90D1F9E9A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053856"/>
              </p:ext>
            </p:extLst>
          </p:nvPr>
        </p:nvGraphicFramePr>
        <p:xfrm>
          <a:off x="1536700" y="1836587"/>
          <a:ext cx="15214600" cy="3581399"/>
        </p:xfrm>
        <a:graphic>
          <a:graphicData uri="http://schemas.openxmlformats.org/drawingml/2006/table">
            <a:tbl>
              <a:tblPr/>
              <a:tblGrid>
                <a:gridCol w="35184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8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3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41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1563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812591FC-A107-0045-FB42-A84E5C161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638204"/>
              </p:ext>
            </p:extLst>
          </p:nvPr>
        </p:nvGraphicFramePr>
        <p:xfrm>
          <a:off x="1536700" y="5709003"/>
          <a:ext cx="15240001" cy="3200402"/>
        </p:xfrm>
        <a:graphic>
          <a:graphicData uri="http://schemas.openxmlformats.org/drawingml/2006/table">
            <a:tbl>
              <a:tblPr/>
              <a:tblGrid>
                <a:gridCol w="327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4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61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02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room with roller doors&#10;&#10;AI-generated content may be incorrect.">
            <a:extLst>
              <a:ext uri="{FF2B5EF4-FFF2-40B4-BE49-F238E27FC236}">
                <a16:creationId xmlns:a16="http://schemas.microsoft.com/office/drawing/2014/main" id="{85A2A8BD-AA7D-B9E6-B12D-072B401F55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044"/>
            <a:ext cx="18669000" cy="10350500"/>
          </a:xfrm>
          <a:prstGeom prst="rect">
            <a:avLst/>
          </a:prstGeom>
        </p:spPr>
      </p:pic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-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-3810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852150" y="20955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92835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85215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7315200" y="20955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73914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7315200" y="29813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0820400" y="20955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08966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082040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5585557" y="392430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5661757" y="3996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5585557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9109950" y="392430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9186150" y="3996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9109950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5585557" y="575310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56617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5585557" y="6638925"/>
            <a:ext cx="3269567" cy="4853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7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+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9090757" y="575310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91669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9090757" y="66389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Rate/SF</a:t>
            </a: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5592590" y="7517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5668790" y="7589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5645833" y="83268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  <p:grpSp>
        <p:nvGrpSpPr>
          <p:cNvPr id="31" name="Group 41">
            <a:extLst>
              <a:ext uri="{FF2B5EF4-FFF2-40B4-BE49-F238E27FC236}">
                <a16:creationId xmlns:a16="http://schemas.microsoft.com/office/drawing/2014/main" id="{060D5E75-B929-A033-7191-AEF1F8DC089A}"/>
              </a:ext>
            </a:extLst>
          </p:cNvPr>
          <p:cNvGrpSpPr/>
          <p:nvPr/>
        </p:nvGrpSpPr>
        <p:grpSpPr>
          <a:xfrm>
            <a:off x="9097790" y="7505700"/>
            <a:ext cx="3310650" cy="1664850"/>
            <a:chOff x="0" y="0"/>
            <a:chExt cx="871941" cy="438479"/>
          </a:xfrm>
        </p:grpSpPr>
        <p:sp>
          <p:nvSpPr>
            <p:cNvPr id="34" name="Freeform 42">
              <a:extLst>
                <a:ext uri="{FF2B5EF4-FFF2-40B4-BE49-F238E27FC236}">
                  <a16:creationId xmlns:a16="http://schemas.microsoft.com/office/drawing/2014/main" id="{AA5625FB-0E2B-54F1-60A2-F16D4CC0C7BF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43">
              <a:extLst>
                <a:ext uri="{FF2B5EF4-FFF2-40B4-BE49-F238E27FC236}">
                  <a16:creationId xmlns:a16="http://schemas.microsoft.com/office/drawing/2014/main" id="{1EF9CE0F-9B35-81FE-5A59-1A1202BBB31B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6" name="TextBox 44">
            <a:extLst>
              <a:ext uri="{FF2B5EF4-FFF2-40B4-BE49-F238E27FC236}">
                <a16:creationId xmlns:a16="http://schemas.microsoft.com/office/drawing/2014/main" id="{7935DE11-C001-9551-AB88-0327E75F7C19}"/>
              </a:ext>
            </a:extLst>
          </p:cNvPr>
          <p:cNvSpPr txBox="1"/>
          <p:nvPr/>
        </p:nvSpPr>
        <p:spPr>
          <a:xfrm>
            <a:off x="9173990" y="75780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{{GROSSPOTRENTRATE}}</a:t>
            </a:r>
          </a:p>
        </p:txBody>
      </p:sp>
      <p:sp>
        <p:nvSpPr>
          <p:cNvPr id="37" name="TextBox 45">
            <a:extLst>
              <a:ext uri="{FF2B5EF4-FFF2-40B4-BE49-F238E27FC236}">
                <a16:creationId xmlns:a16="http://schemas.microsoft.com/office/drawing/2014/main" id="{5FE6E428-1D09-9981-DF53-4997A6D3EEB6}"/>
              </a:ext>
            </a:extLst>
          </p:cNvPr>
          <p:cNvSpPr txBox="1"/>
          <p:nvPr/>
        </p:nvSpPr>
        <p:spPr>
          <a:xfrm>
            <a:off x="9151033" y="8315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GPR Rate/SF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A room with roller doors">
            <a:extLst>
              <a:ext uri="{FF2B5EF4-FFF2-40B4-BE49-F238E27FC236}">
                <a16:creationId xmlns:a16="http://schemas.microsoft.com/office/drawing/2014/main" id="{C0F4559F-81F4-8658-13B8-9BE082BBC6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" y="12700"/>
            <a:ext cx="18288200" cy="1025628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5" y="2983476"/>
            <a:ext cx="5346799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TPP excludes parking spaces and wine storage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964426"/>
            <a:ext cx="509390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134600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141633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156102"/>
              </p:ext>
            </p:extLst>
          </p:nvPr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9302595"/>
              </p:ext>
            </p:extLst>
          </p:nvPr>
        </p:nvGraphicFramePr>
        <p:xfrm>
          <a:off x="1143100" y="5143500"/>
          <a:ext cx="6553100" cy="3124200"/>
        </p:xfrm>
        <a:graphic>
          <a:graphicData uri="http://schemas.openxmlformats.org/drawingml/2006/table">
            <a:tbl>
              <a:tblPr/>
              <a:tblGrid>
                <a:gridCol w="655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334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0858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{{REPAIRDATE}}</a:t>
                      </a:r>
                      <a:endParaRPr lang="en-US" sz="1100" dirty="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Avenir"/>
                          <a:ea typeface="Avenir Bold"/>
                          <a:cs typeface="Avenir Bold"/>
                          <a:sym typeface="Avenir"/>
                        </a:rPr>
                        <a:t>{{REPAIRDESCRIP}}</a:t>
                      </a:r>
                      <a:endParaRPr lang="en-US" sz="2000" dirty="0">
                        <a:solidFill>
                          <a:srgbClr val="000000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{{REPAIRCOST}}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{{REPAIRSTATUS}}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674931"/>
              </p:ext>
            </p:extLst>
          </p:nvPr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sym typeface="Avenir"/>
                        </a:rPr>
                        <a:t>{{MNGNOTES}}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52600" y="2400301"/>
            <a:ext cx="15554400" cy="4800600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34395"/>
              </p:ext>
            </p:extLst>
          </p:nvPr>
        </p:nvGraphicFramePr>
        <p:xfrm>
          <a:off x="2184250" y="3238500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2DA4F70D-C7E8-9BE0-9418-5A901EF7010D}"/>
              </a:ext>
            </a:extLst>
          </p:cNvPr>
          <p:cNvSpPr/>
          <p:nvPr/>
        </p:nvSpPr>
        <p:spPr>
          <a:xfrm>
            <a:off x="838200" y="2781300"/>
            <a:ext cx="16764000" cy="69341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EDA4BB91-13AC-EBFD-2F72-F37601110142}"/>
              </a:ext>
            </a:extLst>
          </p:cNvPr>
          <p:cNvSpPr/>
          <p:nvPr/>
        </p:nvSpPr>
        <p:spPr>
          <a:xfrm>
            <a:off x="838200" y="2552700"/>
            <a:ext cx="16687800" cy="7010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901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{{CURRENTDATE}}’S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{{GGLRAT}}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{{REVIEW1}}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“{{REVIEW1BIO}}”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471963"/>
            <a:ext cx="4534276" cy="1088503"/>
            <a:chOff x="0" y="-85725"/>
            <a:chExt cx="6045701" cy="1451338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{{REVIEW2}}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“{{REVIEW2BIO}}”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19538"/>
            <a:ext cx="4734223" cy="1088503"/>
            <a:chOff x="0" y="-85725"/>
            <a:chExt cx="6312297" cy="1451338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{{REVIEW3}}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“{{REVIEW3BIO}}”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806152" y="3238417"/>
            <a:ext cx="3272550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{{GBPREVIEWS}}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574001" y="3198436"/>
            <a:ext cx="3276773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{{MTDREVIEWS}}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379951" y="3207243"/>
            <a:ext cx="3308041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{{MOMCHANGE}}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1469</TotalTime>
  <Words>1907</Words>
  <Application>Microsoft Office PowerPoint</Application>
  <PresentationFormat>Custom</PresentationFormat>
  <Paragraphs>657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Avenir Bold</vt:lpstr>
      <vt:lpstr>Avenir Italics</vt:lpstr>
      <vt:lpstr>Arial</vt:lpstr>
      <vt:lpstr>Arial Italics</vt:lpstr>
      <vt:lpstr>Avenir Medium</vt:lpstr>
      <vt:lpstr>Arial Bold</vt:lpstr>
      <vt:lpstr>Avenir</vt:lpstr>
      <vt:lpstr>Calibri</vt:lpstr>
      <vt:lpstr>Avenir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dc:creator>Ashley Reyes</dc:creator>
  <cp:lastModifiedBy>Alex Burke</cp:lastModifiedBy>
  <cp:revision>113</cp:revision>
  <dcterms:created xsi:type="dcterms:W3CDTF">2006-08-16T00:00:00Z</dcterms:created>
  <dcterms:modified xsi:type="dcterms:W3CDTF">2026-04-29T21:22:01Z</dcterms:modified>
  <dc:identifier>DAG3YRaK70Q</dc:identifier>
</cp:coreProperties>
</file>