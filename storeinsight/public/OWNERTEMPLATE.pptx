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ial Bold" panose="020B0704020202020204" pitchFamily="34" charset="0"/>
      <p:regular r:id="rId16"/>
      <p:bold r:id="rId17"/>
    </p:embeddedFont>
    <p:embeddedFont>
      <p:font typeface="Arial Italics" panose="020B0604020202020204" charset="0"/>
      <p:regular r:id="rId18"/>
    </p:embeddedFont>
    <p:embeddedFont>
      <p:font typeface="Avenir" panose="020B0604020202020204" charset="0"/>
      <p:regular r:id="rId19"/>
    </p:embeddedFont>
    <p:embeddedFont>
      <p:font typeface="Avenir Bold" panose="020B0604020202020204" charset="0"/>
      <p:regular r:id="rId20"/>
    </p:embeddedFont>
    <p:embeddedFont>
      <p:font typeface="Avenir Bold Italics" panose="020B0604020202020204" charset="0"/>
      <p:regular r:id="rId21"/>
    </p:embeddedFont>
    <p:embeddedFont>
      <p:font typeface="Avenir Italics" panose="020B0604020202020204" charset="0"/>
      <p:regular r:id="rId22"/>
    </p:embeddedFont>
    <p:embeddedFont>
      <p:font typeface="Avenir Medium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>
        <p:scale>
          <a:sx n="75" d="100"/>
          <a:sy n="75" d="100"/>
        </p:scale>
        <p:origin x="504" y="-22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18.03.2026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Picture 31" descr="A long hallway with roller shutters&#10;&#10;AI-generated content may be incorrect.">
            <a:extLst>
              <a:ext uri="{FF2B5EF4-FFF2-40B4-BE49-F238E27FC236}">
                <a16:creationId xmlns:a16="http://schemas.microsoft.com/office/drawing/2014/main" id="{B36D684E-70C7-4C5C-C82E-40C1471F4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50" y="12700"/>
            <a:ext cx="18307550" cy="1028700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199702"/>
              </p:ext>
            </p:extLst>
          </p:nvPr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735556"/>
              </p:ext>
            </p:extLst>
          </p:nvPr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215381"/>
              </p:ext>
            </p:extLst>
          </p:nvPr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404465"/>
              </p:ext>
            </p:extLst>
          </p:nvPr>
        </p:nvGraphicFramePr>
        <p:xfrm>
          <a:off x="8360100" y="6520468"/>
          <a:ext cx="1701800" cy="2589742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737774"/>
              </p:ext>
            </p:extLst>
          </p:nvPr>
        </p:nvGraphicFramePr>
        <p:xfrm>
          <a:off x="10978358" y="6521326"/>
          <a:ext cx="2540000" cy="2589790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5233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February 2026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88692E-2B3D-FB28-75D4-7E6740EBBC9E}"/>
              </a:ext>
            </a:extLst>
          </p:cNvPr>
          <p:cNvCxnSpPr>
            <a:cxnSpLocks/>
          </p:cNvCxnSpPr>
          <p:nvPr/>
        </p:nvCxnSpPr>
        <p:spPr>
          <a:xfrm>
            <a:off x="3200400" y="5219700"/>
            <a:ext cx="51597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C50689-F3A6-167C-7255-7D04709EA7EA}"/>
              </a:ext>
            </a:extLst>
          </p:cNvPr>
          <p:cNvCxnSpPr>
            <a:cxnSpLocks/>
          </p:cNvCxnSpPr>
          <p:nvPr/>
        </p:nvCxnSpPr>
        <p:spPr>
          <a:xfrm>
            <a:off x="11001226" y="5219700"/>
            <a:ext cx="2181374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FD18338-BAFE-A2D4-F3AE-46C528FA69A4}"/>
              </a:ext>
            </a:extLst>
          </p:cNvPr>
          <p:cNvCxnSpPr>
            <a:cxnSpLocks/>
          </p:cNvCxnSpPr>
          <p:nvPr/>
        </p:nvCxnSpPr>
        <p:spPr>
          <a:xfrm>
            <a:off x="4800600" y="7734300"/>
            <a:ext cx="2722258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157AFB1-04D6-CF84-E02C-00007B8CE47D}"/>
              </a:ext>
            </a:extLst>
          </p:cNvPr>
          <p:cNvCxnSpPr>
            <a:cxnSpLocks/>
          </p:cNvCxnSpPr>
          <p:nvPr/>
        </p:nvCxnSpPr>
        <p:spPr>
          <a:xfrm>
            <a:off x="8360100" y="7734300"/>
            <a:ext cx="15459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73B43C2-2D83-5EC3-23C2-01BF9D14E6E2}"/>
              </a:ext>
            </a:extLst>
          </p:cNvPr>
          <p:cNvCxnSpPr>
            <a:cxnSpLocks/>
          </p:cNvCxnSpPr>
          <p:nvPr/>
        </p:nvCxnSpPr>
        <p:spPr>
          <a:xfrm>
            <a:off x="11049000" y="7734300"/>
            <a:ext cx="23622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0" name="Picture 39">
            <a:extLst>
              <a:ext uri="{FF2B5EF4-FFF2-40B4-BE49-F238E27FC236}">
                <a16:creationId xmlns:a16="http://schemas.microsoft.com/office/drawing/2014/main" id="{80FAB35C-0686-6D4A-38EC-232A1E11685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375" y="2441135"/>
            <a:ext cx="5497350" cy="19841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long hallway with doors and lights&#10;&#10;AI-generated content may be incorrect.">
            <a:extLst>
              <a:ext uri="{FF2B5EF4-FFF2-40B4-BE49-F238E27FC236}">
                <a16:creationId xmlns:a16="http://schemas.microsoft.com/office/drawing/2014/main" id="{09238A00-FFB9-A5C1-F019-8B9173A04A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0"/>
            <a:ext cx="18211799" cy="1011363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9709623"/>
              </p:ext>
            </p:extLst>
          </p:nvPr>
        </p:nvGraphicFramePr>
        <p:xfrm>
          <a:off x="780998" y="6905916"/>
          <a:ext cx="16725998" cy="3288214"/>
        </p:xfrm>
        <a:graphic>
          <a:graphicData uri="http://schemas.openxmlformats.org/drawingml/2006/table">
            <a:tbl>
              <a:tblPr/>
              <a:tblGrid>
                <a:gridCol w="2393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0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3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15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6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871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709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648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95896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427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3642916"/>
              </p:ext>
            </p:extLst>
          </p:nvPr>
        </p:nvGraphicFramePr>
        <p:xfrm>
          <a:off x="781000" y="1701223"/>
          <a:ext cx="16726000" cy="5118670"/>
        </p:xfrm>
        <a:graphic>
          <a:graphicData uri="http://schemas.openxmlformats.org/drawingml/2006/table">
            <a:tbl>
              <a:tblPr/>
              <a:tblGrid>
                <a:gridCol w="23855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47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67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7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5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20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6861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6133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95855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042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Admin Fees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Late Fees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Tenant Protection Fee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Other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Secure Payment Fee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{{INSURXPCM}}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{{INSURXPPTD}}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{{INSURXPYTD}}</a:t>
                      </a:r>
                      <a:endParaRPr lang="en-US" sz="1200" b="0" i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{{INSURXPYTDBUD}}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200" b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Payroll Costs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22193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room with roller doors&#10;&#10;AI-generated content may be incorrect.">
            <a:extLst>
              <a:ext uri="{FF2B5EF4-FFF2-40B4-BE49-F238E27FC236}">
                <a16:creationId xmlns:a16="http://schemas.microsoft.com/office/drawing/2014/main" id="{85A2A8BD-AA7D-B9E6-B12D-072B401F5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44"/>
            <a:ext cx="18669000" cy="10350500"/>
          </a:xfrm>
          <a:prstGeom prst="rect">
            <a:avLst/>
          </a:prstGeom>
        </p:spPr>
      </p:pic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85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7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+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room with roller doors">
            <a:extLst>
              <a:ext uri="{FF2B5EF4-FFF2-40B4-BE49-F238E27FC236}">
                <a16:creationId xmlns:a16="http://schemas.microsoft.com/office/drawing/2014/main" id="{C0F4559F-81F4-8658-13B8-9BE082BBC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" y="12700"/>
            <a:ext cx="18288200" cy="1025628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156102"/>
              </p:ext>
            </p:extLst>
          </p:nvPr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674931"/>
              </p:ext>
            </p:extLst>
          </p:nvPr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sym typeface="Avenir"/>
                        </a:rPr>
                        <a:t>{{MNGNOTES}}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52600" y="2400301"/>
            <a:ext cx="15554400" cy="4800600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2DA4F70D-C7E8-9BE0-9418-5A901EF7010D}"/>
              </a:ext>
            </a:extLst>
          </p:cNvPr>
          <p:cNvSpPr/>
          <p:nvPr/>
        </p:nvSpPr>
        <p:spPr>
          <a:xfrm>
            <a:off x="838200" y="2781300"/>
            <a:ext cx="16764000" cy="69341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4BB91-13AC-EBFD-2F72-F37601110142}"/>
              </a:ext>
            </a:extLst>
          </p:cNvPr>
          <p:cNvSpPr/>
          <p:nvPr/>
        </p:nvSpPr>
        <p:spPr>
          <a:xfrm>
            <a:off x="838200" y="2552700"/>
            <a:ext cx="16687800" cy="7010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901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{{CURRENTDATE}}’S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{{GGLRAT}}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{{REVIEW1}}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“{{REVIEW1BIO}}”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471963"/>
            <a:ext cx="4534276" cy="1088503"/>
            <a:chOff x="0" y="-85725"/>
            <a:chExt cx="6045701" cy="1451338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{{REVIEW2}}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“{{REVIEW2BIO}}”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19538"/>
            <a:ext cx="4734223" cy="1088503"/>
            <a:chOff x="0" y="-85725"/>
            <a:chExt cx="6312297" cy="1451338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{{REVIEW3}}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“{{REVIEW3BIO}}”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806152" y="3238417"/>
            <a:ext cx="3272550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{{GBPREVIEWS}}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574001" y="3198436"/>
            <a:ext cx="3276773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{{MTDREVIEWS}}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79951" y="3207243"/>
            <a:ext cx="3308041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{{MOMCHANGE}}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1463</TotalTime>
  <Words>1904</Words>
  <Application>Microsoft Office PowerPoint</Application>
  <PresentationFormat>Custom</PresentationFormat>
  <Paragraphs>657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Avenir Medium</vt:lpstr>
      <vt:lpstr>Avenir Bold Italics</vt:lpstr>
      <vt:lpstr>Arial Italics</vt:lpstr>
      <vt:lpstr>Avenir Italics</vt:lpstr>
      <vt:lpstr>Arial</vt:lpstr>
      <vt:lpstr>Calibri</vt:lpstr>
      <vt:lpstr>Arial Bold</vt:lpstr>
      <vt:lpstr>Avenir</vt:lpstr>
      <vt:lpstr>Avenir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dc:creator>Ashley Reyes</dc:creator>
  <cp:lastModifiedBy>Alex Burke</cp:lastModifiedBy>
  <cp:revision>97</cp:revision>
  <dcterms:created xsi:type="dcterms:W3CDTF">2006-08-16T00:00:00Z</dcterms:created>
  <dcterms:modified xsi:type="dcterms:W3CDTF">2026-03-18T21:36:03Z</dcterms:modified>
  <dc:identifier>DAG3YRaK70Q</dc:identifier>
</cp:coreProperties>
</file>